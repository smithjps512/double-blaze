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This is a fresh start after a choppy week, and it is a one day thing: nothing to catch up on, nothing they needed to have done before.
Say: today you are going to work the way people who make apps, games, and programs actually work. Not the coding part. The part before that, which decides whether the coding is worth doing.
Tease the ending: what you write today, I am going to turn into something you can click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conversational. Ask: what is an app or game you used this week? Take two answers.
Then: somebody sat down and planned that before it existed. The people who do that are called product managers or program managers, and it is a real job.
Point out that it is not only apps. A bus route and a lunch line are programs too. Anything that serves people can be planned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day on one slide. Leave it up for a moment.
Say: we are only doing three things today, and we are doing them properly. There are lots more steps in a real plan, and we are not doing those today.
The bottom box is the hook. Make the promise clearly: what you write is what I build from. If your writing is clear, your prototype will be clear. That is the reason to take the next 15 minutes seriously.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line twice, slowly. This is the most important idea of the day and the one they will get wrong first.
Almost everyone, adults included, answers 'what is the purpose' with a description of the features. We are going to practice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example for the whole day is Finders Keepers, a lost and found app for our school. You will see it again in every section.
Read the left side. Ask: is that true? Yes. Does it make you want to build it? Not really.
Read the right side. Ask: who is better off? (Kids, families.) How? (Get stuff back, save money.)
Notice the right side never mentions photos or an app at all. The purpose could be met a dozen ways; the app is just our idea for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one and have them vote with thumbs. Answers: A does, B impact, C does, D impact.
After D, ask: how did you know? Listen for 'it says who is better off' or 'it says what changes'. That is the test.
Point at the bottom line: the park map and the welcome-new-families idea could be the exact same website. Only one of those sentences makes somebody want to fund it.
If you have a minute: ask someone to turn C into an impact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Launch Pad page has a button that drops this starter into the purpose box, so they do not need to copy it down.
Point out the three blanks: who, what is wrong, and what changes. The last blank is the impact, and it is the one they will want to rush.
The page also checks their purpose: if it starts like 'It is an app that...' and never says what changes, it asks them for the impact. That is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product has more than one kind of person who uses it or is affected by it. Always. If you only have one, you have not looked hard enough yet.
And the different users usually want different things. Noticing that is a big part of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before you reveal much: if you only thought of 'students', who did you miss?
Custodians are the great one. They never open the app to find anything, but they are the ones who find most of the lost stuff. Leave them out and the app is empty.
Point at the difference: students care about speed and not being embarrassed. The office cares about the pile. Parents care about money. Same product, different reasons. Their stories will be different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questions are printed on the Launch Pad page beside the users box, so teams can use them while they work.
The page will also nudge a team whose users are all kids: 'Is there an adult who runs it, pays for it, or says yes to it?'
Quick practice if there is time: think of the school bus. Who are all the users? (Students, drivers, parents, the transportation office, other drivers on the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user story is one sentence that describes one feature, from one user's point of view.
Real software teams write hundreds of these. Every feature in every app you use started as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here. This is the format they will type into: three boxes labeled As a, I want to, so I can.
Why it is written this way:
- WHO: the 'As a' should be one of the users from step 2. It forces you to picture a real person.
- WHAT: the 'I want to' is what the product does. In the prototype, this becomes the screen.
- WHY: the 'so I can' is the user's reason. It connects the feature back to the purpose. If you cannot fill it in, the feature might not matter.
Point out the 'why' sounds a lot like the purpose. That is not an accident: good stories add up to the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weak one first and ask: what is wrong with it? Let them find it before you read the orange note.
First pair: 'a user' could be anyone, and a search bar is a solution, not a need. The strong one names who, says what they actually want to do, and why.
Second pair: 'good' and 'use it' say nothing. The strong one is specific enough that you could draw the screen.
Tip to give teams: try to write each story for a different user from step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stretch goal. Do not let it eat the time for the three stories. On the page it is hidden behind a 'Bonus' link under each story.
The idea: acceptance criteria are how a team agrees the feature is done. If you could not check it with a yes or no, it is not a criterion yet.
Bonus for you: stories with checks make better prototypes, because each check gives the prototype something to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the whole work time.
Teams: everyone on a team types the same period and team name to open the same plan. One person types; teammates can open it on their own Chromebook and press Refresh to read along. It saves by itself.
Walk the room with three questions:
1. Read me your purpose. Who is better off? (If they describe features, ask 'so what changes?')
2. Who else uses this? Any adults?
3. Read me a story. What is the 'so I can'?
Teams stuck on an idea: the 'Your idea' tab has five prompts (what annoys you every week, what does a new kid not know, and so on).
Finished early: more stories, a different user for each, then the bonus acceptance criteria. The 'Read it out loud' tab shows the whole plan and what is still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five minutes. Ask two or three teams to read their purpose out loud. After each, ask the class: is that a 'does' or an 'impact'?
If you want to show what Monday looks like, open the Finders Keepers example prototype: the link is under 'Find your team' on the Launch Pad page. It was built from the exact purpose, users, and stories on these slides.
Over the weekend: npm run launch:export, touch up the files in docs/launch, then npm run launch:prototypes. See docs/launch/README.md.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30031"/>
        </a:solidFill>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4A0025"/>
          </a:solidFill>
          <a:ln w="12700">
            <a:solidFill>
              <a:srgbClr val="333333"/>
            </a:solidFill>
            <a:prstDash val="solid"/>
          </a:ln>
        </p:spPr>
      </p:sp>
      <p:sp>
        <p:nvSpPr>
          <p:cNvPr id="3" name="Shape 1"/>
          <p:cNvSpPr/>
          <p:nvPr/>
        </p:nvSpPr>
        <p:spPr>
          <a:xfrm>
            <a:off x="10424160" y="3931920"/>
            <a:ext cx="3108960" cy="3108960"/>
          </a:xfrm>
          <a:prstGeom prst="ellipse">
            <a:avLst/>
          </a:prstGeom>
          <a:solidFill>
            <a:srgbClr val="CF4420"/>
          </a:solidFill>
          <a:ln w="12700">
            <a:solidFill>
              <a:srgbClr val="333333"/>
            </a:solidFill>
            <a:prstDash val="solid"/>
          </a:ln>
        </p:spPr>
      </p:sp>
      <p:sp>
        <p:nvSpPr>
          <p:cNvPr id="4" name="Text 2"/>
          <p:cNvSpPr txBox="1"/>
          <p:nvPr/>
        </p:nvSpPr>
        <p:spPr>
          <a:xfrm>
            <a:off x="640080" y="1737360"/>
            <a:ext cx="7680960" cy="310896"/>
          </a:xfrm>
          <a:prstGeom prst="rect">
            <a:avLst/>
          </a:prstGeom>
          <a:noFill/>
          <a:ln/>
        </p:spPr>
        <p:txBody>
          <a:bodyPr wrap="square" lIns="0" tIns="0" rIns="0" bIns="0" rtlCol="0" anchor="ctr"/>
          <a:lstStyle/>
          <a:p>
            <a:pPr indent="0" marL="0">
              <a:buNone/>
            </a:pPr>
            <a:r>
              <a:rPr lang="en-US" sz="1300" b="1" spc="300" kern="0" dirty="0">
                <a:solidFill>
                  <a:srgbClr val="E9C9D6"/>
                </a:solidFill>
                <a:latin typeface="Calibri" pitchFamily="34" charset="0"/>
                <a:ea typeface="Calibri" pitchFamily="34" charset="-122"/>
                <a:cs typeface="Calibri" pitchFamily="34" charset="-120"/>
              </a:rPr>
              <a:t>LAUNCH PAD  ·  ONE DAY</a:t>
            </a:r>
            <a:endParaRPr lang="en-US" sz="1300" dirty="0"/>
          </a:p>
        </p:txBody>
      </p:sp>
      <p:sp>
        <p:nvSpPr>
          <p:cNvPr id="5" name="Text 3"/>
          <p:cNvSpPr txBox="1"/>
          <p:nvPr/>
        </p:nvSpPr>
        <p:spPr>
          <a:xfrm>
            <a:off x="640080" y="2121408"/>
            <a:ext cx="8046720" cy="192024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Every great thing</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starts with a plan.</a:t>
            </a:r>
            <a:endParaRPr lang="en-US" sz="5000" dirty="0"/>
          </a:p>
        </p:txBody>
      </p:sp>
      <p:sp>
        <p:nvSpPr>
          <p:cNvPr id="6" name="Text 4"/>
          <p:cNvSpPr txBox="1"/>
          <p:nvPr/>
        </p:nvSpPr>
        <p:spPr>
          <a:xfrm>
            <a:off x="640080" y="4251960"/>
            <a:ext cx="7498080" cy="1005840"/>
          </a:xfrm>
          <a:prstGeom prst="rect">
            <a:avLst/>
          </a:prstGeom>
          <a:noFill/>
          <a:ln/>
        </p:spPr>
        <p:txBody>
          <a:bodyPr wrap="square" lIns="0" tIns="0" rIns="0" bIns="0" rtlCol="0" anchor="ctr"/>
          <a:lstStyle/>
          <a:p>
            <a:pPr indent="0" marL="0">
              <a:lnSpc>
                <a:spcPts val="2500"/>
              </a:lnSpc>
              <a:buNone/>
            </a:pPr>
            <a:r>
              <a:rPr lang="en-US" sz="1700" dirty="0">
                <a:solidFill>
                  <a:srgbClr val="EBD9E1"/>
                </a:solidFill>
                <a:latin typeface="Calibri" pitchFamily="34" charset="0"/>
                <a:ea typeface="Calibri" pitchFamily="34" charset="-122"/>
                <a:cs typeface="Calibri" pitchFamily="34" charset="-120"/>
              </a:rPr>
              <a:t>Today you will do the three things a real product team does before anybody builds anything. And then you will get to see your idea come to life.</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BEFORE ANYTHING GETS BUILT</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Somebody planned all of this</a:t>
            </a:r>
            <a:endParaRPr lang="en-US" sz="3400" dirty="0"/>
          </a:p>
        </p:txBody>
      </p:sp>
      <p:sp>
        <p:nvSpPr>
          <p:cNvPr id="4" name="Shape 2"/>
          <p:cNvSpPr/>
          <p:nvPr/>
        </p:nvSpPr>
        <p:spPr>
          <a:xfrm>
            <a:off x="640080" y="1874520"/>
            <a:ext cx="2508428" cy="2514600"/>
          </a:xfrm>
          <a:prstGeom prst="roundRect">
            <a:avLst>
              <a:gd name="adj" fmla="val 328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Text 3"/>
          <p:cNvSpPr txBox="1"/>
          <p:nvPr/>
        </p:nvSpPr>
        <p:spPr>
          <a:xfrm>
            <a:off x="914400" y="2103120"/>
            <a:ext cx="1959788" cy="457200"/>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A game you play</a:t>
            </a:r>
            <a:endParaRPr lang="en-US" sz="2000" dirty="0"/>
          </a:p>
        </p:txBody>
      </p:sp>
      <p:sp>
        <p:nvSpPr>
          <p:cNvPr id="6" name="Text 4"/>
          <p:cNvSpPr txBox="1"/>
          <p:nvPr/>
        </p:nvSpPr>
        <p:spPr>
          <a:xfrm>
            <a:off x="914400" y="2651760"/>
            <a:ext cx="1959788" cy="1554480"/>
          </a:xfrm>
          <a:prstGeom prst="rect">
            <a:avLst/>
          </a:prstGeom>
          <a:noFill/>
          <a:ln/>
        </p:spPr>
        <p:txBody>
          <a:bodyPr wrap="square" lIns="0" tIns="0" rIns="0" bIns="0" rtlCol="0" anchor="ctr"/>
          <a:lstStyle/>
          <a:p>
            <a:pPr indent="0" marL="0">
              <a:lnSpc>
                <a:spcPts val="2100"/>
              </a:lnSpc>
              <a:buNone/>
            </a:pPr>
            <a:r>
              <a:rPr lang="en-US" sz="1500" dirty="0">
                <a:solidFill>
                  <a:srgbClr val="1C1A19"/>
                </a:solidFill>
                <a:latin typeface="Calibri" pitchFamily="34" charset="0"/>
                <a:ea typeface="Calibri" pitchFamily="34" charset="-122"/>
                <a:cs typeface="Calibri" pitchFamily="34" charset="-120"/>
              </a:rPr>
              <a:t>Somebody decided who it was for and what would make it fun to come back to.</a:t>
            </a:r>
            <a:endParaRPr lang="en-US" sz="1500" dirty="0"/>
          </a:p>
        </p:txBody>
      </p:sp>
      <p:sp>
        <p:nvSpPr>
          <p:cNvPr id="7" name="Shape 5"/>
          <p:cNvSpPr/>
          <p:nvPr/>
        </p:nvSpPr>
        <p:spPr>
          <a:xfrm>
            <a:off x="3441116" y="1874520"/>
            <a:ext cx="2508428" cy="2514600"/>
          </a:xfrm>
          <a:prstGeom prst="roundRect">
            <a:avLst>
              <a:gd name="adj" fmla="val 328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8" name="Text 6"/>
          <p:cNvSpPr txBox="1"/>
          <p:nvPr/>
        </p:nvSpPr>
        <p:spPr>
          <a:xfrm>
            <a:off x="3715436" y="2103120"/>
            <a:ext cx="1959788" cy="457200"/>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Your bus route</a:t>
            </a:r>
            <a:endParaRPr lang="en-US" sz="2000" dirty="0"/>
          </a:p>
        </p:txBody>
      </p:sp>
      <p:sp>
        <p:nvSpPr>
          <p:cNvPr id="9" name="Text 7"/>
          <p:cNvSpPr txBox="1"/>
          <p:nvPr/>
        </p:nvSpPr>
        <p:spPr>
          <a:xfrm>
            <a:off x="3715436" y="2651760"/>
            <a:ext cx="1959788" cy="1554480"/>
          </a:xfrm>
          <a:prstGeom prst="rect">
            <a:avLst/>
          </a:prstGeom>
          <a:noFill/>
          <a:ln/>
        </p:spPr>
        <p:txBody>
          <a:bodyPr wrap="square" lIns="0" tIns="0" rIns="0" bIns="0" rtlCol="0" anchor="ctr"/>
          <a:lstStyle/>
          <a:p>
            <a:pPr indent="0" marL="0">
              <a:lnSpc>
                <a:spcPts val="2100"/>
              </a:lnSpc>
              <a:buNone/>
            </a:pPr>
            <a:r>
              <a:rPr lang="en-US" sz="1500" dirty="0">
                <a:solidFill>
                  <a:srgbClr val="1C1A19"/>
                </a:solidFill>
                <a:latin typeface="Calibri" pitchFamily="34" charset="0"/>
                <a:ea typeface="Calibri" pitchFamily="34" charset="-122"/>
                <a:cs typeface="Calibri" pitchFamily="34" charset="-120"/>
              </a:rPr>
              <a:t>Somebody decided which stops, which times, and who gets picked up first.</a:t>
            </a:r>
            <a:endParaRPr lang="en-US" sz="1500" dirty="0"/>
          </a:p>
        </p:txBody>
      </p:sp>
      <p:sp>
        <p:nvSpPr>
          <p:cNvPr id="10" name="Shape 8"/>
          <p:cNvSpPr/>
          <p:nvPr/>
        </p:nvSpPr>
        <p:spPr>
          <a:xfrm>
            <a:off x="6242152" y="1874520"/>
            <a:ext cx="2508428" cy="2514600"/>
          </a:xfrm>
          <a:prstGeom prst="roundRect">
            <a:avLst>
              <a:gd name="adj" fmla="val 328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1" name="Text 9"/>
          <p:cNvSpPr txBox="1"/>
          <p:nvPr/>
        </p:nvSpPr>
        <p:spPr>
          <a:xfrm>
            <a:off x="6516472" y="2103120"/>
            <a:ext cx="1959788" cy="457200"/>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The lunch line</a:t>
            </a:r>
            <a:endParaRPr lang="en-US" sz="2000" dirty="0"/>
          </a:p>
        </p:txBody>
      </p:sp>
      <p:sp>
        <p:nvSpPr>
          <p:cNvPr id="12" name="Text 10"/>
          <p:cNvSpPr txBox="1"/>
          <p:nvPr/>
        </p:nvSpPr>
        <p:spPr>
          <a:xfrm>
            <a:off x="6516472" y="2651760"/>
            <a:ext cx="1959788" cy="1554480"/>
          </a:xfrm>
          <a:prstGeom prst="rect">
            <a:avLst/>
          </a:prstGeom>
          <a:noFill/>
          <a:ln/>
        </p:spPr>
        <p:txBody>
          <a:bodyPr wrap="square" lIns="0" tIns="0" rIns="0" bIns="0" rtlCol="0" anchor="ctr"/>
          <a:lstStyle/>
          <a:p>
            <a:pPr indent="0" marL="0">
              <a:lnSpc>
                <a:spcPts val="2100"/>
              </a:lnSpc>
              <a:buNone/>
            </a:pPr>
            <a:r>
              <a:rPr lang="en-US" sz="1500" dirty="0">
                <a:solidFill>
                  <a:srgbClr val="1C1A19"/>
                </a:solidFill>
                <a:latin typeface="Calibri" pitchFamily="34" charset="0"/>
                <a:ea typeface="Calibri" pitchFamily="34" charset="-122"/>
                <a:cs typeface="Calibri" pitchFamily="34" charset="-120"/>
              </a:rPr>
              <a:t>Somebody decided how hundreds of kids get fed in thirty minutes.</a:t>
            </a:r>
            <a:endParaRPr lang="en-US" sz="1500" dirty="0"/>
          </a:p>
        </p:txBody>
      </p:sp>
      <p:sp>
        <p:nvSpPr>
          <p:cNvPr id="13" name="Shape 11"/>
          <p:cNvSpPr/>
          <p:nvPr/>
        </p:nvSpPr>
        <p:spPr>
          <a:xfrm>
            <a:off x="9043187" y="1874520"/>
            <a:ext cx="2508428" cy="2514600"/>
          </a:xfrm>
          <a:prstGeom prst="roundRect">
            <a:avLst>
              <a:gd name="adj" fmla="val 328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4" name="Text 12"/>
          <p:cNvSpPr txBox="1"/>
          <p:nvPr/>
        </p:nvSpPr>
        <p:spPr>
          <a:xfrm>
            <a:off x="9317507" y="2103120"/>
            <a:ext cx="1959788" cy="457200"/>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Blacksburg Transit</a:t>
            </a:r>
            <a:endParaRPr lang="en-US" sz="2000" dirty="0"/>
          </a:p>
        </p:txBody>
      </p:sp>
      <p:sp>
        <p:nvSpPr>
          <p:cNvPr id="15" name="Text 13"/>
          <p:cNvSpPr txBox="1"/>
          <p:nvPr/>
        </p:nvSpPr>
        <p:spPr>
          <a:xfrm>
            <a:off x="9317507" y="2651760"/>
            <a:ext cx="1959788" cy="1554480"/>
          </a:xfrm>
          <a:prstGeom prst="rect">
            <a:avLst/>
          </a:prstGeom>
          <a:noFill/>
          <a:ln/>
        </p:spPr>
        <p:txBody>
          <a:bodyPr wrap="square" lIns="0" tIns="0" rIns="0" bIns="0" rtlCol="0" anchor="ctr"/>
          <a:lstStyle/>
          <a:p>
            <a:pPr indent="0" marL="0">
              <a:lnSpc>
                <a:spcPts val="2100"/>
              </a:lnSpc>
              <a:buNone/>
            </a:pPr>
            <a:r>
              <a:rPr lang="en-US" sz="1500" dirty="0">
                <a:solidFill>
                  <a:srgbClr val="1C1A19"/>
                </a:solidFill>
                <a:latin typeface="Calibri" pitchFamily="34" charset="0"/>
                <a:ea typeface="Calibri" pitchFamily="34" charset="-122"/>
                <a:cs typeface="Calibri" pitchFamily="34" charset="-120"/>
              </a:rPr>
              <a:t>Somebody decided where the buses go so people can get to work and class.</a:t>
            </a:r>
            <a:endParaRPr lang="en-US" sz="1500" dirty="0"/>
          </a:p>
        </p:txBody>
      </p:sp>
      <p:sp>
        <p:nvSpPr>
          <p:cNvPr id="16" name="Text 14"/>
          <p:cNvSpPr txBox="1"/>
          <p:nvPr/>
        </p:nvSpPr>
        <p:spPr>
          <a:xfrm>
            <a:off x="640080" y="4846320"/>
            <a:ext cx="10911535" cy="731520"/>
          </a:xfrm>
          <a:prstGeom prst="rect">
            <a:avLst/>
          </a:prstGeom>
          <a:noFill/>
          <a:ln/>
        </p:spPr>
        <p:txBody>
          <a:bodyPr wrap="square" lIns="0" tIns="0" rIns="0" bIns="0" rtlCol="0" anchor="t"/>
          <a:lstStyle/>
          <a:p>
            <a:pPr indent="0" marL="0">
              <a:lnSpc>
                <a:spcPts val="2200"/>
              </a:lnSpc>
              <a:buNone/>
            </a:pPr>
            <a:r>
              <a:rPr lang="en-US" sz="1900" b="1" dirty="0">
                <a:solidFill>
                  <a:srgbClr val="1C1A19"/>
                </a:solidFill>
                <a:latin typeface="Calibri" pitchFamily="34" charset="0"/>
                <a:ea typeface="Calibri" pitchFamily="34" charset="-122"/>
                <a:cs typeface="Calibri" pitchFamily="34" charset="-120"/>
              </a:rPr>
              <a:t>Before a single line of code or a single board was cut, someone answered three questions. Today, you answer them.</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TODAY'S PLAN</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Three questions</a:t>
            </a:r>
            <a:endParaRPr lang="en-US" sz="3400" dirty="0"/>
          </a:p>
        </p:txBody>
      </p:sp>
      <p:sp>
        <p:nvSpPr>
          <p:cNvPr id="4" name="Shape 2"/>
          <p:cNvSpPr/>
          <p:nvPr/>
        </p:nvSpPr>
        <p:spPr>
          <a:xfrm>
            <a:off x="640080" y="1828800"/>
            <a:ext cx="3417722" cy="2743200"/>
          </a:xfrm>
          <a:prstGeom prst="roundRect">
            <a:avLst>
              <a:gd name="adj" fmla="val 3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Shape 3"/>
          <p:cNvSpPr/>
          <p:nvPr/>
        </p:nvSpPr>
        <p:spPr>
          <a:xfrm>
            <a:off x="960120" y="2103120"/>
            <a:ext cx="548640" cy="548640"/>
          </a:xfrm>
          <a:prstGeom prst="ellipse">
            <a:avLst/>
          </a:prstGeom>
          <a:solidFill>
            <a:srgbClr val="CF4420"/>
          </a:solidFill>
          <a:ln w="12700">
            <a:solidFill>
              <a:srgbClr val="333333"/>
            </a:solidFill>
            <a:prstDash val="solid"/>
          </a:ln>
        </p:spPr>
      </p:sp>
      <p:sp>
        <p:nvSpPr>
          <p:cNvPr id="6" name="Text 4"/>
          <p:cNvSpPr txBox="1"/>
          <p:nvPr/>
        </p:nvSpPr>
        <p:spPr>
          <a:xfrm>
            <a:off x="960120" y="21031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1645920" y="2212848"/>
            <a:ext cx="2137562" cy="329184"/>
          </a:xfrm>
          <a:prstGeom prst="rect">
            <a:avLst/>
          </a:prstGeom>
          <a:noFill/>
          <a:ln/>
        </p:spPr>
        <p:txBody>
          <a:bodyPr wrap="square" lIns="0" tIns="0" rIns="0" bIns="0" rtlCol="0" anchor="ctr"/>
          <a:lstStyle/>
          <a:p>
            <a:pPr indent="0" marL="0">
              <a:buNone/>
            </a:pPr>
            <a:r>
              <a:rPr lang="en-US" sz="1300" b="1" spc="200" kern="0" dirty="0">
                <a:solidFill>
                  <a:srgbClr val="CF4420"/>
                </a:solidFill>
                <a:latin typeface="Calibri" pitchFamily="34" charset="0"/>
                <a:ea typeface="Calibri" pitchFamily="34" charset="-122"/>
                <a:cs typeface="Calibri" pitchFamily="34" charset="-120"/>
              </a:rPr>
              <a:t>PURPOSE</a:t>
            </a:r>
            <a:endParaRPr lang="en-US" sz="1300" dirty="0"/>
          </a:p>
        </p:txBody>
      </p:sp>
      <p:sp>
        <p:nvSpPr>
          <p:cNvPr id="8" name="Text 6"/>
          <p:cNvSpPr txBox="1"/>
          <p:nvPr/>
        </p:nvSpPr>
        <p:spPr>
          <a:xfrm>
            <a:off x="960120" y="2834640"/>
            <a:ext cx="2777642" cy="822960"/>
          </a:xfrm>
          <a:prstGeom prst="rect">
            <a:avLst/>
          </a:prstGeom>
          <a:noFill/>
          <a:ln/>
        </p:spPr>
        <p:txBody>
          <a:bodyPr wrap="square" lIns="0" tIns="0" rIns="0" bIns="0" rtlCol="0" anchor="ctr"/>
          <a:lstStyle/>
          <a:p>
            <a:pPr indent="0" marL="0">
              <a:buNone/>
            </a:pPr>
            <a:r>
              <a:rPr lang="en-US" sz="2400" b="1" dirty="0">
                <a:solidFill>
                  <a:srgbClr val="630031"/>
                </a:solidFill>
                <a:latin typeface="Cambria" pitchFamily="34" charset="0"/>
                <a:ea typeface="Cambria" pitchFamily="34" charset="-122"/>
                <a:cs typeface="Cambria" pitchFamily="34" charset="-120"/>
              </a:rPr>
              <a:t>Why should it exist?</a:t>
            </a:r>
            <a:endParaRPr lang="en-US" sz="2400" dirty="0"/>
          </a:p>
        </p:txBody>
      </p:sp>
      <p:sp>
        <p:nvSpPr>
          <p:cNvPr id="9" name="Text 7"/>
          <p:cNvSpPr txBox="1"/>
          <p:nvPr/>
        </p:nvSpPr>
        <p:spPr>
          <a:xfrm>
            <a:off x="960120" y="3703320"/>
            <a:ext cx="2777642" cy="731520"/>
          </a:xfrm>
          <a:prstGeom prst="rect">
            <a:avLst/>
          </a:prstGeom>
          <a:noFill/>
          <a:ln/>
        </p:spPr>
        <p:txBody>
          <a:bodyPr wrap="square" lIns="0" tIns="0" rIns="0" bIns="0" rtlCol="0" anchor="ctr"/>
          <a:lstStyle/>
          <a:p>
            <a:pPr indent="0" marL="0">
              <a:lnSpc>
                <a:spcPts val="2100"/>
              </a:lnSpc>
              <a:buNone/>
            </a:pPr>
            <a:r>
              <a:rPr lang="en-US" sz="1500" dirty="0">
                <a:solidFill>
                  <a:srgbClr val="1C1A19"/>
                </a:solidFill>
                <a:latin typeface="Calibri" pitchFamily="34" charset="0"/>
                <a:ea typeface="Calibri" pitchFamily="34" charset="-122"/>
                <a:cs typeface="Calibri" pitchFamily="34" charset="-120"/>
              </a:rPr>
              <a:t>Not what it does. The change it makes.</a:t>
            </a:r>
            <a:endParaRPr lang="en-US" sz="1500" dirty="0"/>
          </a:p>
        </p:txBody>
      </p:sp>
      <p:sp>
        <p:nvSpPr>
          <p:cNvPr id="10" name="Shape 8"/>
          <p:cNvSpPr/>
          <p:nvPr/>
        </p:nvSpPr>
        <p:spPr>
          <a:xfrm>
            <a:off x="4386986" y="1828800"/>
            <a:ext cx="3417722" cy="2743200"/>
          </a:xfrm>
          <a:prstGeom prst="roundRect">
            <a:avLst>
              <a:gd name="adj" fmla="val 3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1" name="Shape 9"/>
          <p:cNvSpPr/>
          <p:nvPr/>
        </p:nvSpPr>
        <p:spPr>
          <a:xfrm>
            <a:off x="4707026" y="2103120"/>
            <a:ext cx="548640" cy="548640"/>
          </a:xfrm>
          <a:prstGeom prst="ellipse">
            <a:avLst/>
          </a:prstGeom>
          <a:solidFill>
            <a:srgbClr val="CF4420"/>
          </a:solidFill>
          <a:ln w="12700">
            <a:solidFill>
              <a:srgbClr val="333333"/>
            </a:solidFill>
            <a:prstDash val="solid"/>
          </a:ln>
        </p:spPr>
      </p:sp>
      <p:sp>
        <p:nvSpPr>
          <p:cNvPr id="12" name="Text 10"/>
          <p:cNvSpPr txBox="1"/>
          <p:nvPr/>
        </p:nvSpPr>
        <p:spPr>
          <a:xfrm>
            <a:off x="4707026" y="21031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txBox="1"/>
          <p:nvPr/>
        </p:nvSpPr>
        <p:spPr>
          <a:xfrm>
            <a:off x="5392826" y="2212848"/>
            <a:ext cx="2137562" cy="329184"/>
          </a:xfrm>
          <a:prstGeom prst="rect">
            <a:avLst/>
          </a:prstGeom>
          <a:noFill/>
          <a:ln/>
        </p:spPr>
        <p:txBody>
          <a:bodyPr wrap="square" lIns="0" tIns="0" rIns="0" bIns="0" rtlCol="0" anchor="ctr"/>
          <a:lstStyle/>
          <a:p>
            <a:pPr indent="0" marL="0">
              <a:buNone/>
            </a:pPr>
            <a:r>
              <a:rPr lang="en-US" sz="1300" b="1" spc="200" kern="0" dirty="0">
                <a:solidFill>
                  <a:srgbClr val="CF4420"/>
                </a:solidFill>
                <a:latin typeface="Calibri" pitchFamily="34" charset="0"/>
                <a:ea typeface="Calibri" pitchFamily="34" charset="-122"/>
                <a:cs typeface="Calibri" pitchFamily="34" charset="-120"/>
              </a:rPr>
              <a:t>USERS</a:t>
            </a:r>
            <a:endParaRPr lang="en-US" sz="1300" dirty="0"/>
          </a:p>
        </p:txBody>
      </p:sp>
      <p:sp>
        <p:nvSpPr>
          <p:cNvPr id="14" name="Text 12"/>
          <p:cNvSpPr txBox="1"/>
          <p:nvPr/>
        </p:nvSpPr>
        <p:spPr>
          <a:xfrm>
            <a:off x="4707026" y="2834640"/>
            <a:ext cx="2777642" cy="822960"/>
          </a:xfrm>
          <a:prstGeom prst="rect">
            <a:avLst/>
          </a:prstGeom>
          <a:noFill/>
          <a:ln/>
        </p:spPr>
        <p:txBody>
          <a:bodyPr wrap="square" lIns="0" tIns="0" rIns="0" bIns="0" rtlCol="0" anchor="ctr"/>
          <a:lstStyle/>
          <a:p>
            <a:pPr indent="0" marL="0">
              <a:buNone/>
            </a:pPr>
            <a:r>
              <a:rPr lang="en-US" sz="2400" b="1" dirty="0">
                <a:solidFill>
                  <a:srgbClr val="630031"/>
                </a:solidFill>
                <a:latin typeface="Cambria" pitchFamily="34" charset="0"/>
                <a:ea typeface="Cambria" pitchFamily="34" charset="-122"/>
                <a:cs typeface="Cambria" pitchFamily="34" charset="-120"/>
              </a:rPr>
              <a:t>Who is it for?</a:t>
            </a:r>
            <a:endParaRPr lang="en-US" sz="2400" dirty="0"/>
          </a:p>
        </p:txBody>
      </p:sp>
      <p:sp>
        <p:nvSpPr>
          <p:cNvPr id="15" name="Text 13"/>
          <p:cNvSpPr txBox="1"/>
          <p:nvPr/>
        </p:nvSpPr>
        <p:spPr>
          <a:xfrm>
            <a:off x="4707026" y="3703320"/>
            <a:ext cx="2777642" cy="731520"/>
          </a:xfrm>
          <a:prstGeom prst="rect">
            <a:avLst/>
          </a:prstGeom>
          <a:noFill/>
          <a:ln/>
        </p:spPr>
        <p:txBody>
          <a:bodyPr wrap="square" lIns="0" tIns="0" rIns="0" bIns="0" rtlCol="0" anchor="ctr"/>
          <a:lstStyle/>
          <a:p>
            <a:pPr indent="0" marL="0">
              <a:lnSpc>
                <a:spcPts val="2100"/>
              </a:lnSpc>
              <a:buNone/>
            </a:pPr>
            <a:r>
              <a:rPr lang="en-US" sz="1500" dirty="0">
                <a:solidFill>
                  <a:srgbClr val="1C1A19"/>
                </a:solidFill>
                <a:latin typeface="Calibri" pitchFamily="34" charset="0"/>
                <a:ea typeface="Calibri" pitchFamily="34" charset="-122"/>
                <a:cs typeface="Calibri" pitchFamily="34" charset="-120"/>
              </a:rPr>
              <a:t>There is always more than one.</a:t>
            </a:r>
            <a:endParaRPr lang="en-US" sz="1500" dirty="0"/>
          </a:p>
        </p:txBody>
      </p:sp>
      <p:sp>
        <p:nvSpPr>
          <p:cNvPr id="16" name="Shape 14"/>
          <p:cNvSpPr/>
          <p:nvPr/>
        </p:nvSpPr>
        <p:spPr>
          <a:xfrm>
            <a:off x="8133893" y="1828800"/>
            <a:ext cx="3417722" cy="2743200"/>
          </a:xfrm>
          <a:prstGeom prst="roundRect">
            <a:avLst>
              <a:gd name="adj" fmla="val 3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7" name="Shape 15"/>
          <p:cNvSpPr/>
          <p:nvPr/>
        </p:nvSpPr>
        <p:spPr>
          <a:xfrm>
            <a:off x="8453933" y="2103120"/>
            <a:ext cx="548640" cy="548640"/>
          </a:xfrm>
          <a:prstGeom prst="ellipse">
            <a:avLst/>
          </a:prstGeom>
          <a:solidFill>
            <a:srgbClr val="CF4420"/>
          </a:solidFill>
          <a:ln w="12700">
            <a:solidFill>
              <a:srgbClr val="333333"/>
            </a:solidFill>
            <a:prstDash val="solid"/>
          </a:ln>
        </p:spPr>
      </p:sp>
      <p:sp>
        <p:nvSpPr>
          <p:cNvPr id="18" name="Text 16"/>
          <p:cNvSpPr txBox="1"/>
          <p:nvPr/>
        </p:nvSpPr>
        <p:spPr>
          <a:xfrm>
            <a:off x="8453933" y="21031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Text 17"/>
          <p:cNvSpPr txBox="1"/>
          <p:nvPr/>
        </p:nvSpPr>
        <p:spPr>
          <a:xfrm>
            <a:off x="9139733" y="2212848"/>
            <a:ext cx="2137562" cy="329184"/>
          </a:xfrm>
          <a:prstGeom prst="rect">
            <a:avLst/>
          </a:prstGeom>
          <a:noFill/>
          <a:ln/>
        </p:spPr>
        <p:txBody>
          <a:bodyPr wrap="square" lIns="0" tIns="0" rIns="0" bIns="0" rtlCol="0" anchor="ctr"/>
          <a:lstStyle/>
          <a:p>
            <a:pPr indent="0" marL="0">
              <a:buNone/>
            </a:pPr>
            <a:r>
              <a:rPr lang="en-US" sz="1300" b="1" spc="200" kern="0" dirty="0">
                <a:solidFill>
                  <a:srgbClr val="CF4420"/>
                </a:solidFill>
                <a:latin typeface="Calibri" pitchFamily="34" charset="0"/>
                <a:ea typeface="Calibri" pitchFamily="34" charset="-122"/>
                <a:cs typeface="Calibri" pitchFamily="34" charset="-120"/>
              </a:rPr>
              <a:t>USER STORIES</a:t>
            </a:r>
            <a:endParaRPr lang="en-US" sz="1300" dirty="0"/>
          </a:p>
        </p:txBody>
      </p:sp>
      <p:sp>
        <p:nvSpPr>
          <p:cNvPr id="20" name="Text 18"/>
          <p:cNvSpPr txBox="1"/>
          <p:nvPr/>
        </p:nvSpPr>
        <p:spPr>
          <a:xfrm>
            <a:off x="8453933" y="2834640"/>
            <a:ext cx="2777642" cy="822960"/>
          </a:xfrm>
          <a:prstGeom prst="rect">
            <a:avLst/>
          </a:prstGeom>
          <a:noFill/>
          <a:ln/>
        </p:spPr>
        <p:txBody>
          <a:bodyPr wrap="square" lIns="0" tIns="0" rIns="0" bIns="0" rtlCol="0" anchor="ctr"/>
          <a:lstStyle/>
          <a:p>
            <a:pPr indent="0" marL="0">
              <a:buNone/>
            </a:pPr>
            <a:r>
              <a:rPr lang="en-US" sz="2400" b="1" dirty="0">
                <a:solidFill>
                  <a:srgbClr val="630031"/>
                </a:solidFill>
                <a:latin typeface="Cambria" pitchFamily="34" charset="0"/>
                <a:ea typeface="Cambria" pitchFamily="34" charset="-122"/>
                <a:cs typeface="Cambria" pitchFamily="34" charset="-120"/>
              </a:rPr>
              <a:t>What do they need to do?</a:t>
            </a:r>
            <a:endParaRPr lang="en-US" sz="2400" dirty="0"/>
          </a:p>
        </p:txBody>
      </p:sp>
      <p:sp>
        <p:nvSpPr>
          <p:cNvPr id="21" name="Text 19"/>
          <p:cNvSpPr txBox="1"/>
          <p:nvPr/>
        </p:nvSpPr>
        <p:spPr>
          <a:xfrm>
            <a:off x="8453933" y="3703320"/>
            <a:ext cx="2777642" cy="731520"/>
          </a:xfrm>
          <a:prstGeom prst="rect">
            <a:avLst/>
          </a:prstGeom>
          <a:noFill/>
          <a:ln/>
        </p:spPr>
        <p:txBody>
          <a:bodyPr wrap="square" lIns="0" tIns="0" rIns="0" bIns="0" rtlCol="0" anchor="ctr"/>
          <a:lstStyle/>
          <a:p>
            <a:pPr indent="0" marL="0">
              <a:lnSpc>
                <a:spcPts val="2100"/>
              </a:lnSpc>
              <a:buNone/>
            </a:pPr>
            <a:r>
              <a:rPr lang="en-US" sz="1500" dirty="0">
                <a:solidFill>
                  <a:srgbClr val="1C1A19"/>
                </a:solidFill>
                <a:latin typeface="Calibri" pitchFamily="34" charset="0"/>
                <a:ea typeface="Calibri" pitchFamily="34" charset="-122"/>
                <a:cs typeface="Calibri" pitchFamily="34" charset="-120"/>
              </a:rPr>
              <a:t>Who, what, and why, in one sentence.</a:t>
            </a:r>
            <a:endParaRPr lang="en-US" sz="1500" dirty="0"/>
          </a:p>
        </p:txBody>
      </p:sp>
      <p:sp>
        <p:nvSpPr>
          <p:cNvPr id="22" name="Shape 20"/>
          <p:cNvSpPr/>
          <p:nvPr/>
        </p:nvSpPr>
        <p:spPr>
          <a:xfrm>
            <a:off x="640080" y="4937760"/>
            <a:ext cx="10911535" cy="960120"/>
          </a:xfrm>
          <a:prstGeom prst="roundRect">
            <a:avLst>
              <a:gd name="adj" fmla="val 8571"/>
            </a:avLst>
          </a:prstGeom>
          <a:solidFill>
            <a:srgbClr val="FBEDE8"/>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3" name="Text 21"/>
          <p:cNvSpPr txBox="1"/>
          <p:nvPr/>
        </p:nvSpPr>
        <p:spPr>
          <a:xfrm>
            <a:off x="960120" y="5029200"/>
            <a:ext cx="10271455" cy="777240"/>
          </a:xfrm>
          <a:prstGeom prst="rect">
            <a:avLst/>
          </a:prstGeom>
          <a:noFill/>
          <a:ln/>
        </p:spPr>
        <p:txBody>
          <a:bodyPr wrap="square" lIns="0" tIns="0" rIns="0" bIns="0" rtlCol="0" anchor="ctr"/>
          <a:lstStyle/>
          <a:p>
            <a:pPr indent="0" marL="0">
              <a:buNone/>
            </a:pPr>
            <a:r>
              <a:rPr lang="en-US" sz="1600" b="1" dirty="0">
                <a:solidFill>
                  <a:srgbClr val="CF4420"/>
                </a:solidFill>
                <a:latin typeface="Calibri" pitchFamily="34" charset="0"/>
                <a:ea typeface="Calibri" pitchFamily="34" charset="-122"/>
                <a:cs typeface="Calibri" pitchFamily="34" charset="-120"/>
              </a:rPr>
              <a:t>Then: </a:t>
            </a:r>
            <a:pPr indent="0" marL="0">
              <a:buNone/>
            </a:pPr>
            <a:r>
              <a:rPr lang="en-US" sz="1600" dirty="0">
                <a:solidFill>
                  <a:srgbClr val="1C1A19"/>
                </a:solidFill>
                <a:latin typeface="Calibri" pitchFamily="34" charset="0"/>
                <a:ea typeface="Calibri" pitchFamily="34" charset="-122"/>
                <a:cs typeface="Calibri" pitchFamily="34" charset="-120"/>
              </a:rPr>
              <a:t>your team picks something that would make a difference in our community, and plans it. I will build a prototype of it from exactly what you write.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30031"/>
        </a:solidFill>
      </p:bgPr>
    </p:bg>
    <p:spTree>
      <p:nvGrpSpPr>
        <p:cNvPr id="1" name=""/>
        <p:cNvGrpSpPr/>
        <p:nvPr/>
      </p:nvGrpSpPr>
      <p:grpSpPr>
        <a:xfrm>
          <a:off x="0" y="0"/>
          <a:ext cx="0" cy="0"/>
          <a:chOff x="0" y="0"/>
          <a:chExt cx="0" cy="0"/>
        </a:xfrm>
      </p:grpSpPr>
      <p:sp>
        <p:nvSpPr>
          <p:cNvPr id="2" name="Shape 0"/>
          <p:cNvSpPr/>
          <p:nvPr/>
        </p:nvSpPr>
        <p:spPr>
          <a:xfrm>
            <a:off x="9052560" y="1097280"/>
            <a:ext cx="4754880" cy="4754880"/>
          </a:xfrm>
          <a:prstGeom prst="ellipse">
            <a:avLst/>
          </a:prstGeom>
          <a:solidFill>
            <a:srgbClr val="4A0025"/>
          </a:solidFill>
          <a:ln w="12700">
            <a:solidFill>
              <a:srgbClr val="333333"/>
            </a:solidFill>
            <a:prstDash val="solid"/>
          </a:ln>
        </p:spPr>
      </p:sp>
      <p:sp>
        <p:nvSpPr>
          <p:cNvPr id="3" name="Text 1"/>
          <p:cNvSpPr txBox="1"/>
          <p:nvPr/>
        </p:nvSpPr>
        <p:spPr>
          <a:xfrm>
            <a:off x="9052560" y="1097280"/>
            <a:ext cx="4754880" cy="4754880"/>
          </a:xfrm>
          <a:prstGeom prst="rect">
            <a:avLst/>
          </a:prstGeom>
          <a:noFill/>
          <a:ln/>
        </p:spPr>
        <p:txBody>
          <a:bodyPr wrap="square" lIns="0" tIns="0" rIns="0" bIns="0" rtlCol="0" anchor="ctr"/>
          <a:lstStyle/>
          <a:p>
            <a:pPr algn="ctr" indent="0" marL="0">
              <a:buNone/>
            </a:pPr>
            <a:r>
              <a:rPr lang="en-US" sz="20000" b="1" dirty="0">
                <a:solidFill>
                  <a:srgbClr val="CF4420"/>
                </a:solidFill>
                <a:latin typeface="Cambria" pitchFamily="34" charset="0"/>
                <a:ea typeface="Cambria" pitchFamily="34" charset="-122"/>
                <a:cs typeface="Cambria" pitchFamily="34" charset="-120"/>
              </a:rPr>
              <a:t>1</a:t>
            </a:r>
            <a:endParaRPr lang="en-US" sz="20000" dirty="0"/>
          </a:p>
        </p:txBody>
      </p:sp>
      <p:sp>
        <p:nvSpPr>
          <p:cNvPr id="4" name="Text 2"/>
          <p:cNvSpPr txBox="1"/>
          <p:nvPr/>
        </p:nvSpPr>
        <p:spPr>
          <a:xfrm>
            <a:off x="640080" y="2103120"/>
            <a:ext cx="7315200" cy="310896"/>
          </a:xfrm>
          <a:prstGeom prst="rect">
            <a:avLst/>
          </a:prstGeom>
          <a:noFill/>
          <a:ln/>
        </p:spPr>
        <p:txBody>
          <a:bodyPr wrap="square" lIns="0" tIns="0" rIns="0" bIns="0" rtlCol="0" anchor="ctr"/>
          <a:lstStyle/>
          <a:p>
            <a:pPr indent="0" marL="0">
              <a:buNone/>
            </a:pPr>
            <a:r>
              <a:rPr lang="en-US" sz="1300" b="1" spc="300" kern="0" dirty="0">
                <a:solidFill>
                  <a:srgbClr val="E9C9D6"/>
                </a:solidFill>
                <a:latin typeface="Calibri" pitchFamily="34" charset="0"/>
                <a:ea typeface="Calibri" pitchFamily="34" charset="-122"/>
                <a:cs typeface="Calibri" pitchFamily="34" charset="-120"/>
              </a:rPr>
              <a:t>STEP 1 OF 3</a:t>
            </a:r>
            <a:endParaRPr lang="en-US" sz="1300" dirty="0"/>
          </a:p>
        </p:txBody>
      </p:sp>
      <p:sp>
        <p:nvSpPr>
          <p:cNvPr id="5" name="Text 3"/>
          <p:cNvSpPr txBox="1"/>
          <p:nvPr/>
        </p:nvSpPr>
        <p:spPr>
          <a:xfrm>
            <a:off x="640080" y="2468880"/>
            <a:ext cx="804672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Purpose</a:t>
            </a:r>
            <a:endParaRPr lang="en-US" sz="5400" dirty="0"/>
          </a:p>
        </p:txBody>
      </p:sp>
      <p:sp>
        <p:nvSpPr>
          <p:cNvPr id="6" name="Text 4"/>
          <p:cNvSpPr txBox="1"/>
          <p:nvPr/>
        </p:nvSpPr>
        <p:spPr>
          <a:xfrm>
            <a:off x="640080" y="3611880"/>
            <a:ext cx="7863840" cy="1097280"/>
          </a:xfrm>
          <a:prstGeom prst="rect">
            <a:avLst/>
          </a:prstGeom>
          <a:noFill/>
          <a:ln/>
        </p:spPr>
        <p:txBody>
          <a:bodyPr wrap="square" lIns="0" tIns="0" rIns="0" bIns="0" rtlCol="0" anchor="ctr"/>
          <a:lstStyle/>
          <a:p>
            <a:pPr indent="0" marL="0">
              <a:lnSpc>
                <a:spcPts val="3200"/>
              </a:lnSpc>
              <a:buNone/>
            </a:pPr>
            <a:r>
              <a:rPr lang="en-US" sz="2400" dirty="0">
                <a:solidFill>
                  <a:srgbClr val="F3E3EA"/>
                </a:solidFill>
                <a:latin typeface="Calibri" pitchFamily="34" charset="0"/>
                <a:ea typeface="Calibri" pitchFamily="34" charset="-122"/>
                <a:cs typeface="Calibri" pitchFamily="34" charset="-120"/>
              </a:rPr>
              <a:t>Not what it does.</a:t>
            </a:r>
            <a:endParaRPr lang="en-US" sz="2400" dirty="0"/>
          </a:p>
          <a:p>
            <a:pPr indent="0" marL="0">
              <a:lnSpc>
                <a:spcPts val="3200"/>
              </a:lnSpc>
              <a:buNone/>
            </a:pPr>
            <a:r>
              <a:rPr lang="en-US" sz="2400" dirty="0">
                <a:solidFill>
                  <a:srgbClr val="F3E3EA"/>
                </a:solidFill>
                <a:latin typeface="Calibri" pitchFamily="34" charset="0"/>
                <a:ea typeface="Calibri" pitchFamily="34" charset="-122"/>
                <a:cs typeface="Calibri" pitchFamily="34" charset="-120"/>
              </a:rPr>
              <a:t>The change it makes.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PURPOSE</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What it does vs. the impact it has</a:t>
            </a:r>
            <a:endParaRPr lang="en-US" sz="3400" dirty="0"/>
          </a:p>
        </p:txBody>
      </p:sp>
      <p:sp>
        <p:nvSpPr>
          <p:cNvPr id="4" name="Shape 2"/>
          <p:cNvSpPr/>
          <p:nvPr/>
        </p:nvSpPr>
        <p:spPr>
          <a:xfrm>
            <a:off x="640080" y="1783080"/>
            <a:ext cx="5272888" cy="3108960"/>
          </a:xfrm>
          <a:prstGeom prst="roundRect">
            <a:avLst>
              <a:gd name="adj" fmla="val 264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Shape 3"/>
          <p:cNvSpPr/>
          <p:nvPr/>
        </p:nvSpPr>
        <p:spPr>
          <a:xfrm>
            <a:off x="6278728" y="1783080"/>
            <a:ext cx="5272888" cy="3108960"/>
          </a:xfrm>
          <a:prstGeom prst="roundRect">
            <a:avLst>
              <a:gd name="adj" fmla="val 2647"/>
            </a:avLst>
          </a:prstGeom>
          <a:solidFill>
            <a:srgbClr val="EAF4EE"/>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6" name="Text 4"/>
          <p:cNvSpPr txBox="1"/>
          <p:nvPr/>
        </p:nvSpPr>
        <p:spPr>
          <a:xfrm>
            <a:off x="1005840" y="2011680"/>
            <a:ext cx="4541368" cy="320040"/>
          </a:xfrm>
          <a:prstGeom prst="rect">
            <a:avLst/>
          </a:prstGeom>
          <a:noFill/>
          <a:ln/>
        </p:spPr>
        <p:txBody>
          <a:bodyPr wrap="square" lIns="0" tIns="0" rIns="0" bIns="0" rtlCol="0" anchor="ctr"/>
          <a:lstStyle/>
          <a:p>
            <a:pPr indent="0" marL="0">
              <a:buNone/>
            </a:pPr>
            <a:r>
              <a:rPr lang="en-US" sz="1400" b="1" spc="200" kern="0" dirty="0">
                <a:solidFill>
                  <a:srgbClr val="75787B"/>
                </a:solidFill>
                <a:latin typeface="Calibri" pitchFamily="34" charset="0"/>
                <a:ea typeface="Calibri" pitchFamily="34" charset="-122"/>
                <a:cs typeface="Calibri" pitchFamily="34" charset="-120"/>
              </a:rPr>
              <a:t>WHAT IT DOES</a:t>
            </a:r>
            <a:endParaRPr lang="en-US" sz="1400" dirty="0"/>
          </a:p>
        </p:txBody>
      </p:sp>
      <p:sp>
        <p:nvSpPr>
          <p:cNvPr id="7" name="Text 5"/>
          <p:cNvSpPr txBox="1"/>
          <p:nvPr/>
        </p:nvSpPr>
        <p:spPr>
          <a:xfrm>
            <a:off x="1005840" y="2468880"/>
            <a:ext cx="4541368" cy="1371600"/>
          </a:xfrm>
          <a:prstGeom prst="rect">
            <a:avLst/>
          </a:prstGeom>
          <a:noFill/>
          <a:ln/>
        </p:spPr>
        <p:txBody>
          <a:bodyPr wrap="square" lIns="0" tIns="0" rIns="0" bIns="0" rtlCol="0" anchor="ctr"/>
          <a:lstStyle/>
          <a:p>
            <a:pPr indent="0" marL="0">
              <a:lnSpc>
                <a:spcPts val="3200"/>
              </a:lnSpc>
              <a:buNone/>
            </a:pPr>
            <a:r>
              <a:rPr lang="en-US" sz="2400" dirty="0">
                <a:solidFill>
                  <a:srgbClr val="5A5F63"/>
                </a:solidFill>
                <a:latin typeface="Cambria" pitchFamily="34" charset="0"/>
                <a:ea typeface="Cambria" pitchFamily="34" charset="-122"/>
                <a:cs typeface="Cambria" pitchFamily="34" charset="-120"/>
              </a:rPr>
              <a:t>“An app that shows photos of everything in the lost and found.”</a:t>
            </a:r>
            <a:endParaRPr lang="en-US" sz="2400" dirty="0"/>
          </a:p>
        </p:txBody>
      </p:sp>
      <p:sp>
        <p:nvSpPr>
          <p:cNvPr id="8" name="Text 6"/>
          <p:cNvSpPr txBox="1"/>
          <p:nvPr/>
        </p:nvSpPr>
        <p:spPr>
          <a:xfrm>
            <a:off x="1005840" y="4114800"/>
            <a:ext cx="4541368" cy="457200"/>
          </a:xfrm>
          <a:prstGeom prst="rect">
            <a:avLst/>
          </a:prstGeom>
          <a:noFill/>
          <a:ln/>
        </p:spPr>
        <p:txBody>
          <a:bodyPr wrap="square" lIns="0" tIns="0" rIns="0" bIns="0" rtlCol="0" anchor="ctr"/>
          <a:lstStyle/>
          <a:p>
            <a:pPr indent="0" marL="0">
              <a:buNone/>
            </a:pPr>
            <a:r>
              <a:rPr lang="en-US" sz="1600" i="1" dirty="0">
                <a:solidFill>
                  <a:srgbClr val="75787B"/>
                </a:solidFill>
                <a:latin typeface="Calibri" pitchFamily="34" charset="0"/>
                <a:ea typeface="Calibri" pitchFamily="34" charset="-122"/>
                <a:cs typeface="Calibri" pitchFamily="34" charset="-120"/>
              </a:rPr>
              <a:t>True, but so what?</a:t>
            </a:r>
            <a:endParaRPr lang="en-US" sz="1600" dirty="0"/>
          </a:p>
        </p:txBody>
      </p:sp>
      <p:sp>
        <p:nvSpPr>
          <p:cNvPr id="9" name="Text 7"/>
          <p:cNvSpPr txBox="1"/>
          <p:nvPr/>
        </p:nvSpPr>
        <p:spPr>
          <a:xfrm>
            <a:off x="6644488" y="2011680"/>
            <a:ext cx="4541368" cy="320040"/>
          </a:xfrm>
          <a:prstGeom prst="rect">
            <a:avLst/>
          </a:prstGeom>
          <a:noFill/>
          <a:ln/>
        </p:spPr>
        <p:txBody>
          <a:bodyPr wrap="square" lIns="0" tIns="0" rIns="0" bIns="0" rtlCol="0" anchor="ctr"/>
          <a:lstStyle/>
          <a:p>
            <a:pPr indent="0" marL="0">
              <a:buNone/>
            </a:pPr>
            <a:r>
              <a:rPr lang="en-US" sz="1400" b="1" spc="200" kern="0" dirty="0">
                <a:solidFill>
                  <a:srgbClr val="2E6B4A"/>
                </a:solidFill>
                <a:latin typeface="Calibri" pitchFamily="34" charset="0"/>
                <a:ea typeface="Calibri" pitchFamily="34" charset="-122"/>
                <a:cs typeface="Calibri" pitchFamily="34" charset="-120"/>
              </a:rPr>
              <a:t>THE IMPACT IT HAS</a:t>
            </a:r>
            <a:endParaRPr lang="en-US" sz="1400" dirty="0"/>
          </a:p>
        </p:txBody>
      </p:sp>
      <p:sp>
        <p:nvSpPr>
          <p:cNvPr id="10" name="Text 8"/>
          <p:cNvSpPr txBox="1"/>
          <p:nvPr/>
        </p:nvSpPr>
        <p:spPr>
          <a:xfrm>
            <a:off x="6644488" y="2468880"/>
            <a:ext cx="4541368" cy="1554480"/>
          </a:xfrm>
          <a:prstGeom prst="rect">
            <a:avLst/>
          </a:prstGeom>
          <a:noFill/>
          <a:ln/>
        </p:spPr>
        <p:txBody>
          <a:bodyPr wrap="square" lIns="0" tIns="0" rIns="0" bIns="0" rtlCol="0" anchor="ctr"/>
          <a:lstStyle/>
          <a:p>
            <a:pPr indent="0" marL="0">
              <a:lnSpc>
                <a:spcPts val="3200"/>
              </a:lnSpc>
              <a:buNone/>
            </a:pPr>
            <a:r>
              <a:rPr lang="en-US" sz="2400" b="1" dirty="0">
                <a:solidFill>
                  <a:srgbClr val="1C1A19"/>
                </a:solidFill>
                <a:latin typeface="Cambria" pitchFamily="34" charset="0"/>
                <a:ea typeface="Cambria" pitchFamily="34" charset="-122"/>
                <a:cs typeface="Cambria" pitchFamily="34" charset="-120"/>
              </a:rPr>
              <a:t>“Kids get their stuff back before it is donated, and families stop buying the same jacket twice.”</a:t>
            </a:r>
            <a:endParaRPr lang="en-US" sz="2400" dirty="0"/>
          </a:p>
        </p:txBody>
      </p:sp>
      <p:sp>
        <p:nvSpPr>
          <p:cNvPr id="11" name="Text 9"/>
          <p:cNvSpPr txBox="1"/>
          <p:nvPr/>
        </p:nvSpPr>
        <p:spPr>
          <a:xfrm>
            <a:off x="6644488" y="4114800"/>
            <a:ext cx="4541368" cy="457200"/>
          </a:xfrm>
          <a:prstGeom prst="rect">
            <a:avLst/>
          </a:prstGeom>
          <a:noFill/>
          <a:ln/>
        </p:spPr>
        <p:txBody>
          <a:bodyPr wrap="square" lIns="0" tIns="0" rIns="0" bIns="0" rtlCol="0" anchor="ctr"/>
          <a:lstStyle/>
          <a:p>
            <a:pPr indent="0" marL="0">
              <a:buNone/>
            </a:pPr>
            <a:r>
              <a:rPr lang="en-US" sz="1600" i="1" dirty="0">
                <a:solidFill>
                  <a:srgbClr val="2E6B4A"/>
                </a:solidFill>
                <a:latin typeface="Calibri" pitchFamily="34" charset="0"/>
                <a:ea typeface="Calibri" pitchFamily="34" charset="-122"/>
                <a:cs typeface="Calibri" pitchFamily="34" charset="-120"/>
              </a:rPr>
              <a:t>Now I care.</a:t>
            </a:r>
            <a:endParaRPr lang="en-US" sz="1600" dirty="0"/>
          </a:p>
        </p:txBody>
      </p:sp>
      <p:sp>
        <p:nvSpPr>
          <p:cNvPr id="12" name="Text 10"/>
          <p:cNvSpPr txBox="1"/>
          <p:nvPr/>
        </p:nvSpPr>
        <p:spPr>
          <a:xfrm>
            <a:off x="640080" y="5212080"/>
            <a:ext cx="10911535" cy="731520"/>
          </a:xfrm>
          <a:prstGeom prst="rect">
            <a:avLst/>
          </a:prstGeom>
          <a:noFill/>
          <a:ln/>
        </p:spPr>
        <p:txBody>
          <a:bodyPr wrap="square" lIns="0" tIns="0" rIns="0" bIns="0" rtlCol="0" anchor="t"/>
          <a:lstStyle/>
          <a:p>
            <a:pPr indent="0" marL="0">
              <a:lnSpc>
                <a:spcPts val="2200"/>
              </a:lnSpc>
              <a:buNone/>
            </a:pPr>
            <a:r>
              <a:rPr lang="en-US" sz="1800" dirty="0">
                <a:solidFill>
                  <a:srgbClr val="1C1A19"/>
                </a:solidFill>
                <a:latin typeface="Calibri" pitchFamily="34" charset="0"/>
                <a:ea typeface="Calibri" pitchFamily="34" charset="-122"/>
                <a:cs typeface="Calibri" pitchFamily="34" charset="-120"/>
              </a:rPr>
              <a:t>The impact names who is better off, and how. It is the reason anyone would build the thing, use it, or pay for it.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THUMBS UP FOR IMPACT, SIDEWAYS FOR DOES</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Quick check: does, or impact?</a:t>
            </a:r>
            <a:endParaRPr lang="en-US" sz="3400" dirty="0"/>
          </a:p>
        </p:txBody>
      </p:sp>
      <p:sp>
        <p:nvSpPr>
          <p:cNvPr id="4" name="Shape 2"/>
          <p:cNvSpPr/>
          <p:nvPr/>
        </p:nvSpPr>
        <p:spPr>
          <a:xfrm>
            <a:off x="640080" y="1783080"/>
            <a:ext cx="10911535" cy="777240"/>
          </a:xfrm>
          <a:prstGeom prst="roundRect">
            <a:avLst>
              <a:gd name="adj" fmla="val 10588"/>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Shape 3"/>
          <p:cNvSpPr/>
          <p:nvPr/>
        </p:nvSpPr>
        <p:spPr>
          <a:xfrm>
            <a:off x="868680" y="1956816"/>
            <a:ext cx="420624" cy="420624"/>
          </a:xfrm>
          <a:prstGeom prst="ellipse">
            <a:avLst/>
          </a:prstGeom>
          <a:solidFill>
            <a:srgbClr val="630031"/>
          </a:solidFill>
          <a:ln w="12700">
            <a:solidFill>
              <a:srgbClr val="333333"/>
            </a:solidFill>
            <a:prstDash val="solid"/>
          </a:ln>
        </p:spPr>
      </p:sp>
      <p:sp>
        <p:nvSpPr>
          <p:cNvPr id="6" name="Text 4"/>
          <p:cNvSpPr txBox="1"/>
          <p:nvPr/>
        </p:nvSpPr>
        <p:spPr>
          <a:xfrm>
            <a:off x="868680" y="195681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7" name="Text 5"/>
          <p:cNvSpPr txBox="1"/>
          <p:nvPr/>
        </p:nvSpPr>
        <p:spPr>
          <a:xfrm>
            <a:off x="1554480" y="1783080"/>
            <a:ext cx="9722815" cy="777240"/>
          </a:xfrm>
          <a:prstGeom prst="rect">
            <a:avLst/>
          </a:prstGeom>
          <a:noFill/>
          <a:ln/>
        </p:spPr>
        <p:txBody>
          <a:bodyPr wrap="square" lIns="0" tIns="0" rIns="0" bIns="0" rtlCol="0" anchor="ctr"/>
          <a:lstStyle/>
          <a:p>
            <a:pPr indent="0" marL="0">
              <a:buNone/>
            </a:pPr>
            <a:r>
              <a:rPr lang="en-US" sz="1900" dirty="0">
                <a:solidFill>
                  <a:srgbClr val="1C1A19"/>
                </a:solidFill>
                <a:latin typeface="Calibri" pitchFamily="34" charset="0"/>
                <a:ea typeface="Calibri" pitchFamily="34" charset="-122"/>
                <a:cs typeface="Calibri" pitchFamily="34" charset="-120"/>
              </a:rPr>
              <a:t>A website with every park in Blacksburg on a map.</a:t>
            </a:r>
            <a:endParaRPr lang="en-US" sz="1900" dirty="0"/>
          </a:p>
        </p:txBody>
      </p:sp>
      <p:sp>
        <p:nvSpPr>
          <p:cNvPr id="8" name="Shape 6"/>
          <p:cNvSpPr/>
          <p:nvPr/>
        </p:nvSpPr>
        <p:spPr>
          <a:xfrm>
            <a:off x="640080" y="2743200"/>
            <a:ext cx="10911535" cy="777240"/>
          </a:xfrm>
          <a:prstGeom prst="roundRect">
            <a:avLst>
              <a:gd name="adj" fmla="val 10588"/>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Shape 7"/>
          <p:cNvSpPr/>
          <p:nvPr/>
        </p:nvSpPr>
        <p:spPr>
          <a:xfrm>
            <a:off x="868680" y="2916936"/>
            <a:ext cx="420624" cy="420624"/>
          </a:xfrm>
          <a:prstGeom prst="ellipse">
            <a:avLst/>
          </a:prstGeom>
          <a:solidFill>
            <a:srgbClr val="630031"/>
          </a:solidFill>
          <a:ln w="12700">
            <a:solidFill>
              <a:srgbClr val="333333"/>
            </a:solidFill>
            <a:prstDash val="solid"/>
          </a:ln>
        </p:spPr>
      </p:sp>
      <p:sp>
        <p:nvSpPr>
          <p:cNvPr id="10" name="Text 8"/>
          <p:cNvSpPr txBox="1"/>
          <p:nvPr/>
        </p:nvSpPr>
        <p:spPr>
          <a:xfrm>
            <a:off x="868680" y="29169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1" name="Text 9"/>
          <p:cNvSpPr txBox="1"/>
          <p:nvPr/>
        </p:nvSpPr>
        <p:spPr>
          <a:xfrm>
            <a:off x="1554480" y="2743200"/>
            <a:ext cx="9722815" cy="777240"/>
          </a:xfrm>
          <a:prstGeom prst="rect">
            <a:avLst/>
          </a:prstGeom>
          <a:noFill/>
          <a:ln/>
        </p:spPr>
        <p:txBody>
          <a:bodyPr wrap="square" lIns="0" tIns="0" rIns="0" bIns="0" rtlCol="0" anchor="ctr"/>
          <a:lstStyle/>
          <a:p>
            <a:pPr indent="0" marL="0">
              <a:buNone/>
            </a:pPr>
            <a:r>
              <a:rPr lang="en-US" sz="1900" dirty="0">
                <a:solidFill>
                  <a:srgbClr val="1C1A19"/>
                </a:solidFill>
                <a:latin typeface="Calibri" pitchFamily="34" charset="0"/>
                <a:ea typeface="Calibri" pitchFamily="34" charset="-122"/>
                <a:cs typeface="Calibri" pitchFamily="34" charset="-120"/>
              </a:rPr>
              <a:t>Families who just moved here find places to play and meet neighbors in their first week.</a:t>
            </a:r>
            <a:endParaRPr lang="en-US" sz="1900" dirty="0"/>
          </a:p>
        </p:txBody>
      </p:sp>
      <p:sp>
        <p:nvSpPr>
          <p:cNvPr id="12" name="Shape 10"/>
          <p:cNvSpPr/>
          <p:nvPr/>
        </p:nvSpPr>
        <p:spPr>
          <a:xfrm>
            <a:off x="640080" y="3703320"/>
            <a:ext cx="10911535" cy="777240"/>
          </a:xfrm>
          <a:prstGeom prst="roundRect">
            <a:avLst>
              <a:gd name="adj" fmla="val 10588"/>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3" name="Shape 11"/>
          <p:cNvSpPr/>
          <p:nvPr/>
        </p:nvSpPr>
        <p:spPr>
          <a:xfrm>
            <a:off x="868680" y="3877056"/>
            <a:ext cx="420624" cy="420624"/>
          </a:xfrm>
          <a:prstGeom prst="ellipse">
            <a:avLst/>
          </a:prstGeom>
          <a:solidFill>
            <a:srgbClr val="630031"/>
          </a:solidFill>
          <a:ln w="12700">
            <a:solidFill>
              <a:srgbClr val="333333"/>
            </a:solidFill>
            <a:prstDash val="solid"/>
          </a:ln>
        </p:spPr>
      </p:sp>
      <p:sp>
        <p:nvSpPr>
          <p:cNvPr id="14" name="Text 12"/>
          <p:cNvSpPr txBox="1"/>
          <p:nvPr/>
        </p:nvSpPr>
        <p:spPr>
          <a:xfrm>
            <a:off x="868680" y="38770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5" name="Text 13"/>
          <p:cNvSpPr txBox="1"/>
          <p:nvPr/>
        </p:nvSpPr>
        <p:spPr>
          <a:xfrm>
            <a:off x="1554480" y="3703320"/>
            <a:ext cx="9722815" cy="777240"/>
          </a:xfrm>
          <a:prstGeom prst="rect">
            <a:avLst/>
          </a:prstGeom>
          <a:noFill/>
          <a:ln/>
        </p:spPr>
        <p:txBody>
          <a:bodyPr wrap="square" lIns="0" tIns="0" rIns="0" bIns="0" rtlCol="0" anchor="ctr"/>
          <a:lstStyle/>
          <a:p>
            <a:pPr indent="0" marL="0">
              <a:buNone/>
            </a:pPr>
            <a:r>
              <a:rPr lang="en-US" sz="1900" dirty="0">
                <a:solidFill>
                  <a:srgbClr val="1C1A19"/>
                </a:solidFill>
                <a:latin typeface="Calibri" pitchFamily="34" charset="0"/>
                <a:ea typeface="Calibri" pitchFamily="34" charset="-122"/>
                <a:cs typeface="Calibri" pitchFamily="34" charset="-120"/>
              </a:rPr>
              <a:t>An app that shows the cafeteria menu.</a:t>
            </a:r>
            <a:endParaRPr lang="en-US" sz="1900" dirty="0"/>
          </a:p>
        </p:txBody>
      </p:sp>
      <p:sp>
        <p:nvSpPr>
          <p:cNvPr id="16" name="Shape 14"/>
          <p:cNvSpPr/>
          <p:nvPr/>
        </p:nvSpPr>
        <p:spPr>
          <a:xfrm>
            <a:off x="640080" y="4663440"/>
            <a:ext cx="10911535" cy="777240"/>
          </a:xfrm>
          <a:prstGeom prst="roundRect">
            <a:avLst>
              <a:gd name="adj" fmla="val 10588"/>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7" name="Shape 15"/>
          <p:cNvSpPr/>
          <p:nvPr/>
        </p:nvSpPr>
        <p:spPr>
          <a:xfrm>
            <a:off x="868680" y="4837176"/>
            <a:ext cx="420624" cy="420624"/>
          </a:xfrm>
          <a:prstGeom prst="ellipse">
            <a:avLst/>
          </a:prstGeom>
          <a:solidFill>
            <a:srgbClr val="630031"/>
          </a:solidFill>
          <a:ln w="12700">
            <a:solidFill>
              <a:srgbClr val="333333"/>
            </a:solidFill>
            <a:prstDash val="solid"/>
          </a:ln>
        </p:spPr>
      </p:sp>
      <p:sp>
        <p:nvSpPr>
          <p:cNvPr id="18" name="Text 16"/>
          <p:cNvSpPr txBox="1"/>
          <p:nvPr/>
        </p:nvSpPr>
        <p:spPr>
          <a:xfrm>
            <a:off x="868680" y="48371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19" name="Text 17"/>
          <p:cNvSpPr txBox="1"/>
          <p:nvPr/>
        </p:nvSpPr>
        <p:spPr>
          <a:xfrm>
            <a:off x="1554480" y="4663440"/>
            <a:ext cx="9722815" cy="777240"/>
          </a:xfrm>
          <a:prstGeom prst="rect">
            <a:avLst/>
          </a:prstGeom>
          <a:noFill/>
          <a:ln/>
        </p:spPr>
        <p:txBody>
          <a:bodyPr wrap="square" lIns="0" tIns="0" rIns="0" bIns="0" rtlCol="0" anchor="ctr"/>
          <a:lstStyle/>
          <a:p>
            <a:pPr indent="0" marL="0">
              <a:buNone/>
            </a:pPr>
            <a:r>
              <a:rPr lang="en-US" sz="1900" dirty="0">
                <a:solidFill>
                  <a:srgbClr val="1C1A19"/>
                </a:solidFill>
                <a:latin typeface="Calibri" pitchFamily="34" charset="0"/>
                <a:ea typeface="Calibri" pitchFamily="34" charset="-122"/>
                <a:cs typeface="Calibri" pitchFamily="34" charset="-120"/>
              </a:rPr>
              <a:t>Fewer kids skip lunch, because they know what is being served before they get in line.</a:t>
            </a:r>
            <a:endParaRPr lang="en-US" sz="1900" dirty="0"/>
          </a:p>
        </p:txBody>
      </p:sp>
      <p:sp>
        <p:nvSpPr>
          <p:cNvPr id="20" name="Text 18"/>
          <p:cNvSpPr txBox="1"/>
          <p:nvPr/>
        </p:nvSpPr>
        <p:spPr>
          <a:xfrm>
            <a:off x="640080" y="5715000"/>
            <a:ext cx="10911535" cy="548640"/>
          </a:xfrm>
          <a:prstGeom prst="rect">
            <a:avLst/>
          </a:prstGeom>
          <a:noFill/>
          <a:ln/>
        </p:spPr>
        <p:txBody>
          <a:bodyPr wrap="square" lIns="0" tIns="0" rIns="0" bIns="0" rtlCol="0" anchor="t"/>
          <a:lstStyle/>
          <a:p>
            <a:pPr indent="0" marL="0">
              <a:lnSpc>
                <a:spcPts val="2200"/>
              </a:lnSpc>
              <a:buNone/>
            </a:pPr>
            <a:r>
              <a:rPr lang="en-US" sz="1600" dirty="0">
                <a:solidFill>
                  <a:srgbClr val="75787B"/>
                </a:solidFill>
                <a:latin typeface="Calibri" pitchFamily="34" charset="0"/>
                <a:ea typeface="Calibri" pitchFamily="34" charset="-122"/>
                <a:cs typeface="Calibri" pitchFamily="34" charset="-120"/>
              </a:rPr>
              <a:t>Notice: A and B could be the same product. So could C and D. The purpose is what makes it worth building.</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PURPOSE</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A sentence starter for your purpose</a:t>
            </a:r>
            <a:endParaRPr lang="en-US" sz="3400" dirty="0"/>
          </a:p>
        </p:txBody>
      </p:sp>
      <p:sp>
        <p:nvSpPr>
          <p:cNvPr id="4" name="Shape 2"/>
          <p:cNvSpPr/>
          <p:nvPr/>
        </p:nvSpPr>
        <p:spPr>
          <a:xfrm>
            <a:off x="640080" y="1828800"/>
            <a:ext cx="10911535" cy="1371600"/>
          </a:xfrm>
          <a:prstGeom prst="roundRect">
            <a:avLst>
              <a:gd name="adj" fmla="val 6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Text 3"/>
          <p:cNvSpPr txBox="1"/>
          <p:nvPr/>
        </p:nvSpPr>
        <p:spPr>
          <a:xfrm>
            <a:off x="1005840" y="1828800"/>
            <a:ext cx="10180015" cy="1371600"/>
          </a:xfrm>
          <a:prstGeom prst="rect">
            <a:avLst/>
          </a:prstGeom>
          <a:noFill/>
          <a:ln/>
        </p:spPr>
        <p:txBody>
          <a:bodyPr wrap="square" lIns="0" tIns="0" rIns="0" bIns="0" rtlCol="0" anchor="ctr"/>
          <a:lstStyle/>
          <a:p>
            <a:pPr indent="0" marL="0">
              <a:buNone/>
            </a:pPr>
            <a:r>
              <a:rPr lang="en-US" sz="2800" b="1" dirty="0">
                <a:solidFill>
                  <a:srgbClr val="CF4420"/>
                </a:solidFill>
                <a:latin typeface="Cambria" pitchFamily="34" charset="0"/>
                <a:ea typeface="Cambria" pitchFamily="34" charset="-122"/>
                <a:cs typeface="Cambria" pitchFamily="34" charset="-120"/>
              </a:rPr>
              <a:t>________</a:t>
            </a:r>
            <a:pPr indent="0" marL="0">
              <a:buNone/>
            </a:pPr>
            <a:r>
              <a:rPr lang="en-US" sz="2800" dirty="0">
                <a:solidFill>
                  <a:srgbClr val="1C1A19"/>
                </a:solidFill>
                <a:latin typeface="Cambria" pitchFamily="34" charset="0"/>
                <a:ea typeface="Cambria" pitchFamily="34" charset="-122"/>
                <a:cs typeface="Cambria" pitchFamily="34" charset="-120"/>
              </a:rPr>
              <a:t> have a problem: </a:t>
            </a:r>
            <a:pPr indent="0" marL="0">
              <a:buNone/>
            </a:pPr>
            <a:r>
              <a:rPr lang="en-US" sz="2800" b="1" dirty="0">
                <a:solidFill>
                  <a:srgbClr val="CF4420"/>
                </a:solidFill>
                <a:latin typeface="Cambria" pitchFamily="34" charset="0"/>
                <a:ea typeface="Cambria" pitchFamily="34" charset="-122"/>
                <a:cs typeface="Cambria" pitchFamily="34" charset="-120"/>
              </a:rPr>
              <a:t>________</a:t>
            </a:r>
            <a:pPr indent="0" marL="0">
              <a:buNone/>
            </a:pPr>
            <a:r>
              <a:rPr lang="en-US" sz="2800" dirty="0">
                <a:solidFill>
                  <a:srgbClr val="1C1A19"/>
                </a:solidFill>
                <a:latin typeface="Cambria" pitchFamily="34" charset="0"/>
                <a:ea typeface="Cambria" pitchFamily="34" charset="-122"/>
                <a:cs typeface="Cambria" pitchFamily="34" charset="-120"/>
              </a:rPr>
              <a:t>.  Because of </a:t>
            </a:r>
            <a:pPr indent="0" marL="0">
              <a:buNone/>
            </a:pPr>
            <a:r>
              <a:rPr lang="en-US" sz="2800" b="1" dirty="0">
                <a:solidFill>
                  <a:srgbClr val="630031"/>
                </a:solidFill>
                <a:latin typeface="Cambria" pitchFamily="34" charset="0"/>
                <a:ea typeface="Cambria" pitchFamily="34" charset="-122"/>
                <a:cs typeface="Cambria" pitchFamily="34" charset="-120"/>
              </a:rPr>
              <a:t>[our idea]</a:t>
            </a:r>
            <a:pPr indent="0" marL="0">
              <a:buNone/>
            </a:pPr>
            <a:r>
              <a:rPr lang="en-US" sz="2800" dirty="0">
                <a:solidFill>
                  <a:srgbClr val="1C1A19"/>
                </a:solidFill>
                <a:latin typeface="Cambria" pitchFamily="34" charset="0"/>
                <a:ea typeface="Cambria" pitchFamily="34" charset="-122"/>
                <a:cs typeface="Cambria" pitchFamily="34" charset="-120"/>
              </a:rPr>
              <a:t>, </a:t>
            </a:r>
            <a:pPr indent="0" marL="0">
              <a:buNone/>
            </a:pPr>
            <a:r>
              <a:rPr lang="en-US" sz="2800" b="1" dirty="0">
                <a:solidFill>
                  <a:srgbClr val="CF4420"/>
                </a:solidFill>
                <a:latin typeface="Cambria" pitchFamily="34" charset="0"/>
                <a:ea typeface="Cambria" pitchFamily="34" charset="-122"/>
                <a:cs typeface="Cambria" pitchFamily="34" charset="-120"/>
              </a:rPr>
              <a:t>________</a:t>
            </a:r>
            <a:pPr indent="0" marL="0">
              <a:buNone/>
            </a:pPr>
            <a:r>
              <a:rPr lang="en-US" sz="2800" dirty="0">
                <a:solidFill>
                  <a:srgbClr val="1C1A19"/>
                </a:solidFill>
                <a:latin typeface="Cambria" pitchFamily="34" charset="0"/>
                <a:ea typeface="Cambria" pitchFamily="34" charset="-122"/>
                <a:cs typeface="Cambria" pitchFamily="34" charset="-120"/>
              </a:rPr>
              <a:t>.</a:t>
            </a:r>
            <a:endParaRPr lang="en-US" sz="2800" dirty="0"/>
          </a:p>
        </p:txBody>
      </p:sp>
      <p:sp>
        <p:nvSpPr>
          <p:cNvPr id="6" name="Text 4"/>
          <p:cNvSpPr txBox="1"/>
          <p:nvPr/>
        </p:nvSpPr>
        <p:spPr>
          <a:xfrm>
            <a:off x="640080" y="3566160"/>
            <a:ext cx="10911535" cy="320040"/>
          </a:xfrm>
          <a:prstGeom prst="rect">
            <a:avLst/>
          </a:prstGeom>
          <a:noFill/>
          <a:ln/>
        </p:spPr>
        <p:txBody>
          <a:bodyPr wrap="square" lIns="0" tIns="0" rIns="0" bIns="0" rtlCol="0" anchor="ctr"/>
          <a:lstStyle/>
          <a:p>
            <a:pPr indent="0" marL="0">
              <a:buNone/>
            </a:pPr>
            <a:r>
              <a:rPr lang="en-US" sz="1300" b="1" spc="200" kern="0" dirty="0">
                <a:solidFill>
                  <a:srgbClr val="2E6B4A"/>
                </a:solidFill>
                <a:latin typeface="Calibri" pitchFamily="34" charset="0"/>
                <a:ea typeface="Calibri" pitchFamily="34" charset="-122"/>
                <a:cs typeface="Calibri" pitchFamily="34" charset="-120"/>
              </a:rPr>
              <a:t>FILLED IN</a:t>
            </a:r>
            <a:endParaRPr lang="en-US" sz="1300" dirty="0"/>
          </a:p>
        </p:txBody>
      </p:sp>
      <p:sp>
        <p:nvSpPr>
          <p:cNvPr id="7" name="Text 5"/>
          <p:cNvSpPr txBox="1"/>
          <p:nvPr/>
        </p:nvSpPr>
        <p:spPr>
          <a:xfrm>
            <a:off x="640080" y="3931920"/>
            <a:ext cx="10911535" cy="1280160"/>
          </a:xfrm>
          <a:prstGeom prst="rect">
            <a:avLst/>
          </a:prstGeom>
          <a:noFill/>
          <a:ln/>
        </p:spPr>
        <p:txBody>
          <a:bodyPr wrap="square" lIns="0" tIns="0" rIns="0" bIns="0" rtlCol="0" anchor="t"/>
          <a:lstStyle/>
          <a:p>
            <a:pPr indent="0" marL="0">
              <a:lnSpc>
                <a:spcPts val="2800"/>
              </a:lnSpc>
              <a:buNone/>
            </a:pPr>
            <a:r>
              <a:rPr lang="en-US" sz="1900" dirty="0">
                <a:solidFill>
                  <a:srgbClr val="1C1A19"/>
                </a:solidFill>
                <a:latin typeface="Calibri" pitchFamily="34" charset="0"/>
                <a:ea typeface="Calibri" pitchFamily="34" charset="-122"/>
                <a:cs typeface="Calibri" pitchFamily="34" charset="-120"/>
              </a:rPr>
              <a:t>Students at our school have a problem: they lose jackets, water bottles and headphones every week, and most of it gets donated before anyone finds it. Because of Finders Keepers, kids get their things back and families stop buying the same jacket twice.</a:t>
            </a:r>
            <a:endParaRPr lang="en-US" sz="1900" dirty="0"/>
          </a:p>
        </p:txBody>
      </p:sp>
      <p:sp>
        <p:nvSpPr>
          <p:cNvPr id="8" name="Text 6"/>
          <p:cNvSpPr txBox="1"/>
          <p:nvPr/>
        </p:nvSpPr>
        <p:spPr>
          <a:xfrm>
            <a:off x="640080" y="5577840"/>
            <a:ext cx="10911535" cy="457200"/>
          </a:xfrm>
          <a:prstGeom prst="rect">
            <a:avLst/>
          </a:prstGeom>
          <a:noFill/>
          <a:ln/>
        </p:spPr>
        <p:txBody>
          <a:bodyPr wrap="square" lIns="0" tIns="0" rIns="0" bIns="0" rtlCol="0" anchor="t"/>
          <a:lstStyle/>
          <a:p>
            <a:pPr indent="0" marL="0">
              <a:lnSpc>
                <a:spcPts val="2200"/>
              </a:lnSpc>
              <a:buNone/>
            </a:pPr>
            <a:r>
              <a:rPr lang="en-US" sz="1500" dirty="0">
                <a:solidFill>
                  <a:srgbClr val="75787B"/>
                </a:solidFill>
                <a:latin typeface="Calibri" pitchFamily="34" charset="0"/>
                <a:ea typeface="Calibri" pitchFamily="34" charset="-122"/>
                <a:cs typeface="Calibri" pitchFamily="34" charset="-120"/>
              </a:rPr>
              <a:t>You do not have to use the starter. It is there for when you are stuck.</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30031"/>
        </a:solidFill>
      </p:bgPr>
    </p:bg>
    <p:spTree>
      <p:nvGrpSpPr>
        <p:cNvPr id="1" name=""/>
        <p:cNvGrpSpPr/>
        <p:nvPr/>
      </p:nvGrpSpPr>
      <p:grpSpPr>
        <a:xfrm>
          <a:off x="0" y="0"/>
          <a:ext cx="0" cy="0"/>
          <a:chOff x="0" y="0"/>
          <a:chExt cx="0" cy="0"/>
        </a:xfrm>
      </p:grpSpPr>
      <p:sp>
        <p:nvSpPr>
          <p:cNvPr id="2" name="Shape 0"/>
          <p:cNvSpPr/>
          <p:nvPr/>
        </p:nvSpPr>
        <p:spPr>
          <a:xfrm>
            <a:off x="9052560" y="1097280"/>
            <a:ext cx="4754880" cy="4754880"/>
          </a:xfrm>
          <a:prstGeom prst="ellipse">
            <a:avLst/>
          </a:prstGeom>
          <a:solidFill>
            <a:srgbClr val="4A0025"/>
          </a:solidFill>
          <a:ln w="12700">
            <a:solidFill>
              <a:srgbClr val="333333"/>
            </a:solidFill>
            <a:prstDash val="solid"/>
          </a:ln>
        </p:spPr>
      </p:sp>
      <p:sp>
        <p:nvSpPr>
          <p:cNvPr id="3" name="Text 1"/>
          <p:cNvSpPr txBox="1"/>
          <p:nvPr/>
        </p:nvSpPr>
        <p:spPr>
          <a:xfrm>
            <a:off x="9052560" y="1097280"/>
            <a:ext cx="4754880" cy="4754880"/>
          </a:xfrm>
          <a:prstGeom prst="rect">
            <a:avLst/>
          </a:prstGeom>
          <a:noFill/>
          <a:ln/>
        </p:spPr>
        <p:txBody>
          <a:bodyPr wrap="square" lIns="0" tIns="0" rIns="0" bIns="0" rtlCol="0" anchor="ctr"/>
          <a:lstStyle/>
          <a:p>
            <a:pPr algn="ctr" indent="0" marL="0">
              <a:buNone/>
            </a:pPr>
            <a:r>
              <a:rPr lang="en-US" sz="20000" b="1" dirty="0">
                <a:solidFill>
                  <a:srgbClr val="CF4420"/>
                </a:solidFill>
                <a:latin typeface="Cambria" pitchFamily="34" charset="0"/>
                <a:ea typeface="Cambria" pitchFamily="34" charset="-122"/>
                <a:cs typeface="Cambria" pitchFamily="34" charset="-120"/>
              </a:rPr>
              <a:t>2</a:t>
            </a:r>
            <a:endParaRPr lang="en-US" sz="20000" dirty="0"/>
          </a:p>
        </p:txBody>
      </p:sp>
      <p:sp>
        <p:nvSpPr>
          <p:cNvPr id="4" name="Text 2"/>
          <p:cNvSpPr txBox="1"/>
          <p:nvPr/>
        </p:nvSpPr>
        <p:spPr>
          <a:xfrm>
            <a:off x="640080" y="2103120"/>
            <a:ext cx="7315200" cy="310896"/>
          </a:xfrm>
          <a:prstGeom prst="rect">
            <a:avLst/>
          </a:prstGeom>
          <a:noFill/>
          <a:ln/>
        </p:spPr>
        <p:txBody>
          <a:bodyPr wrap="square" lIns="0" tIns="0" rIns="0" bIns="0" rtlCol="0" anchor="ctr"/>
          <a:lstStyle/>
          <a:p>
            <a:pPr indent="0" marL="0">
              <a:buNone/>
            </a:pPr>
            <a:r>
              <a:rPr lang="en-US" sz="1300" b="1" spc="300" kern="0" dirty="0">
                <a:solidFill>
                  <a:srgbClr val="E9C9D6"/>
                </a:solidFill>
                <a:latin typeface="Calibri" pitchFamily="34" charset="0"/>
                <a:ea typeface="Calibri" pitchFamily="34" charset="-122"/>
                <a:cs typeface="Calibri" pitchFamily="34" charset="-120"/>
              </a:rPr>
              <a:t>STEP 2 OF 3</a:t>
            </a:r>
            <a:endParaRPr lang="en-US" sz="1300" dirty="0"/>
          </a:p>
        </p:txBody>
      </p:sp>
      <p:sp>
        <p:nvSpPr>
          <p:cNvPr id="5" name="Text 3"/>
          <p:cNvSpPr txBox="1"/>
          <p:nvPr/>
        </p:nvSpPr>
        <p:spPr>
          <a:xfrm>
            <a:off x="640080" y="2468880"/>
            <a:ext cx="804672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Users</a:t>
            </a:r>
            <a:endParaRPr lang="en-US" sz="5400" dirty="0"/>
          </a:p>
        </p:txBody>
      </p:sp>
      <p:sp>
        <p:nvSpPr>
          <p:cNvPr id="6" name="Text 4"/>
          <p:cNvSpPr txBox="1"/>
          <p:nvPr/>
        </p:nvSpPr>
        <p:spPr>
          <a:xfrm>
            <a:off x="640080" y="3611880"/>
            <a:ext cx="7863840" cy="1097280"/>
          </a:xfrm>
          <a:prstGeom prst="rect">
            <a:avLst/>
          </a:prstGeom>
          <a:noFill/>
          <a:ln/>
        </p:spPr>
        <p:txBody>
          <a:bodyPr wrap="square" lIns="0" tIns="0" rIns="0" bIns="0" rtlCol="0" anchor="ctr"/>
          <a:lstStyle/>
          <a:p>
            <a:pPr indent="0" marL="0">
              <a:lnSpc>
                <a:spcPts val="3200"/>
              </a:lnSpc>
              <a:buNone/>
            </a:pPr>
            <a:r>
              <a:rPr lang="en-US" sz="2400" dirty="0">
                <a:solidFill>
                  <a:srgbClr val="F3E3EA"/>
                </a:solidFill>
                <a:latin typeface="Calibri" pitchFamily="34" charset="0"/>
                <a:ea typeface="Calibri" pitchFamily="34" charset="-122"/>
                <a:cs typeface="Calibri" pitchFamily="34" charset="-120"/>
              </a:rPr>
              <a:t>There is always</a:t>
            </a:r>
            <a:endParaRPr lang="en-US" sz="2400" dirty="0"/>
          </a:p>
          <a:p>
            <a:pPr indent="0" marL="0">
              <a:lnSpc>
                <a:spcPts val="3200"/>
              </a:lnSpc>
              <a:buNone/>
            </a:pPr>
            <a:r>
              <a:rPr lang="en-US" sz="2400" dirty="0">
                <a:solidFill>
                  <a:srgbClr val="F3E3EA"/>
                </a:solidFill>
                <a:latin typeface="Calibri" pitchFamily="34" charset="0"/>
                <a:ea typeface="Calibri" pitchFamily="34" charset="-122"/>
                <a:cs typeface="Calibri" pitchFamily="34" charset="-120"/>
              </a:rPr>
              <a:t>more than one.</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USERS</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Who uses Finders Keepers?</a:t>
            </a:r>
            <a:endParaRPr lang="en-US" sz="3400" dirty="0"/>
          </a:p>
        </p:txBody>
      </p:sp>
      <p:sp>
        <p:nvSpPr>
          <p:cNvPr id="4" name="Shape 2"/>
          <p:cNvSpPr/>
          <p:nvPr/>
        </p:nvSpPr>
        <p:spPr>
          <a:xfrm>
            <a:off x="640080" y="1783080"/>
            <a:ext cx="5272888" cy="1463040"/>
          </a:xfrm>
          <a:prstGeom prst="roundRect">
            <a:avLst>
              <a:gd name="adj" fmla="val 562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Text 3"/>
          <p:cNvSpPr txBox="1"/>
          <p:nvPr/>
        </p:nvSpPr>
        <p:spPr>
          <a:xfrm>
            <a:off x="960120" y="1965960"/>
            <a:ext cx="4632808" cy="411480"/>
          </a:xfrm>
          <a:prstGeom prst="rect">
            <a:avLst/>
          </a:prstGeom>
          <a:noFill/>
          <a:ln/>
        </p:spPr>
        <p:txBody>
          <a:bodyPr wrap="square" lIns="0" tIns="0" rIns="0" bIns="0" rtlCol="0" anchor="ctr"/>
          <a:lstStyle/>
          <a:p>
            <a:pPr indent="0" marL="0">
              <a:buNone/>
            </a:pPr>
            <a:r>
              <a:rPr lang="en-US" sz="2200" b="1" dirty="0">
                <a:solidFill>
                  <a:srgbClr val="630031"/>
                </a:solidFill>
                <a:latin typeface="Cambria" pitchFamily="34" charset="0"/>
                <a:ea typeface="Cambria" pitchFamily="34" charset="-122"/>
                <a:cs typeface="Cambria" pitchFamily="34" charset="-120"/>
              </a:rPr>
              <a:t>Students</a:t>
            </a:r>
            <a:endParaRPr lang="en-US" sz="2200" dirty="0"/>
          </a:p>
        </p:txBody>
      </p:sp>
      <p:sp>
        <p:nvSpPr>
          <p:cNvPr id="6" name="Text 4"/>
          <p:cNvSpPr txBox="1"/>
          <p:nvPr/>
        </p:nvSpPr>
        <p:spPr>
          <a:xfrm>
            <a:off x="960120" y="2423160"/>
            <a:ext cx="4632808" cy="731520"/>
          </a:xfrm>
          <a:prstGeom prst="rect">
            <a:avLst/>
          </a:prstGeom>
          <a:noFill/>
          <a:ln/>
        </p:spPr>
        <p:txBody>
          <a:bodyPr wrap="square" lIns="0" tIns="0" rIns="0" bIns="0" rtlCol="0" anchor="ctr"/>
          <a:lstStyle/>
          <a:p>
            <a:pPr indent="0" marL="0">
              <a:lnSpc>
                <a:spcPts val="2200"/>
              </a:lnSpc>
              <a:buNone/>
            </a:pPr>
            <a:r>
              <a:rPr lang="en-US" sz="1600" dirty="0">
                <a:solidFill>
                  <a:srgbClr val="1C1A19"/>
                </a:solidFill>
                <a:latin typeface="Calibri" pitchFamily="34" charset="0"/>
                <a:ea typeface="Calibri" pitchFamily="34" charset="-122"/>
                <a:cs typeface="Calibri" pitchFamily="34" charset="-120"/>
              </a:rPr>
              <a:t>They want their stuff back fast, without digging through a giant pile in front of everybody.</a:t>
            </a:r>
            <a:endParaRPr lang="en-US" sz="1600" dirty="0"/>
          </a:p>
        </p:txBody>
      </p:sp>
      <p:sp>
        <p:nvSpPr>
          <p:cNvPr id="7" name="Shape 5"/>
          <p:cNvSpPr/>
          <p:nvPr/>
        </p:nvSpPr>
        <p:spPr>
          <a:xfrm>
            <a:off x="6278728" y="1783080"/>
            <a:ext cx="5272888" cy="1463040"/>
          </a:xfrm>
          <a:prstGeom prst="roundRect">
            <a:avLst>
              <a:gd name="adj" fmla="val 562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8" name="Text 6"/>
          <p:cNvSpPr txBox="1"/>
          <p:nvPr/>
        </p:nvSpPr>
        <p:spPr>
          <a:xfrm>
            <a:off x="6598768" y="1965960"/>
            <a:ext cx="4632808" cy="411480"/>
          </a:xfrm>
          <a:prstGeom prst="rect">
            <a:avLst/>
          </a:prstGeom>
          <a:noFill/>
          <a:ln/>
        </p:spPr>
        <p:txBody>
          <a:bodyPr wrap="square" lIns="0" tIns="0" rIns="0" bIns="0" rtlCol="0" anchor="ctr"/>
          <a:lstStyle/>
          <a:p>
            <a:pPr indent="0" marL="0">
              <a:buNone/>
            </a:pPr>
            <a:r>
              <a:rPr lang="en-US" sz="2200" b="1" dirty="0">
                <a:solidFill>
                  <a:srgbClr val="630031"/>
                </a:solidFill>
                <a:latin typeface="Cambria" pitchFamily="34" charset="0"/>
                <a:ea typeface="Cambria" pitchFamily="34" charset="-122"/>
                <a:cs typeface="Cambria" pitchFamily="34" charset="-120"/>
              </a:rPr>
              <a:t>Front office staff</a:t>
            </a:r>
            <a:endParaRPr lang="en-US" sz="2200" dirty="0"/>
          </a:p>
        </p:txBody>
      </p:sp>
      <p:sp>
        <p:nvSpPr>
          <p:cNvPr id="9" name="Text 7"/>
          <p:cNvSpPr txBox="1"/>
          <p:nvPr/>
        </p:nvSpPr>
        <p:spPr>
          <a:xfrm>
            <a:off x="6598768" y="2423160"/>
            <a:ext cx="4632808" cy="731520"/>
          </a:xfrm>
          <a:prstGeom prst="rect">
            <a:avLst/>
          </a:prstGeom>
          <a:noFill/>
          <a:ln/>
        </p:spPr>
        <p:txBody>
          <a:bodyPr wrap="square" lIns="0" tIns="0" rIns="0" bIns="0" rtlCol="0" anchor="ctr"/>
          <a:lstStyle/>
          <a:p>
            <a:pPr indent="0" marL="0">
              <a:lnSpc>
                <a:spcPts val="2200"/>
              </a:lnSpc>
              <a:buNone/>
            </a:pPr>
            <a:r>
              <a:rPr lang="en-US" sz="1600" dirty="0">
                <a:solidFill>
                  <a:srgbClr val="1C1A19"/>
                </a:solidFill>
                <a:latin typeface="Calibri" pitchFamily="34" charset="0"/>
                <a:ea typeface="Calibri" pitchFamily="34" charset="-122"/>
                <a:cs typeface="Calibri" pitchFamily="34" charset="-120"/>
              </a:rPr>
              <a:t>They want the pile gone, and fewer interruptions at the desk.</a:t>
            </a:r>
            <a:endParaRPr lang="en-US" sz="1600" dirty="0"/>
          </a:p>
        </p:txBody>
      </p:sp>
      <p:sp>
        <p:nvSpPr>
          <p:cNvPr id="10" name="Shape 8"/>
          <p:cNvSpPr/>
          <p:nvPr/>
        </p:nvSpPr>
        <p:spPr>
          <a:xfrm>
            <a:off x="640080" y="3474720"/>
            <a:ext cx="5272888" cy="1463040"/>
          </a:xfrm>
          <a:prstGeom prst="roundRect">
            <a:avLst>
              <a:gd name="adj" fmla="val 562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1" name="Text 9"/>
          <p:cNvSpPr txBox="1"/>
          <p:nvPr/>
        </p:nvSpPr>
        <p:spPr>
          <a:xfrm>
            <a:off x="960120" y="3657600"/>
            <a:ext cx="4632808" cy="411480"/>
          </a:xfrm>
          <a:prstGeom prst="rect">
            <a:avLst/>
          </a:prstGeom>
          <a:noFill/>
          <a:ln/>
        </p:spPr>
        <p:txBody>
          <a:bodyPr wrap="square" lIns="0" tIns="0" rIns="0" bIns="0" rtlCol="0" anchor="ctr"/>
          <a:lstStyle/>
          <a:p>
            <a:pPr indent="0" marL="0">
              <a:buNone/>
            </a:pPr>
            <a:r>
              <a:rPr lang="en-US" sz="2200" b="1" dirty="0">
                <a:solidFill>
                  <a:srgbClr val="630031"/>
                </a:solidFill>
                <a:latin typeface="Cambria" pitchFamily="34" charset="0"/>
                <a:ea typeface="Cambria" pitchFamily="34" charset="-122"/>
                <a:cs typeface="Cambria" pitchFamily="34" charset="-120"/>
              </a:rPr>
              <a:t>Parents</a:t>
            </a:r>
            <a:endParaRPr lang="en-US" sz="2200" dirty="0"/>
          </a:p>
        </p:txBody>
      </p:sp>
      <p:sp>
        <p:nvSpPr>
          <p:cNvPr id="12" name="Text 10"/>
          <p:cNvSpPr txBox="1"/>
          <p:nvPr/>
        </p:nvSpPr>
        <p:spPr>
          <a:xfrm>
            <a:off x="960120" y="4114800"/>
            <a:ext cx="4632808" cy="731520"/>
          </a:xfrm>
          <a:prstGeom prst="rect">
            <a:avLst/>
          </a:prstGeom>
          <a:noFill/>
          <a:ln/>
        </p:spPr>
        <p:txBody>
          <a:bodyPr wrap="square" lIns="0" tIns="0" rIns="0" bIns="0" rtlCol="0" anchor="ctr"/>
          <a:lstStyle/>
          <a:p>
            <a:pPr indent="0" marL="0">
              <a:lnSpc>
                <a:spcPts val="2200"/>
              </a:lnSpc>
              <a:buNone/>
            </a:pPr>
            <a:r>
              <a:rPr lang="en-US" sz="1600" dirty="0">
                <a:solidFill>
                  <a:srgbClr val="1C1A19"/>
                </a:solidFill>
                <a:latin typeface="Calibri" pitchFamily="34" charset="0"/>
                <a:ea typeface="Calibri" pitchFamily="34" charset="-122"/>
                <a:cs typeface="Calibri" pitchFamily="34" charset="-120"/>
              </a:rPr>
              <a:t>They do not want to pay for the same thing twice.</a:t>
            </a:r>
            <a:endParaRPr lang="en-US" sz="1600" dirty="0"/>
          </a:p>
        </p:txBody>
      </p:sp>
      <p:sp>
        <p:nvSpPr>
          <p:cNvPr id="13" name="Shape 11"/>
          <p:cNvSpPr/>
          <p:nvPr/>
        </p:nvSpPr>
        <p:spPr>
          <a:xfrm>
            <a:off x="6278728" y="3474720"/>
            <a:ext cx="5272888" cy="1463040"/>
          </a:xfrm>
          <a:prstGeom prst="roundRect">
            <a:avLst>
              <a:gd name="adj" fmla="val 562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4" name="Text 12"/>
          <p:cNvSpPr txBox="1"/>
          <p:nvPr/>
        </p:nvSpPr>
        <p:spPr>
          <a:xfrm>
            <a:off x="6598768" y="3657600"/>
            <a:ext cx="4632808" cy="411480"/>
          </a:xfrm>
          <a:prstGeom prst="rect">
            <a:avLst/>
          </a:prstGeom>
          <a:noFill/>
          <a:ln/>
        </p:spPr>
        <p:txBody>
          <a:bodyPr wrap="square" lIns="0" tIns="0" rIns="0" bIns="0" rtlCol="0" anchor="ctr"/>
          <a:lstStyle/>
          <a:p>
            <a:pPr indent="0" marL="0">
              <a:buNone/>
            </a:pPr>
            <a:r>
              <a:rPr lang="en-US" sz="2200" b="1" dirty="0">
                <a:solidFill>
                  <a:srgbClr val="630031"/>
                </a:solidFill>
                <a:latin typeface="Cambria" pitchFamily="34" charset="0"/>
                <a:ea typeface="Cambria" pitchFamily="34" charset="-122"/>
                <a:cs typeface="Cambria" pitchFamily="34" charset="-120"/>
              </a:rPr>
              <a:t>Custodians</a:t>
            </a:r>
            <a:endParaRPr lang="en-US" sz="2200" dirty="0"/>
          </a:p>
        </p:txBody>
      </p:sp>
      <p:sp>
        <p:nvSpPr>
          <p:cNvPr id="15" name="Text 13"/>
          <p:cNvSpPr txBox="1"/>
          <p:nvPr/>
        </p:nvSpPr>
        <p:spPr>
          <a:xfrm>
            <a:off x="6598768" y="4114800"/>
            <a:ext cx="4632808" cy="731520"/>
          </a:xfrm>
          <a:prstGeom prst="rect">
            <a:avLst/>
          </a:prstGeom>
          <a:noFill/>
          <a:ln/>
        </p:spPr>
        <p:txBody>
          <a:bodyPr wrap="square" lIns="0" tIns="0" rIns="0" bIns="0" rtlCol="0" anchor="ctr"/>
          <a:lstStyle/>
          <a:p>
            <a:pPr indent="0" marL="0">
              <a:lnSpc>
                <a:spcPts val="2200"/>
              </a:lnSpc>
              <a:buNone/>
            </a:pPr>
            <a:r>
              <a:rPr lang="en-US" sz="1600" dirty="0">
                <a:solidFill>
                  <a:srgbClr val="1C1A19"/>
                </a:solidFill>
                <a:latin typeface="Calibri" pitchFamily="34" charset="0"/>
                <a:ea typeface="Calibri" pitchFamily="34" charset="-122"/>
                <a:cs typeface="Calibri" pitchFamily="34" charset="-120"/>
              </a:rPr>
              <a:t>They find most of the lost things, and want a quick place to drop them off.</a:t>
            </a:r>
            <a:endParaRPr lang="en-US" sz="1600" dirty="0"/>
          </a:p>
        </p:txBody>
      </p:sp>
      <p:sp>
        <p:nvSpPr>
          <p:cNvPr id="16" name="Text 14"/>
          <p:cNvSpPr txBox="1"/>
          <p:nvPr/>
        </p:nvSpPr>
        <p:spPr>
          <a:xfrm>
            <a:off x="640080" y="5349240"/>
            <a:ext cx="10911535" cy="548640"/>
          </a:xfrm>
          <a:prstGeom prst="rect">
            <a:avLst/>
          </a:prstGeom>
          <a:noFill/>
          <a:ln/>
        </p:spPr>
        <p:txBody>
          <a:bodyPr wrap="square" lIns="0" tIns="0" rIns="0" bIns="0" rtlCol="0" anchor="t"/>
          <a:lstStyle/>
          <a:p>
            <a:pPr indent="0" marL="0">
              <a:lnSpc>
                <a:spcPts val="2200"/>
              </a:lnSpc>
              <a:buNone/>
            </a:pPr>
            <a:r>
              <a:rPr lang="en-US" sz="1800" b="1" dirty="0">
                <a:solidFill>
                  <a:srgbClr val="1C1A19"/>
                </a:solidFill>
                <a:latin typeface="Calibri" pitchFamily="34" charset="0"/>
                <a:ea typeface="Calibri" pitchFamily="34" charset="-122"/>
                <a:cs typeface="Calibri" pitchFamily="34" charset="-120"/>
              </a:rPr>
              <a:t>One sentence each: what matters to them. Notice that they do not all want the same thing.</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USERS</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Finding the users you forgot</a:t>
            </a:r>
            <a:endParaRPr lang="en-US" sz="3400" dirty="0"/>
          </a:p>
        </p:txBody>
      </p:sp>
      <p:sp>
        <p:nvSpPr>
          <p:cNvPr id="4" name="Shape 2"/>
          <p:cNvSpPr/>
          <p:nvPr/>
        </p:nvSpPr>
        <p:spPr>
          <a:xfrm>
            <a:off x="640080" y="1892808"/>
            <a:ext cx="512064" cy="512064"/>
          </a:xfrm>
          <a:prstGeom prst="ellipse">
            <a:avLst/>
          </a:prstGeom>
          <a:solidFill>
            <a:srgbClr val="CF4420"/>
          </a:solidFill>
          <a:ln w="12700">
            <a:solidFill>
              <a:srgbClr val="333333"/>
            </a:solidFill>
            <a:prstDash val="solid"/>
          </a:ln>
        </p:spPr>
      </p:sp>
      <p:sp>
        <p:nvSpPr>
          <p:cNvPr id="5" name="Text 3"/>
          <p:cNvSpPr txBox="1"/>
          <p:nvPr/>
        </p:nvSpPr>
        <p:spPr>
          <a:xfrm>
            <a:off x="640080" y="1892808"/>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417320" y="1783080"/>
            <a:ext cx="6583680" cy="731520"/>
          </a:xfrm>
          <a:prstGeom prst="rect">
            <a:avLst/>
          </a:prstGeom>
          <a:noFill/>
          <a:ln/>
        </p:spPr>
        <p:txBody>
          <a:bodyPr wrap="square" lIns="0" tIns="0" rIns="0" bIns="0" rtlCol="0" anchor="ctr"/>
          <a:lstStyle/>
          <a:p>
            <a:pPr indent="0" marL="0">
              <a:buNone/>
            </a:pPr>
            <a:r>
              <a:rPr lang="en-US" sz="2200" b="1" dirty="0">
                <a:solidFill>
                  <a:srgbClr val="630031"/>
                </a:solidFill>
                <a:latin typeface="Cambria" pitchFamily="34" charset="0"/>
                <a:ea typeface="Cambria" pitchFamily="34" charset="-122"/>
                <a:cs typeface="Cambria" pitchFamily="34" charset="-120"/>
              </a:rPr>
              <a:t>Who uses it every day?</a:t>
            </a:r>
            <a:endParaRPr lang="en-US" sz="2200" dirty="0"/>
          </a:p>
        </p:txBody>
      </p:sp>
      <p:sp>
        <p:nvSpPr>
          <p:cNvPr id="7" name="Text 5"/>
          <p:cNvSpPr txBox="1"/>
          <p:nvPr/>
        </p:nvSpPr>
        <p:spPr>
          <a:xfrm>
            <a:off x="8138160" y="1783080"/>
            <a:ext cx="3413455" cy="731520"/>
          </a:xfrm>
          <a:prstGeom prst="rect">
            <a:avLst/>
          </a:prstGeom>
          <a:noFill/>
          <a:ln/>
        </p:spPr>
        <p:txBody>
          <a:bodyPr wrap="square" lIns="0" tIns="0" rIns="0" bIns="0" rtlCol="0" anchor="ctr"/>
          <a:lstStyle/>
          <a:p>
            <a:pPr indent="0" marL="0">
              <a:buNone/>
            </a:pPr>
            <a:r>
              <a:rPr lang="en-US" sz="1600" i="1" dirty="0">
                <a:solidFill>
                  <a:srgbClr val="75787B"/>
                </a:solidFill>
                <a:latin typeface="Calibri" pitchFamily="34" charset="0"/>
                <a:ea typeface="Calibri" pitchFamily="34" charset="-122"/>
                <a:cs typeface="Calibri" pitchFamily="34" charset="-120"/>
              </a:rPr>
              <a:t>Usually the easy one. Students.</a:t>
            </a:r>
            <a:endParaRPr lang="en-US" sz="1600" dirty="0"/>
          </a:p>
        </p:txBody>
      </p:sp>
      <p:sp>
        <p:nvSpPr>
          <p:cNvPr id="8" name="Shape 6"/>
          <p:cNvSpPr/>
          <p:nvPr/>
        </p:nvSpPr>
        <p:spPr>
          <a:xfrm>
            <a:off x="640080" y="2880360"/>
            <a:ext cx="512064" cy="512064"/>
          </a:xfrm>
          <a:prstGeom prst="ellipse">
            <a:avLst/>
          </a:prstGeom>
          <a:solidFill>
            <a:srgbClr val="CF4420"/>
          </a:solidFill>
          <a:ln w="12700">
            <a:solidFill>
              <a:srgbClr val="333333"/>
            </a:solidFill>
            <a:prstDash val="solid"/>
          </a:ln>
        </p:spPr>
      </p:sp>
      <p:sp>
        <p:nvSpPr>
          <p:cNvPr id="9" name="Text 7"/>
          <p:cNvSpPr txBox="1"/>
          <p:nvPr/>
        </p:nvSpPr>
        <p:spPr>
          <a:xfrm>
            <a:off x="640080" y="288036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417320" y="2770632"/>
            <a:ext cx="6583680" cy="731520"/>
          </a:xfrm>
          <a:prstGeom prst="rect">
            <a:avLst/>
          </a:prstGeom>
          <a:noFill/>
          <a:ln/>
        </p:spPr>
        <p:txBody>
          <a:bodyPr wrap="square" lIns="0" tIns="0" rIns="0" bIns="0" rtlCol="0" anchor="ctr"/>
          <a:lstStyle/>
          <a:p>
            <a:pPr indent="0" marL="0">
              <a:buNone/>
            </a:pPr>
            <a:r>
              <a:rPr lang="en-US" sz="2200" b="1" dirty="0">
                <a:solidFill>
                  <a:srgbClr val="630031"/>
                </a:solidFill>
                <a:latin typeface="Cambria" pitchFamily="34" charset="0"/>
                <a:ea typeface="Cambria" pitchFamily="34" charset="-122"/>
                <a:cs typeface="Cambria" pitchFamily="34" charset="-120"/>
              </a:rPr>
              <a:t>Who runs it, fixes it, or keeps it up to date?</a:t>
            </a:r>
            <a:endParaRPr lang="en-US" sz="2200" dirty="0"/>
          </a:p>
        </p:txBody>
      </p:sp>
      <p:sp>
        <p:nvSpPr>
          <p:cNvPr id="11" name="Text 9"/>
          <p:cNvSpPr txBox="1"/>
          <p:nvPr/>
        </p:nvSpPr>
        <p:spPr>
          <a:xfrm>
            <a:off x="8138160" y="2770632"/>
            <a:ext cx="3413455" cy="731520"/>
          </a:xfrm>
          <a:prstGeom prst="rect">
            <a:avLst/>
          </a:prstGeom>
          <a:noFill/>
          <a:ln/>
        </p:spPr>
        <p:txBody>
          <a:bodyPr wrap="square" lIns="0" tIns="0" rIns="0" bIns="0" rtlCol="0" anchor="ctr"/>
          <a:lstStyle/>
          <a:p>
            <a:pPr indent="0" marL="0">
              <a:buNone/>
            </a:pPr>
            <a:r>
              <a:rPr lang="en-US" sz="1600" i="1" dirty="0">
                <a:solidFill>
                  <a:srgbClr val="75787B"/>
                </a:solidFill>
                <a:latin typeface="Calibri" pitchFamily="34" charset="0"/>
                <a:ea typeface="Calibri" pitchFamily="34" charset="-122"/>
                <a:cs typeface="Calibri" pitchFamily="34" charset="-120"/>
              </a:rPr>
              <a:t>The office staff who post the photos.</a:t>
            </a:r>
            <a:endParaRPr lang="en-US" sz="1600" dirty="0"/>
          </a:p>
        </p:txBody>
      </p:sp>
      <p:sp>
        <p:nvSpPr>
          <p:cNvPr id="12" name="Shape 10"/>
          <p:cNvSpPr/>
          <p:nvPr/>
        </p:nvSpPr>
        <p:spPr>
          <a:xfrm>
            <a:off x="640080" y="3867912"/>
            <a:ext cx="512064" cy="512064"/>
          </a:xfrm>
          <a:prstGeom prst="ellipse">
            <a:avLst/>
          </a:prstGeom>
          <a:solidFill>
            <a:srgbClr val="CF4420"/>
          </a:solidFill>
          <a:ln w="12700">
            <a:solidFill>
              <a:srgbClr val="333333"/>
            </a:solidFill>
            <a:prstDash val="solid"/>
          </a:ln>
        </p:spPr>
      </p:sp>
      <p:sp>
        <p:nvSpPr>
          <p:cNvPr id="13" name="Text 11"/>
          <p:cNvSpPr txBox="1"/>
          <p:nvPr/>
        </p:nvSpPr>
        <p:spPr>
          <a:xfrm>
            <a:off x="640080" y="3867912"/>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txBox="1"/>
          <p:nvPr/>
        </p:nvSpPr>
        <p:spPr>
          <a:xfrm>
            <a:off x="1417320" y="3758184"/>
            <a:ext cx="6583680" cy="731520"/>
          </a:xfrm>
          <a:prstGeom prst="rect">
            <a:avLst/>
          </a:prstGeom>
          <a:noFill/>
          <a:ln/>
        </p:spPr>
        <p:txBody>
          <a:bodyPr wrap="square" lIns="0" tIns="0" rIns="0" bIns="0" rtlCol="0" anchor="ctr"/>
          <a:lstStyle/>
          <a:p>
            <a:pPr indent="0" marL="0">
              <a:buNone/>
            </a:pPr>
            <a:r>
              <a:rPr lang="en-US" sz="2200" b="1" dirty="0">
                <a:solidFill>
                  <a:srgbClr val="630031"/>
                </a:solidFill>
                <a:latin typeface="Cambria" pitchFamily="34" charset="0"/>
                <a:ea typeface="Cambria" pitchFamily="34" charset="-122"/>
                <a:cs typeface="Cambria" pitchFamily="34" charset="-120"/>
              </a:rPr>
              <a:t>Who pays for it or has to say yes to it?</a:t>
            </a:r>
            <a:endParaRPr lang="en-US" sz="2200" dirty="0"/>
          </a:p>
        </p:txBody>
      </p:sp>
      <p:sp>
        <p:nvSpPr>
          <p:cNvPr id="15" name="Text 13"/>
          <p:cNvSpPr txBox="1"/>
          <p:nvPr/>
        </p:nvSpPr>
        <p:spPr>
          <a:xfrm>
            <a:off x="8138160" y="3758184"/>
            <a:ext cx="3413455" cy="731520"/>
          </a:xfrm>
          <a:prstGeom prst="rect">
            <a:avLst/>
          </a:prstGeom>
          <a:noFill/>
          <a:ln/>
        </p:spPr>
        <p:txBody>
          <a:bodyPr wrap="square" lIns="0" tIns="0" rIns="0" bIns="0" rtlCol="0" anchor="ctr"/>
          <a:lstStyle/>
          <a:p>
            <a:pPr indent="0" marL="0">
              <a:buNone/>
            </a:pPr>
            <a:r>
              <a:rPr lang="en-US" sz="1600" i="1" dirty="0">
                <a:solidFill>
                  <a:srgbClr val="75787B"/>
                </a:solidFill>
                <a:latin typeface="Calibri" pitchFamily="34" charset="0"/>
                <a:ea typeface="Calibri" pitchFamily="34" charset="-122"/>
                <a:cs typeface="Calibri" pitchFamily="34" charset="-120"/>
              </a:rPr>
              <a:t>Parents, the principal, the town.</a:t>
            </a:r>
            <a:endParaRPr lang="en-US" sz="1600" dirty="0"/>
          </a:p>
        </p:txBody>
      </p:sp>
      <p:sp>
        <p:nvSpPr>
          <p:cNvPr id="16" name="Shape 14"/>
          <p:cNvSpPr/>
          <p:nvPr/>
        </p:nvSpPr>
        <p:spPr>
          <a:xfrm>
            <a:off x="640080" y="4855464"/>
            <a:ext cx="512064" cy="512064"/>
          </a:xfrm>
          <a:prstGeom prst="ellipse">
            <a:avLst/>
          </a:prstGeom>
          <a:solidFill>
            <a:srgbClr val="CF4420"/>
          </a:solidFill>
          <a:ln w="12700">
            <a:solidFill>
              <a:srgbClr val="333333"/>
            </a:solidFill>
            <a:prstDash val="solid"/>
          </a:ln>
        </p:spPr>
      </p:sp>
      <p:sp>
        <p:nvSpPr>
          <p:cNvPr id="17" name="Text 15"/>
          <p:cNvSpPr txBox="1"/>
          <p:nvPr/>
        </p:nvSpPr>
        <p:spPr>
          <a:xfrm>
            <a:off x="640080" y="4855464"/>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8" name="Text 16"/>
          <p:cNvSpPr txBox="1"/>
          <p:nvPr/>
        </p:nvSpPr>
        <p:spPr>
          <a:xfrm>
            <a:off x="1417320" y="4745736"/>
            <a:ext cx="6583680" cy="731520"/>
          </a:xfrm>
          <a:prstGeom prst="rect">
            <a:avLst/>
          </a:prstGeom>
          <a:noFill/>
          <a:ln/>
        </p:spPr>
        <p:txBody>
          <a:bodyPr wrap="square" lIns="0" tIns="0" rIns="0" bIns="0" rtlCol="0" anchor="ctr"/>
          <a:lstStyle/>
          <a:p>
            <a:pPr indent="0" marL="0">
              <a:buNone/>
            </a:pPr>
            <a:r>
              <a:rPr lang="en-US" sz="2200" b="1" dirty="0">
                <a:solidFill>
                  <a:srgbClr val="630031"/>
                </a:solidFill>
                <a:latin typeface="Cambria" pitchFamily="34" charset="0"/>
                <a:ea typeface="Cambria" pitchFamily="34" charset="-122"/>
                <a:cs typeface="Cambria" pitchFamily="34" charset="-120"/>
              </a:rPr>
              <a:t>Who is affected, even if they never open it?</a:t>
            </a:r>
            <a:endParaRPr lang="en-US" sz="2200" dirty="0"/>
          </a:p>
        </p:txBody>
      </p:sp>
      <p:sp>
        <p:nvSpPr>
          <p:cNvPr id="19" name="Text 17"/>
          <p:cNvSpPr txBox="1"/>
          <p:nvPr/>
        </p:nvSpPr>
        <p:spPr>
          <a:xfrm>
            <a:off x="8138160" y="4745736"/>
            <a:ext cx="3413455" cy="731520"/>
          </a:xfrm>
          <a:prstGeom prst="rect">
            <a:avLst/>
          </a:prstGeom>
          <a:noFill/>
          <a:ln/>
        </p:spPr>
        <p:txBody>
          <a:bodyPr wrap="square" lIns="0" tIns="0" rIns="0" bIns="0" rtlCol="0" anchor="ctr"/>
          <a:lstStyle/>
          <a:p>
            <a:pPr indent="0" marL="0">
              <a:buNone/>
            </a:pPr>
            <a:r>
              <a:rPr lang="en-US" sz="1600" i="1" dirty="0">
                <a:solidFill>
                  <a:srgbClr val="75787B"/>
                </a:solidFill>
                <a:latin typeface="Calibri" pitchFamily="34" charset="0"/>
                <a:ea typeface="Calibri" pitchFamily="34" charset="-122"/>
                <a:cs typeface="Calibri" pitchFamily="34" charset="-120"/>
              </a:rPr>
              <a:t>Custodians, neighbors, the people next in line.</a:t>
            </a:r>
            <a:endParaRPr lang="en-US" sz="1600" dirty="0"/>
          </a:p>
        </p:txBody>
      </p:sp>
      <p:sp>
        <p:nvSpPr>
          <p:cNvPr id="20" name="Text 18"/>
          <p:cNvSpPr txBox="1"/>
          <p:nvPr/>
        </p:nvSpPr>
        <p:spPr>
          <a:xfrm>
            <a:off x="640080" y="5760720"/>
            <a:ext cx="10911535" cy="457200"/>
          </a:xfrm>
          <a:prstGeom prst="rect">
            <a:avLst/>
          </a:prstGeom>
          <a:noFill/>
          <a:ln/>
        </p:spPr>
        <p:txBody>
          <a:bodyPr wrap="square" lIns="0" tIns="0" rIns="0" bIns="0" rtlCol="0" anchor="t"/>
          <a:lstStyle/>
          <a:p>
            <a:pPr indent="0" marL="0">
              <a:lnSpc>
                <a:spcPts val="2200"/>
              </a:lnSpc>
              <a:buNone/>
            </a:pPr>
            <a:r>
              <a:rPr lang="en-US" sz="1800" b="1" dirty="0">
                <a:solidFill>
                  <a:srgbClr val="CF4420"/>
                </a:solidFill>
                <a:latin typeface="Calibri" pitchFamily="34" charset="0"/>
                <a:ea typeface="Calibri" pitchFamily="34" charset="-122"/>
                <a:cs typeface="Calibri" pitchFamily="34" charset="-120"/>
              </a:rPr>
              <a:t>The ones people forget are almost always adults.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630031"/>
        </a:solidFill>
      </p:bgPr>
    </p:bg>
    <p:spTree>
      <p:nvGrpSpPr>
        <p:cNvPr id="1" name=""/>
        <p:cNvGrpSpPr/>
        <p:nvPr/>
      </p:nvGrpSpPr>
      <p:grpSpPr>
        <a:xfrm>
          <a:off x="0" y="0"/>
          <a:ext cx="0" cy="0"/>
          <a:chOff x="0" y="0"/>
          <a:chExt cx="0" cy="0"/>
        </a:xfrm>
      </p:grpSpPr>
      <p:sp>
        <p:nvSpPr>
          <p:cNvPr id="2" name="Shape 0"/>
          <p:cNvSpPr/>
          <p:nvPr/>
        </p:nvSpPr>
        <p:spPr>
          <a:xfrm>
            <a:off x="9052560" y="1097280"/>
            <a:ext cx="4754880" cy="4754880"/>
          </a:xfrm>
          <a:prstGeom prst="ellipse">
            <a:avLst/>
          </a:prstGeom>
          <a:solidFill>
            <a:srgbClr val="4A0025"/>
          </a:solidFill>
          <a:ln w="12700">
            <a:solidFill>
              <a:srgbClr val="333333"/>
            </a:solidFill>
            <a:prstDash val="solid"/>
          </a:ln>
        </p:spPr>
      </p:sp>
      <p:sp>
        <p:nvSpPr>
          <p:cNvPr id="3" name="Text 1"/>
          <p:cNvSpPr txBox="1"/>
          <p:nvPr/>
        </p:nvSpPr>
        <p:spPr>
          <a:xfrm>
            <a:off x="9052560" y="1097280"/>
            <a:ext cx="4754880" cy="4754880"/>
          </a:xfrm>
          <a:prstGeom prst="rect">
            <a:avLst/>
          </a:prstGeom>
          <a:noFill/>
          <a:ln/>
        </p:spPr>
        <p:txBody>
          <a:bodyPr wrap="square" lIns="0" tIns="0" rIns="0" bIns="0" rtlCol="0" anchor="ctr"/>
          <a:lstStyle/>
          <a:p>
            <a:pPr algn="ctr" indent="0" marL="0">
              <a:buNone/>
            </a:pPr>
            <a:r>
              <a:rPr lang="en-US" sz="20000" b="1" dirty="0">
                <a:solidFill>
                  <a:srgbClr val="CF4420"/>
                </a:solidFill>
                <a:latin typeface="Cambria" pitchFamily="34" charset="0"/>
                <a:ea typeface="Cambria" pitchFamily="34" charset="-122"/>
                <a:cs typeface="Cambria" pitchFamily="34" charset="-120"/>
              </a:rPr>
              <a:t>3</a:t>
            </a:r>
            <a:endParaRPr lang="en-US" sz="20000" dirty="0"/>
          </a:p>
        </p:txBody>
      </p:sp>
      <p:sp>
        <p:nvSpPr>
          <p:cNvPr id="4" name="Text 2"/>
          <p:cNvSpPr txBox="1"/>
          <p:nvPr/>
        </p:nvSpPr>
        <p:spPr>
          <a:xfrm>
            <a:off x="640080" y="2103120"/>
            <a:ext cx="7315200" cy="310896"/>
          </a:xfrm>
          <a:prstGeom prst="rect">
            <a:avLst/>
          </a:prstGeom>
          <a:noFill/>
          <a:ln/>
        </p:spPr>
        <p:txBody>
          <a:bodyPr wrap="square" lIns="0" tIns="0" rIns="0" bIns="0" rtlCol="0" anchor="ctr"/>
          <a:lstStyle/>
          <a:p>
            <a:pPr indent="0" marL="0">
              <a:buNone/>
            </a:pPr>
            <a:r>
              <a:rPr lang="en-US" sz="1300" b="1" spc="300" kern="0" dirty="0">
                <a:solidFill>
                  <a:srgbClr val="E9C9D6"/>
                </a:solidFill>
                <a:latin typeface="Calibri" pitchFamily="34" charset="0"/>
                <a:ea typeface="Calibri" pitchFamily="34" charset="-122"/>
                <a:cs typeface="Calibri" pitchFamily="34" charset="-120"/>
              </a:rPr>
              <a:t>STEP 3 OF 3</a:t>
            </a:r>
            <a:endParaRPr lang="en-US" sz="1300" dirty="0"/>
          </a:p>
        </p:txBody>
      </p:sp>
      <p:sp>
        <p:nvSpPr>
          <p:cNvPr id="5" name="Text 3"/>
          <p:cNvSpPr txBox="1"/>
          <p:nvPr/>
        </p:nvSpPr>
        <p:spPr>
          <a:xfrm>
            <a:off x="640080" y="2468880"/>
            <a:ext cx="804672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User stories</a:t>
            </a:r>
            <a:endParaRPr lang="en-US" sz="5400" dirty="0"/>
          </a:p>
        </p:txBody>
      </p:sp>
      <p:sp>
        <p:nvSpPr>
          <p:cNvPr id="6" name="Text 4"/>
          <p:cNvSpPr txBox="1"/>
          <p:nvPr/>
        </p:nvSpPr>
        <p:spPr>
          <a:xfrm>
            <a:off x="640080" y="3611880"/>
            <a:ext cx="7863840" cy="1097280"/>
          </a:xfrm>
          <a:prstGeom prst="rect">
            <a:avLst/>
          </a:prstGeom>
          <a:noFill/>
          <a:ln/>
        </p:spPr>
        <p:txBody>
          <a:bodyPr wrap="square" lIns="0" tIns="0" rIns="0" bIns="0" rtlCol="0" anchor="ctr"/>
          <a:lstStyle/>
          <a:p>
            <a:pPr indent="0" marL="0">
              <a:lnSpc>
                <a:spcPts val="3200"/>
              </a:lnSpc>
              <a:buNone/>
            </a:pPr>
            <a:r>
              <a:rPr lang="en-US" sz="2400" dirty="0">
                <a:solidFill>
                  <a:srgbClr val="F3E3EA"/>
                </a:solidFill>
                <a:latin typeface="Calibri" pitchFamily="34" charset="0"/>
                <a:ea typeface="Calibri" pitchFamily="34" charset="-122"/>
                <a:cs typeface="Calibri" pitchFamily="34" charset="-120"/>
              </a:rPr>
              <a:t>Who wants it, what they want,</a:t>
            </a:r>
            <a:endParaRPr lang="en-US" sz="2400" dirty="0"/>
          </a:p>
          <a:p>
            <a:pPr indent="0" marL="0">
              <a:lnSpc>
                <a:spcPts val="3200"/>
              </a:lnSpc>
              <a:buNone/>
            </a:pPr>
            <a:r>
              <a:rPr lang="en-US" sz="2400" dirty="0">
                <a:solidFill>
                  <a:srgbClr val="F3E3EA"/>
                </a:solidFill>
                <a:latin typeface="Calibri" pitchFamily="34" charset="0"/>
                <a:ea typeface="Calibri" pitchFamily="34" charset="-122"/>
                <a:cs typeface="Calibri" pitchFamily="34" charset="-120"/>
              </a:rPr>
              <a:t>and why it matters to them.</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USER STORIES</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One sentence, three parts</a:t>
            </a:r>
            <a:endParaRPr lang="en-US" sz="3400" dirty="0"/>
          </a:p>
        </p:txBody>
      </p:sp>
      <p:sp>
        <p:nvSpPr>
          <p:cNvPr id="4" name="Shape 2"/>
          <p:cNvSpPr/>
          <p:nvPr/>
        </p:nvSpPr>
        <p:spPr>
          <a:xfrm>
            <a:off x="640080" y="1783080"/>
            <a:ext cx="10911535" cy="1051560"/>
          </a:xfrm>
          <a:prstGeom prst="roundRect">
            <a:avLst>
              <a:gd name="adj" fmla="val 7826"/>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Text 3"/>
          <p:cNvSpPr txBox="1"/>
          <p:nvPr/>
        </p:nvSpPr>
        <p:spPr>
          <a:xfrm>
            <a:off x="914400" y="1892808"/>
            <a:ext cx="914400" cy="274320"/>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WHO</a:t>
            </a:r>
            <a:endParaRPr lang="en-US" sz="1200" dirty="0"/>
          </a:p>
        </p:txBody>
      </p:sp>
      <p:sp>
        <p:nvSpPr>
          <p:cNvPr id="6" name="Text 4"/>
          <p:cNvSpPr txBox="1"/>
          <p:nvPr/>
        </p:nvSpPr>
        <p:spPr>
          <a:xfrm>
            <a:off x="914400" y="2167128"/>
            <a:ext cx="6766560" cy="548640"/>
          </a:xfrm>
          <a:prstGeom prst="rect">
            <a:avLst/>
          </a:prstGeom>
          <a:noFill/>
          <a:ln/>
        </p:spPr>
        <p:txBody>
          <a:bodyPr wrap="square" lIns="0" tIns="0" rIns="0" bIns="0" rtlCol="0" anchor="t"/>
          <a:lstStyle/>
          <a:p>
            <a:pPr indent="0" marL="0">
              <a:buNone/>
            </a:pPr>
            <a:r>
              <a:rPr lang="en-US" sz="2100" b="1" dirty="0">
                <a:solidFill>
                  <a:srgbClr val="630031"/>
                </a:solidFill>
                <a:latin typeface="Cambria" pitchFamily="34" charset="0"/>
                <a:ea typeface="Cambria" pitchFamily="34" charset="-122"/>
                <a:cs typeface="Cambria" pitchFamily="34" charset="-120"/>
              </a:rPr>
              <a:t>As a </a:t>
            </a:r>
            <a:pPr indent="0" marL="0">
              <a:buNone/>
            </a:pPr>
            <a:r>
              <a:rPr lang="en-US" sz="2100" dirty="0">
                <a:solidFill>
                  <a:srgbClr val="1C1A19"/>
                </a:solidFill>
                <a:latin typeface="Cambria" pitchFamily="34" charset="0"/>
                <a:ea typeface="Cambria" pitchFamily="34" charset="-122"/>
                <a:cs typeface="Cambria" pitchFamily="34" charset="-120"/>
              </a:rPr>
              <a:t>student</a:t>
            </a:r>
            <a:endParaRPr lang="en-US" sz="2100" dirty="0"/>
          </a:p>
        </p:txBody>
      </p:sp>
      <p:sp>
        <p:nvSpPr>
          <p:cNvPr id="7" name="Text 5"/>
          <p:cNvSpPr txBox="1"/>
          <p:nvPr/>
        </p:nvSpPr>
        <p:spPr>
          <a:xfrm>
            <a:off x="7863840" y="1874520"/>
            <a:ext cx="3413455" cy="868680"/>
          </a:xfrm>
          <a:prstGeom prst="rect">
            <a:avLst/>
          </a:prstGeom>
          <a:noFill/>
          <a:ln/>
        </p:spPr>
        <p:txBody>
          <a:bodyPr wrap="square" lIns="0" tIns="0" rIns="0" bIns="0" rtlCol="0" anchor="ctr"/>
          <a:lstStyle/>
          <a:p>
            <a:pPr indent="0" marL="0">
              <a:lnSpc>
                <a:spcPts val="2000"/>
              </a:lnSpc>
              <a:buNone/>
            </a:pPr>
            <a:r>
              <a:rPr lang="en-US" sz="1500" dirty="0">
                <a:solidFill>
                  <a:srgbClr val="5A5F63"/>
                </a:solidFill>
                <a:latin typeface="Calibri" pitchFamily="34" charset="0"/>
                <a:ea typeface="Calibri" pitchFamily="34" charset="-122"/>
                <a:cs typeface="Calibri" pitchFamily="34" charset="-120"/>
              </a:rPr>
              <a:t>Keeps you thinking about a real person, not “the user”.</a:t>
            </a:r>
            <a:endParaRPr lang="en-US" sz="1500" dirty="0"/>
          </a:p>
        </p:txBody>
      </p:sp>
      <p:sp>
        <p:nvSpPr>
          <p:cNvPr id="8" name="Shape 6"/>
          <p:cNvSpPr/>
          <p:nvPr/>
        </p:nvSpPr>
        <p:spPr>
          <a:xfrm>
            <a:off x="640080" y="3017520"/>
            <a:ext cx="10911535" cy="1051560"/>
          </a:xfrm>
          <a:prstGeom prst="roundRect">
            <a:avLst>
              <a:gd name="adj" fmla="val 7826"/>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914400" y="3127248"/>
            <a:ext cx="914400" cy="274320"/>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WHAT</a:t>
            </a:r>
            <a:endParaRPr lang="en-US" sz="1200" dirty="0"/>
          </a:p>
        </p:txBody>
      </p:sp>
      <p:sp>
        <p:nvSpPr>
          <p:cNvPr id="10" name="Text 8"/>
          <p:cNvSpPr txBox="1"/>
          <p:nvPr/>
        </p:nvSpPr>
        <p:spPr>
          <a:xfrm>
            <a:off x="914400" y="3401568"/>
            <a:ext cx="6766560" cy="548640"/>
          </a:xfrm>
          <a:prstGeom prst="rect">
            <a:avLst/>
          </a:prstGeom>
          <a:noFill/>
          <a:ln/>
        </p:spPr>
        <p:txBody>
          <a:bodyPr wrap="square" lIns="0" tIns="0" rIns="0" bIns="0" rtlCol="0" anchor="t"/>
          <a:lstStyle/>
          <a:p>
            <a:pPr indent="0" marL="0">
              <a:buNone/>
            </a:pPr>
            <a:r>
              <a:rPr lang="en-US" sz="2100" b="1" dirty="0">
                <a:solidFill>
                  <a:srgbClr val="630031"/>
                </a:solidFill>
                <a:latin typeface="Cambria" pitchFamily="34" charset="0"/>
                <a:ea typeface="Cambria" pitchFamily="34" charset="-122"/>
                <a:cs typeface="Cambria" pitchFamily="34" charset="-120"/>
              </a:rPr>
              <a:t>I want to </a:t>
            </a:r>
            <a:pPr indent="0" marL="0">
              <a:buNone/>
            </a:pPr>
            <a:r>
              <a:rPr lang="en-US" sz="2100" dirty="0">
                <a:solidFill>
                  <a:srgbClr val="1C1A19"/>
                </a:solidFill>
                <a:latin typeface="Cambria" pitchFamily="34" charset="0"/>
                <a:ea typeface="Cambria" pitchFamily="34" charset="-122"/>
                <a:cs typeface="Cambria" pitchFamily="34" charset="-120"/>
              </a:rPr>
              <a:t>look through photos of everything turned in this week</a:t>
            </a:r>
            <a:endParaRPr lang="en-US" sz="2100" dirty="0"/>
          </a:p>
        </p:txBody>
      </p:sp>
      <p:sp>
        <p:nvSpPr>
          <p:cNvPr id="11" name="Text 9"/>
          <p:cNvSpPr txBox="1"/>
          <p:nvPr/>
        </p:nvSpPr>
        <p:spPr>
          <a:xfrm>
            <a:off x="7863840" y="3108960"/>
            <a:ext cx="3413455" cy="868680"/>
          </a:xfrm>
          <a:prstGeom prst="rect">
            <a:avLst/>
          </a:prstGeom>
          <a:noFill/>
          <a:ln/>
        </p:spPr>
        <p:txBody>
          <a:bodyPr wrap="square" lIns="0" tIns="0" rIns="0" bIns="0" rtlCol="0" anchor="ctr"/>
          <a:lstStyle/>
          <a:p>
            <a:pPr indent="0" marL="0">
              <a:lnSpc>
                <a:spcPts val="2000"/>
              </a:lnSpc>
              <a:buNone/>
            </a:pPr>
            <a:r>
              <a:rPr lang="en-US" sz="1500" dirty="0">
                <a:solidFill>
                  <a:srgbClr val="5A5F63"/>
                </a:solidFill>
                <a:latin typeface="Calibri" pitchFamily="34" charset="0"/>
                <a:ea typeface="Calibri" pitchFamily="34" charset="-122"/>
                <a:cs typeface="Calibri" pitchFamily="34" charset="-120"/>
              </a:rPr>
              <a:t>This part becomes the feature, the button, the screen.</a:t>
            </a:r>
            <a:endParaRPr lang="en-US" sz="1500" dirty="0"/>
          </a:p>
        </p:txBody>
      </p:sp>
      <p:sp>
        <p:nvSpPr>
          <p:cNvPr id="12" name="Shape 10"/>
          <p:cNvSpPr/>
          <p:nvPr/>
        </p:nvSpPr>
        <p:spPr>
          <a:xfrm>
            <a:off x="640080" y="4251960"/>
            <a:ext cx="10911535" cy="1051560"/>
          </a:xfrm>
          <a:prstGeom prst="roundRect">
            <a:avLst>
              <a:gd name="adj" fmla="val 7826"/>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3" name="Text 11"/>
          <p:cNvSpPr txBox="1"/>
          <p:nvPr/>
        </p:nvSpPr>
        <p:spPr>
          <a:xfrm>
            <a:off x="914400" y="4361688"/>
            <a:ext cx="914400" cy="274320"/>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WHY</a:t>
            </a:r>
            <a:endParaRPr lang="en-US" sz="1200" dirty="0"/>
          </a:p>
        </p:txBody>
      </p:sp>
      <p:sp>
        <p:nvSpPr>
          <p:cNvPr id="14" name="Text 12"/>
          <p:cNvSpPr txBox="1"/>
          <p:nvPr/>
        </p:nvSpPr>
        <p:spPr>
          <a:xfrm>
            <a:off x="914400" y="4636008"/>
            <a:ext cx="6766560" cy="548640"/>
          </a:xfrm>
          <a:prstGeom prst="rect">
            <a:avLst/>
          </a:prstGeom>
          <a:noFill/>
          <a:ln/>
        </p:spPr>
        <p:txBody>
          <a:bodyPr wrap="square" lIns="0" tIns="0" rIns="0" bIns="0" rtlCol="0" anchor="t"/>
          <a:lstStyle/>
          <a:p>
            <a:pPr indent="0" marL="0">
              <a:buNone/>
            </a:pPr>
            <a:r>
              <a:rPr lang="en-US" sz="2100" b="1" dirty="0">
                <a:solidFill>
                  <a:srgbClr val="630031"/>
                </a:solidFill>
                <a:latin typeface="Cambria" pitchFamily="34" charset="0"/>
                <a:ea typeface="Cambria" pitchFamily="34" charset="-122"/>
                <a:cs typeface="Cambria" pitchFamily="34" charset="-120"/>
              </a:rPr>
              <a:t>so I can </a:t>
            </a:r>
            <a:pPr indent="0" marL="0">
              <a:buNone/>
            </a:pPr>
            <a:r>
              <a:rPr lang="en-US" sz="2100" dirty="0">
                <a:solidFill>
                  <a:srgbClr val="1C1A19"/>
                </a:solidFill>
                <a:latin typeface="Cambria" pitchFamily="34" charset="0"/>
                <a:ea typeface="Cambria" pitchFamily="34" charset="-122"/>
                <a:cs typeface="Cambria" pitchFamily="34" charset="-120"/>
              </a:rPr>
              <a:t>find my jacket before it gets donated</a:t>
            </a:r>
            <a:endParaRPr lang="en-US" sz="2100" dirty="0"/>
          </a:p>
        </p:txBody>
      </p:sp>
      <p:sp>
        <p:nvSpPr>
          <p:cNvPr id="15" name="Text 13"/>
          <p:cNvSpPr txBox="1"/>
          <p:nvPr/>
        </p:nvSpPr>
        <p:spPr>
          <a:xfrm>
            <a:off x="7863840" y="4343400"/>
            <a:ext cx="3413455" cy="868680"/>
          </a:xfrm>
          <a:prstGeom prst="rect">
            <a:avLst/>
          </a:prstGeom>
          <a:noFill/>
          <a:ln/>
        </p:spPr>
        <p:txBody>
          <a:bodyPr wrap="square" lIns="0" tIns="0" rIns="0" bIns="0" rtlCol="0" anchor="ctr"/>
          <a:lstStyle/>
          <a:p>
            <a:pPr indent="0" marL="0">
              <a:lnSpc>
                <a:spcPts val="2000"/>
              </a:lnSpc>
              <a:buNone/>
            </a:pPr>
            <a:r>
              <a:rPr lang="en-US" sz="1500" dirty="0">
                <a:solidFill>
                  <a:srgbClr val="5A5F63"/>
                </a:solidFill>
                <a:latin typeface="Calibri" pitchFamily="34" charset="0"/>
                <a:ea typeface="Calibri" pitchFamily="34" charset="-122"/>
                <a:cs typeface="Calibri" pitchFamily="34" charset="-120"/>
              </a:rPr>
              <a:t>Proves it is worth building. The most important part.</a:t>
            </a:r>
            <a:endParaRPr lang="en-US" sz="1500" dirty="0"/>
          </a:p>
        </p:txBody>
      </p:sp>
      <p:sp>
        <p:nvSpPr>
          <p:cNvPr id="16" name="Text 14"/>
          <p:cNvSpPr txBox="1"/>
          <p:nvPr/>
        </p:nvSpPr>
        <p:spPr>
          <a:xfrm>
            <a:off x="640080" y="5577840"/>
            <a:ext cx="10911535" cy="457200"/>
          </a:xfrm>
          <a:prstGeom prst="rect">
            <a:avLst/>
          </a:prstGeom>
          <a:noFill/>
          <a:ln/>
        </p:spPr>
        <p:txBody>
          <a:bodyPr wrap="square" lIns="0" tIns="0" rIns="0" bIns="0" rtlCol="0" anchor="t"/>
          <a:lstStyle/>
          <a:p>
            <a:pPr indent="0" marL="0">
              <a:lnSpc>
                <a:spcPts val="2200"/>
              </a:lnSpc>
              <a:buNone/>
            </a:pPr>
            <a:r>
              <a:rPr lang="en-US" sz="1800" b="1" dirty="0">
                <a:solidFill>
                  <a:srgbClr val="CF4420"/>
                </a:solidFill>
                <a:latin typeface="Calibri" pitchFamily="34" charset="0"/>
                <a:ea typeface="Calibri" pitchFamily="34" charset="-122"/>
                <a:cs typeface="Calibri" pitchFamily="34" charset="-120"/>
              </a:rPr>
              <a:t>If you cannot finish the “so I can”, you might not have a feature yet.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USER STORIES</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Weak story, strong story</a:t>
            </a:r>
            <a:endParaRPr lang="en-US" sz="3400" dirty="0"/>
          </a:p>
        </p:txBody>
      </p:sp>
      <p:sp>
        <p:nvSpPr>
          <p:cNvPr id="4" name="Shape 2"/>
          <p:cNvSpPr/>
          <p:nvPr/>
        </p:nvSpPr>
        <p:spPr>
          <a:xfrm>
            <a:off x="640080" y="1783080"/>
            <a:ext cx="4023360" cy="1783080"/>
          </a:xfrm>
          <a:prstGeom prst="roundRect">
            <a:avLst>
              <a:gd name="adj" fmla="val 461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Shape 3"/>
          <p:cNvSpPr/>
          <p:nvPr/>
        </p:nvSpPr>
        <p:spPr>
          <a:xfrm>
            <a:off x="4983480" y="1783080"/>
            <a:ext cx="6568135" cy="1783080"/>
          </a:xfrm>
          <a:prstGeom prst="roundRect">
            <a:avLst>
              <a:gd name="adj" fmla="val 4615"/>
            </a:avLst>
          </a:prstGeom>
          <a:solidFill>
            <a:srgbClr val="EAF4EE"/>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6" name="Text 4"/>
          <p:cNvSpPr txBox="1"/>
          <p:nvPr/>
        </p:nvSpPr>
        <p:spPr>
          <a:xfrm>
            <a:off x="914400" y="1920240"/>
            <a:ext cx="1828800" cy="274320"/>
          </a:xfrm>
          <a:prstGeom prst="rect">
            <a:avLst/>
          </a:prstGeom>
          <a:noFill/>
          <a:ln/>
        </p:spPr>
        <p:txBody>
          <a:bodyPr wrap="square" lIns="0" tIns="0" rIns="0" bIns="0" rtlCol="0" anchor="ctr"/>
          <a:lstStyle/>
          <a:p>
            <a:pPr indent="0" marL="0">
              <a:buNone/>
            </a:pPr>
            <a:r>
              <a:rPr lang="en-US" sz="1200" b="1" spc="200" kern="0" dirty="0">
                <a:solidFill>
                  <a:srgbClr val="75787B"/>
                </a:solidFill>
                <a:latin typeface="Calibri" pitchFamily="34" charset="0"/>
                <a:ea typeface="Calibri" pitchFamily="34" charset="-122"/>
                <a:cs typeface="Calibri" pitchFamily="34" charset="-120"/>
              </a:rPr>
              <a:t>WEAK</a:t>
            </a:r>
            <a:endParaRPr lang="en-US" sz="1200" dirty="0"/>
          </a:p>
        </p:txBody>
      </p:sp>
      <p:sp>
        <p:nvSpPr>
          <p:cNvPr id="7" name="Text 5"/>
          <p:cNvSpPr txBox="1"/>
          <p:nvPr/>
        </p:nvSpPr>
        <p:spPr>
          <a:xfrm>
            <a:off x="914400" y="2194560"/>
            <a:ext cx="3474720" cy="777240"/>
          </a:xfrm>
          <a:prstGeom prst="rect">
            <a:avLst/>
          </a:prstGeom>
          <a:noFill/>
          <a:ln/>
        </p:spPr>
        <p:txBody>
          <a:bodyPr wrap="square" lIns="0" tIns="0" rIns="0" bIns="0" rtlCol="0" anchor="ctr"/>
          <a:lstStyle/>
          <a:p>
            <a:pPr indent="0" marL="0">
              <a:buNone/>
            </a:pPr>
            <a:r>
              <a:rPr lang="en-US" sz="1800" dirty="0">
                <a:solidFill>
                  <a:srgbClr val="5A5F63"/>
                </a:solidFill>
                <a:latin typeface="Cambria" pitchFamily="34" charset="0"/>
                <a:ea typeface="Cambria" pitchFamily="34" charset="-122"/>
                <a:cs typeface="Cambria" pitchFamily="34" charset="-120"/>
              </a:rPr>
              <a:t>As a user, I want a search bar.</a:t>
            </a:r>
            <a:endParaRPr lang="en-US" sz="1800" dirty="0"/>
          </a:p>
        </p:txBody>
      </p:sp>
      <p:sp>
        <p:nvSpPr>
          <p:cNvPr id="8" name="Text 6"/>
          <p:cNvSpPr txBox="1"/>
          <p:nvPr/>
        </p:nvSpPr>
        <p:spPr>
          <a:xfrm>
            <a:off x="914400" y="3017520"/>
            <a:ext cx="3474720" cy="411480"/>
          </a:xfrm>
          <a:prstGeom prst="rect">
            <a:avLst/>
          </a:prstGeom>
          <a:noFill/>
          <a:ln/>
        </p:spPr>
        <p:txBody>
          <a:bodyPr wrap="square" lIns="0" tIns="0" rIns="0" bIns="0" rtlCol="0" anchor="ctr"/>
          <a:lstStyle/>
          <a:p>
            <a:pPr indent="0" marL="0">
              <a:buNone/>
            </a:pPr>
            <a:r>
              <a:rPr lang="en-US" sz="1400" i="1" dirty="0">
                <a:solidFill>
                  <a:srgbClr val="CF4420"/>
                </a:solidFill>
                <a:latin typeface="Calibri" pitchFamily="34" charset="0"/>
                <a:ea typeface="Calibri" pitchFamily="34" charset="-122"/>
                <a:cs typeface="Calibri" pitchFamily="34" charset="-120"/>
              </a:rPr>
              <a:t>Which user? Why do they care?</a:t>
            </a:r>
            <a:endParaRPr lang="en-US" sz="1400" dirty="0"/>
          </a:p>
        </p:txBody>
      </p:sp>
      <p:sp>
        <p:nvSpPr>
          <p:cNvPr id="9" name="Text 7"/>
          <p:cNvSpPr txBox="1"/>
          <p:nvPr/>
        </p:nvSpPr>
        <p:spPr>
          <a:xfrm>
            <a:off x="5257800" y="1920240"/>
            <a:ext cx="1828800" cy="274320"/>
          </a:xfrm>
          <a:prstGeom prst="rect">
            <a:avLst/>
          </a:prstGeom>
          <a:noFill/>
          <a:ln/>
        </p:spPr>
        <p:txBody>
          <a:bodyPr wrap="square" lIns="0" tIns="0" rIns="0" bIns="0" rtlCol="0" anchor="ctr"/>
          <a:lstStyle/>
          <a:p>
            <a:pPr indent="0" marL="0">
              <a:buNone/>
            </a:pPr>
            <a:r>
              <a:rPr lang="en-US" sz="1200" b="1" spc="200" kern="0" dirty="0">
                <a:solidFill>
                  <a:srgbClr val="2E6B4A"/>
                </a:solidFill>
                <a:latin typeface="Calibri" pitchFamily="34" charset="0"/>
                <a:ea typeface="Calibri" pitchFamily="34" charset="-122"/>
                <a:cs typeface="Calibri" pitchFamily="34" charset="-120"/>
              </a:rPr>
              <a:t>STRONG</a:t>
            </a:r>
            <a:endParaRPr lang="en-US" sz="1200" dirty="0"/>
          </a:p>
        </p:txBody>
      </p:sp>
      <p:sp>
        <p:nvSpPr>
          <p:cNvPr id="10" name="Text 8"/>
          <p:cNvSpPr txBox="1"/>
          <p:nvPr/>
        </p:nvSpPr>
        <p:spPr>
          <a:xfrm>
            <a:off x="5257800" y="2194560"/>
            <a:ext cx="6019495" cy="1280160"/>
          </a:xfrm>
          <a:prstGeom prst="rect">
            <a:avLst/>
          </a:prstGeom>
          <a:noFill/>
          <a:ln/>
        </p:spPr>
        <p:txBody>
          <a:bodyPr wrap="square" lIns="0" tIns="0" rIns="0" bIns="0" rtlCol="0" anchor="ctr"/>
          <a:lstStyle/>
          <a:p>
            <a:pPr indent="0" marL="0">
              <a:lnSpc>
                <a:spcPts val="2500"/>
              </a:lnSpc>
              <a:buNone/>
            </a:pPr>
            <a:r>
              <a:rPr lang="en-US" sz="1800" dirty="0">
                <a:solidFill>
                  <a:srgbClr val="1C1A19"/>
                </a:solidFill>
                <a:latin typeface="Cambria" pitchFamily="34" charset="0"/>
                <a:ea typeface="Cambria" pitchFamily="34" charset="-122"/>
                <a:cs typeface="Cambria" pitchFamily="34" charset="-120"/>
              </a:rPr>
              <a:t>As a student, I want to look through photos of everything turned in this week, so I can find my jacket before it gets donated.</a:t>
            </a:r>
            <a:endParaRPr lang="en-US" sz="1800" dirty="0"/>
          </a:p>
        </p:txBody>
      </p:sp>
      <p:sp>
        <p:nvSpPr>
          <p:cNvPr id="11" name="Shape 9"/>
          <p:cNvSpPr/>
          <p:nvPr/>
        </p:nvSpPr>
        <p:spPr>
          <a:xfrm>
            <a:off x="640080" y="3794760"/>
            <a:ext cx="4023360" cy="1783080"/>
          </a:xfrm>
          <a:prstGeom prst="roundRect">
            <a:avLst>
              <a:gd name="adj" fmla="val 461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2" name="Shape 10"/>
          <p:cNvSpPr/>
          <p:nvPr/>
        </p:nvSpPr>
        <p:spPr>
          <a:xfrm>
            <a:off x="4983480" y="3794760"/>
            <a:ext cx="6568135" cy="1783080"/>
          </a:xfrm>
          <a:prstGeom prst="roundRect">
            <a:avLst>
              <a:gd name="adj" fmla="val 4615"/>
            </a:avLst>
          </a:prstGeom>
          <a:solidFill>
            <a:srgbClr val="EAF4EE"/>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3" name="Text 11"/>
          <p:cNvSpPr txBox="1"/>
          <p:nvPr/>
        </p:nvSpPr>
        <p:spPr>
          <a:xfrm>
            <a:off x="914400" y="3931920"/>
            <a:ext cx="1828800" cy="274320"/>
          </a:xfrm>
          <a:prstGeom prst="rect">
            <a:avLst/>
          </a:prstGeom>
          <a:noFill/>
          <a:ln/>
        </p:spPr>
        <p:txBody>
          <a:bodyPr wrap="square" lIns="0" tIns="0" rIns="0" bIns="0" rtlCol="0" anchor="ctr"/>
          <a:lstStyle/>
          <a:p>
            <a:pPr indent="0" marL="0">
              <a:buNone/>
            </a:pPr>
            <a:r>
              <a:rPr lang="en-US" sz="1200" b="1" spc="200" kern="0" dirty="0">
                <a:solidFill>
                  <a:srgbClr val="75787B"/>
                </a:solidFill>
                <a:latin typeface="Calibri" pitchFamily="34" charset="0"/>
                <a:ea typeface="Calibri" pitchFamily="34" charset="-122"/>
                <a:cs typeface="Calibri" pitchFamily="34" charset="-120"/>
              </a:rPr>
              <a:t>WEAK</a:t>
            </a:r>
            <a:endParaRPr lang="en-US" sz="1200" dirty="0"/>
          </a:p>
        </p:txBody>
      </p:sp>
      <p:sp>
        <p:nvSpPr>
          <p:cNvPr id="14" name="Text 12"/>
          <p:cNvSpPr txBox="1"/>
          <p:nvPr/>
        </p:nvSpPr>
        <p:spPr>
          <a:xfrm>
            <a:off x="914400" y="4206240"/>
            <a:ext cx="3474720" cy="777240"/>
          </a:xfrm>
          <a:prstGeom prst="rect">
            <a:avLst/>
          </a:prstGeom>
          <a:noFill/>
          <a:ln/>
        </p:spPr>
        <p:txBody>
          <a:bodyPr wrap="square" lIns="0" tIns="0" rIns="0" bIns="0" rtlCol="0" anchor="ctr"/>
          <a:lstStyle/>
          <a:p>
            <a:pPr indent="0" marL="0">
              <a:buNone/>
            </a:pPr>
            <a:r>
              <a:rPr lang="en-US" sz="1800" dirty="0">
                <a:solidFill>
                  <a:srgbClr val="5A5F63"/>
                </a:solidFill>
                <a:latin typeface="Cambria" pitchFamily="34" charset="0"/>
                <a:ea typeface="Cambria" pitchFamily="34" charset="-122"/>
                <a:cs typeface="Cambria" pitchFamily="34" charset="-120"/>
              </a:rPr>
              <a:t>As a parent, I want the app to be good, so I can use it.</a:t>
            </a:r>
            <a:endParaRPr lang="en-US" sz="1800" dirty="0"/>
          </a:p>
        </p:txBody>
      </p:sp>
      <p:sp>
        <p:nvSpPr>
          <p:cNvPr id="15" name="Text 13"/>
          <p:cNvSpPr txBox="1"/>
          <p:nvPr/>
        </p:nvSpPr>
        <p:spPr>
          <a:xfrm>
            <a:off x="914400" y="5029200"/>
            <a:ext cx="3474720" cy="411480"/>
          </a:xfrm>
          <a:prstGeom prst="rect">
            <a:avLst/>
          </a:prstGeom>
          <a:noFill/>
          <a:ln/>
        </p:spPr>
        <p:txBody>
          <a:bodyPr wrap="square" lIns="0" tIns="0" rIns="0" bIns="0" rtlCol="0" anchor="ctr"/>
          <a:lstStyle/>
          <a:p>
            <a:pPr indent="0" marL="0">
              <a:buNone/>
            </a:pPr>
            <a:r>
              <a:rPr lang="en-US" sz="1400" i="1" dirty="0">
                <a:solidFill>
                  <a:srgbClr val="CF4420"/>
                </a:solidFill>
                <a:latin typeface="Calibri" pitchFamily="34" charset="0"/>
                <a:ea typeface="Calibri" pitchFamily="34" charset="-122"/>
                <a:cs typeface="Calibri" pitchFamily="34" charset="-120"/>
              </a:rPr>
              <a:t>“Good” is not something you can build.</a:t>
            </a:r>
            <a:endParaRPr lang="en-US" sz="1400" dirty="0"/>
          </a:p>
        </p:txBody>
      </p:sp>
      <p:sp>
        <p:nvSpPr>
          <p:cNvPr id="16" name="Text 14"/>
          <p:cNvSpPr txBox="1"/>
          <p:nvPr/>
        </p:nvSpPr>
        <p:spPr>
          <a:xfrm>
            <a:off x="5257800" y="3931920"/>
            <a:ext cx="1828800" cy="274320"/>
          </a:xfrm>
          <a:prstGeom prst="rect">
            <a:avLst/>
          </a:prstGeom>
          <a:noFill/>
          <a:ln/>
        </p:spPr>
        <p:txBody>
          <a:bodyPr wrap="square" lIns="0" tIns="0" rIns="0" bIns="0" rtlCol="0" anchor="ctr"/>
          <a:lstStyle/>
          <a:p>
            <a:pPr indent="0" marL="0">
              <a:buNone/>
            </a:pPr>
            <a:r>
              <a:rPr lang="en-US" sz="1200" b="1" spc="200" kern="0" dirty="0">
                <a:solidFill>
                  <a:srgbClr val="2E6B4A"/>
                </a:solidFill>
                <a:latin typeface="Calibri" pitchFamily="34" charset="0"/>
                <a:ea typeface="Calibri" pitchFamily="34" charset="-122"/>
                <a:cs typeface="Calibri" pitchFamily="34" charset="-120"/>
              </a:rPr>
              <a:t>STRONG</a:t>
            </a:r>
            <a:endParaRPr lang="en-US" sz="1200" dirty="0"/>
          </a:p>
        </p:txBody>
      </p:sp>
      <p:sp>
        <p:nvSpPr>
          <p:cNvPr id="17" name="Text 15"/>
          <p:cNvSpPr txBox="1"/>
          <p:nvPr/>
        </p:nvSpPr>
        <p:spPr>
          <a:xfrm>
            <a:off x="5257800" y="4206240"/>
            <a:ext cx="6019495" cy="1280160"/>
          </a:xfrm>
          <a:prstGeom prst="rect">
            <a:avLst/>
          </a:prstGeom>
          <a:noFill/>
          <a:ln/>
        </p:spPr>
        <p:txBody>
          <a:bodyPr wrap="square" lIns="0" tIns="0" rIns="0" bIns="0" rtlCol="0" anchor="ctr"/>
          <a:lstStyle/>
          <a:p>
            <a:pPr indent="0" marL="0">
              <a:lnSpc>
                <a:spcPts val="2500"/>
              </a:lnSpc>
              <a:buNone/>
            </a:pPr>
            <a:r>
              <a:rPr lang="en-US" sz="1800" dirty="0">
                <a:solidFill>
                  <a:srgbClr val="1C1A19"/>
                </a:solidFill>
                <a:latin typeface="Cambria" pitchFamily="34" charset="0"/>
                <a:ea typeface="Cambria" pitchFamily="34" charset="-122"/>
                <a:cs typeface="Cambria" pitchFamily="34" charset="-120"/>
              </a:rPr>
              <a:t>As a parent, I want to get a message when something with my kid’s name on it is turned in, so I can stop buying replacements.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ACCEPTANCE CRITERIA</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Bonus: how would we know it works?</a:t>
            </a:r>
            <a:endParaRPr lang="en-US" sz="3400" dirty="0"/>
          </a:p>
        </p:txBody>
      </p:sp>
      <p:sp>
        <p:nvSpPr>
          <p:cNvPr id="4" name="Text 2"/>
          <p:cNvSpPr txBox="1"/>
          <p:nvPr/>
        </p:nvSpPr>
        <p:spPr>
          <a:xfrm>
            <a:off x="640080" y="1600200"/>
            <a:ext cx="10911535" cy="731520"/>
          </a:xfrm>
          <a:prstGeom prst="rect">
            <a:avLst/>
          </a:prstGeom>
          <a:noFill/>
          <a:ln/>
        </p:spPr>
        <p:txBody>
          <a:bodyPr wrap="square" lIns="0" tIns="0" rIns="0" bIns="0" rtlCol="0" anchor="t"/>
          <a:lstStyle/>
          <a:p>
            <a:pPr indent="0" marL="0">
              <a:lnSpc>
                <a:spcPts val="2200"/>
              </a:lnSpc>
              <a:buNone/>
            </a:pPr>
            <a:r>
              <a:rPr lang="en-US" sz="1800" dirty="0">
                <a:solidFill>
                  <a:srgbClr val="1C1A19"/>
                </a:solidFill>
                <a:latin typeface="Calibri" pitchFamily="34" charset="0"/>
                <a:ea typeface="Calibri" pitchFamily="34" charset="-122"/>
                <a:cs typeface="Calibri" pitchFamily="34" charset="-120"/>
              </a:rPr>
              <a:t>Teams that finish three stories can add checks under a story. Each one is something you could test, and the answer is yes or no.</a:t>
            </a:r>
            <a:endParaRPr lang="en-US" sz="1800" dirty="0"/>
          </a:p>
        </p:txBody>
      </p:sp>
      <p:sp>
        <p:nvSpPr>
          <p:cNvPr id="5" name="Shape 3"/>
          <p:cNvSpPr/>
          <p:nvPr/>
        </p:nvSpPr>
        <p:spPr>
          <a:xfrm>
            <a:off x="640080" y="2514600"/>
            <a:ext cx="10911535" cy="2834640"/>
          </a:xfrm>
          <a:prstGeom prst="roundRect">
            <a:avLst>
              <a:gd name="adj" fmla="val 290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6" name="Text 4"/>
          <p:cNvSpPr txBox="1"/>
          <p:nvPr/>
        </p:nvSpPr>
        <p:spPr>
          <a:xfrm>
            <a:off x="1005840" y="2697480"/>
            <a:ext cx="10180015" cy="822960"/>
          </a:xfrm>
          <a:prstGeom prst="rect">
            <a:avLst/>
          </a:prstGeom>
          <a:noFill/>
          <a:ln/>
        </p:spPr>
        <p:txBody>
          <a:bodyPr wrap="square" lIns="0" tIns="0" rIns="0" bIns="0" rtlCol="0" anchor="ctr"/>
          <a:lstStyle/>
          <a:p>
            <a:pPr indent="0" marL="0">
              <a:buNone/>
            </a:pPr>
            <a:r>
              <a:rPr lang="en-US" sz="1900" i="1" dirty="0">
                <a:solidFill>
                  <a:srgbClr val="630031"/>
                </a:solidFill>
                <a:latin typeface="Cambria" pitchFamily="34" charset="0"/>
                <a:ea typeface="Cambria" pitchFamily="34" charset="-122"/>
                <a:cs typeface="Cambria" pitchFamily="34" charset="-120"/>
              </a:rPr>
              <a:t>As a student, I want to look through photos of everything turned in this week, so I can find my jacket before it gets donated.</a:t>
            </a:r>
            <a:endParaRPr lang="en-US" sz="1900" dirty="0"/>
          </a:p>
        </p:txBody>
      </p:sp>
      <p:sp>
        <p:nvSpPr>
          <p:cNvPr id="7" name="Text 5"/>
          <p:cNvSpPr txBox="1"/>
          <p:nvPr/>
        </p:nvSpPr>
        <p:spPr>
          <a:xfrm>
            <a:off x="1097280" y="3657600"/>
            <a:ext cx="365760" cy="411480"/>
          </a:xfrm>
          <a:prstGeom prst="rect">
            <a:avLst/>
          </a:prstGeom>
          <a:noFill/>
          <a:ln/>
        </p:spPr>
        <p:txBody>
          <a:bodyPr wrap="square" lIns="0" tIns="0" rIns="0" bIns="0" rtlCol="0" anchor="ctr"/>
          <a:lstStyle/>
          <a:p>
            <a:pPr indent="0" marL="0">
              <a:buNone/>
            </a:pPr>
            <a:r>
              <a:rPr lang="en-US" sz="2000" b="1" dirty="0">
                <a:solidFill>
                  <a:srgbClr val="2E6B4A"/>
                </a:solidFill>
                <a:latin typeface="Calibri" pitchFamily="34" charset="0"/>
                <a:ea typeface="Calibri" pitchFamily="34" charset="-122"/>
                <a:cs typeface="Calibri" pitchFamily="34" charset="-120"/>
              </a:rPr>
              <a:t>✓</a:t>
            </a:r>
            <a:endParaRPr lang="en-US" sz="2000" dirty="0"/>
          </a:p>
        </p:txBody>
      </p:sp>
      <p:sp>
        <p:nvSpPr>
          <p:cNvPr id="8" name="Text 6"/>
          <p:cNvSpPr txBox="1"/>
          <p:nvPr/>
        </p:nvSpPr>
        <p:spPr>
          <a:xfrm>
            <a:off x="1554480" y="3657600"/>
            <a:ext cx="9539935" cy="411480"/>
          </a:xfrm>
          <a:prstGeom prst="rect">
            <a:avLst/>
          </a:prstGeom>
          <a:noFill/>
          <a:ln/>
        </p:spPr>
        <p:txBody>
          <a:bodyPr wrap="square" lIns="0" tIns="0" rIns="0" bIns="0" rtlCol="0" anchor="ctr"/>
          <a:lstStyle/>
          <a:p>
            <a:pPr indent="0" marL="0">
              <a:buNone/>
            </a:pPr>
            <a:r>
              <a:rPr lang="en-US" sz="1900" dirty="0">
                <a:solidFill>
                  <a:srgbClr val="1C1A19"/>
                </a:solidFill>
                <a:latin typeface="Calibri" pitchFamily="34" charset="0"/>
                <a:ea typeface="Calibri" pitchFamily="34" charset="-122"/>
                <a:cs typeface="Calibri" pitchFamily="34" charset="-120"/>
              </a:rPr>
              <a:t>Every item has a photo</a:t>
            </a:r>
            <a:endParaRPr lang="en-US" sz="1900" dirty="0"/>
          </a:p>
        </p:txBody>
      </p:sp>
      <p:sp>
        <p:nvSpPr>
          <p:cNvPr id="9" name="Text 7"/>
          <p:cNvSpPr txBox="1"/>
          <p:nvPr/>
        </p:nvSpPr>
        <p:spPr>
          <a:xfrm>
            <a:off x="1097280" y="4187952"/>
            <a:ext cx="365760" cy="411480"/>
          </a:xfrm>
          <a:prstGeom prst="rect">
            <a:avLst/>
          </a:prstGeom>
          <a:noFill/>
          <a:ln/>
        </p:spPr>
        <p:txBody>
          <a:bodyPr wrap="square" lIns="0" tIns="0" rIns="0" bIns="0" rtlCol="0" anchor="ctr"/>
          <a:lstStyle/>
          <a:p>
            <a:pPr indent="0" marL="0">
              <a:buNone/>
            </a:pPr>
            <a:r>
              <a:rPr lang="en-US" sz="2000" b="1" dirty="0">
                <a:solidFill>
                  <a:srgbClr val="2E6B4A"/>
                </a:solidFill>
                <a:latin typeface="Calibri" pitchFamily="34" charset="0"/>
                <a:ea typeface="Calibri" pitchFamily="34" charset="-122"/>
                <a:cs typeface="Calibri" pitchFamily="34" charset="-120"/>
              </a:rPr>
              <a:t>✓</a:t>
            </a:r>
            <a:endParaRPr lang="en-US" sz="2000" dirty="0"/>
          </a:p>
        </p:txBody>
      </p:sp>
      <p:sp>
        <p:nvSpPr>
          <p:cNvPr id="10" name="Text 8"/>
          <p:cNvSpPr txBox="1"/>
          <p:nvPr/>
        </p:nvSpPr>
        <p:spPr>
          <a:xfrm>
            <a:off x="1554480" y="4187952"/>
            <a:ext cx="9539935" cy="411480"/>
          </a:xfrm>
          <a:prstGeom prst="rect">
            <a:avLst/>
          </a:prstGeom>
          <a:noFill/>
          <a:ln/>
        </p:spPr>
        <p:txBody>
          <a:bodyPr wrap="square" lIns="0" tIns="0" rIns="0" bIns="0" rtlCol="0" anchor="ctr"/>
          <a:lstStyle/>
          <a:p>
            <a:pPr indent="0" marL="0">
              <a:buNone/>
            </a:pPr>
            <a:r>
              <a:rPr lang="en-US" sz="1900" dirty="0">
                <a:solidFill>
                  <a:srgbClr val="1C1A19"/>
                </a:solidFill>
                <a:latin typeface="Calibri" pitchFamily="34" charset="0"/>
                <a:ea typeface="Calibri" pitchFamily="34" charset="-122"/>
                <a:cs typeface="Calibri" pitchFamily="34" charset="-120"/>
              </a:rPr>
              <a:t>The newest items show first</a:t>
            </a:r>
            <a:endParaRPr lang="en-US" sz="1900" dirty="0"/>
          </a:p>
        </p:txBody>
      </p:sp>
      <p:sp>
        <p:nvSpPr>
          <p:cNvPr id="11" name="Text 9"/>
          <p:cNvSpPr txBox="1"/>
          <p:nvPr/>
        </p:nvSpPr>
        <p:spPr>
          <a:xfrm>
            <a:off x="1097280" y="4718304"/>
            <a:ext cx="365760" cy="411480"/>
          </a:xfrm>
          <a:prstGeom prst="rect">
            <a:avLst/>
          </a:prstGeom>
          <a:noFill/>
          <a:ln/>
        </p:spPr>
        <p:txBody>
          <a:bodyPr wrap="square" lIns="0" tIns="0" rIns="0" bIns="0" rtlCol="0" anchor="ctr"/>
          <a:lstStyle/>
          <a:p>
            <a:pPr indent="0" marL="0">
              <a:buNone/>
            </a:pPr>
            <a:r>
              <a:rPr lang="en-US" sz="2000" b="1" dirty="0">
                <a:solidFill>
                  <a:srgbClr val="2E6B4A"/>
                </a:solidFill>
                <a:latin typeface="Calibri" pitchFamily="34" charset="0"/>
                <a:ea typeface="Calibri" pitchFamily="34" charset="-122"/>
                <a:cs typeface="Calibri" pitchFamily="34" charset="-120"/>
              </a:rPr>
              <a:t>✓</a:t>
            </a:r>
            <a:endParaRPr lang="en-US" sz="2000" dirty="0"/>
          </a:p>
        </p:txBody>
      </p:sp>
      <p:sp>
        <p:nvSpPr>
          <p:cNvPr id="12" name="Text 10"/>
          <p:cNvSpPr txBox="1"/>
          <p:nvPr/>
        </p:nvSpPr>
        <p:spPr>
          <a:xfrm>
            <a:off x="1554480" y="4718304"/>
            <a:ext cx="9539935" cy="411480"/>
          </a:xfrm>
          <a:prstGeom prst="rect">
            <a:avLst/>
          </a:prstGeom>
          <a:noFill/>
          <a:ln/>
        </p:spPr>
        <p:txBody>
          <a:bodyPr wrap="square" lIns="0" tIns="0" rIns="0" bIns="0" rtlCol="0" anchor="ctr"/>
          <a:lstStyle/>
          <a:p>
            <a:pPr indent="0" marL="0">
              <a:buNone/>
            </a:pPr>
            <a:r>
              <a:rPr lang="en-US" sz="1900" dirty="0">
                <a:solidFill>
                  <a:srgbClr val="1C1A19"/>
                </a:solidFill>
                <a:latin typeface="Calibri" pitchFamily="34" charset="0"/>
                <a:ea typeface="Calibri" pitchFamily="34" charset="-122"/>
                <a:cs typeface="Calibri" pitchFamily="34" charset="-120"/>
              </a:rPr>
              <a:t>I can tell where to go to pick it up</a:t>
            </a:r>
            <a:endParaRPr lang="en-US" sz="1900" dirty="0"/>
          </a:p>
        </p:txBody>
      </p:sp>
      <p:sp>
        <p:nvSpPr>
          <p:cNvPr id="13" name="Text 11"/>
          <p:cNvSpPr txBox="1"/>
          <p:nvPr/>
        </p:nvSpPr>
        <p:spPr>
          <a:xfrm>
            <a:off x="640080" y="5623560"/>
            <a:ext cx="10911535" cy="457200"/>
          </a:xfrm>
          <a:prstGeom prst="rect">
            <a:avLst/>
          </a:prstGeom>
          <a:noFill/>
          <a:ln/>
        </p:spPr>
        <p:txBody>
          <a:bodyPr wrap="square" lIns="0" tIns="0" rIns="0" bIns="0" rtlCol="0" anchor="t"/>
          <a:lstStyle/>
          <a:p>
            <a:pPr indent="0" marL="0">
              <a:lnSpc>
                <a:spcPts val="2200"/>
              </a:lnSpc>
              <a:buNone/>
            </a:pPr>
            <a:r>
              <a:rPr lang="en-US" sz="1600" dirty="0">
                <a:solidFill>
                  <a:srgbClr val="75787B"/>
                </a:solidFill>
                <a:latin typeface="Calibri" pitchFamily="34" charset="0"/>
                <a:ea typeface="Calibri" pitchFamily="34" charset="-122"/>
                <a:cs typeface="Calibri" pitchFamily="34" charset="-120"/>
              </a:rPr>
              <a:t>“It looks cool” is not a check. “The newest items show first” is.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C1A19"/>
        </a:solidFill>
      </p:bgPr>
    </p:bg>
    <p:spTree>
      <p:nvGrpSpPr>
        <p:cNvPr id="1" name=""/>
        <p:cNvGrpSpPr/>
        <p:nvPr/>
      </p:nvGrpSpPr>
      <p:grpSpPr>
        <a:xfrm>
          <a:off x="0" y="0"/>
          <a:ext cx="0" cy="0"/>
          <a:chOff x="0" y="0"/>
          <a:chExt cx="0" cy="0"/>
        </a:xfrm>
      </p:grpSpPr>
      <p:sp>
        <p:nvSpPr>
          <p:cNvPr id="2" name="Text 0"/>
          <p:cNvSpPr txBox="1"/>
          <p:nvPr/>
        </p:nvSpPr>
        <p:spPr>
          <a:xfrm>
            <a:off x="640080" y="548640"/>
            <a:ext cx="10911535" cy="310896"/>
          </a:xfrm>
          <a:prstGeom prst="rect">
            <a:avLst/>
          </a:prstGeom>
          <a:noFill/>
          <a:ln/>
        </p:spPr>
        <p:txBody>
          <a:bodyPr wrap="square" lIns="0" tIns="0" rIns="0" bIns="0" rtlCol="0" anchor="ctr"/>
          <a:lstStyle/>
          <a:p>
            <a:pPr indent="0" marL="0">
              <a:buNone/>
            </a:pPr>
            <a:r>
              <a:rPr lang="en-US" sz="1300" b="1" spc="300" kern="0" dirty="0">
                <a:solidFill>
                  <a:srgbClr val="CF4420"/>
                </a:solidFill>
                <a:latin typeface="Calibri" pitchFamily="34" charset="0"/>
                <a:ea typeface="Calibri" pitchFamily="34" charset="-122"/>
                <a:cs typeface="Calibri" pitchFamily="34" charset="-120"/>
              </a:rPr>
              <a:t>YOUR TURN  ·  ABOUT 25 MINUTES</a:t>
            </a:r>
            <a:endParaRPr lang="en-US" sz="1300" dirty="0"/>
          </a:p>
        </p:txBody>
      </p:sp>
      <p:sp>
        <p:nvSpPr>
          <p:cNvPr id="3" name="Text 1"/>
          <p:cNvSpPr txBox="1"/>
          <p:nvPr/>
        </p:nvSpPr>
        <p:spPr>
          <a:xfrm>
            <a:off x="640080" y="896112"/>
            <a:ext cx="10911535"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Plan something that would make our community better</a:t>
            </a:r>
            <a:endParaRPr lang="en-US" sz="3400" dirty="0"/>
          </a:p>
        </p:txBody>
      </p:sp>
      <p:sp>
        <p:nvSpPr>
          <p:cNvPr id="4" name="Shape 2"/>
          <p:cNvSpPr/>
          <p:nvPr/>
        </p:nvSpPr>
        <p:spPr>
          <a:xfrm>
            <a:off x="640080" y="1975104"/>
            <a:ext cx="457200" cy="457200"/>
          </a:xfrm>
          <a:prstGeom prst="ellipse">
            <a:avLst/>
          </a:prstGeom>
          <a:solidFill>
            <a:srgbClr val="CF4420"/>
          </a:solidFill>
          <a:ln w="12700">
            <a:solidFill>
              <a:srgbClr val="333333"/>
            </a:solidFill>
            <a:prstDash val="solid"/>
          </a:ln>
        </p:spPr>
      </p:sp>
      <p:sp>
        <p:nvSpPr>
          <p:cNvPr id="5" name="Text 3"/>
          <p:cNvSpPr txBox="1"/>
          <p:nvPr/>
        </p:nvSpPr>
        <p:spPr>
          <a:xfrm>
            <a:off x="640080" y="19751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325880" y="1920240"/>
            <a:ext cx="2194560" cy="56692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Team up</a:t>
            </a:r>
            <a:endParaRPr lang="en-US" sz="1900" dirty="0"/>
          </a:p>
        </p:txBody>
      </p:sp>
      <p:sp>
        <p:nvSpPr>
          <p:cNvPr id="7" name="Text 5"/>
          <p:cNvSpPr txBox="1"/>
          <p:nvPr/>
        </p:nvSpPr>
        <p:spPr>
          <a:xfrm>
            <a:off x="3520440" y="1920240"/>
            <a:ext cx="8031175" cy="566928"/>
          </a:xfrm>
          <a:prstGeom prst="rect">
            <a:avLst/>
          </a:prstGeom>
          <a:noFill/>
          <a:ln/>
        </p:spPr>
        <p:txBody>
          <a:bodyPr wrap="square" lIns="0" tIns="0" rIns="0" bIns="0" rtlCol="0" anchor="ctr"/>
          <a:lstStyle/>
          <a:p>
            <a:pPr indent="0" marL="0">
              <a:buNone/>
            </a:pPr>
            <a:r>
              <a:rPr lang="en-US" sz="1700" dirty="0">
                <a:solidFill>
                  <a:srgbClr val="D9D6D2"/>
                </a:solidFill>
                <a:latin typeface="Calibri" pitchFamily="34" charset="0"/>
                <a:ea typeface="Calibri" pitchFamily="34" charset="-122"/>
                <a:cs typeface="Calibri" pitchFamily="34" charset="-120"/>
              </a:rPr>
              <a:t>3 or 4 people. Pick a team name, not a real name. One Chromebook types.</a:t>
            </a:r>
            <a:endParaRPr lang="en-US" sz="1700" dirty="0"/>
          </a:p>
        </p:txBody>
      </p:sp>
      <p:sp>
        <p:nvSpPr>
          <p:cNvPr id="8" name="Shape 6"/>
          <p:cNvSpPr/>
          <p:nvPr/>
        </p:nvSpPr>
        <p:spPr>
          <a:xfrm>
            <a:off x="640080" y="2688336"/>
            <a:ext cx="457200" cy="457200"/>
          </a:xfrm>
          <a:prstGeom prst="ellipse">
            <a:avLst/>
          </a:prstGeom>
          <a:solidFill>
            <a:srgbClr val="CF4420"/>
          </a:solidFill>
          <a:ln w="12700">
            <a:solidFill>
              <a:srgbClr val="333333"/>
            </a:solidFill>
            <a:prstDash val="solid"/>
          </a:ln>
        </p:spPr>
      </p:sp>
      <p:sp>
        <p:nvSpPr>
          <p:cNvPr id="9" name="Text 7"/>
          <p:cNvSpPr txBox="1"/>
          <p:nvPr/>
        </p:nvSpPr>
        <p:spPr>
          <a:xfrm>
            <a:off x="640080" y="26883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325880" y="2633472"/>
            <a:ext cx="2194560" cy="56692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Your idea</a:t>
            </a:r>
            <a:endParaRPr lang="en-US" sz="1900" dirty="0"/>
          </a:p>
        </p:txBody>
      </p:sp>
      <p:sp>
        <p:nvSpPr>
          <p:cNvPr id="11" name="Text 9"/>
          <p:cNvSpPr txBox="1"/>
          <p:nvPr/>
        </p:nvSpPr>
        <p:spPr>
          <a:xfrm>
            <a:off x="3520440" y="2633472"/>
            <a:ext cx="8031175" cy="566928"/>
          </a:xfrm>
          <a:prstGeom prst="rect">
            <a:avLst/>
          </a:prstGeom>
          <a:noFill/>
          <a:ln/>
        </p:spPr>
        <p:txBody>
          <a:bodyPr wrap="square" lIns="0" tIns="0" rIns="0" bIns="0" rtlCol="0" anchor="ctr"/>
          <a:lstStyle/>
          <a:p>
            <a:pPr indent="0" marL="0">
              <a:buNone/>
            </a:pPr>
            <a:r>
              <a:rPr lang="en-US" sz="1700" dirty="0">
                <a:solidFill>
                  <a:srgbClr val="D9D6D2"/>
                </a:solidFill>
                <a:latin typeface="Calibri" pitchFamily="34" charset="0"/>
                <a:ea typeface="Calibri" pitchFamily="34" charset="-122"/>
                <a:cs typeface="Calibri" pitchFamily="34" charset="-120"/>
              </a:rPr>
              <a:t>An app, product, or program for our school, Blacksburg, a team, or a club.</a:t>
            </a:r>
            <a:endParaRPr lang="en-US" sz="1700" dirty="0"/>
          </a:p>
        </p:txBody>
      </p:sp>
      <p:sp>
        <p:nvSpPr>
          <p:cNvPr id="12" name="Shape 10"/>
          <p:cNvSpPr/>
          <p:nvPr/>
        </p:nvSpPr>
        <p:spPr>
          <a:xfrm>
            <a:off x="640080" y="3401568"/>
            <a:ext cx="457200" cy="457200"/>
          </a:xfrm>
          <a:prstGeom prst="ellipse">
            <a:avLst/>
          </a:prstGeom>
          <a:solidFill>
            <a:srgbClr val="CF4420"/>
          </a:solidFill>
          <a:ln w="12700">
            <a:solidFill>
              <a:srgbClr val="333333"/>
            </a:solidFill>
            <a:prstDash val="solid"/>
          </a:ln>
        </p:spPr>
      </p:sp>
      <p:sp>
        <p:nvSpPr>
          <p:cNvPr id="13" name="Text 11"/>
          <p:cNvSpPr txBox="1"/>
          <p:nvPr/>
        </p:nvSpPr>
        <p:spPr>
          <a:xfrm>
            <a:off x="640080" y="34015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325880" y="3346704"/>
            <a:ext cx="2194560" cy="56692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Purpose</a:t>
            </a:r>
            <a:endParaRPr lang="en-US" sz="1900" dirty="0"/>
          </a:p>
        </p:txBody>
      </p:sp>
      <p:sp>
        <p:nvSpPr>
          <p:cNvPr id="15" name="Text 13"/>
          <p:cNvSpPr txBox="1"/>
          <p:nvPr/>
        </p:nvSpPr>
        <p:spPr>
          <a:xfrm>
            <a:off x="3520440" y="3346704"/>
            <a:ext cx="8031175" cy="566928"/>
          </a:xfrm>
          <a:prstGeom prst="rect">
            <a:avLst/>
          </a:prstGeom>
          <a:noFill/>
          <a:ln/>
        </p:spPr>
        <p:txBody>
          <a:bodyPr wrap="square" lIns="0" tIns="0" rIns="0" bIns="0" rtlCol="0" anchor="ctr"/>
          <a:lstStyle/>
          <a:p>
            <a:pPr indent="0" marL="0">
              <a:buNone/>
            </a:pPr>
            <a:r>
              <a:rPr lang="en-US" sz="1700" dirty="0">
                <a:solidFill>
                  <a:srgbClr val="D9D6D2"/>
                </a:solidFill>
                <a:latin typeface="Calibri" pitchFamily="34" charset="0"/>
                <a:ea typeface="Calibri" pitchFamily="34" charset="-122"/>
                <a:cs typeface="Calibri" pitchFamily="34" charset="-120"/>
              </a:rPr>
              <a:t>Who is better off, and how? The impact, not what it does.</a:t>
            </a:r>
            <a:endParaRPr lang="en-US" sz="1700" dirty="0"/>
          </a:p>
        </p:txBody>
      </p:sp>
      <p:sp>
        <p:nvSpPr>
          <p:cNvPr id="16" name="Shape 14"/>
          <p:cNvSpPr/>
          <p:nvPr/>
        </p:nvSpPr>
        <p:spPr>
          <a:xfrm>
            <a:off x="640080" y="4114800"/>
            <a:ext cx="457200" cy="457200"/>
          </a:xfrm>
          <a:prstGeom prst="ellipse">
            <a:avLst/>
          </a:prstGeom>
          <a:solidFill>
            <a:srgbClr val="CF4420"/>
          </a:solidFill>
          <a:ln w="12700">
            <a:solidFill>
              <a:srgbClr val="333333"/>
            </a:solidFill>
            <a:prstDash val="solid"/>
          </a:ln>
        </p:spPr>
      </p:sp>
      <p:sp>
        <p:nvSpPr>
          <p:cNvPr id="17" name="Text 15"/>
          <p:cNvSpPr txBox="1"/>
          <p:nvPr/>
        </p:nvSpPr>
        <p:spPr>
          <a:xfrm>
            <a:off x="640080" y="4114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1325880" y="4059936"/>
            <a:ext cx="2194560" cy="56692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Users</a:t>
            </a:r>
            <a:endParaRPr lang="en-US" sz="1900" dirty="0"/>
          </a:p>
        </p:txBody>
      </p:sp>
      <p:sp>
        <p:nvSpPr>
          <p:cNvPr id="19" name="Text 17"/>
          <p:cNvSpPr txBox="1"/>
          <p:nvPr/>
        </p:nvSpPr>
        <p:spPr>
          <a:xfrm>
            <a:off x="3520440" y="4059936"/>
            <a:ext cx="8031175" cy="566928"/>
          </a:xfrm>
          <a:prstGeom prst="rect">
            <a:avLst/>
          </a:prstGeom>
          <a:noFill/>
          <a:ln/>
        </p:spPr>
        <p:txBody>
          <a:bodyPr wrap="square" lIns="0" tIns="0" rIns="0" bIns="0" rtlCol="0" anchor="ctr"/>
          <a:lstStyle/>
          <a:p>
            <a:pPr indent="0" marL="0">
              <a:buNone/>
            </a:pPr>
            <a:r>
              <a:rPr lang="en-US" sz="1700" dirty="0">
                <a:solidFill>
                  <a:srgbClr val="D9D6D2"/>
                </a:solidFill>
                <a:latin typeface="Calibri" pitchFamily="34" charset="0"/>
                <a:ea typeface="Calibri" pitchFamily="34" charset="-122"/>
                <a:cs typeface="Calibri" pitchFamily="34" charset="-120"/>
              </a:rPr>
              <a:t>At least two. One sentence each on what matters to them.</a:t>
            </a:r>
            <a:endParaRPr lang="en-US" sz="1700" dirty="0"/>
          </a:p>
        </p:txBody>
      </p:sp>
      <p:sp>
        <p:nvSpPr>
          <p:cNvPr id="20" name="Shape 18"/>
          <p:cNvSpPr/>
          <p:nvPr/>
        </p:nvSpPr>
        <p:spPr>
          <a:xfrm>
            <a:off x="640080" y="4828032"/>
            <a:ext cx="457200" cy="457200"/>
          </a:xfrm>
          <a:prstGeom prst="ellipse">
            <a:avLst/>
          </a:prstGeom>
          <a:solidFill>
            <a:srgbClr val="CF4420"/>
          </a:solidFill>
          <a:ln w="12700">
            <a:solidFill>
              <a:srgbClr val="333333"/>
            </a:solidFill>
            <a:prstDash val="solid"/>
          </a:ln>
        </p:spPr>
      </p:sp>
      <p:sp>
        <p:nvSpPr>
          <p:cNvPr id="21" name="Text 19"/>
          <p:cNvSpPr txBox="1"/>
          <p:nvPr/>
        </p:nvSpPr>
        <p:spPr>
          <a:xfrm>
            <a:off x="640080" y="48280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1325880" y="4773168"/>
            <a:ext cx="2194560" cy="56692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User stories</a:t>
            </a:r>
            <a:endParaRPr lang="en-US" sz="1900" dirty="0"/>
          </a:p>
        </p:txBody>
      </p:sp>
      <p:sp>
        <p:nvSpPr>
          <p:cNvPr id="23" name="Text 21"/>
          <p:cNvSpPr txBox="1"/>
          <p:nvPr/>
        </p:nvSpPr>
        <p:spPr>
          <a:xfrm>
            <a:off x="3520440" y="4773168"/>
            <a:ext cx="8031175" cy="566928"/>
          </a:xfrm>
          <a:prstGeom prst="rect">
            <a:avLst/>
          </a:prstGeom>
          <a:noFill/>
          <a:ln/>
        </p:spPr>
        <p:txBody>
          <a:bodyPr wrap="square" lIns="0" tIns="0" rIns="0" bIns="0" rtlCol="0" anchor="ctr"/>
          <a:lstStyle/>
          <a:p>
            <a:pPr indent="0" marL="0">
              <a:buNone/>
            </a:pPr>
            <a:r>
              <a:rPr lang="en-US" sz="1700" dirty="0">
                <a:solidFill>
                  <a:srgbClr val="D9D6D2"/>
                </a:solidFill>
                <a:latin typeface="Calibri" pitchFamily="34" charset="0"/>
                <a:ea typeface="Calibri" pitchFamily="34" charset="-122"/>
                <a:cs typeface="Calibri" pitchFamily="34" charset="-120"/>
              </a:rPr>
              <a:t>At least three. As a ___, I want to ___, so I can ___.</a:t>
            </a:r>
            <a:endParaRPr lang="en-US" sz="1700" dirty="0"/>
          </a:p>
        </p:txBody>
      </p:sp>
      <p:sp>
        <p:nvSpPr>
          <p:cNvPr id="24" name="Shape 22"/>
          <p:cNvSpPr/>
          <p:nvPr/>
        </p:nvSpPr>
        <p:spPr>
          <a:xfrm>
            <a:off x="640080" y="5577840"/>
            <a:ext cx="10911535" cy="777240"/>
          </a:xfrm>
          <a:prstGeom prst="roundRect">
            <a:avLst>
              <a:gd name="adj" fmla="val 10588"/>
            </a:avLst>
          </a:prstGeom>
          <a:solidFill>
            <a:srgbClr val="CF4420"/>
          </a:solidFill>
          <a:ln w="12700">
            <a:solidFill>
              <a:srgbClr val="333333"/>
            </a:solidFill>
            <a:prstDash val="solid"/>
          </a:ln>
        </p:spPr>
      </p:sp>
      <p:sp>
        <p:nvSpPr>
          <p:cNvPr id="25" name="Text 23"/>
          <p:cNvSpPr txBox="1"/>
          <p:nvPr/>
        </p:nvSpPr>
        <p:spPr>
          <a:xfrm>
            <a:off x="960120" y="5577840"/>
            <a:ext cx="10271455" cy="7772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Open:  </a:t>
            </a:r>
            <a:pPr indent="0" marL="0">
              <a:buNone/>
            </a:pPr>
            <a:r>
              <a:rPr lang="en-US" sz="2200" b="1" dirty="0">
                <a:solidFill>
                  <a:srgbClr val="FFFFFF"/>
                </a:solidFill>
                <a:latin typeface="Consolas" pitchFamily="34" charset="0"/>
                <a:ea typeface="Consolas" pitchFamily="34" charset="-122"/>
                <a:cs typeface="Consolas" pitchFamily="34" charset="-120"/>
              </a:rPr>
              <a:t>doubleblaze.solutions/trail-crew/launch</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630031"/>
        </a:solidFill>
      </p:bgPr>
    </p:bg>
    <p:spTree>
      <p:nvGrpSpPr>
        <p:cNvPr id="1" name=""/>
        <p:cNvGrpSpPr/>
        <p:nvPr/>
      </p:nvGrpSpPr>
      <p:grpSpPr>
        <a:xfrm>
          <a:off x="0" y="0"/>
          <a:ext cx="0" cy="0"/>
          <a:chOff x="0" y="0"/>
          <a:chExt cx="0" cy="0"/>
        </a:xfrm>
      </p:grpSpPr>
      <p:sp>
        <p:nvSpPr>
          <p:cNvPr id="2" name="Shape 0"/>
          <p:cNvSpPr/>
          <p:nvPr/>
        </p:nvSpPr>
        <p:spPr>
          <a:xfrm>
            <a:off x="8778240" y="2377440"/>
            <a:ext cx="5669280" cy="5669280"/>
          </a:xfrm>
          <a:prstGeom prst="ellipse">
            <a:avLst/>
          </a:prstGeom>
          <a:solidFill>
            <a:srgbClr val="4A0025"/>
          </a:solidFill>
          <a:ln w="12700">
            <a:solidFill>
              <a:srgbClr val="333333"/>
            </a:solidFill>
            <a:prstDash val="solid"/>
          </a:ln>
        </p:spPr>
      </p:sp>
      <p:sp>
        <p:nvSpPr>
          <p:cNvPr id="3" name="Text 1"/>
          <p:cNvSpPr txBox="1"/>
          <p:nvPr/>
        </p:nvSpPr>
        <p:spPr>
          <a:xfrm>
            <a:off x="640080" y="914400"/>
            <a:ext cx="7680960" cy="310896"/>
          </a:xfrm>
          <a:prstGeom prst="rect">
            <a:avLst/>
          </a:prstGeom>
          <a:noFill/>
          <a:ln/>
        </p:spPr>
        <p:txBody>
          <a:bodyPr wrap="square" lIns="0" tIns="0" rIns="0" bIns="0" rtlCol="0" anchor="ctr"/>
          <a:lstStyle/>
          <a:p>
            <a:pPr indent="0" marL="0">
              <a:buNone/>
            </a:pPr>
            <a:r>
              <a:rPr lang="en-US" sz="1300" b="1" spc="300" kern="0" dirty="0">
                <a:solidFill>
                  <a:srgbClr val="E9C9D6"/>
                </a:solidFill>
                <a:latin typeface="Calibri" pitchFamily="34" charset="0"/>
                <a:ea typeface="Calibri" pitchFamily="34" charset="-122"/>
                <a:cs typeface="Calibri" pitchFamily="34" charset="-120"/>
              </a:rPr>
              <a:t>WHAT HAPPENS NEXT</a:t>
            </a:r>
            <a:endParaRPr lang="en-US" sz="1300" dirty="0"/>
          </a:p>
        </p:txBody>
      </p:sp>
      <p:sp>
        <p:nvSpPr>
          <p:cNvPr id="4" name="Text 2"/>
          <p:cNvSpPr txBox="1"/>
          <p:nvPr/>
        </p:nvSpPr>
        <p:spPr>
          <a:xfrm>
            <a:off x="640080" y="1325880"/>
            <a:ext cx="7863840" cy="1828800"/>
          </a:xfrm>
          <a:prstGeom prst="rect">
            <a:avLst/>
          </a:prstGeom>
          <a:noFill/>
          <a:ln/>
        </p:spPr>
        <p:txBody>
          <a:bodyPr wrap="square" lIns="0" tIns="0" rIns="0" bIns="0" rtlCol="0" anchor="ctr"/>
          <a:lstStyle/>
          <a:p>
            <a:pPr indent="0" marL="0">
              <a:lnSpc>
                <a:spcPts val="6000"/>
              </a:lnSpc>
              <a:buNone/>
            </a:pPr>
            <a:r>
              <a:rPr lang="en-US" sz="5400" b="1" dirty="0">
                <a:solidFill>
                  <a:srgbClr val="FFFFFF"/>
                </a:solidFill>
                <a:latin typeface="Cambria" pitchFamily="34" charset="0"/>
                <a:ea typeface="Cambria" pitchFamily="34" charset="-122"/>
                <a:cs typeface="Cambria" pitchFamily="34" charset="-120"/>
              </a:rPr>
              <a:t>Your idea,</a:t>
            </a:r>
            <a:endParaRPr lang="en-US" sz="5400" dirty="0"/>
          </a:p>
          <a:p>
            <a:pPr indent="0" marL="0">
              <a:lnSpc>
                <a:spcPts val="6000"/>
              </a:lnSpc>
              <a:buNone/>
            </a:pPr>
            <a:r>
              <a:rPr lang="en-US" sz="5400" b="1" dirty="0">
                <a:solidFill>
                  <a:srgbClr val="FFFFFF"/>
                </a:solidFill>
                <a:latin typeface="Cambria" pitchFamily="34" charset="0"/>
                <a:ea typeface="Cambria" pitchFamily="34" charset="-122"/>
                <a:cs typeface="Cambria" pitchFamily="34" charset="-120"/>
              </a:rPr>
              <a:t>clickable.</a:t>
            </a:r>
            <a:endParaRPr lang="en-US" sz="5400" dirty="0"/>
          </a:p>
        </p:txBody>
      </p:sp>
      <p:sp>
        <p:nvSpPr>
          <p:cNvPr id="5" name="Text 3"/>
          <p:cNvSpPr txBox="1"/>
          <p:nvPr/>
        </p:nvSpPr>
        <p:spPr>
          <a:xfrm>
            <a:off x="640080" y="3383280"/>
            <a:ext cx="7498080" cy="1188720"/>
          </a:xfrm>
          <a:prstGeom prst="rect">
            <a:avLst/>
          </a:prstGeom>
          <a:noFill/>
          <a:ln/>
        </p:spPr>
        <p:txBody>
          <a:bodyPr wrap="square" lIns="0" tIns="0" rIns="0" bIns="0" rtlCol="0" anchor="t"/>
          <a:lstStyle/>
          <a:p>
            <a:pPr indent="0" marL="0">
              <a:lnSpc>
                <a:spcPts val="2700"/>
              </a:lnSpc>
              <a:buNone/>
            </a:pPr>
            <a:r>
              <a:rPr lang="en-US" sz="1900" dirty="0">
                <a:solidFill>
                  <a:srgbClr val="F3E3EA"/>
                </a:solidFill>
                <a:latin typeface="Calibri" pitchFamily="34" charset="0"/>
                <a:ea typeface="Calibri" pitchFamily="34" charset="-122"/>
                <a:cs typeface="Calibri" pitchFamily="34" charset="-120"/>
              </a:rPr>
              <a:t>Over the weekend, your plan becomes a prototype you can click through. Every screen will come from something your team wrote today. The clearer you wrote it, the better it will be.</a:t>
            </a:r>
            <a:endParaRPr lang="en-US" sz="1900" dirty="0"/>
          </a:p>
        </p:txBody>
      </p:sp>
      <p:sp>
        <p:nvSpPr>
          <p:cNvPr id="6" name="Text 4"/>
          <p:cNvSpPr txBox="1"/>
          <p:nvPr/>
        </p:nvSpPr>
        <p:spPr>
          <a:xfrm>
            <a:off x="640080" y="4983480"/>
            <a:ext cx="7863840" cy="8229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Before you go: two teams, read us your purpose. Who is better off, and how?</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Launch Pad: start a plan for anything</dc:title>
  <dc:subject>PptxGenJS Presentation</dc:subject>
  <dc:creator>Double Blaze</dc:creator>
  <cp:lastModifiedBy>Double Blaze</cp:lastModifiedBy>
  <cp:revision>1</cp:revision>
  <dcterms:created xsi:type="dcterms:W3CDTF">2026-10-23T11:13:03Z</dcterms:created>
  <dcterms:modified xsi:type="dcterms:W3CDTF">2026-10-23T11:13:03Z</dcterms:modified>
</cp:coreProperties>
</file>