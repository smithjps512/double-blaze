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 Day 1. Let the title sit for a second; the energy should feel different from the app unit.
Say: you chose this. For the next six weeks this room is a game studio, and every one of you has a job in it.
This deck runs all of week 1. Each day starts with its own Day slide; about ten minutes of slides, then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starts here. Today: why we are here, the four studio roles, the six-week map, the big idea (the feeling), and a play-and-dissect warm up.
Nobody is on a team yet. Teams form on Day 5, around the pitches.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quotes are real, from the /vote reasons. Read them out.
Point out the three things in them: making something, coding something, doing it with friends. Every one of those is in the next six weeks.
Also say honestly: the other choices were good too, and two of you wanted apps v2. Everything you learned about stories and scenarios comes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quick. The five steps are the whole six weeks in miniature.
Connect it to what they already did: they planned apps, Double Blaze built them, they QA'd each other on /play. A studio is the same loop, with a game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role and its 'you'd like this if' line. Ask for a show of hands after each: who thinks they'd like this one?
Make the rotation clear: nobody is stuck as the Developer for six weeks, and nobody gets to be Producer every week either. Teams of 3 double up a role; teams of 4 have one each.
The Producer is the product manager they already know from Launch Pad. That is the job this whole class is really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unit on one slide. Leave it up.
The hook is the bottom line: just like the apps, what they write becomes something playable. The clearer the design doc, the better the build. In week 4 they also get to build one piece of it themselves in MakeCode Arcade.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line twice. This is the game version of 'purpose is impact' from Launch Pad, and it comes back on Day 3.
Ask: think of a game you love. How does it make you feel when you are winning? When you almost lose? That feeling is not an accident; somebody designed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about 10 minutes, then 5 minutes of sharing. Board games and playground games count; tag is a great example (run, chase, tag, switch).
Walk the room and push for verbs. 'It's fun' is not an answer to question 1; 'I jump, collect coins, and dodge' is.
Collect two or three examples on the board for tomorrow. Do not name or rank real brands on the board; describe the game type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Today: what a core loop is, three worked examples, a loop from our own class (W.C.O 27), and win and lose conditions.
Start by asking for yesterday's question 1 answers from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ring with your finger: run, jump, collect, reach the flag, and then the next level starts, so you run again.
The key word is VERBS. Ask the class for verbs from yesterday's board and sort them into loops.
Point out the last bullet: levels do not change the loop, they make it harder. That idea is how they will plan three levels in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common game types, described only by their loops. On purpose, no real game names: we talk about game TYPES, so nobody's favorite gets judged.
Ask: which loop do you think is the most fun? Why? Usually the answer is about the feeling (fast, clever, proud), which sets up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classmates' work, so name the team and give credit.
The insight: the 'so I can' of each story is the start of the next one. A good core loop chains together exactly like that.
If you have a minute, open doubleblaze.solutions/play and show W.C.O 27 being played. The loop is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name a game with no lose condition. (Some building or drawing games.) Are they still games? Good debate, keep it short.
Tie it forward: in week 3, lose conditions become 'bad day' scenarios. What happens when you run out of hearts is a scenario someone has to write.
Exit task: each student writes one loop (3 or 4 verbs) plus a win and a lose condition for a game idea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Today: player types, feeling words, and how the feeling is the game version of 'purpose is impact'.
Warm up: ask two students to read the loop they wrote for yesterday's exit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which type are you? Most kids are two or three. That is the point: one game can serve more than one type.
The parent row is the one they forget, just like the adults on Launch Pad. A parent decides whether a game gets played at all: is it safe, is it fair, does it ask for money?
These types go straight into the Players section of the design doc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or two feelings, not five. A game that tries to feel everything feels like nothing.
The bottom box is the real skill: the feeling decides the rules. A timer makes things fast and stressful, which is great for a racing game and wrong for a cozy farm game.
Ask a few students: what feeling would your game idea give? Does your loop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what they know. On Launch Pad the purpose was the impact, not what the app does. For a game, the purpose is the feeling, not what the game has in it.
Weak: 'It is a game with a dragon.' Strong: 'The player feels brave, because the dragon is huge and they beat it anyway.'
Exit task: each student writes their own 'The player feels ____, because ____.' They will need it for tomorrow's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Today: the pitch sentence, weak vs strong, and what makes a game buildable in six weeks. Everybody writes and practices a 60 second pitch for tomorrow.
Warm up: two students read their 'The player feels ____, because ____' from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blanks are the last three days in one sentence: game type, core loop (Day 2), feeling (Day 3).
Model one out loud: 'It's a platformer where you jump across rooftops and collect lost kittens so that you feel heroic.'
Students write theirs now. Fill-in-the-blank is fine; they can make it sound better once the blanks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weak one first and let them say what is wrong before you read the orange note.
First pair: 'fun' and 'cool stuff' tell you nothing. The strong one names the type, the verbs, and the feeling.
Second pair: 'like a game everyone plays' borrows someone else's idea and does not say what yours is. Our games are original, so say what yours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saves the unit. Sixth graders will pitch open-world multiplayer epics. Celebrate the ambition, then shrink it: one hero, one loop, three levels.
The word to teach is SCOPE. Producers protect the scope: when someone says 'and also a boss fight and a shop and online mode', the Producer says 'version 2'.
Practice: students write their pitch and say it to a partner in under 60 seconds. The partner checks the three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Today: pitches, team forming, studio names, and a look at next week.
Have a timer ready and the board split into columns, one per pitch, so students can sign up by initials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about 18 students, 60 seconds plus one question is roughly 25 minutes. Keep it moving with a visible timer.
Not everyone has to pitch if they are not ready; anyone may pitch. Shy students can pitch in pairs.
Write each pitched game's name on the board as it goes, so the next slide has columns to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sign up by initials under the game they want, on the board. Then you balance: split games with 6 fans into two studios, merge similar pitches, and move anyone who chose by friendship rather than game.
A pitch nobody joins is fine. Thank that student; their idea can become a level or a mechanic in the game they join.
Aim for 5 or 6 studios of 3 or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examples only, made up. Give studios three minutes to agree on a name.
The name matters because it is the team name the site uses, the same way Launch Pad team names worked: no student names, ever, because it shows up on a public page.
Collect the names and periods on paper too, in case anyone forgets what they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week here. Everything they did this week has a box waiting in the design doc: the feeling (Day 3), players (Day 3), the core loop and win/lose (Day 2), plus two new parts next week: world and story, and mechanics.
Say: the clearer your design doc, the better the playable build Double Blaze makes from it at the end of week 3.
Before Monday, check that every studio name is written down with its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7680960" y="914400"/>
            <a:ext cx="960120" cy="960120"/>
          </a:xfrm>
          <a:prstGeom prst="rect">
            <a:avLst/>
          </a:prstGeom>
          <a:solidFill>
            <a:srgbClr val="CF4420"/>
          </a:solidFill>
          <a:ln w="12700">
            <a:solidFill>
              <a:srgbClr val="333333"/>
            </a:solidFill>
            <a:prstDash val="solid"/>
          </a:ln>
        </p:spPr>
      </p:sp>
      <p:sp>
        <p:nvSpPr>
          <p:cNvPr id="3" name="Shape 1"/>
          <p:cNvSpPr/>
          <p:nvPr/>
        </p:nvSpPr>
        <p:spPr>
          <a:xfrm>
            <a:off x="8823960" y="914400"/>
            <a:ext cx="960120" cy="960120"/>
          </a:xfrm>
          <a:prstGeom prst="rect">
            <a:avLst/>
          </a:prstGeom>
          <a:solidFill>
            <a:srgbClr val="FFB13B"/>
          </a:solidFill>
          <a:ln w="12700">
            <a:solidFill>
              <a:srgbClr val="333333"/>
            </a:solidFill>
            <a:prstDash val="solid"/>
          </a:ln>
        </p:spPr>
      </p:sp>
      <p:sp>
        <p:nvSpPr>
          <p:cNvPr id="4" name="Shape 2"/>
          <p:cNvSpPr/>
          <p:nvPr/>
        </p:nvSpPr>
        <p:spPr>
          <a:xfrm>
            <a:off x="9966960" y="914400"/>
            <a:ext cx="960120" cy="960120"/>
          </a:xfrm>
          <a:prstGeom prst="rect">
            <a:avLst/>
          </a:prstGeom>
          <a:solidFill>
            <a:srgbClr val="3DDC97"/>
          </a:solidFill>
          <a:ln w="12700">
            <a:solidFill>
              <a:srgbClr val="333333"/>
            </a:solidFill>
            <a:prstDash val="solid"/>
          </a:ln>
        </p:spPr>
      </p:sp>
      <p:sp>
        <p:nvSpPr>
          <p:cNvPr id="5" name="Shape 3"/>
          <p:cNvSpPr/>
          <p:nvPr/>
        </p:nvSpPr>
        <p:spPr>
          <a:xfrm>
            <a:off x="7680960" y="2057400"/>
            <a:ext cx="960120" cy="960120"/>
          </a:xfrm>
          <a:prstGeom prst="rect">
            <a:avLst/>
          </a:prstGeom>
          <a:solidFill>
            <a:srgbClr val="5CC8FF"/>
          </a:solidFill>
          <a:ln w="12700">
            <a:solidFill>
              <a:srgbClr val="333333"/>
            </a:solidFill>
            <a:prstDash val="solid"/>
          </a:ln>
        </p:spPr>
      </p:sp>
      <p:sp>
        <p:nvSpPr>
          <p:cNvPr id="6" name="Shape 4"/>
          <p:cNvSpPr/>
          <p:nvPr/>
        </p:nvSpPr>
        <p:spPr>
          <a:xfrm>
            <a:off x="8823960" y="2057400"/>
            <a:ext cx="960120" cy="960120"/>
          </a:xfrm>
          <a:prstGeom prst="rect">
            <a:avLst/>
          </a:prstGeom>
          <a:solidFill>
            <a:srgbClr val="630031"/>
          </a:solidFill>
          <a:ln w="12700">
            <a:solidFill>
              <a:srgbClr val="333333"/>
            </a:solidFill>
            <a:prstDash val="solid"/>
          </a:ln>
        </p:spPr>
      </p:sp>
      <p:sp>
        <p:nvSpPr>
          <p:cNvPr id="7" name="Shape 5"/>
          <p:cNvSpPr/>
          <p:nvPr/>
        </p:nvSpPr>
        <p:spPr>
          <a:xfrm>
            <a:off x="9966960" y="2057400"/>
            <a:ext cx="960120" cy="960120"/>
          </a:xfrm>
          <a:prstGeom prst="rect">
            <a:avLst/>
          </a:prstGeom>
          <a:solidFill>
            <a:srgbClr val="CF4420"/>
          </a:solidFill>
          <a:ln w="12700">
            <a:solidFill>
              <a:srgbClr val="333333"/>
            </a:solidFill>
            <a:prstDash val="solid"/>
          </a:ln>
        </p:spPr>
      </p:sp>
      <p:sp>
        <p:nvSpPr>
          <p:cNvPr id="8" name="Shape 6"/>
          <p:cNvSpPr/>
          <p:nvPr/>
        </p:nvSpPr>
        <p:spPr>
          <a:xfrm>
            <a:off x="7680960" y="3200400"/>
            <a:ext cx="960120" cy="960120"/>
          </a:xfrm>
          <a:prstGeom prst="rect">
            <a:avLst/>
          </a:prstGeom>
          <a:solidFill>
            <a:srgbClr val="3DDC97"/>
          </a:solidFill>
          <a:ln w="12700">
            <a:solidFill>
              <a:srgbClr val="333333"/>
            </a:solidFill>
            <a:prstDash val="solid"/>
          </a:ln>
        </p:spPr>
      </p:sp>
      <p:sp>
        <p:nvSpPr>
          <p:cNvPr id="9" name="Shape 7"/>
          <p:cNvSpPr/>
          <p:nvPr/>
        </p:nvSpPr>
        <p:spPr>
          <a:xfrm>
            <a:off x="8823960" y="3200400"/>
            <a:ext cx="960120" cy="960120"/>
          </a:xfrm>
          <a:prstGeom prst="rect">
            <a:avLst/>
          </a:prstGeom>
          <a:solidFill>
            <a:srgbClr val="5CC8FF"/>
          </a:solidFill>
          <a:ln w="12700">
            <a:solidFill>
              <a:srgbClr val="333333"/>
            </a:solidFill>
            <a:prstDash val="solid"/>
          </a:ln>
        </p:spPr>
      </p:sp>
      <p:sp>
        <p:nvSpPr>
          <p:cNvPr id="10" name="Shape 8"/>
          <p:cNvSpPr/>
          <p:nvPr/>
        </p:nvSpPr>
        <p:spPr>
          <a:xfrm>
            <a:off x="9966960" y="3200400"/>
            <a:ext cx="960120" cy="960120"/>
          </a:xfrm>
          <a:prstGeom prst="rect">
            <a:avLst/>
          </a:prstGeom>
          <a:solidFill>
            <a:srgbClr val="FFB13B"/>
          </a:solidFill>
          <a:ln w="12700">
            <a:solidFill>
              <a:srgbClr val="333333"/>
            </a:solidFill>
            <a:prstDash val="solid"/>
          </a:ln>
        </p:spPr>
      </p:sp>
      <p:sp>
        <p:nvSpPr>
          <p:cNvPr id="11" name="Text 9"/>
          <p:cNvSpPr txBox="1"/>
          <p:nvPr/>
        </p:nvSpPr>
        <p:spPr>
          <a:xfrm>
            <a:off x="8823960" y="2057400"/>
            <a:ext cx="960120" cy="960120"/>
          </a:xfrm>
          <a:prstGeom prst="rect">
            <a:avLst/>
          </a:prstGeom>
          <a:noFill/>
          <a:ln/>
        </p:spPr>
        <p:txBody>
          <a:bodyPr wrap="square" lIns="0" tIns="0" rIns="0" bIns="0" rtlCol="0" anchor="ctr"/>
          <a:lstStyle/>
          <a:p>
            <a:pPr algn="ctr" indent="0" marL="0">
              <a:buNone/>
            </a:pPr>
            <a:r>
              <a:rPr lang="en-US" sz="4000" dirty="0">
                <a:solidFill>
                  <a:srgbClr val="FFFFFF"/>
                </a:solidFill>
                <a:latin typeface="Calibri" pitchFamily="34" charset="0"/>
                <a:ea typeface="Calibri" pitchFamily="34" charset="-122"/>
                <a:cs typeface="Calibri" pitchFamily="34" charset="-120"/>
              </a:rPr>
              <a:t>▶</a:t>
            </a:r>
            <a:endParaRPr lang="en-US" sz="4000" dirty="0"/>
          </a:p>
        </p:txBody>
      </p:sp>
      <p:sp>
        <p:nvSpPr>
          <p:cNvPr id="12" name="Text 10"/>
          <p:cNvSpPr txBox="1"/>
          <p:nvPr/>
        </p:nvSpPr>
        <p:spPr>
          <a:xfrm>
            <a:off x="640080" y="1737360"/>
            <a:ext cx="685800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PERIOD 3  ·  WEEK 1</a:t>
            </a:r>
            <a:endParaRPr lang="en-US" sz="1300" dirty="0"/>
          </a:p>
        </p:txBody>
      </p:sp>
      <p:sp>
        <p:nvSpPr>
          <p:cNvPr id="13" name="Text 11"/>
          <p:cNvSpPr txBox="1"/>
          <p:nvPr/>
        </p:nvSpPr>
        <p:spPr>
          <a:xfrm>
            <a:off x="640080" y="2121408"/>
            <a:ext cx="6949440" cy="1920240"/>
          </a:xfrm>
          <a:prstGeom prst="rect">
            <a:avLst/>
          </a:prstGeom>
          <a:noFill/>
          <a:ln/>
        </p:spPr>
        <p:txBody>
          <a:bodyPr wrap="square" lIns="0" tIns="0" rIns="0" bIns="0" rtlCol="0" anchor="ctr"/>
          <a:lstStyle/>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Welcome to</a:t>
            </a:r>
            <a:endParaRPr lang="en-US" sz="5400" dirty="0"/>
          </a:p>
          <a:p>
            <a:pPr indent="0" marL="0">
              <a:lnSpc>
                <a:spcPts val="6000"/>
              </a:lnSpc>
              <a:buNone/>
            </a:pPr>
            <a:r>
              <a:rPr lang="en-US" sz="5400" b="1" dirty="0">
                <a:solidFill>
                  <a:srgbClr val="FFFFFF"/>
                </a:solidFill>
                <a:latin typeface="Cambria" pitchFamily="34" charset="0"/>
                <a:ea typeface="Cambria" pitchFamily="34" charset="-122"/>
                <a:cs typeface="Cambria" pitchFamily="34" charset="-120"/>
              </a:rPr>
              <a:t>the studio.</a:t>
            </a:r>
            <a:endParaRPr lang="en-US" sz="5400" dirty="0"/>
          </a:p>
        </p:txBody>
      </p:sp>
      <p:sp>
        <p:nvSpPr>
          <p:cNvPr id="14" name="Text 12"/>
          <p:cNvSpPr txBox="1"/>
          <p:nvPr/>
        </p:nvSpPr>
        <p:spPr>
          <a:xfrm>
            <a:off x="640080" y="4251960"/>
            <a:ext cx="6766560" cy="1005840"/>
          </a:xfrm>
          <a:prstGeom prst="rect">
            <a:avLst/>
          </a:prstGeom>
          <a:noFill/>
          <a:ln/>
        </p:spPr>
        <p:txBody>
          <a:bodyPr wrap="square" lIns="0" tIns="0" rIns="0" bIns="0" rtlCol="0" anchor="ctr"/>
          <a:lstStyle/>
          <a:p>
            <a:pPr indent="0" marL="0">
              <a:lnSpc>
                <a:spcPts val="2600"/>
              </a:lnSpc>
              <a:buNone/>
            </a:pPr>
            <a:r>
              <a:rPr lang="en-US" sz="1800" dirty="0">
                <a:solidFill>
                  <a:srgbClr val="DCD3F0"/>
                </a:solidFill>
                <a:latin typeface="Calibri" pitchFamily="34" charset="0"/>
                <a:ea typeface="Calibri" pitchFamily="34" charset="-122"/>
                <a:cs typeface="Calibri" pitchFamily="34" charset="-120"/>
              </a:rPr>
              <a:t>For six weeks you are game makers. You will design a game people want to play, playtest it, fix it, and launch it.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1097280" y="6035040"/>
            <a:ext cx="128016" cy="128016"/>
          </a:xfrm>
          <a:prstGeom prst="rect">
            <a:avLst/>
          </a:prstGeom>
          <a:solidFill>
            <a:srgbClr val="FFB13B"/>
          </a:solidFill>
          <a:ln w="12700">
            <a:solidFill>
              <a:srgbClr val="333333"/>
            </a:solidFill>
            <a:prstDash val="solid"/>
          </a:ln>
        </p:spPr>
      </p:sp>
      <p:sp>
        <p:nvSpPr>
          <p:cNvPr id="3" name="Shape 1"/>
          <p:cNvSpPr/>
          <p:nvPr/>
        </p:nvSpPr>
        <p:spPr>
          <a:xfrm>
            <a:off x="3108960" y="457200"/>
            <a:ext cx="128016" cy="128016"/>
          </a:xfrm>
          <a:prstGeom prst="rect">
            <a:avLst/>
          </a:prstGeom>
          <a:solidFill>
            <a:srgbClr val="3DDC97"/>
          </a:solidFill>
          <a:ln w="12700">
            <a:solidFill>
              <a:srgbClr val="333333"/>
            </a:solidFill>
            <a:prstDash val="solid"/>
          </a:ln>
        </p:spPr>
      </p:sp>
      <p:sp>
        <p:nvSpPr>
          <p:cNvPr id="4" name="Shape 2"/>
          <p:cNvSpPr/>
          <p:nvPr/>
        </p:nvSpPr>
        <p:spPr>
          <a:xfrm>
            <a:off x="5577840" y="6309360"/>
            <a:ext cx="128016" cy="128016"/>
          </a:xfrm>
          <a:prstGeom prst="rect">
            <a:avLst/>
          </a:prstGeom>
          <a:solidFill>
            <a:srgbClr val="5CC8FF"/>
          </a:solidFill>
          <a:ln w="12700">
            <a:solidFill>
              <a:srgbClr val="333333"/>
            </a:solidFill>
            <a:prstDash val="solid"/>
          </a:ln>
        </p:spPr>
      </p:sp>
      <p:sp>
        <p:nvSpPr>
          <p:cNvPr id="5" name="Shape 3"/>
          <p:cNvSpPr/>
          <p:nvPr/>
        </p:nvSpPr>
        <p:spPr>
          <a:xfrm>
            <a:off x="7863840" y="640080"/>
            <a:ext cx="128016" cy="128016"/>
          </a:xfrm>
          <a:prstGeom prst="rect">
            <a:avLst/>
          </a:prstGeom>
          <a:solidFill>
            <a:srgbClr val="CF4420"/>
          </a:solidFill>
          <a:ln w="12700">
            <a:solidFill>
              <a:srgbClr val="333333"/>
            </a:solidFill>
            <a:prstDash val="solid"/>
          </a:ln>
        </p:spPr>
      </p:sp>
      <p:sp>
        <p:nvSpPr>
          <p:cNvPr id="6" name="Shape 4"/>
          <p:cNvSpPr/>
          <p:nvPr/>
        </p:nvSpPr>
        <p:spPr>
          <a:xfrm>
            <a:off x="11338560" y="5669280"/>
            <a:ext cx="128016" cy="128016"/>
          </a:xfrm>
          <a:prstGeom prst="rect">
            <a:avLst/>
          </a:prstGeom>
          <a:solidFill>
            <a:srgbClr val="3DDC97"/>
          </a:solidFill>
          <a:ln w="12700">
            <a:solidFill>
              <a:srgbClr val="333333"/>
            </a:solidFill>
            <a:prstDash val="solid"/>
          </a:ln>
        </p:spPr>
      </p:sp>
      <p:sp>
        <p:nvSpPr>
          <p:cNvPr id="7" name="Shape 5"/>
          <p:cNvSpPr/>
          <p:nvPr/>
        </p:nvSpPr>
        <p:spPr>
          <a:xfrm>
            <a:off x="11064240" y="1188720"/>
            <a:ext cx="128016" cy="128016"/>
          </a:xfrm>
          <a:prstGeom prst="rect">
            <a:avLst/>
          </a:prstGeom>
          <a:solidFill>
            <a:srgbClr val="FFB13B"/>
          </a:solidFill>
          <a:ln w="12700">
            <a:solidFill>
              <a:srgbClr val="333333"/>
            </a:solidFill>
            <a:prstDash val="solid"/>
          </a:ln>
        </p:spPr>
      </p:sp>
      <p:sp>
        <p:nvSpPr>
          <p:cNvPr id="8" name="Shape 6"/>
          <p:cNvSpPr/>
          <p:nvPr/>
        </p:nvSpPr>
        <p:spPr>
          <a:xfrm>
            <a:off x="8412480" y="1280160"/>
            <a:ext cx="3108960" cy="4297680"/>
          </a:xfrm>
          <a:prstGeom prst="roundRect">
            <a:avLst>
              <a:gd name="adj" fmla="val 5882"/>
            </a:avLst>
          </a:prstGeom>
          <a:solidFill>
            <a:srgbClr val="2A1D47"/>
          </a:solidFill>
          <a:ln w="38100">
            <a:solidFill>
              <a:srgbClr val="FFB13B"/>
            </a:solidFill>
            <a:prstDash val="solid"/>
          </a:ln>
        </p:spPr>
      </p:sp>
      <p:sp>
        <p:nvSpPr>
          <p:cNvPr id="9" name="Text 7"/>
          <p:cNvSpPr txBox="1"/>
          <p:nvPr/>
        </p:nvSpPr>
        <p:spPr>
          <a:xfrm>
            <a:off x="8412480" y="1645920"/>
            <a:ext cx="3108960" cy="548640"/>
          </a:xfrm>
          <a:prstGeom prst="rect">
            <a:avLst/>
          </a:prstGeom>
          <a:noFill/>
          <a:ln/>
        </p:spPr>
        <p:txBody>
          <a:bodyPr wrap="square" lIns="0" tIns="0" rIns="0" bIns="0" rtlCol="0" anchor="ctr"/>
          <a:lstStyle/>
          <a:p>
            <a:pPr algn="ctr" indent="0" marL="0">
              <a:buNone/>
            </a:pPr>
            <a:r>
              <a:rPr lang="en-US" sz="3000" b="1" dirty="0">
                <a:solidFill>
                  <a:srgbClr val="FFB13B"/>
                </a:solidFill>
                <a:latin typeface="Consolas" pitchFamily="34" charset="0"/>
                <a:ea typeface="Consolas" pitchFamily="34" charset="-122"/>
                <a:cs typeface="Consolas" pitchFamily="34" charset="-120"/>
              </a:rPr>
              <a:t>DAY</a:t>
            </a:r>
            <a:endParaRPr lang="en-US" sz="3000" dirty="0"/>
          </a:p>
        </p:txBody>
      </p:sp>
      <p:sp>
        <p:nvSpPr>
          <p:cNvPr id="10" name="Text 8"/>
          <p:cNvSpPr txBox="1"/>
          <p:nvPr/>
        </p:nvSpPr>
        <p:spPr>
          <a:xfrm>
            <a:off x="8412480" y="2194560"/>
            <a:ext cx="3108960" cy="2377440"/>
          </a:xfrm>
          <a:prstGeom prst="rect">
            <a:avLst/>
          </a:prstGeom>
          <a:noFill/>
          <a:ln/>
        </p:spPr>
        <p:txBody>
          <a:bodyPr wrap="square" lIns="0" tIns="0" rIns="0" bIns="0" rtlCol="0" anchor="ctr"/>
          <a:lstStyle/>
          <a:p>
            <a:pPr algn="ctr" indent="0" marL="0">
              <a:buNone/>
            </a:pPr>
            <a:r>
              <a:rPr lang="en-US" sz="15000" b="1" dirty="0">
                <a:solidFill>
                  <a:srgbClr val="FFFFFF"/>
                </a:solidFill>
                <a:latin typeface="Consolas" pitchFamily="34" charset="0"/>
                <a:ea typeface="Consolas" pitchFamily="34" charset="-122"/>
                <a:cs typeface="Consolas" pitchFamily="34" charset="-120"/>
              </a:rPr>
              <a:t>1</a:t>
            </a:r>
            <a:endParaRPr lang="en-US" sz="15000" dirty="0"/>
          </a:p>
        </p:txBody>
      </p:sp>
      <p:sp>
        <p:nvSpPr>
          <p:cNvPr id="11" name="Text 9"/>
          <p:cNvSpPr txBox="1"/>
          <p:nvPr/>
        </p:nvSpPr>
        <p:spPr>
          <a:xfrm>
            <a:off x="8412480" y="4800600"/>
            <a:ext cx="3108960" cy="457200"/>
          </a:xfrm>
          <a:prstGeom prst="rect">
            <a:avLst/>
          </a:prstGeom>
          <a:noFill/>
          <a:ln/>
        </p:spPr>
        <p:txBody>
          <a:bodyPr wrap="square" lIns="0" tIns="0" rIns="0" bIns="0"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PRESS START</a:t>
            </a:r>
            <a:endParaRPr lang="en-US" sz="1600" dirty="0"/>
          </a:p>
        </p:txBody>
      </p:sp>
      <p:sp>
        <p:nvSpPr>
          <p:cNvPr id="12" name="Text 10"/>
          <p:cNvSpPr txBox="1"/>
          <p:nvPr/>
        </p:nvSpPr>
        <p:spPr>
          <a:xfrm>
            <a:off x="640080" y="2011680"/>
            <a:ext cx="749808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WEEK 1  ·  DAY 1 OF 5</a:t>
            </a:r>
            <a:endParaRPr lang="en-US" sz="1300" dirty="0"/>
          </a:p>
        </p:txBody>
      </p:sp>
      <p:sp>
        <p:nvSpPr>
          <p:cNvPr id="13" name="Text 11"/>
          <p:cNvSpPr txBox="1"/>
          <p:nvPr/>
        </p:nvSpPr>
        <p:spPr>
          <a:xfrm>
            <a:off x="640080" y="2377440"/>
            <a:ext cx="749808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Welcome to the studio</a:t>
            </a:r>
            <a:endParaRPr lang="en-US" sz="4600" dirty="0"/>
          </a:p>
        </p:txBody>
      </p:sp>
      <p:sp>
        <p:nvSpPr>
          <p:cNvPr id="14" name="Text 12"/>
          <p:cNvSpPr txBox="1"/>
          <p:nvPr/>
        </p:nvSpPr>
        <p:spPr>
          <a:xfrm>
            <a:off x="640080" y="3931920"/>
            <a:ext cx="7498080" cy="1280160"/>
          </a:xfrm>
          <a:prstGeom prst="rect">
            <a:avLst/>
          </a:prstGeom>
          <a:noFill/>
          <a:ln/>
        </p:spPr>
        <p:txBody>
          <a:bodyPr wrap="square" lIns="0" tIns="0" rIns="0" bIns="0" rtlCol="0" anchor="t"/>
          <a:lstStyle/>
          <a:p>
            <a:pPr indent="0" marL="0">
              <a:lnSpc>
                <a:spcPts val="2900"/>
              </a:lnSpc>
              <a:buNone/>
            </a:pPr>
            <a:r>
              <a:rPr lang="en-US" sz="2100" dirty="0">
                <a:solidFill>
                  <a:srgbClr val="DCD3F0"/>
                </a:solidFill>
                <a:latin typeface="Calibri" pitchFamily="34" charset="0"/>
                <a:ea typeface="Calibri" pitchFamily="34" charset="-122"/>
                <a:cs typeface="Calibri" pitchFamily="34" charset="-120"/>
              </a:rPr>
              <a:t>What a game studio is, who does what, and the one idea that matters most: a game is made to give the player a feeling.</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1 · THE VOTE</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You chose this</a:t>
            </a:r>
            <a:endParaRPr lang="en-US" sz="3400" dirty="0"/>
          </a:p>
        </p:txBody>
      </p:sp>
      <p:sp>
        <p:nvSpPr>
          <p:cNvPr id="8" name="Shape 6"/>
          <p:cNvSpPr/>
          <p:nvPr/>
        </p:nvSpPr>
        <p:spPr>
          <a:xfrm>
            <a:off x="640080" y="1783080"/>
            <a:ext cx="4206240" cy="3566160"/>
          </a:xfrm>
          <a:prstGeom prst="roundRect">
            <a:avLst>
              <a:gd name="adj" fmla="val 2308"/>
            </a:avLst>
          </a:prstGeom>
          <a:solidFill>
            <a:srgbClr val="1B1230"/>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640080" y="1965960"/>
            <a:ext cx="4206240" cy="1737360"/>
          </a:xfrm>
          <a:prstGeom prst="rect">
            <a:avLst/>
          </a:prstGeom>
          <a:noFill/>
          <a:ln/>
        </p:spPr>
        <p:txBody>
          <a:bodyPr wrap="square" lIns="0" tIns="0" rIns="0" bIns="0" rtlCol="0" anchor="ctr"/>
          <a:lstStyle/>
          <a:p>
            <a:pPr algn="ctr" indent="0" marL="0">
              <a:buNone/>
            </a:pPr>
            <a:r>
              <a:rPr lang="en-US" sz="11000" b="1" dirty="0">
                <a:solidFill>
                  <a:srgbClr val="FFB13B"/>
                </a:solidFill>
                <a:latin typeface="Consolas" pitchFamily="34" charset="0"/>
                <a:ea typeface="Consolas" pitchFamily="34" charset="-122"/>
                <a:cs typeface="Consolas" pitchFamily="34" charset="-120"/>
              </a:rPr>
              <a:t>15</a:t>
            </a:r>
            <a:endParaRPr lang="en-US" sz="11000" dirty="0"/>
          </a:p>
        </p:txBody>
      </p:sp>
      <p:sp>
        <p:nvSpPr>
          <p:cNvPr id="10" name="Text 8"/>
          <p:cNvSpPr txBox="1"/>
          <p:nvPr/>
        </p:nvSpPr>
        <p:spPr>
          <a:xfrm>
            <a:off x="640080" y="3703320"/>
            <a:ext cx="42062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of 18 first-choice votes</a:t>
            </a:r>
            <a:endParaRPr lang="en-US" sz="2000" dirty="0"/>
          </a:p>
        </p:txBody>
      </p:sp>
      <p:sp>
        <p:nvSpPr>
          <p:cNvPr id="11" name="Text 9"/>
          <p:cNvSpPr txBox="1"/>
          <p:nvPr/>
        </p:nvSpPr>
        <p:spPr>
          <a:xfrm>
            <a:off x="640080" y="4206240"/>
            <a:ext cx="4206240" cy="457200"/>
          </a:xfrm>
          <a:prstGeom prst="rect">
            <a:avLst/>
          </a:prstGeom>
          <a:noFill/>
          <a:ln/>
        </p:spPr>
        <p:txBody>
          <a:bodyPr wrap="square" lIns="0" tIns="0" rIns="0" bIns="0" rtlCol="0" anchor="ctr"/>
          <a:lstStyle/>
          <a:p>
            <a:pPr algn="ctr" indent="0" marL="0">
              <a:buNone/>
            </a:pPr>
            <a:r>
              <a:rPr lang="en-US" sz="1600" dirty="0">
                <a:solidFill>
                  <a:srgbClr val="DCD3F0"/>
                </a:solidFill>
                <a:latin typeface="Calibri" pitchFamily="34" charset="0"/>
                <a:ea typeface="Calibri" pitchFamily="34" charset="-122"/>
                <a:cs typeface="Calibri" pitchFamily="34" charset="-120"/>
              </a:rPr>
              <a:t>Game Studio won. By a lot.</a:t>
            </a:r>
            <a:endParaRPr lang="en-US" sz="1600" dirty="0"/>
          </a:p>
        </p:txBody>
      </p:sp>
      <p:sp>
        <p:nvSpPr>
          <p:cNvPr id="12" name="Shape 10"/>
          <p:cNvSpPr/>
          <p:nvPr/>
        </p:nvSpPr>
        <p:spPr>
          <a:xfrm>
            <a:off x="5212080" y="1783080"/>
            <a:ext cx="63395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5532120" y="1783080"/>
            <a:ext cx="5699455" cy="1005840"/>
          </a:xfrm>
          <a:prstGeom prst="rect">
            <a:avLst/>
          </a:prstGeom>
          <a:noFill/>
          <a:ln/>
        </p:spPr>
        <p:txBody>
          <a:bodyPr wrap="square" lIns="0" tIns="0" rIns="0" bIns="0" rtlCol="0" anchor="ctr"/>
          <a:lstStyle/>
          <a:p>
            <a:pPr indent="0" marL="0">
              <a:buNone/>
            </a:pPr>
            <a:r>
              <a:rPr lang="en-US" sz="2400" i="1" dirty="0">
                <a:solidFill>
                  <a:srgbClr val="630031"/>
                </a:solidFill>
                <a:latin typeface="Cambria" pitchFamily="34" charset="0"/>
                <a:ea typeface="Cambria" pitchFamily="34" charset="-122"/>
                <a:cs typeface="Cambria" pitchFamily="34" charset="-120"/>
              </a:rPr>
              <a:t>“I like coding games.”</a:t>
            </a:r>
            <a:endParaRPr lang="en-US" sz="2400" dirty="0"/>
          </a:p>
        </p:txBody>
      </p:sp>
      <p:sp>
        <p:nvSpPr>
          <p:cNvPr id="14" name="Shape 12"/>
          <p:cNvSpPr/>
          <p:nvPr/>
        </p:nvSpPr>
        <p:spPr>
          <a:xfrm>
            <a:off x="5212080" y="2971800"/>
            <a:ext cx="63395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5532120" y="2971800"/>
            <a:ext cx="5699455" cy="1005840"/>
          </a:xfrm>
          <a:prstGeom prst="rect">
            <a:avLst/>
          </a:prstGeom>
          <a:noFill/>
          <a:ln/>
        </p:spPr>
        <p:txBody>
          <a:bodyPr wrap="square" lIns="0" tIns="0" rIns="0" bIns="0" rtlCol="0" anchor="ctr"/>
          <a:lstStyle/>
          <a:p>
            <a:pPr indent="0" marL="0">
              <a:buNone/>
            </a:pPr>
            <a:r>
              <a:rPr lang="en-US" sz="2400" i="1" dirty="0">
                <a:solidFill>
                  <a:srgbClr val="630031"/>
                </a:solidFill>
                <a:latin typeface="Cambria" pitchFamily="34" charset="0"/>
                <a:ea typeface="Cambria" pitchFamily="34" charset="-122"/>
                <a:cs typeface="Cambria" pitchFamily="34" charset="-120"/>
              </a:rPr>
              <a:t>“A fun playable game made by me.”</a:t>
            </a:r>
            <a:endParaRPr lang="en-US" sz="2400" dirty="0"/>
          </a:p>
        </p:txBody>
      </p:sp>
      <p:sp>
        <p:nvSpPr>
          <p:cNvPr id="16" name="Shape 14"/>
          <p:cNvSpPr/>
          <p:nvPr/>
        </p:nvSpPr>
        <p:spPr>
          <a:xfrm>
            <a:off x="5212080" y="4160520"/>
            <a:ext cx="6339535" cy="1005840"/>
          </a:xfrm>
          <a:prstGeom prst="roundRect">
            <a:avLst>
              <a:gd name="adj" fmla="val 818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5532120" y="4160520"/>
            <a:ext cx="5699455" cy="1005840"/>
          </a:xfrm>
          <a:prstGeom prst="rect">
            <a:avLst/>
          </a:prstGeom>
          <a:noFill/>
          <a:ln/>
        </p:spPr>
        <p:txBody>
          <a:bodyPr wrap="square" lIns="0" tIns="0" rIns="0" bIns="0" rtlCol="0" anchor="ctr"/>
          <a:lstStyle/>
          <a:p>
            <a:pPr indent="0" marL="0">
              <a:buNone/>
            </a:pPr>
            <a:r>
              <a:rPr lang="en-US" sz="2400" i="1" dirty="0">
                <a:solidFill>
                  <a:srgbClr val="630031"/>
                </a:solidFill>
                <a:latin typeface="Cambria" pitchFamily="34" charset="0"/>
                <a:ea typeface="Cambria" pitchFamily="34" charset="-122"/>
                <a:cs typeface="Cambria" pitchFamily="34" charset="-120"/>
              </a:rPr>
              <a:t>“Because I want to have fun with friends.”</a:t>
            </a:r>
            <a:endParaRPr lang="en-US" sz="2400" dirty="0"/>
          </a:p>
        </p:txBody>
      </p:sp>
      <p:sp>
        <p:nvSpPr>
          <p:cNvPr id="18" name="Text 16"/>
          <p:cNvSpPr txBox="1"/>
          <p:nvPr/>
        </p:nvSpPr>
        <p:spPr>
          <a:xfrm>
            <a:off x="640080" y="5623560"/>
            <a:ext cx="10911535" cy="548640"/>
          </a:xfrm>
          <a:prstGeom prst="rect">
            <a:avLst/>
          </a:prstGeom>
          <a:noFill/>
          <a:ln/>
        </p:spPr>
        <p:txBody>
          <a:bodyPr wrap="square" lIns="0" tIns="0" rIns="0" bIns="0" rtlCol="0" anchor="t"/>
          <a:lstStyle/>
          <a:p>
            <a:pPr indent="0" marL="0">
              <a:lnSpc>
                <a:spcPts val="2200"/>
              </a:lnSpc>
              <a:buNone/>
            </a:pPr>
            <a:r>
              <a:rPr lang="en-US" sz="1700" dirty="0">
                <a:solidFill>
                  <a:srgbClr val="75787B"/>
                </a:solidFill>
                <a:latin typeface="Calibri" pitchFamily="34" charset="0"/>
                <a:ea typeface="Calibri" pitchFamily="34" charset="-122"/>
                <a:cs typeface="Calibri" pitchFamily="34" charset="-120"/>
              </a:rPr>
              <a:t>Your reasons, from the vote. Making it, coding it, and doing it together: that is exactly what a studio is.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1 · THE STUDIO</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is a game studio?</a:t>
            </a:r>
            <a:endParaRPr lang="en-US" sz="3400" dirty="0"/>
          </a:p>
        </p:txBody>
      </p:sp>
      <p:sp>
        <p:nvSpPr>
          <p:cNvPr id="8" name="Text 6"/>
          <p:cNvSpPr txBox="1"/>
          <p:nvPr/>
        </p:nvSpPr>
        <p:spPr>
          <a:xfrm>
            <a:off x="640080" y="1508760"/>
            <a:ext cx="10911535" cy="822960"/>
          </a:xfrm>
          <a:prstGeom prst="rect">
            <a:avLst/>
          </a:prstGeom>
          <a:noFill/>
          <a:ln/>
        </p:spPr>
        <p:txBody>
          <a:bodyPr wrap="square" lIns="0" tIns="0" rIns="0" bIns="0" rtlCol="0" anchor="t"/>
          <a:lstStyle/>
          <a:p>
            <a:pPr indent="0" marL="0">
              <a:lnSpc>
                <a:spcPts val="2200"/>
              </a:lnSpc>
              <a:buNone/>
            </a:pPr>
            <a:r>
              <a:rPr lang="en-US" sz="2000" dirty="0">
                <a:solidFill>
                  <a:srgbClr val="1C1A19"/>
                </a:solidFill>
                <a:latin typeface="Calibri" pitchFamily="34" charset="0"/>
                <a:ea typeface="Calibri" pitchFamily="34" charset="-122"/>
                <a:cs typeface="Calibri" pitchFamily="34" charset="-120"/>
              </a:rPr>
              <a:t>A team of people who make a game together. Nobody makes a big game alone. Everyone has a job, and the jobs depend on each other.</a:t>
            </a:r>
            <a:endParaRPr lang="en-US" sz="2000" dirty="0"/>
          </a:p>
        </p:txBody>
      </p:sp>
      <p:sp>
        <p:nvSpPr>
          <p:cNvPr id="9" name="Shape 7"/>
          <p:cNvSpPr/>
          <p:nvPr/>
        </p:nvSpPr>
        <p:spPr>
          <a:xfrm>
            <a:off x="640080" y="2606040"/>
            <a:ext cx="2021373" cy="2514600"/>
          </a:xfrm>
          <a:prstGeom prst="roundRect">
            <a:avLst>
              <a:gd name="adj" fmla="val 4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868680" y="2788920"/>
            <a:ext cx="420624" cy="420624"/>
          </a:xfrm>
          <a:prstGeom prst="ellipse">
            <a:avLst/>
          </a:prstGeom>
          <a:solidFill>
            <a:srgbClr val="CF4420"/>
          </a:solidFill>
          <a:ln w="12700">
            <a:solidFill>
              <a:srgbClr val="333333"/>
            </a:solidFill>
            <a:prstDash val="solid"/>
          </a:ln>
        </p:spPr>
      </p:sp>
      <p:sp>
        <p:nvSpPr>
          <p:cNvPr id="11" name="Text 9"/>
          <p:cNvSpPr txBox="1"/>
          <p:nvPr/>
        </p:nvSpPr>
        <p:spPr>
          <a:xfrm>
            <a:off x="868680"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868680" y="3337560"/>
            <a:ext cx="1564173"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Dream it</a:t>
            </a:r>
            <a:endParaRPr lang="en-US" sz="2100" dirty="0"/>
          </a:p>
        </p:txBody>
      </p:sp>
      <p:sp>
        <p:nvSpPr>
          <p:cNvPr id="13" name="Text 11"/>
          <p:cNvSpPr txBox="1"/>
          <p:nvPr/>
        </p:nvSpPr>
        <p:spPr>
          <a:xfrm>
            <a:off x="868680" y="3840480"/>
            <a:ext cx="1564173" cy="118872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What game? Who plays it? How should it feel?</a:t>
            </a:r>
            <a:endParaRPr lang="en-US" sz="1450" dirty="0"/>
          </a:p>
        </p:txBody>
      </p:sp>
      <p:sp>
        <p:nvSpPr>
          <p:cNvPr id="14" name="Shape 12"/>
          <p:cNvSpPr/>
          <p:nvPr/>
        </p:nvSpPr>
        <p:spPr>
          <a:xfrm>
            <a:off x="2862621" y="2606040"/>
            <a:ext cx="2021373" cy="2514600"/>
          </a:xfrm>
          <a:prstGeom prst="roundRect">
            <a:avLst>
              <a:gd name="adj" fmla="val 4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3091221" y="2788920"/>
            <a:ext cx="420624" cy="420624"/>
          </a:xfrm>
          <a:prstGeom prst="ellipse">
            <a:avLst/>
          </a:prstGeom>
          <a:solidFill>
            <a:srgbClr val="FFB13B"/>
          </a:solidFill>
          <a:ln w="12700">
            <a:solidFill>
              <a:srgbClr val="333333"/>
            </a:solidFill>
            <a:prstDash val="solid"/>
          </a:ln>
        </p:spPr>
      </p:sp>
      <p:sp>
        <p:nvSpPr>
          <p:cNvPr id="16" name="Text 14"/>
          <p:cNvSpPr txBox="1"/>
          <p:nvPr/>
        </p:nvSpPr>
        <p:spPr>
          <a:xfrm>
            <a:off x="3091221"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3091221" y="3337560"/>
            <a:ext cx="1564173"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Design it</a:t>
            </a:r>
            <a:endParaRPr lang="en-US" sz="2100" dirty="0"/>
          </a:p>
        </p:txBody>
      </p:sp>
      <p:sp>
        <p:nvSpPr>
          <p:cNvPr id="18" name="Text 16"/>
          <p:cNvSpPr txBox="1"/>
          <p:nvPr/>
        </p:nvSpPr>
        <p:spPr>
          <a:xfrm>
            <a:off x="3091221" y="3840480"/>
            <a:ext cx="1564173" cy="118872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Write it down: the loop, the rules, the levels.</a:t>
            </a:r>
            <a:endParaRPr lang="en-US" sz="1450" dirty="0"/>
          </a:p>
        </p:txBody>
      </p:sp>
      <p:sp>
        <p:nvSpPr>
          <p:cNvPr id="19" name="Shape 17"/>
          <p:cNvSpPr/>
          <p:nvPr/>
        </p:nvSpPr>
        <p:spPr>
          <a:xfrm>
            <a:off x="5085161" y="2606040"/>
            <a:ext cx="2021373" cy="2514600"/>
          </a:xfrm>
          <a:prstGeom prst="roundRect">
            <a:avLst>
              <a:gd name="adj" fmla="val 4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5313761" y="2788920"/>
            <a:ext cx="420624" cy="420624"/>
          </a:xfrm>
          <a:prstGeom prst="ellipse">
            <a:avLst/>
          </a:prstGeom>
          <a:solidFill>
            <a:srgbClr val="3DDC97"/>
          </a:solidFill>
          <a:ln w="12700">
            <a:solidFill>
              <a:srgbClr val="333333"/>
            </a:solidFill>
            <a:prstDash val="solid"/>
          </a:ln>
        </p:spPr>
      </p:sp>
      <p:sp>
        <p:nvSpPr>
          <p:cNvPr id="21" name="Text 19"/>
          <p:cNvSpPr txBox="1"/>
          <p:nvPr/>
        </p:nvSpPr>
        <p:spPr>
          <a:xfrm>
            <a:off x="5313761"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5313761" y="3337560"/>
            <a:ext cx="1564173"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Build it</a:t>
            </a:r>
            <a:endParaRPr lang="en-US" sz="2100" dirty="0"/>
          </a:p>
        </p:txBody>
      </p:sp>
      <p:sp>
        <p:nvSpPr>
          <p:cNvPr id="23" name="Text 21"/>
          <p:cNvSpPr txBox="1"/>
          <p:nvPr/>
        </p:nvSpPr>
        <p:spPr>
          <a:xfrm>
            <a:off x="5313761" y="3840480"/>
            <a:ext cx="1564173" cy="118872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Turn the design into something you can play.</a:t>
            </a:r>
            <a:endParaRPr lang="en-US" sz="1450" dirty="0"/>
          </a:p>
        </p:txBody>
      </p:sp>
      <p:sp>
        <p:nvSpPr>
          <p:cNvPr id="24" name="Shape 22"/>
          <p:cNvSpPr/>
          <p:nvPr/>
        </p:nvSpPr>
        <p:spPr>
          <a:xfrm>
            <a:off x="7307702" y="2606040"/>
            <a:ext cx="2021373" cy="2514600"/>
          </a:xfrm>
          <a:prstGeom prst="roundRect">
            <a:avLst>
              <a:gd name="adj" fmla="val 4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Shape 23"/>
          <p:cNvSpPr/>
          <p:nvPr/>
        </p:nvSpPr>
        <p:spPr>
          <a:xfrm>
            <a:off x="7536302" y="2788920"/>
            <a:ext cx="420624" cy="420624"/>
          </a:xfrm>
          <a:prstGeom prst="ellipse">
            <a:avLst/>
          </a:prstGeom>
          <a:solidFill>
            <a:srgbClr val="5CC8FF"/>
          </a:solidFill>
          <a:ln w="12700">
            <a:solidFill>
              <a:srgbClr val="333333"/>
            </a:solidFill>
            <a:prstDash val="solid"/>
          </a:ln>
        </p:spPr>
      </p:sp>
      <p:sp>
        <p:nvSpPr>
          <p:cNvPr id="26" name="Text 24"/>
          <p:cNvSpPr txBox="1"/>
          <p:nvPr/>
        </p:nvSpPr>
        <p:spPr>
          <a:xfrm>
            <a:off x="7536302"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txBox="1"/>
          <p:nvPr/>
        </p:nvSpPr>
        <p:spPr>
          <a:xfrm>
            <a:off x="7536302" y="3337560"/>
            <a:ext cx="1564173"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Test it</a:t>
            </a:r>
            <a:endParaRPr lang="en-US" sz="2100" dirty="0"/>
          </a:p>
        </p:txBody>
      </p:sp>
      <p:sp>
        <p:nvSpPr>
          <p:cNvPr id="28" name="Text 26"/>
          <p:cNvSpPr txBox="1"/>
          <p:nvPr/>
        </p:nvSpPr>
        <p:spPr>
          <a:xfrm>
            <a:off x="7536302" y="3840480"/>
            <a:ext cx="1564173" cy="118872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Watch people play. Find what is broken or boring.</a:t>
            </a:r>
            <a:endParaRPr lang="en-US" sz="1450" dirty="0"/>
          </a:p>
        </p:txBody>
      </p:sp>
      <p:sp>
        <p:nvSpPr>
          <p:cNvPr id="29" name="Shape 27"/>
          <p:cNvSpPr/>
          <p:nvPr/>
        </p:nvSpPr>
        <p:spPr>
          <a:xfrm>
            <a:off x="9530243" y="2606040"/>
            <a:ext cx="2021373" cy="2514600"/>
          </a:xfrm>
          <a:prstGeom prst="roundRect">
            <a:avLst>
              <a:gd name="adj" fmla="val 40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Shape 28"/>
          <p:cNvSpPr/>
          <p:nvPr/>
        </p:nvSpPr>
        <p:spPr>
          <a:xfrm>
            <a:off x="9758843" y="2788920"/>
            <a:ext cx="420624" cy="420624"/>
          </a:xfrm>
          <a:prstGeom prst="ellipse">
            <a:avLst/>
          </a:prstGeom>
          <a:solidFill>
            <a:srgbClr val="630031"/>
          </a:solidFill>
          <a:ln w="12700">
            <a:solidFill>
              <a:srgbClr val="333333"/>
            </a:solidFill>
            <a:prstDash val="solid"/>
          </a:ln>
        </p:spPr>
      </p:sp>
      <p:sp>
        <p:nvSpPr>
          <p:cNvPr id="31" name="Text 29"/>
          <p:cNvSpPr txBox="1"/>
          <p:nvPr/>
        </p:nvSpPr>
        <p:spPr>
          <a:xfrm>
            <a:off x="9758843"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txBox="1"/>
          <p:nvPr/>
        </p:nvSpPr>
        <p:spPr>
          <a:xfrm>
            <a:off x="9758843" y="3337560"/>
            <a:ext cx="1564173"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Ship it</a:t>
            </a:r>
            <a:endParaRPr lang="en-US" sz="2100" dirty="0"/>
          </a:p>
        </p:txBody>
      </p:sp>
      <p:sp>
        <p:nvSpPr>
          <p:cNvPr id="33" name="Text 31"/>
          <p:cNvSpPr txBox="1"/>
          <p:nvPr/>
        </p:nvSpPr>
        <p:spPr>
          <a:xfrm>
            <a:off x="9758843" y="3840480"/>
            <a:ext cx="1564173" cy="118872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Fix the most important things, then launch.</a:t>
            </a:r>
            <a:endParaRPr lang="en-US" sz="1450" dirty="0"/>
          </a:p>
        </p:txBody>
      </p:sp>
      <p:sp>
        <p:nvSpPr>
          <p:cNvPr id="34" name="Text 32"/>
          <p:cNvSpPr txBox="1"/>
          <p:nvPr/>
        </p:nvSpPr>
        <p:spPr>
          <a:xfrm>
            <a:off x="640080" y="5486400"/>
            <a:ext cx="10911535" cy="548640"/>
          </a:xfrm>
          <a:prstGeom prst="rect">
            <a:avLst/>
          </a:prstGeom>
          <a:noFill/>
          <a:ln/>
        </p:spPr>
        <p:txBody>
          <a:bodyPr wrap="square" lIns="0" tIns="0" rIns="0" bIns="0" rtlCol="0" anchor="t"/>
          <a:lstStyle/>
          <a:p>
            <a:pPr indent="0" marL="0">
              <a:lnSpc>
                <a:spcPts val="2200"/>
              </a:lnSpc>
              <a:buNone/>
            </a:pPr>
            <a:r>
              <a:rPr lang="en-US" sz="1700" b="1" dirty="0">
                <a:solidFill>
                  <a:srgbClr val="CF4420"/>
                </a:solidFill>
                <a:latin typeface="Calibri" pitchFamily="34" charset="0"/>
                <a:ea typeface="Calibri" pitchFamily="34" charset="-122"/>
                <a:cs typeface="Calibri" pitchFamily="34" charset="-120"/>
              </a:rPr>
              <a:t>This is the same loop as your apps: plan, build, QA, fix. Games just make it more fun to test.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1 · STUDIO ROLES (THEY ROTATE EVERY WEEK)</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Four jobs in every studio</a:t>
            </a:r>
            <a:endParaRPr lang="en-US" sz="3400" dirty="0"/>
          </a:p>
        </p:txBody>
      </p:sp>
      <p:sp>
        <p:nvSpPr>
          <p:cNvPr id="8" name="Shape 6"/>
          <p:cNvSpPr/>
          <p:nvPr/>
        </p:nvSpPr>
        <p:spPr>
          <a:xfrm>
            <a:off x="640080" y="1691640"/>
            <a:ext cx="2522144" cy="4160520"/>
          </a:xfrm>
          <a:prstGeom prst="roundRect">
            <a:avLst>
              <a:gd name="adj" fmla="val 3263"/>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68680" y="1828800"/>
            <a:ext cx="822960" cy="731520"/>
          </a:xfrm>
          <a:prstGeom prst="rect">
            <a:avLst/>
          </a:prstGeom>
          <a:noFill/>
          <a:ln/>
        </p:spPr>
        <p:txBody>
          <a:bodyPr wrap="square" lIns="0" tIns="0" rIns="0" bIns="0" rtlCol="0" anchor="ctr"/>
          <a:lstStyle/>
          <a:p>
            <a:pPr indent="0" marL="0">
              <a:buNone/>
            </a:pPr>
            <a:r>
              <a:rPr lang="en-US" sz="3400" dirty="0">
                <a:solidFill>
                  <a:srgbClr val="000000"/>
                </a:solidFill>
                <a:latin typeface="Calibri" pitchFamily="34" charset="0"/>
                <a:ea typeface="Calibri" pitchFamily="34" charset="-122"/>
                <a:cs typeface="Calibri" pitchFamily="34" charset="-120"/>
              </a:rPr>
              <a:t>🎯</a:t>
            </a:r>
            <a:endParaRPr lang="en-US" sz="3400" dirty="0"/>
          </a:p>
        </p:txBody>
      </p:sp>
      <p:sp>
        <p:nvSpPr>
          <p:cNvPr id="10" name="Text 8"/>
          <p:cNvSpPr txBox="1"/>
          <p:nvPr/>
        </p:nvSpPr>
        <p:spPr>
          <a:xfrm>
            <a:off x="868680" y="2606040"/>
            <a:ext cx="2064944" cy="4572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Producer</a:t>
            </a:r>
            <a:endParaRPr lang="en-US" sz="2200" dirty="0"/>
          </a:p>
        </p:txBody>
      </p:sp>
      <p:sp>
        <p:nvSpPr>
          <p:cNvPr id="11" name="Text 9"/>
          <p:cNvSpPr txBox="1"/>
          <p:nvPr/>
        </p:nvSpPr>
        <p:spPr>
          <a:xfrm>
            <a:off x="868680" y="3108960"/>
            <a:ext cx="2064944" cy="150876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The product manager. Keeps the plan, runs the to-do list, makes sure the team finishes.</a:t>
            </a:r>
            <a:endParaRPr lang="en-US" sz="1450" dirty="0"/>
          </a:p>
        </p:txBody>
      </p:sp>
      <p:sp>
        <p:nvSpPr>
          <p:cNvPr id="12" name="Text 10"/>
          <p:cNvSpPr txBox="1"/>
          <p:nvPr/>
        </p:nvSpPr>
        <p:spPr>
          <a:xfrm>
            <a:off x="868680" y="4663440"/>
            <a:ext cx="2064944" cy="1051560"/>
          </a:xfrm>
          <a:prstGeom prst="rect">
            <a:avLst/>
          </a:prstGeom>
          <a:noFill/>
          <a:ln/>
        </p:spPr>
        <p:txBody>
          <a:bodyPr wrap="square" lIns="0" tIns="0" rIns="0" bIns="0" rtlCol="0" anchor="t"/>
          <a:lstStyle/>
          <a:p>
            <a:pPr indent="0" marL="0">
              <a:lnSpc>
                <a:spcPts val="1800"/>
              </a:lnSpc>
              <a:buNone/>
            </a:pPr>
            <a:r>
              <a:rPr lang="en-US" sz="1350" b="1" dirty="0">
                <a:solidFill>
                  <a:srgbClr val="CF4420"/>
                </a:solidFill>
                <a:latin typeface="Calibri" pitchFamily="34" charset="0"/>
                <a:ea typeface="Calibri" pitchFamily="34" charset="-122"/>
                <a:cs typeface="Calibri" pitchFamily="34" charset="-120"/>
              </a:rPr>
              <a:t>You'd like this if </a:t>
            </a:r>
            <a:pPr indent="0" marL="0">
              <a:lnSpc>
                <a:spcPts val="1800"/>
              </a:lnSpc>
              <a:buNone/>
            </a:pPr>
            <a:r>
              <a:rPr lang="en-US" sz="1350" i="1" dirty="0">
                <a:solidFill>
                  <a:srgbClr val="75787B"/>
                </a:solidFill>
                <a:latin typeface="Calibri" pitchFamily="34" charset="0"/>
                <a:ea typeface="Calibri" pitchFamily="34" charset="-122"/>
                <a:cs typeface="Calibri" pitchFamily="34" charset="-120"/>
              </a:rPr>
              <a:t>you like being organized and making calls.</a:t>
            </a:r>
            <a:endParaRPr lang="en-US" sz="1350" dirty="0"/>
          </a:p>
        </p:txBody>
      </p:sp>
      <p:sp>
        <p:nvSpPr>
          <p:cNvPr id="13" name="Shape 11"/>
          <p:cNvSpPr/>
          <p:nvPr/>
        </p:nvSpPr>
        <p:spPr>
          <a:xfrm>
            <a:off x="3436544" y="1691640"/>
            <a:ext cx="2522144" cy="41605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3665144" y="1828800"/>
            <a:ext cx="822960" cy="731520"/>
          </a:xfrm>
          <a:prstGeom prst="rect">
            <a:avLst/>
          </a:prstGeom>
          <a:noFill/>
          <a:ln/>
        </p:spPr>
        <p:txBody>
          <a:bodyPr wrap="square" lIns="0" tIns="0" rIns="0" bIns="0" rtlCol="0" anchor="ctr"/>
          <a:lstStyle/>
          <a:p>
            <a:pPr indent="0" marL="0">
              <a:buNone/>
            </a:pPr>
            <a:r>
              <a:rPr lang="en-US" sz="3400" dirty="0">
                <a:solidFill>
                  <a:srgbClr val="000000"/>
                </a:solidFill>
                <a:latin typeface="Calibri" pitchFamily="34" charset="0"/>
                <a:ea typeface="Calibri" pitchFamily="34" charset="-122"/>
                <a:cs typeface="Calibri" pitchFamily="34" charset="-120"/>
              </a:rPr>
              <a:t>🎨</a:t>
            </a:r>
            <a:endParaRPr lang="en-US" sz="3400" dirty="0"/>
          </a:p>
        </p:txBody>
      </p:sp>
      <p:sp>
        <p:nvSpPr>
          <p:cNvPr id="15" name="Text 13"/>
          <p:cNvSpPr txBox="1"/>
          <p:nvPr/>
        </p:nvSpPr>
        <p:spPr>
          <a:xfrm>
            <a:off x="3665144" y="2606040"/>
            <a:ext cx="2064944" cy="4572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Game Designer</a:t>
            </a:r>
            <a:endParaRPr lang="en-US" sz="2200" dirty="0"/>
          </a:p>
        </p:txBody>
      </p:sp>
      <p:sp>
        <p:nvSpPr>
          <p:cNvPr id="16" name="Text 14"/>
          <p:cNvSpPr txBox="1"/>
          <p:nvPr/>
        </p:nvSpPr>
        <p:spPr>
          <a:xfrm>
            <a:off x="3665144" y="3108960"/>
            <a:ext cx="2064944" cy="150876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Decides the rules, the levels, the hero and the world. Writes the design doc.</a:t>
            </a:r>
            <a:endParaRPr lang="en-US" sz="1450" dirty="0"/>
          </a:p>
        </p:txBody>
      </p:sp>
      <p:sp>
        <p:nvSpPr>
          <p:cNvPr id="17" name="Text 15"/>
          <p:cNvSpPr txBox="1"/>
          <p:nvPr/>
        </p:nvSpPr>
        <p:spPr>
          <a:xfrm>
            <a:off x="3665144" y="4663440"/>
            <a:ext cx="2064944" cy="1051560"/>
          </a:xfrm>
          <a:prstGeom prst="rect">
            <a:avLst/>
          </a:prstGeom>
          <a:noFill/>
          <a:ln/>
        </p:spPr>
        <p:txBody>
          <a:bodyPr wrap="square" lIns="0" tIns="0" rIns="0" bIns="0" rtlCol="0" anchor="t"/>
          <a:lstStyle/>
          <a:p>
            <a:pPr indent="0" marL="0">
              <a:lnSpc>
                <a:spcPts val="1800"/>
              </a:lnSpc>
              <a:buNone/>
            </a:pPr>
            <a:r>
              <a:rPr lang="en-US" sz="1350" b="1" dirty="0">
                <a:solidFill>
                  <a:srgbClr val="CF4420"/>
                </a:solidFill>
                <a:latin typeface="Calibri" pitchFamily="34" charset="0"/>
                <a:ea typeface="Calibri" pitchFamily="34" charset="-122"/>
                <a:cs typeface="Calibri" pitchFamily="34" charset="-120"/>
              </a:rPr>
              <a:t>You'd like this if </a:t>
            </a:r>
            <a:pPr indent="0" marL="0">
              <a:lnSpc>
                <a:spcPts val="1800"/>
              </a:lnSpc>
              <a:buNone/>
            </a:pPr>
            <a:r>
              <a:rPr lang="en-US" sz="1350" i="1" dirty="0">
                <a:solidFill>
                  <a:srgbClr val="75787B"/>
                </a:solidFill>
                <a:latin typeface="Calibri" pitchFamily="34" charset="0"/>
                <a:ea typeface="Calibri" pitchFamily="34" charset="-122"/>
                <a:cs typeface="Calibri" pitchFamily="34" charset="-120"/>
              </a:rPr>
              <a:t>you always have ideas for how a game should work.</a:t>
            </a:r>
            <a:endParaRPr lang="en-US" sz="1350" dirty="0"/>
          </a:p>
        </p:txBody>
      </p:sp>
      <p:sp>
        <p:nvSpPr>
          <p:cNvPr id="18" name="Shape 16"/>
          <p:cNvSpPr/>
          <p:nvPr/>
        </p:nvSpPr>
        <p:spPr>
          <a:xfrm>
            <a:off x="6233008" y="1691640"/>
            <a:ext cx="2522144" cy="4160520"/>
          </a:xfrm>
          <a:prstGeom prst="roundRect">
            <a:avLst>
              <a:gd name="adj" fmla="val 3263"/>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Text 17"/>
          <p:cNvSpPr txBox="1"/>
          <p:nvPr/>
        </p:nvSpPr>
        <p:spPr>
          <a:xfrm>
            <a:off x="6461608" y="1828800"/>
            <a:ext cx="822960" cy="731520"/>
          </a:xfrm>
          <a:prstGeom prst="rect">
            <a:avLst/>
          </a:prstGeom>
          <a:noFill/>
          <a:ln/>
        </p:spPr>
        <p:txBody>
          <a:bodyPr wrap="square" lIns="0" tIns="0" rIns="0" bIns="0" rtlCol="0" anchor="ctr"/>
          <a:lstStyle/>
          <a:p>
            <a:pPr indent="0" marL="0">
              <a:buNone/>
            </a:pPr>
            <a:r>
              <a:rPr lang="en-US" sz="3400" dirty="0">
                <a:solidFill>
                  <a:srgbClr val="000000"/>
                </a:solidFill>
                <a:latin typeface="Calibri" pitchFamily="34" charset="0"/>
                <a:ea typeface="Calibri" pitchFamily="34" charset="-122"/>
                <a:cs typeface="Calibri" pitchFamily="34" charset="-120"/>
              </a:rPr>
              <a:t>💻</a:t>
            </a:r>
            <a:endParaRPr lang="en-US" sz="3400" dirty="0"/>
          </a:p>
        </p:txBody>
      </p:sp>
      <p:sp>
        <p:nvSpPr>
          <p:cNvPr id="20" name="Text 18"/>
          <p:cNvSpPr txBox="1"/>
          <p:nvPr/>
        </p:nvSpPr>
        <p:spPr>
          <a:xfrm>
            <a:off x="6461608" y="2606040"/>
            <a:ext cx="2064944" cy="4572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Developer</a:t>
            </a:r>
            <a:endParaRPr lang="en-US" sz="2200" dirty="0"/>
          </a:p>
        </p:txBody>
      </p:sp>
      <p:sp>
        <p:nvSpPr>
          <p:cNvPr id="21" name="Text 19"/>
          <p:cNvSpPr txBox="1"/>
          <p:nvPr/>
        </p:nvSpPr>
        <p:spPr>
          <a:xfrm>
            <a:off x="6461608" y="3108960"/>
            <a:ext cx="2064944" cy="150876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Turns the design into something playable. Next month: MakeCode Arcade.</a:t>
            </a:r>
            <a:endParaRPr lang="en-US" sz="1450" dirty="0"/>
          </a:p>
        </p:txBody>
      </p:sp>
      <p:sp>
        <p:nvSpPr>
          <p:cNvPr id="22" name="Text 20"/>
          <p:cNvSpPr txBox="1"/>
          <p:nvPr/>
        </p:nvSpPr>
        <p:spPr>
          <a:xfrm>
            <a:off x="6461608" y="4663440"/>
            <a:ext cx="2064944" cy="1051560"/>
          </a:xfrm>
          <a:prstGeom prst="rect">
            <a:avLst/>
          </a:prstGeom>
          <a:noFill/>
          <a:ln/>
        </p:spPr>
        <p:txBody>
          <a:bodyPr wrap="square" lIns="0" tIns="0" rIns="0" bIns="0" rtlCol="0" anchor="t"/>
          <a:lstStyle/>
          <a:p>
            <a:pPr indent="0" marL="0">
              <a:lnSpc>
                <a:spcPts val="1800"/>
              </a:lnSpc>
              <a:buNone/>
            </a:pPr>
            <a:r>
              <a:rPr lang="en-US" sz="1350" b="1" dirty="0">
                <a:solidFill>
                  <a:srgbClr val="CF4420"/>
                </a:solidFill>
                <a:latin typeface="Calibri" pitchFamily="34" charset="0"/>
                <a:ea typeface="Calibri" pitchFamily="34" charset="-122"/>
                <a:cs typeface="Calibri" pitchFamily="34" charset="-120"/>
              </a:rPr>
              <a:t>You'd like this if </a:t>
            </a:r>
            <a:pPr indent="0" marL="0">
              <a:lnSpc>
                <a:spcPts val="1800"/>
              </a:lnSpc>
              <a:buNone/>
            </a:pPr>
            <a:r>
              <a:rPr lang="en-US" sz="1350" i="1" dirty="0">
                <a:solidFill>
                  <a:srgbClr val="75787B"/>
                </a:solidFill>
                <a:latin typeface="Calibri" pitchFamily="34" charset="0"/>
                <a:ea typeface="Calibri" pitchFamily="34" charset="-122"/>
                <a:cs typeface="Calibri" pitchFamily="34" charset="-120"/>
              </a:rPr>
              <a:t>you like figuring out how things work inside.</a:t>
            </a:r>
            <a:endParaRPr lang="en-US" sz="1350" dirty="0"/>
          </a:p>
        </p:txBody>
      </p:sp>
      <p:sp>
        <p:nvSpPr>
          <p:cNvPr id="23" name="Shape 21"/>
          <p:cNvSpPr/>
          <p:nvPr/>
        </p:nvSpPr>
        <p:spPr>
          <a:xfrm>
            <a:off x="9029471" y="1691640"/>
            <a:ext cx="2522144" cy="41605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4" name="Text 22"/>
          <p:cNvSpPr txBox="1"/>
          <p:nvPr/>
        </p:nvSpPr>
        <p:spPr>
          <a:xfrm>
            <a:off x="9258071" y="1828800"/>
            <a:ext cx="822960" cy="731520"/>
          </a:xfrm>
          <a:prstGeom prst="rect">
            <a:avLst/>
          </a:prstGeom>
          <a:noFill/>
          <a:ln/>
        </p:spPr>
        <p:txBody>
          <a:bodyPr wrap="square" lIns="0" tIns="0" rIns="0" bIns="0" rtlCol="0" anchor="ctr"/>
          <a:lstStyle/>
          <a:p>
            <a:pPr indent="0" marL="0">
              <a:buNone/>
            </a:pPr>
            <a:r>
              <a:rPr lang="en-US" sz="3400" dirty="0">
                <a:solidFill>
                  <a:srgbClr val="000000"/>
                </a:solidFill>
                <a:latin typeface="Calibri" pitchFamily="34" charset="0"/>
                <a:ea typeface="Calibri" pitchFamily="34" charset="-122"/>
                <a:cs typeface="Calibri" pitchFamily="34" charset="-120"/>
              </a:rPr>
              <a:t>🐞</a:t>
            </a:r>
            <a:endParaRPr lang="en-US" sz="3400" dirty="0"/>
          </a:p>
        </p:txBody>
      </p:sp>
      <p:sp>
        <p:nvSpPr>
          <p:cNvPr id="25" name="Text 23"/>
          <p:cNvSpPr txBox="1"/>
          <p:nvPr/>
        </p:nvSpPr>
        <p:spPr>
          <a:xfrm>
            <a:off x="9258071" y="2606040"/>
            <a:ext cx="2064944" cy="4572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QA Lead</a:t>
            </a:r>
            <a:endParaRPr lang="en-US" sz="2200" dirty="0"/>
          </a:p>
        </p:txBody>
      </p:sp>
      <p:sp>
        <p:nvSpPr>
          <p:cNvPr id="26" name="Text 24"/>
          <p:cNvSpPr txBox="1"/>
          <p:nvPr/>
        </p:nvSpPr>
        <p:spPr>
          <a:xfrm>
            <a:off x="9258071" y="3108960"/>
            <a:ext cx="2064944" cy="1508760"/>
          </a:xfrm>
          <a:prstGeom prst="rect">
            <a:avLst/>
          </a:prstGeom>
          <a:noFill/>
          <a:ln/>
        </p:spPr>
        <p:txBody>
          <a:bodyPr wrap="square" lIns="0" tIns="0" rIns="0" bIns="0" rtlCol="0" anchor="t"/>
          <a:lstStyle/>
          <a:p>
            <a:pPr indent="0" marL="0">
              <a:lnSpc>
                <a:spcPts val="2000"/>
              </a:lnSpc>
              <a:buNone/>
            </a:pPr>
            <a:r>
              <a:rPr lang="en-US" sz="1450" dirty="0">
                <a:solidFill>
                  <a:srgbClr val="1C1A19"/>
                </a:solidFill>
                <a:latin typeface="Calibri" pitchFamily="34" charset="0"/>
                <a:ea typeface="Calibri" pitchFamily="34" charset="-122"/>
                <a:cs typeface="Calibri" pitchFamily="34" charset="-120"/>
              </a:rPr>
              <a:t>Plays it to break it. Writes bug reports and bad days. Protects the player.</a:t>
            </a:r>
            <a:endParaRPr lang="en-US" sz="1450" dirty="0"/>
          </a:p>
        </p:txBody>
      </p:sp>
      <p:sp>
        <p:nvSpPr>
          <p:cNvPr id="27" name="Text 25"/>
          <p:cNvSpPr txBox="1"/>
          <p:nvPr/>
        </p:nvSpPr>
        <p:spPr>
          <a:xfrm>
            <a:off x="9258071" y="4663440"/>
            <a:ext cx="2064944" cy="1051560"/>
          </a:xfrm>
          <a:prstGeom prst="rect">
            <a:avLst/>
          </a:prstGeom>
          <a:noFill/>
          <a:ln/>
        </p:spPr>
        <p:txBody>
          <a:bodyPr wrap="square" lIns="0" tIns="0" rIns="0" bIns="0" rtlCol="0" anchor="t"/>
          <a:lstStyle/>
          <a:p>
            <a:pPr indent="0" marL="0">
              <a:lnSpc>
                <a:spcPts val="1800"/>
              </a:lnSpc>
              <a:buNone/>
            </a:pPr>
            <a:r>
              <a:rPr lang="en-US" sz="1350" b="1" dirty="0">
                <a:solidFill>
                  <a:srgbClr val="CF4420"/>
                </a:solidFill>
                <a:latin typeface="Calibri" pitchFamily="34" charset="0"/>
                <a:ea typeface="Calibri" pitchFamily="34" charset="-122"/>
                <a:cs typeface="Calibri" pitchFamily="34" charset="-120"/>
              </a:rPr>
              <a:t>You'd like this if </a:t>
            </a:r>
            <a:pPr indent="0" marL="0">
              <a:lnSpc>
                <a:spcPts val="1800"/>
              </a:lnSpc>
              <a:buNone/>
            </a:pPr>
            <a:r>
              <a:rPr lang="en-US" sz="1350" i="1" dirty="0">
                <a:solidFill>
                  <a:srgbClr val="75787B"/>
                </a:solidFill>
                <a:latin typeface="Calibri" pitchFamily="34" charset="0"/>
                <a:ea typeface="Calibri" pitchFamily="34" charset="-122"/>
                <a:cs typeface="Calibri" pitchFamily="34" charset="-120"/>
              </a:rPr>
              <a:t>you notice everything that is a little off.</a:t>
            </a:r>
            <a:endParaRPr lang="en-US" sz="1350" dirty="0"/>
          </a:p>
        </p:txBody>
      </p:sp>
      <p:sp>
        <p:nvSpPr>
          <p:cNvPr id="28" name="Text 26"/>
          <p:cNvSpPr txBox="1"/>
          <p:nvPr/>
        </p:nvSpPr>
        <p:spPr>
          <a:xfrm>
            <a:off x="640080" y="6035040"/>
            <a:ext cx="10911535" cy="457200"/>
          </a:xfrm>
          <a:prstGeom prst="rect">
            <a:avLst/>
          </a:prstGeom>
          <a:noFill/>
          <a:ln/>
        </p:spPr>
        <p:txBody>
          <a:bodyPr wrap="square" lIns="0" tIns="0" rIns="0" bIns="0" rtlCol="0" anchor="t"/>
          <a:lstStyle/>
          <a:p>
            <a:pPr indent="0" marL="0">
              <a:lnSpc>
                <a:spcPts val="2200"/>
              </a:lnSpc>
              <a:buNone/>
            </a:pPr>
            <a:r>
              <a:rPr lang="en-US" sz="1600" b="1" dirty="0">
                <a:solidFill>
                  <a:srgbClr val="CF4420"/>
                </a:solidFill>
                <a:latin typeface="Calibri" pitchFamily="34" charset="0"/>
                <a:ea typeface="Calibri" pitchFamily="34" charset="-122"/>
                <a:cs typeface="Calibri" pitchFamily="34" charset="-120"/>
              </a:rPr>
              <a:t>Roles rotate every week, so everyone tries every job at least once.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1 · THE MAP</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Your six weeks</a:t>
            </a:r>
            <a:endParaRPr lang="en-US" sz="3400" dirty="0"/>
          </a:p>
        </p:txBody>
      </p:sp>
      <p:sp>
        <p:nvSpPr>
          <p:cNvPr id="8" name="Shape 6"/>
          <p:cNvSpPr/>
          <p:nvPr/>
        </p:nvSpPr>
        <p:spPr>
          <a:xfrm>
            <a:off x="640080" y="1783080"/>
            <a:ext cx="1666189" cy="3566160"/>
          </a:xfrm>
          <a:prstGeom prst="roundRect">
            <a:avLst>
              <a:gd name="adj" fmla="val 4939"/>
            </a:avLst>
          </a:prstGeom>
          <a:solidFill>
            <a:srgbClr val="1B1230"/>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22960" y="1965960"/>
            <a:ext cx="1300429" cy="320040"/>
          </a:xfrm>
          <a:prstGeom prst="rect">
            <a:avLst/>
          </a:prstGeom>
          <a:noFill/>
          <a:ln/>
        </p:spPr>
        <p:txBody>
          <a:bodyPr wrap="square" lIns="0" tIns="0" rIns="0" bIns="0" rtlCol="0" anchor="ctr"/>
          <a:lstStyle/>
          <a:p>
            <a:pPr indent="0" marL="0">
              <a:buNone/>
            </a:pPr>
            <a:r>
              <a:rPr lang="en-US" sz="1400" b="1" dirty="0">
                <a:solidFill>
                  <a:srgbClr val="FFB13B"/>
                </a:solidFill>
                <a:latin typeface="Consolas" pitchFamily="34" charset="0"/>
                <a:ea typeface="Consolas" pitchFamily="34" charset="-122"/>
                <a:cs typeface="Consolas" pitchFamily="34" charset="-120"/>
              </a:rPr>
              <a:t>WEEK 1</a:t>
            </a:r>
            <a:endParaRPr lang="en-US" sz="1400" dirty="0"/>
          </a:p>
        </p:txBody>
      </p:sp>
      <p:sp>
        <p:nvSpPr>
          <p:cNvPr id="10" name="Text 8"/>
          <p:cNvSpPr txBox="1"/>
          <p:nvPr/>
        </p:nvSpPr>
        <p:spPr>
          <a:xfrm>
            <a:off x="822960" y="2331720"/>
            <a:ext cx="1300429" cy="8229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Kickoff</a:t>
            </a:r>
            <a:endParaRPr lang="en-US" sz="1900" dirty="0"/>
          </a:p>
        </p:txBody>
      </p:sp>
      <p:sp>
        <p:nvSpPr>
          <p:cNvPr id="11" name="Text 9"/>
          <p:cNvSpPr txBox="1"/>
          <p:nvPr/>
        </p:nvSpPr>
        <p:spPr>
          <a:xfrm>
            <a:off x="822960"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DCD3F0"/>
                </a:solidFill>
                <a:latin typeface="Calibri" pitchFamily="34" charset="0"/>
                <a:ea typeface="Calibri" pitchFamily="34" charset="-122"/>
                <a:cs typeface="Calibri" pitchFamily="34" charset="-120"/>
              </a:rPr>
              <a:t>Core loops, players, the feeling, pitches. Teams form.</a:t>
            </a:r>
            <a:endParaRPr lang="en-US" sz="1350" dirty="0"/>
          </a:p>
        </p:txBody>
      </p:sp>
      <p:sp>
        <p:nvSpPr>
          <p:cNvPr id="12" name="Text 10"/>
          <p:cNvSpPr txBox="1"/>
          <p:nvPr/>
        </p:nvSpPr>
        <p:spPr>
          <a:xfrm>
            <a:off x="822960" y="4892040"/>
            <a:ext cx="1300429" cy="274320"/>
          </a:xfrm>
          <a:prstGeom prst="rect">
            <a:avLst/>
          </a:prstGeom>
          <a:noFill/>
          <a:ln/>
        </p:spPr>
        <p:txBody>
          <a:bodyPr wrap="square" lIns="0" tIns="0" rIns="0" bIns="0" rtlCol="0" anchor="ctr"/>
          <a:lstStyle/>
          <a:p>
            <a:pPr indent="0" marL="0">
              <a:buNone/>
            </a:pPr>
            <a:r>
              <a:rPr lang="en-US" sz="1100" b="1" dirty="0">
                <a:solidFill>
                  <a:srgbClr val="3DDC97"/>
                </a:solidFill>
                <a:latin typeface="Consolas" pitchFamily="34" charset="0"/>
                <a:ea typeface="Consolas" pitchFamily="34" charset="-122"/>
                <a:cs typeface="Consolas" pitchFamily="34" charset="-120"/>
              </a:rPr>
              <a:t>YOU ARE HERE</a:t>
            </a:r>
            <a:endParaRPr lang="en-US" sz="1100" dirty="0"/>
          </a:p>
        </p:txBody>
      </p:sp>
      <p:sp>
        <p:nvSpPr>
          <p:cNvPr id="13" name="Shape 11"/>
          <p:cNvSpPr/>
          <p:nvPr/>
        </p:nvSpPr>
        <p:spPr>
          <a:xfrm>
            <a:off x="2489149" y="1783080"/>
            <a:ext cx="1666189" cy="3566160"/>
          </a:xfrm>
          <a:prstGeom prst="roundRect">
            <a:avLst>
              <a:gd name="adj" fmla="val 493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2672029" y="1965960"/>
            <a:ext cx="1300429" cy="320040"/>
          </a:xfrm>
          <a:prstGeom prst="rect">
            <a:avLst/>
          </a:prstGeom>
          <a:noFill/>
          <a:ln/>
        </p:spPr>
        <p:txBody>
          <a:bodyPr wrap="square" lIns="0" tIns="0" rIns="0" bIns="0" rtlCol="0" anchor="ctr"/>
          <a:lstStyle/>
          <a:p>
            <a:pPr indent="0" marL="0">
              <a:buNone/>
            </a:pPr>
            <a:r>
              <a:rPr lang="en-US" sz="1400" b="1" dirty="0">
                <a:solidFill>
                  <a:srgbClr val="CF4420"/>
                </a:solidFill>
                <a:latin typeface="Consolas" pitchFamily="34" charset="0"/>
                <a:ea typeface="Consolas" pitchFamily="34" charset="-122"/>
                <a:cs typeface="Consolas" pitchFamily="34" charset="-120"/>
              </a:rPr>
              <a:t>WEEK 2</a:t>
            </a:r>
            <a:endParaRPr lang="en-US" sz="1400" dirty="0"/>
          </a:p>
        </p:txBody>
      </p:sp>
      <p:sp>
        <p:nvSpPr>
          <p:cNvPr id="15" name="Text 13"/>
          <p:cNvSpPr txBox="1"/>
          <p:nvPr/>
        </p:nvSpPr>
        <p:spPr>
          <a:xfrm>
            <a:off x="2672029" y="2331720"/>
            <a:ext cx="1300429" cy="822960"/>
          </a:xfrm>
          <a:prstGeom prst="rect">
            <a:avLst/>
          </a:prstGeom>
          <a:noFill/>
          <a:ln/>
        </p:spPr>
        <p:txBody>
          <a:bodyPr wrap="square" lIns="0" tIns="0" rIns="0" bIns="0" rtlCol="0" anchor="t"/>
          <a:lstStyle/>
          <a:p>
            <a:pPr indent="0" marL="0">
              <a:buNone/>
            </a:pPr>
            <a:r>
              <a:rPr lang="en-US" sz="1900" b="1" dirty="0">
                <a:solidFill>
                  <a:srgbClr val="630031"/>
                </a:solidFill>
                <a:latin typeface="Cambria" pitchFamily="34" charset="0"/>
                <a:ea typeface="Cambria" pitchFamily="34" charset="-122"/>
                <a:cs typeface="Cambria" pitchFamily="34" charset="-120"/>
              </a:rPr>
              <a:t>Design doc</a:t>
            </a:r>
            <a:endParaRPr lang="en-US" sz="1900" dirty="0"/>
          </a:p>
        </p:txBody>
      </p:sp>
      <p:sp>
        <p:nvSpPr>
          <p:cNvPr id="16" name="Text 14"/>
          <p:cNvSpPr txBox="1"/>
          <p:nvPr/>
        </p:nvSpPr>
        <p:spPr>
          <a:xfrm>
            <a:off x="2672029"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Your game, written down on the Game Studio site.</a:t>
            </a:r>
            <a:endParaRPr lang="en-US" sz="1350" dirty="0"/>
          </a:p>
        </p:txBody>
      </p:sp>
      <p:sp>
        <p:nvSpPr>
          <p:cNvPr id="17" name="Shape 15"/>
          <p:cNvSpPr/>
          <p:nvPr/>
        </p:nvSpPr>
        <p:spPr>
          <a:xfrm>
            <a:off x="4338218" y="1783080"/>
            <a:ext cx="1666189" cy="3566160"/>
          </a:xfrm>
          <a:prstGeom prst="roundRect">
            <a:avLst>
              <a:gd name="adj" fmla="val 493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8" name="Text 16"/>
          <p:cNvSpPr txBox="1"/>
          <p:nvPr/>
        </p:nvSpPr>
        <p:spPr>
          <a:xfrm>
            <a:off x="4521098" y="1965960"/>
            <a:ext cx="1300429" cy="320040"/>
          </a:xfrm>
          <a:prstGeom prst="rect">
            <a:avLst/>
          </a:prstGeom>
          <a:noFill/>
          <a:ln/>
        </p:spPr>
        <p:txBody>
          <a:bodyPr wrap="square" lIns="0" tIns="0" rIns="0" bIns="0" rtlCol="0" anchor="ctr"/>
          <a:lstStyle/>
          <a:p>
            <a:pPr indent="0" marL="0">
              <a:buNone/>
            </a:pPr>
            <a:r>
              <a:rPr lang="en-US" sz="1400" b="1" dirty="0">
                <a:solidFill>
                  <a:srgbClr val="CF4420"/>
                </a:solidFill>
                <a:latin typeface="Consolas" pitchFamily="34" charset="0"/>
                <a:ea typeface="Consolas" pitchFamily="34" charset="-122"/>
                <a:cs typeface="Consolas" pitchFamily="34" charset="-120"/>
              </a:rPr>
              <a:t>WEEK 3</a:t>
            </a:r>
            <a:endParaRPr lang="en-US" sz="1400" dirty="0"/>
          </a:p>
        </p:txBody>
      </p:sp>
      <p:sp>
        <p:nvSpPr>
          <p:cNvPr id="19" name="Text 17"/>
          <p:cNvSpPr txBox="1"/>
          <p:nvPr/>
        </p:nvSpPr>
        <p:spPr>
          <a:xfrm>
            <a:off x="4521098" y="2331720"/>
            <a:ext cx="1300429" cy="822960"/>
          </a:xfrm>
          <a:prstGeom prst="rect">
            <a:avLst/>
          </a:prstGeom>
          <a:noFill/>
          <a:ln/>
        </p:spPr>
        <p:txBody>
          <a:bodyPr wrap="square" lIns="0" tIns="0" rIns="0" bIns="0" rtlCol="0" anchor="t"/>
          <a:lstStyle/>
          <a:p>
            <a:pPr indent="0" marL="0">
              <a:buNone/>
            </a:pPr>
            <a:r>
              <a:rPr lang="en-US" sz="1900" b="1" dirty="0">
                <a:solidFill>
                  <a:srgbClr val="630031"/>
                </a:solidFill>
                <a:latin typeface="Cambria" pitchFamily="34" charset="0"/>
                <a:ea typeface="Cambria" pitchFamily="34" charset="-122"/>
                <a:cs typeface="Cambria" pitchFamily="34" charset="-120"/>
              </a:rPr>
              <a:t>Levels as stories</a:t>
            </a:r>
            <a:endParaRPr lang="en-US" sz="1900" dirty="0"/>
          </a:p>
        </p:txBody>
      </p:sp>
      <p:sp>
        <p:nvSpPr>
          <p:cNvPr id="20" name="Text 18"/>
          <p:cNvSpPr txBox="1"/>
          <p:nvPr/>
        </p:nvSpPr>
        <p:spPr>
          <a:xfrm>
            <a:off x="4521098"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Player stories, checks, happy paths and bad days.</a:t>
            </a:r>
            <a:endParaRPr lang="en-US" sz="1350" dirty="0"/>
          </a:p>
        </p:txBody>
      </p:sp>
      <p:sp>
        <p:nvSpPr>
          <p:cNvPr id="21" name="Shape 19"/>
          <p:cNvSpPr/>
          <p:nvPr/>
        </p:nvSpPr>
        <p:spPr>
          <a:xfrm>
            <a:off x="6187288" y="1783080"/>
            <a:ext cx="1666189" cy="3566160"/>
          </a:xfrm>
          <a:prstGeom prst="roundRect">
            <a:avLst>
              <a:gd name="adj" fmla="val 493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2" name="Text 20"/>
          <p:cNvSpPr txBox="1"/>
          <p:nvPr/>
        </p:nvSpPr>
        <p:spPr>
          <a:xfrm>
            <a:off x="6370168" y="1965960"/>
            <a:ext cx="1300429" cy="320040"/>
          </a:xfrm>
          <a:prstGeom prst="rect">
            <a:avLst/>
          </a:prstGeom>
          <a:noFill/>
          <a:ln/>
        </p:spPr>
        <p:txBody>
          <a:bodyPr wrap="square" lIns="0" tIns="0" rIns="0" bIns="0" rtlCol="0" anchor="ctr"/>
          <a:lstStyle/>
          <a:p>
            <a:pPr indent="0" marL="0">
              <a:buNone/>
            </a:pPr>
            <a:r>
              <a:rPr lang="en-US" sz="1400" b="1" dirty="0">
                <a:solidFill>
                  <a:srgbClr val="CF4420"/>
                </a:solidFill>
                <a:latin typeface="Consolas" pitchFamily="34" charset="0"/>
                <a:ea typeface="Consolas" pitchFamily="34" charset="-122"/>
                <a:cs typeface="Consolas" pitchFamily="34" charset="-120"/>
              </a:rPr>
              <a:t>WEEK 4</a:t>
            </a:r>
            <a:endParaRPr lang="en-US" sz="1400" dirty="0"/>
          </a:p>
        </p:txBody>
      </p:sp>
      <p:sp>
        <p:nvSpPr>
          <p:cNvPr id="23" name="Text 21"/>
          <p:cNvSpPr txBox="1"/>
          <p:nvPr/>
        </p:nvSpPr>
        <p:spPr>
          <a:xfrm>
            <a:off x="6370168" y="2331720"/>
            <a:ext cx="1300429" cy="822960"/>
          </a:xfrm>
          <a:prstGeom prst="rect">
            <a:avLst/>
          </a:prstGeom>
          <a:noFill/>
          <a:ln/>
        </p:spPr>
        <p:txBody>
          <a:bodyPr wrap="square" lIns="0" tIns="0" rIns="0" bIns="0" rtlCol="0" anchor="t"/>
          <a:lstStyle/>
          <a:p>
            <a:pPr indent="0" marL="0">
              <a:buNone/>
            </a:pPr>
            <a:r>
              <a:rPr lang="en-US" sz="1900" b="1" dirty="0">
                <a:solidFill>
                  <a:srgbClr val="630031"/>
                </a:solidFill>
                <a:latin typeface="Cambria" pitchFamily="34" charset="0"/>
                <a:ea typeface="Cambria" pitchFamily="34" charset="-122"/>
                <a:cs typeface="Cambria" pitchFamily="34" charset="-120"/>
              </a:rPr>
              <a:t>MakeCode Arcade</a:t>
            </a:r>
            <a:endParaRPr lang="en-US" sz="1900" dirty="0"/>
          </a:p>
        </p:txBody>
      </p:sp>
      <p:sp>
        <p:nvSpPr>
          <p:cNvPr id="24" name="Text 22"/>
          <p:cNvSpPr txBox="1"/>
          <p:nvPr/>
        </p:nvSpPr>
        <p:spPr>
          <a:xfrm>
            <a:off x="6370168"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Build one mechanic of your game yourself.</a:t>
            </a:r>
            <a:endParaRPr lang="en-US" sz="1350" dirty="0"/>
          </a:p>
        </p:txBody>
      </p:sp>
      <p:sp>
        <p:nvSpPr>
          <p:cNvPr id="25" name="Shape 23"/>
          <p:cNvSpPr/>
          <p:nvPr/>
        </p:nvSpPr>
        <p:spPr>
          <a:xfrm>
            <a:off x="8036357" y="1783080"/>
            <a:ext cx="1666189" cy="3566160"/>
          </a:xfrm>
          <a:prstGeom prst="roundRect">
            <a:avLst>
              <a:gd name="adj" fmla="val 493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6" name="Text 24"/>
          <p:cNvSpPr txBox="1"/>
          <p:nvPr/>
        </p:nvSpPr>
        <p:spPr>
          <a:xfrm>
            <a:off x="8219237" y="1965960"/>
            <a:ext cx="1300429" cy="320040"/>
          </a:xfrm>
          <a:prstGeom prst="rect">
            <a:avLst/>
          </a:prstGeom>
          <a:noFill/>
          <a:ln/>
        </p:spPr>
        <p:txBody>
          <a:bodyPr wrap="square" lIns="0" tIns="0" rIns="0" bIns="0" rtlCol="0" anchor="ctr"/>
          <a:lstStyle/>
          <a:p>
            <a:pPr indent="0" marL="0">
              <a:buNone/>
            </a:pPr>
            <a:r>
              <a:rPr lang="en-US" sz="1400" b="1" dirty="0">
                <a:solidFill>
                  <a:srgbClr val="CF4420"/>
                </a:solidFill>
                <a:latin typeface="Consolas" pitchFamily="34" charset="0"/>
                <a:ea typeface="Consolas" pitchFamily="34" charset="-122"/>
                <a:cs typeface="Consolas" pitchFamily="34" charset="-120"/>
              </a:rPr>
              <a:t>WEEK 5</a:t>
            </a:r>
            <a:endParaRPr lang="en-US" sz="1400" dirty="0"/>
          </a:p>
        </p:txBody>
      </p:sp>
      <p:sp>
        <p:nvSpPr>
          <p:cNvPr id="27" name="Text 25"/>
          <p:cNvSpPr txBox="1"/>
          <p:nvPr/>
        </p:nvSpPr>
        <p:spPr>
          <a:xfrm>
            <a:off x="8219237" y="2331720"/>
            <a:ext cx="1300429" cy="822960"/>
          </a:xfrm>
          <a:prstGeom prst="rect">
            <a:avLst/>
          </a:prstGeom>
          <a:noFill/>
          <a:ln/>
        </p:spPr>
        <p:txBody>
          <a:bodyPr wrap="square" lIns="0" tIns="0" rIns="0" bIns="0" rtlCol="0" anchor="t"/>
          <a:lstStyle/>
          <a:p>
            <a:pPr indent="0" marL="0">
              <a:buNone/>
            </a:pPr>
            <a:r>
              <a:rPr lang="en-US" sz="1900" b="1" dirty="0">
                <a:solidFill>
                  <a:srgbClr val="630031"/>
                </a:solidFill>
                <a:latin typeface="Cambria" pitchFamily="34" charset="0"/>
                <a:ea typeface="Cambria" pitchFamily="34" charset="-122"/>
                <a:cs typeface="Cambria" pitchFamily="34" charset="-120"/>
              </a:rPr>
              <a:t>Playtest</a:t>
            </a:r>
            <a:endParaRPr lang="en-US" sz="1900" dirty="0"/>
          </a:p>
        </p:txBody>
      </p:sp>
      <p:sp>
        <p:nvSpPr>
          <p:cNvPr id="28" name="Text 26"/>
          <p:cNvSpPr txBox="1"/>
          <p:nvPr/>
        </p:nvSpPr>
        <p:spPr>
          <a:xfrm>
            <a:off x="8219237"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Play the build of your game. QA each other on /play.</a:t>
            </a:r>
            <a:endParaRPr lang="en-US" sz="1350" dirty="0"/>
          </a:p>
        </p:txBody>
      </p:sp>
      <p:sp>
        <p:nvSpPr>
          <p:cNvPr id="29" name="Shape 27"/>
          <p:cNvSpPr/>
          <p:nvPr/>
        </p:nvSpPr>
        <p:spPr>
          <a:xfrm>
            <a:off x="9885426" y="1783080"/>
            <a:ext cx="1666189" cy="3566160"/>
          </a:xfrm>
          <a:prstGeom prst="roundRect">
            <a:avLst>
              <a:gd name="adj" fmla="val 493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Text 28"/>
          <p:cNvSpPr txBox="1"/>
          <p:nvPr/>
        </p:nvSpPr>
        <p:spPr>
          <a:xfrm>
            <a:off x="10068306" y="1965960"/>
            <a:ext cx="1300429" cy="320040"/>
          </a:xfrm>
          <a:prstGeom prst="rect">
            <a:avLst/>
          </a:prstGeom>
          <a:noFill/>
          <a:ln/>
        </p:spPr>
        <p:txBody>
          <a:bodyPr wrap="square" lIns="0" tIns="0" rIns="0" bIns="0" rtlCol="0" anchor="ctr"/>
          <a:lstStyle/>
          <a:p>
            <a:pPr indent="0" marL="0">
              <a:buNone/>
            </a:pPr>
            <a:r>
              <a:rPr lang="en-US" sz="1400" b="1" dirty="0">
                <a:solidFill>
                  <a:srgbClr val="CF4420"/>
                </a:solidFill>
                <a:latin typeface="Consolas" pitchFamily="34" charset="0"/>
                <a:ea typeface="Consolas" pitchFamily="34" charset="-122"/>
                <a:cs typeface="Consolas" pitchFamily="34" charset="-120"/>
              </a:rPr>
              <a:t>WEEK 6</a:t>
            </a:r>
            <a:endParaRPr lang="en-US" sz="1400" dirty="0"/>
          </a:p>
        </p:txBody>
      </p:sp>
      <p:sp>
        <p:nvSpPr>
          <p:cNvPr id="31" name="Text 29"/>
          <p:cNvSpPr txBox="1"/>
          <p:nvPr/>
        </p:nvSpPr>
        <p:spPr>
          <a:xfrm>
            <a:off x="10068306" y="2331720"/>
            <a:ext cx="1300429" cy="822960"/>
          </a:xfrm>
          <a:prstGeom prst="rect">
            <a:avLst/>
          </a:prstGeom>
          <a:noFill/>
          <a:ln/>
        </p:spPr>
        <p:txBody>
          <a:bodyPr wrap="square" lIns="0" tIns="0" rIns="0" bIns="0" rtlCol="0" anchor="t"/>
          <a:lstStyle/>
          <a:p>
            <a:pPr indent="0" marL="0">
              <a:buNone/>
            </a:pPr>
            <a:r>
              <a:rPr lang="en-US" sz="1900" b="1" dirty="0">
                <a:solidFill>
                  <a:srgbClr val="630031"/>
                </a:solidFill>
                <a:latin typeface="Cambria" pitchFamily="34" charset="0"/>
                <a:ea typeface="Cambria" pitchFamily="34" charset="-122"/>
                <a:cs typeface="Cambria" pitchFamily="34" charset="-120"/>
              </a:rPr>
              <a:t>Launch</a:t>
            </a:r>
            <a:endParaRPr lang="en-US" sz="1900" dirty="0"/>
          </a:p>
        </p:txBody>
      </p:sp>
      <p:sp>
        <p:nvSpPr>
          <p:cNvPr id="32" name="Text 30"/>
          <p:cNvSpPr txBox="1"/>
          <p:nvPr/>
        </p:nvSpPr>
        <p:spPr>
          <a:xfrm>
            <a:off x="10068306" y="3200400"/>
            <a:ext cx="1300429" cy="2011680"/>
          </a:xfrm>
          <a:prstGeom prst="rect">
            <a:avLst/>
          </a:prstGeom>
          <a:noFill/>
          <a:ln/>
        </p:spPr>
        <p:txBody>
          <a:bodyPr wrap="square" lIns="0" tIns="0" rIns="0" bIns="0" rtlCol="0" anchor="t"/>
          <a:lstStyle/>
          <a:p>
            <a:pPr indent="0" marL="0">
              <a:lnSpc>
                <a:spcPts val="1900"/>
              </a:lnSpc>
              <a:buNone/>
            </a:pPr>
            <a:r>
              <a:rPr lang="en-US" sz="1350" dirty="0">
                <a:solidFill>
                  <a:srgbClr val="1C1A19"/>
                </a:solidFill>
                <a:latin typeface="Calibri" pitchFamily="34" charset="0"/>
                <a:ea typeface="Calibri" pitchFamily="34" charset="-122"/>
                <a:cs typeface="Calibri" pitchFamily="34" charset="-120"/>
              </a:rPr>
              <a:t>Polish, a trailer pitch, and launch day.</a:t>
            </a:r>
            <a:endParaRPr lang="en-US" sz="1350" dirty="0"/>
          </a:p>
        </p:txBody>
      </p:sp>
      <p:sp>
        <p:nvSpPr>
          <p:cNvPr id="33" name="Text 31"/>
          <p:cNvSpPr txBox="1"/>
          <p:nvPr/>
        </p:nvSpPr>
        <p:spPr>
          <a:xfrm>
            <a:off x="640080" y="5623560"/>
            <a:ext cx="10911535" cy="640080"/>
          </a:xfrm>
          <a:prstGeom prst="rect">
            <a:avLst/>
          </a:prstGeom>
          <a:noFill/>
          <a:ln/>
        </p:spPr>
        <p:txBody>
          <a:bodyPr wrap="square" lIns="0" tIns="0" rIns="0" bIns="0" rtlCol="0" anchor="t"/>
          <a:lstStyle/>
          <a:p>
            <a:pPr indent="0" marL="0">
              <a:lnSpc>
                <a:spcPts val="2200"/>
              </a:lnSpc>
              <a:buNone/>
            </a:pPr>
            <a:r>
              <a:rPr lang="en-US" sz="1700" b="1" dirty="0">
                <a:solidFill>
                  <a:srgbClr val="630031"/>
                </a:solidFill>
                <a:latin typeface="Calibri" pitchFamily="34" charset="0"/>
                <a:ea typeface="Calibri" pitchFamily="34" charset="-122"/>
                <a:cs typeface="Calibri" pitchFamily="34" charset="-120"/>
              </a:rPr>
              <a:t>Week 3 ends with your design doc. Double Blaze builds a playable version of your game from it, and you playtest it in week 5.</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595360" y="914400"/>
            <a:ext cx="5120640" cy="5120640"/>
          </a:xfrm>
          <a:prstGeom prst="ellipse">
            <a:avLst/>
          </a:prstGeom>
          <a:solidFill>
            <a:srgbClr val="4A0025"/>
          </a:solidFill>
          <a:ln w="12700">
            <a:solidFill>
              <a:srgbClr val="333333"/>
            </a:solidFill>
            <a:prstDash val="solid"/>
          </a:ln>
        </p:spPr>
      </p:sp>
      <p:sp>
        <p:nvSpPr>
          <p:cNvPr id="3" name="Text 1"/>
          <p:cNvSpPr txBox="1"/>
          <p:nvPr/>
        </p:nvSpPr>
        <p:spPr>
          <a:xfrm>
            <a:off x="8595360" y="914400"/>
            <a:ext cx="5120640" cy="5120640"/>
          </a:xfrm>
          <a:prstGeom prst="rect">
            <a:avLst/>
          </a:prstGeom>
          <a:noFill/>
          <a:ln/>
        </p:spPr>
        <p:txBody>
          <a:bodyPr wrap="square" lIns="0" tIns="0" rIns="0" bIns="0" rtlCol="0" anchor="ctr"/>
          <a:lstStyle/>
          <a:p>
            <a:pPr algn="ctr" indent="0" marL="0">
              <a:buNone/>
            </a:pPr>
            <a:r>
              <a:rPr lang="en-US" sz="17000" dirty="0">
                <a:solidFill>
                  <a:srgbClr val="CF4420"/>
                </a:solidFill>
                <a:latin typeface="Calibri" pitchFamily="34" charset="0"/>
                <a:ea typeface="Calibri" pitchFamily="34" charset="-122"/>
                <a:cs typeface="Calibri" pitchFamily="34" charset="-120"/>
              </a:rPr>
              <a:t>♥</a:t>
            </a:r>
            <a:endParaRPr lang="en-US" sz="17000" dirty="0"/>
          </a:p>
        </p:txBody>
      </p:sp>
      <p:sp>
        <p:nvSpPr>
          <p:cNvPr id="4" name="Text 2"/>
          <p:cNvSpPr txBox="1"/>
          <p:nvPr/>
        </p:nvSpPr>
        <p:spPr>
          <a:xfrm>
            <a:off x="640080" y="1554480"/>
            <a:ext cx="731520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THE BIG IDEA</a:t>
            </a:r>
            <a:endParaRPr lang="en-US" sz="1300" dirty="0"/>
          </a:p>
        </p:txBody>
      </p:sp>
      <p:sp>
        <p:nvSpPr>
          <p:cNvPr id="5" name="Text 3"/>
          <p:cNvSpPr txBox="1"/>
          <p:nvPr/>
        </p:nvSpPr>
        <p:spPr>
          <a:xfrm>
            <a:off x="640080" y="1920240"/>
            <a:ext cx="7863840" cy="2011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 game's purpose is the feeling it gives the player.</a:t>
            </a:r>
            <a:endParaRPr lang="en-US" sz="4400" dirty="0"/>
          </a:p>
        </p:txBody>
      </p:sp>
      <p:sp>
        <p:nvSpPr>
          <p:cNvPr id="6" name="Text 4"/>
          <p:cNvSpPr txBox="1"/>
          <p:nvPr/>
        </p:nvSpPr>
        <p:spPr>
          <a:xfrm>
            <a:off x="640080" y="4160520"/>
            <a:ext cx="7680960" cy="1280160"/>
          </a:xfrm>
          <a:prstGeom prst="rect">
            <a:avLst/>
          </a:prstGeom>
          <a:noFill/>
          <a:ln/>
        </p:spPr>
        <p:txBody>
          <a:bodyPr wrap="square" lIns="0" tIns="0" rIns="0" bIns="0" rtlCol="0" anchor="t"/>
          <a:lstStyle/>
          <a:p>
            <a:pPr indent="0" marL="0">
              <a:lnSpc>
                <a:spcPts val="3000"/>
              </a:lnSpc>
              <a:buNone/>
            </a:pPr>
            <a:r>
              <a:rPr lang="en-US" sz="2100" dirty="0">
                <a:solidFill>
                  <a:srgbClr val="F3E3EA"/>
                </a:solidFill>
                <a:latin typeface="Calibri" pitchFamily="34" charset="0"/>
                <a:ea typeface="Calibri" pitchFamily="34" charset="-122"/>
                <a:cs typeface="Calibri" pitchFamily="34" charset="-120"/>
              </a:rPr>
              <a:t>Brave. Clever. Fast. Cozy. Spooky. Proud.</a:t>
            </a:r>
            <a:endParaRPr lang="en-US" sz="2100" dirty="0"/>
          </a:p>
          <a:p>
            <a:pPr indent="0" marL="0">
              <a:lnSpc>
                <a:spcPts val="3000"/>
              </a:lnSpc>
              <a:buNone/>
            </a:pPr>
            <a:r>
              <a:rPr lang="en-US" sz="2100" dirty="0">
                <a:solidFill>
                  <a:srgbClr val="F3E3EA"/>
                </a:solidFill>
                <a:latin typeface="Calibri" pitchFamily="34" charset="0"/>
                <a:ea typeface="Calibri" pitchFamily="34" charset="-122"/>
                <a:cs typeface="Calibri" pitchFamily="34" charset="-120"/>
              </a:rPr>
              <a:t>Every rule, level and sound is there to make the player feel that.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1 · YOUR TURN (15 MINUTES)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Play and dissect</a:t>
            </a:r>
            <a:endParaRPr lang="en-US" sz="3400" dirty="0"/>
          </a:p>
        </p:txBody>
      </p:sp>
      <p:sp>
        <p:nvSpPr>
          <p:cNvPr id="8" name="Text 6"/>
          <p:cNvSpPr txBox="1"/>
          <p:nvPr/>
        </p:nvSpPr>
        <p:spPr>
          <a:xfrm>
            <a:off x="640080" y="1508760"/>
            <a:ext cx="10911535" cy="822960"/>
          </a:xfrm>
          <a:prstGeom prst="rect">
            <a:avLst/>
          </a:prstGeom>
          <a:noFill/>
          <a:ln/>
        </p:spPr>
        <p:txBody>
          <a:bodyPr wrap="square" lIns="0" tIns="0" rIns="0" bIns="0" rtlCol="0" anchor="t"/>
          <a:lstStyle/>
          <a:p>
            <a:pPr indent="0" marL="0">
              <a:lnSpc>
                <a:spcPts val="2200"/>
              </a:lnSpc>
              <a:buNone/>
            </a:pPr>
            <a:r>
              <a:rPr lang="en-US" sz="1900" dirty="0">
                <a:solidFill>
                  <a:srgbClr val="1C1A19"/>
                </a:solidFill>
                <a:latin typeface="Calibri" pitchFamily="34" charset="0"/>
                <a:ea typeface="Calibri" pitchFamily="34" charset="-122"/>
                <a:cs typeface="Calibri" pitchFamily="34" charset="-120"/>
              </a:rPr>
              <a:t>Pick a game you know well. Any game: on a phone, a console, a board game, or a playground game. With a partner, answer:</a:t>
            </a:r>
            <a:endParaRPr lang="en-US" sz="1900" dirty="0"/>
          </a:p>
        </p:txBody>
      </p:sp>
      <p:sp>
        <p:nvSpPr>
          <p:cNvPr id="9" name="Shape 7"/>
          <p:cNvSpPr/>
          <p:nvPr/>
        </p:nvSpPr>
        <p:spPr>
          <a:xfrm>
            <a:off x="640080" y="2624328"/>
            <a:ext cx="548640" cy="548640"/>
          </a:xfrm>
          <a:prstGeom prst="ellipse">
            <a:avLst/>
          </a:prstGeom>
          <a:solidFill>
            <a:srgbClr val="CF4420"/>
          </a:solidFill>
          <a:ln w="12700">
            <a:solidFill>
              <a:srgbClr val="333333"/>
            </a:solidFill>
            <a:prstDash val="solid"/>
          </a:ln>
        </p:spPr>
      </p:sp>
      <p:sp>
        <p:nvSpPr>
          <p:cNvPr id="10" name="Text 8"/>
          <p:cNvSpPr txBox="1"/>
          <p:nvPr/>
        </p:nvSpPr>
        <p:spPr>
          <a:xfrm>
            <a:off x="640080" y="26243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9"/>
          <p:cNvSpPr txBox="1"/>
          <p:nvPr/>
        </p:nvSpPr>
        <p:spPr>
          <a:xfrm>
            <a:off x="1417320" y="2514600"/>
            <a:ext cx="6217920" cy="77724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What do you DO over and over?</a:t>
            </a:r>
            <a:endParaRPr lang="en-US" sz="2400" dirty="0"/>
          </a:p>
        </p:txBody>
      </p:sp>
      <p:sp>
        <p:nvSpPr>
          <p:cNvPr id="12" name="Text 10"/>
          <p:cNvSpPr txBox="1"/>
          <p:nvPr/>
        </p:nvSpPr>
        <p:spPr>
          <a:xfrm>
            <a:off x="7726680" y="2514600"/>
            <a:ext cx="3824935" cy="77724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Use verbs: run, jump, aim, build, collect, trade.</a:t>
            </a:r>
            <a:endParaRPr lang="en-US" sz="1600" dirty="0"/>
          </a:p>
        </p:txBody>
      </p:sp>
      <p:sp>
        <p:nvSpPr>
          <p:cNvPr id="13" name="Shape 11"/>
          <p:cNvSpPr/>
          <p:nvPr/>
        </p:nvSpPr>
        <p:spPr>
          <a:xfrm>
            <a:off x="640080" y="3675888"/>
            <a:ext cx="548640" cy="548640"/>
          </a:xfrm>
          <a:prstGeom prst="ellipse">
            <a:avLst/>
          </a:prstGeom>
          <a:solidFill>
            <a:srgbClr val="CF4420"/>
          </a:solidFill>
          <a:ln w="12700">
            <a:solidFill>
              <a:srgbClr val="333333"/>
            </a:solidFill>
            <a:prstDash val="solid"/>
          </a:ln>
        </p:spPr>
      </p:sp>
      <p:sp>
        <p:nvSpPr>
          <p:cNvPr id="14" name="Text 12"/>
          <p:cNvSpPr txBox="1"/>
          <p:nvPr/>
        </p:nvSpPr>
        <p:spPr>
          <a:xfrm>
            <a:off x="640080" y="367588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txBox="1"/>
          <p:nvPr/>
        </p:nvSpPr>
        <p:spPr>
          <a:xfrm>
            <a:off x="1417320" y="3566160"/>
            <a:ext cx="6217920" cy="77724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How do you win? How do you lose?</a:t>
            </a:r>
            <a:endParaRPr lang="en-US" sz="2400" dirty="0"/>
          </a:p>
        </p:txBody>
      </p:sp>
      <p:sp>
        <p:nvSpPr>
          <p:cNvPr id="16" name="Text 14"/>
          <p:cNvSpPr txBox="1"/>
          <p:nvPr/>
        </p:nvSpPr>
        <p:spPr>
          <a:xfrm>
            <a:off x="7726680" y="3566160"/>
            <a:ext cx="3824935" cy="77724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If you cannot lose, is it still a game?</a:t>
            </a:r>
            <a:endParaRPr lang="en-US" sz="1600" dirty="0"/>
          </a:p>
        </p:txBody>
      </p:sp>
      <p:sp>
        <p:nvSpPr>
          <p:cNvPr id="17" name="Shape 15"/>
          <p:cNvSpPr/>
          <p:nvPr/>
        </p:nvSpPr>
        <p:spPr>
          <a:xfrm>
            <a:off x="640080" y="4727448"/>
            <a:ext cx="548640" cy="548640"/>
          </a:xfrm>
          <a:prstGeom prst="ellipse">
            <a:avLst/>
          </a:prstGeom>
          <a:solidFill>
            <a:srgbClr val="CF4420"/>
          </a:solidFill>
          <a:ln w="12700">
            <a:solidFill>
              <a:srgbClr val="333333"/>
            </a:solidFill>
            <a:prstDash val="solid"/>
          </a:ln>
        </p:spPr>
      </p:sp>
      <p:sp>
        <p:nvSpPr>
          <p:cNvPr id="18" name="Text 16"/>
          <p:cNvSpPr txBox="1"/>
          <p:nvPr/>
        </p:nvSpPr>
        <p:spPr>
          <a:xfrm>
            <a:off x="640080" y="47274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1417320" y="4617720"/>
            <a:ext cx="6217920" cy="777240"/>
          </a:xfrm>
          <a:prstGeom prst="rect">
            <a:avLst/>
          </a:prstGeom>
          <a:noFill/>
          <a:ln/>
        </p:spPr>
        <p:txBody>
          <a:bodyPr wrap="square" lIns="0" tIns="0" rIns="0" bIns="0" rtlCol="0" anchor="ctr"/>
          <a:lstStyle/>
          <a:p>
            <a:pPr indent="0" marL="0">
              <a:buNone/>
            </a:pPr>
            <a:r>
              <a:rPr lang="en-US" sz="2400" b="1" dirty="0">
                <a:solidFill>
                  <a:srgbClr val="630031"/>
                </a:solidFill>
                <a:latin typeface="Cambria" pitchFamily="34" charset="0"/>
                <a:ea typeface="Cambria" pitchFamily="34" charset="-122"/>
                <a:cs typeface="Cambria" pitchFamily="34" charset="-120"/>
              </a:rPr>
              <a:t>How does it make you feel?</a:t>
            </a:r>
            <a:endParaRPr lang="en-US" sz="2400" dirty="0"/>
          </a:p>
        </p:txBody>
      </p:sp>
      <p:sp>
        <p:nvSpPr>
          <p:cNvPr id="20" name="Text 18"/>
          <p:cNvSpPr txBox="1"/>
          <p:nvPr/>
        </p:nvSpPr>
        <p:spPr>
          <a:xfrm>
            <a:off x="7726680" y="4617720"/>
            <a:ext cx="3824935" cy="777240"/>
          </a:xfrm>
          <a:prstGeom prst="rect">
            <a:avLst/>
          </a:prstGeom>
          <a:noFill/>
          <a:ln/>
        </p:spPr>
        <p:txBody>
          <a:bodyPr wrap="square" lIns="0" tIns="0" rIns="0" bIns="0" rtlCol="0" anchor="ctr"/>
          <a:lstStyle/>
          <a:p>
            <a:pPr indent="0" marL="0">
              <a:buNone/>
            </a:pPr>
            <a:r>
              <a:rPr lang="en-US" sz="1600" i="1" dirty="0">
                <a:solidFill>
                  <a:srgbClr val="75787B"/>
                </a:solidFill>
                <a:latin typeface="Calibri" pitchFamily="34" charset="0"/>
                <a:ea typeface="Calibri" pitchFamily="34" charset="-122"/>
                <a:cs typeface="Calibri" pitchFamily="34" charset="-120"/>
              </a:rPr>
              <a:t>When you are winning, and when you almost lose.</a:t>
            </a:r>
            <a:endParaRPr lang="en-US" sz="1600" dirty="0"/>
          </a:p>
        </p:txBody>
      </p:sp>
      <p:sp>
        <p:nvSpPr>
          <p:cNvPr id="21" name="Text 19"/>
          <p:cNvSpPr txBox="1"/>
          <p:nvPr/>
        </p:nvSpPr>
        <p:spPr>
          <a:xfrm>
            <a:off x="640080" y="5760720"/>
            <a:ext cx="10911535" cy="457200"/>
          </a:xfrm>
          <a:prstGeom prst="rect">
            <a:avLst/>
          </a:prstGeom>
          <a:noFill/>
          <a:ln/>
        </p:spPr>
        <p:txBody>
          <a:bodyPr wrap="square" lIns="0" tIns="0" rIns="0" bIns="0" rtlCol="0" anchor="t"/>
          <a:lstStyle/>
          <a:p>
            <a:pPr indent="0" marL="0">
              <a:lnSpc>
                <a:spcPts val="2200"/>
              </a:lnSpc>
              <a:buNone/>
            </a:pPr>
            <a:r>
              <a:rPr lang="en-US" sz="1700" b="1" dirty="0">
                <a:solidFill>
                  <a:srgbClr val="CF4420"/>
                </a:solidFill>
                <a:latin typeface="Calibri" pitchFamily="34" charset="0"/>
                <a:ea typeface="Calibri" pitchFamily="34" charset="-122"/>
                <a:cs typeface="Calibri" pitchFamily="34" charset="-120"/>
              </a:rPr>
              <a:t>Share one answer out loud. Tomorrow, question 1 gets a name: the core loop.</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1097280" y="6035040"/>
            <a:ext cx="128016" cy="128016"/>
          </a:xfrm>
          <a:prstGeom prst="rect">
            <a:avLst/>
          </a:prstGeom>
          <a:solidFill>
            <a:srgbClr val="FFB13B"/>
          </a:solidFill>
          <a:ln w="12700">
            <a:solidFill>
              <a:srgbClr val="333333"/>
            </a:solidFill>
            <a:prstDash val="solid"/>
          </a:ln>
        </p:spPr>
      </p:sp>
      <p:sp>
        <p:nvSpPr>
          <p:cNvPr id="3" name="Shape 1"/>
          <p:cNvSpPr/>
          <p:nvPr/>
        </p:nvSpPr>
        <p:spPr>
          <a:xfrm>
            <a:off x="3108960" y="457200"/>
            <a:ext cx="128016" cy="128016"/>
          </a:xfrm>
          <a:prstGeom prst="rect">
            <a:avLst/>
          </a:prstGeom>
          <a:solidFill>
            <a:srgbClr val="3DDC97"/>
          </a:solidFill>
          <a:ln w="12700">
            <a:solidFill>
              <a:srgbClr val="333333"/>
            </a:solidFill>
            <a:prstDash val="solid"/>
          </a:ln>
        </p:spPr>
      </p:sp>
      <p:sp>
        <p:nvSpPr>
          <p:cNvPr id="4" name="Shape 2"/>
          <p:cNvSpPr/>
          <p:nvPr/>
        </p:nvSpPr>
        <p:spPr>
          <a:xfrm>
            <a:off x="5577840" y="6309360"/>
            <a:ext cx="128016" cy="128016"/>
          </a:xfrm>
          <a:prstGeom prst="rect">
            <a:avLst/>
          </a:prstGeom>
          <a:solidFill>
            <a:srgbClr val="5CC8FF"/>
          </a:solidFill>
          <a:ln w="12700">
            <a:solidFill>
              <a:srgbClr val="333333"/>
            </a:solidFill>
            <a:prstDash val="solid"/>
          </a:ln>
        </p:spPr>
      </p:sp>
      <p:sp>
        <p:nvSpPr>
          <p:cNvPr id="5" name="Shape 3"/>
          <p:cNvSpPr/>
          <p:nvPr/>
        </p:nvSpPr>
        <p:spPr>
          <a:xfrm>
            <a:off x="7863840" y="640080"/>
            <a:ext cx="128016" cy="128016"/>
          </a:xfrm>
          <a:prstGeom prst="rect">
            <a:avLst/>
          </a:prstGeom>
          <a:solidFill>
            <a:srgbClr val="CF4420"/>
          </a:solidFill>
          <a:ln w="12700">
            <a:solidFill>
              <a:srgbClr val="333333"/>
            </a:solidFill>
            <a:prstDash val="solid"/>
          </a:ln>
        </p:spPr>
      </p:sp>
      <p:sp>
        <p:nvSpPr>
          <p:cNvPr id="6" name="Shape 4"/>
          <p:cNvSpPr/>
          <p:nvPr/>
        </p:nvSpPr>
        <p:spPr>
          <a:xfrm>
            <a:off x="11338560" y="5669280"/>
            <a:ext cx="128016" cy="128016"/>
          </a:xfrm>
          <a:prstGeom prst="rect">
            <a:avLst/>
          </a:prstGeom>
          <a:solidFill>
            <a:srgbClr val="3DDC97"/>
          </a:solidFill>
          <a:ln w="12700">
            <a:solidFill>
              <a:srgbClr val="333333"/>
            </a:solidFill>
            <a:prstDash val="solid"/>
          </a:ln>
        </p:spPr>
      </p:sp>
      <p:sp>
        <p:nvSpPr>
          <p:cNvPr id="7" name="Shape 5"/>
          <p:cNvSpPr/>
          <p:nvPr/>
        </p:nvSpPr>
        <p:spPr>
          <a:xfrm>
            <a:off x="11064240" y="1188720"/>
            <a:ext cx="128016" cy="128016"/>
          </a:xfrm>
          <a:prstGeom prst="rect">
            <a:avLst/>
          </a:prstGeom>
          <a:solidFill>
            <a:srgbClr val="FFB13B"/>
          </a:solidFill>
          <a:ln w="12700">
            <a:solidFill>
              <a:srgbClr val="333333"/>
            </a:solidFill>
            <a:prstDash val="solid"/>
          </a:ln>
        </p:spPr>
      </p:sp>
      <p:sp>
        <p:nvSpPr>
          <p:cNvPr id="8" name="Shape 6"/>
          <p:cNvSpPr/>
          <p:nvPr/>
        </p:nvSpPr>
        <p:spPr>
          <a:xfrm>
            <a:off x="8412480" y="1280160"/>
            <a:ext cx="3108960" cy="4297680"/>
          </a:xfrm>
          <a:prstGeom prst="roundRect">
            <a:avLst>
              <a:gd name="adj" fmla="val 5882"/>
            </a:avLst>
          </a:prstGeom>
          <a:solidFill>
            <a:srgbClr val="2A1D47"/>
          </a:solidFill>
          <a:ln w="38100">
            <a:solidFill>
              <a:srgbClr val="FFB13B"/>
            </a:solidFill>
            <a:prstDash val="solid"/>
          </a:ln>
        </p:spPr>
      </p:sp>
      <p:sp>
        <p:nvSpPr>
          <p:cNvPr id="9" name="Text 7"/>
          <p:cNvSpPr txBox="1"/>
          <p:nvPr/>
        </p:nvSpPr>
        <p:spPr>
          <a:xfrm>
            <a:off x="8412480" y="1645920"/>
            <a:ext cx="3108960" cy="548640"/>
          </a:xfrm>
          <a:prstGeom prst="rect">
            <a:avLst/>
          </a:prstGeom>
          <a:noFill/>
          <a:ln/>
        </p:spPr>
        <p:txBody>
          <a:bodyPr wrap="square" lIns="0" tIns="0" rIns="0" bIns="0" rtlCol="0" anchor="ctr"/>
          <a:lstStyle/>
          <a:p>
            <a:pPr algn="ctr" indent="0" marL="0">
              <a:buNone/>
            </a:pPr>
            <a:r>
              <a:rPr lang="en-US" sz="3000" b="1" dirty="0">
                <a:solidFill>
                  <a:srgbClr val="FFB13B"/>
                </a:solidFill>
                <a:latin typeface="Consolas" pitchFamily="34" charset="0"/>
                <a:ea typeface="Consolas" pitchFamily="34" charset="-122"/>
                <a:cs typeface="Consolas" pitchFamily="34" charset="-120"/>
              </a:rPr>
              <a:t>DAY</a:t>
            </a:r>
            <a:endParaRPr lang="en-US" sz="3000" dirty="0"/>
          </a:p>
        </p:txBody>
      </p:sp>
      <p:sp>
        <p:nvSpPr>
          <p:cNvPr id="10" name="Text 8"/>
          <p:cNvSpPr txBox="1"/>
          <p:nvPr/>
        </p:nvSpPr>
        <p:spPr>
          <a:xfrm>
            <a:off x="8412480" y="2194560"/>
            <a:ext cx="3108960" cy="2377440"/>
          </a:xfrm>
          <a:prstGeom prst="rect">
            <a:avLst/>
          </a:prstGeom>
          <a:noFill/>
          <a:ln/>
        </p:spPr>
        <p:txBody>
          <a:bodyPr wrap="square" lIns="0" tIns="0" rIns="0" bIns="0" rtlCol="0" anchor="ctr"/>
          <a:lstStyle/>
          <a:p>
            <a:pPr algn="ctr" indent="0" marL="0">
              <a:buNone/>
            </a:pPr>
            <a:r>
              <a:rPr lang="en-US" sz="15000" b="1" dirty="0">
                <a:solidFill>
                  <a:srgbClr val="FFFFFF"/>
                </a:solidFill>
                <a:latin typeface="Consolas" pitchFamily="34" charset="0"/>
                <a:ea typeface="Consolas" pitchFamily="34" charset="-122"/>
                <a:cs typeface="Consolas" pitchFamily="34" charset="-120"/>
              </a:rPr>
              <a:t>2</a:t>
            </a:r>
            <a:endParaRPr lang="en-US" sz="15000" dirty="0"/>
          </a:p>
        </p:txBody>
      </p:sp>
      <p:sp>
        <p:nvSpPr>
          <p:cNvPr id="11" name="Text 9"/>
          <p:cNvSpPr txBox="1"/>
          <p:nvPr/>
        </p:nvSpPr>
        <p:spPr>
          <a:xfrm>
            <a:off x="8412480" y="4800600"/>
            <a:ext cx="3108960" cy="457200"/>
          </a:xfrm>
          <a:prstGeom prst="rect">
            <a:avLst/>
          </a:prstGeom>
          <a:noFill/>
          <a:ln/>
        </p:spPr>
        <p:txBody>
          <a:bodyPr wrap="square" lIns="0" tIns="0" rIns="0" bIns="0"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PRESS START</a:t>
            </a:r>
            <a:endParaRPr lang="en-US" sz="1600" dirty="0"/>
          </a:p>
        </p:txBody>
      </p:sp>
      <p:sp>
        <p:nvSpPr>
          <p:cNvPr id="12" name="Text 10"/>
          <p:cNvSpPr txBox="1"/>
          <p:nvPr/>
        </p:nvSpPr>
        <p:spPr>
          <a:xfrm>
            <a:off x="640080" y="2011680"/>
            <a:ext cx="749808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WEEK 1  ·  DAY 2 OF 5</a:t>
            </a:r>
            <a:endParaRPr lang="en-US" sz="1300" dirty="0"/>
          </a:p>
        </p:txBody>
      </p:sp>
      <p:sp>
        <p:nvSpPr>
          <p:cNvPr id="13" name="Text 11"/>
          <p:cNvSpPr txBox="1"/>
          <p:nvPr/>
        </p:nvSpPr>
        <p:spPr>
          <a:xfrm>
            <a:off x="640080" y="2377440"/>
            <a:ext cx="749808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core loop</a:t>
            </a:r>
            <a:endParaRPr lang="en-US" sz="4600" dirty="0"/>
          </a:p>
        </p:txBody>
      </p:sp>
      <p:sp>
        <p:nvSpPr>
          <p:cNvPr id="14" name="Text 12"/>
          <p:cNvSpPr txBox="1"/>
          <p:nvPr/>
        </p:nvSpPr>
        <p:spPr>
          <a:xfrm>
            <a:off x="640080" y="3931920"/>
            <a:ext cx="7498080" cy="1280160"/>
          </a:xfrm>
          <a:prstGeom prst="rect">
            <a:avLst/>
          </a:prstGeom>
          <a:noFill/>
          <a:ln/>
        </p:spPr>
        <p:txBody>
          <a:bodyPr wrap="square" lIns="0" tIns="0" rIns="0" bIns="0" rtlCol="0" anchor="t"/>
          <a:lstStyle/>
          <a:p>
            <a:pPr indent="0" marL="0">
              <a:lnSpc>
                <a:spcPts val="2900"/>
              </a:lnSpc>
              <a:buNone/>
            </a:pPr>
            <a:r>
              <a:rPr lang="en-US" sz="2100" dirty="0">
                <a:solidFill>
                  <a:srgbClr val="DCD3F0"/>
                </a:solidFill>
                <a:latin typeface="Calibri" pitchFamily="34" charset="0"/>
                <a:ea typeface="Calibri" pitchFamily="34" charset="-122"/>
                <a:cs typeface="Calibri" pitchFamily="34" charset="-120"/>
              </a:rPr>
              <a:t>The three or four things a player does over and over. Get the loop right and the game is fun. Get it wrong and nothing else saves it.</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2 · THE CORE LOOP</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 core loop: verbs that repeat</a:t>
            </a:r>
            <a:endParaRPr lang="en-US" sz="3400" dirty="0"/>
          </a:p>
        </p:txBody>
      </p:sp>
      <p:sp>
        <p:nvSpPr>
          <p:cNvPr id="8" name="Shape 6"/>
          <p:cNvSpPr/>
          <p:nvPr/>
        </p:nvSpPr>
        <p:spPr>
          <a:xfrm>
            <a:off x="1691640" y="2331720"/>
            <a:ext cx="3200400" cy="3200400"/>
          </a:xfrm>
          <a:prstGeom prst="ellipse">
            <a:avLst/>
          </a:prstGeom>
          <a:ln w="38100">
            <a:solidFill>
              <a:srgbClr val="D9D2C7"/>
            </a:solidFill>
            <a:prstDash val="dash"/>
          </a:ln>
        </p:spPr>
      </p:sp>
      <p:sp>
        <p:nvSpPr>
          <p:cNvPr id="9" name="Shape 7"/>
          <p:cNvSpPr/>
          <p:nvPr/>
        </p:nvSpPr>
        <p:spPr>
          <a:xfrm>
            <a:off x="2583180" y="2029968"/>
            <a:ext cx="1417320" cy="603504"/>
          </a:xfrm>
          <a:prstGeom prst="roundRect">
            <a:avLst>
              <a:gd name="adj" fmla="val 50000"/>
            </a:avLst>
          </a:prstGeom>
          <a:solidFill>
            <a:srgbClr val="CF4420"/>
          </a:solidFill>
          <a:ln w="12700">
            <a:solidFill>
              <a:srgbClr val="333333"/>
            </a:solidFill>
            <a:prstDash val="solid"/>
          </a:ln>
        </p:spPr>
      </p:sp>
      <p:sp>
        <p:nvSpPr>
          <p:cNvPr id="10" name="Text 8"/>
          <p:cNvSpPr txBox="1"/>
          <p:nvPr/>
        </p:nvSpPr>
        <p:spPr>
          <a:xfrm>
            <a:off x="2583180" y="2029968"/>
            <a:ext cx="141732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Run</a:t>
            </a:r>
            <a:endParaRPr lang="en-US" sz="1500" dirty="0"/>
          </a:p>
        </p:txBody>
      </p:sp>
      <p:sp>
        <p:nvSpPr>
          <p:cNvPr id="11" name="Shape 9"/>
          <p:cNvSpPr/>
          <p:nvPr/>
        </p:nvSpPr>
        <p:spPr>
          <a:xfrm>
            <a:off x="4183380" y="3630168"/>
            <a:ext cx="1417320" cy="603504"/>
          </a:xfrm>
          <a:prstGeom prst="roundRect">
            <a:avLst>
              <a:gd name="adj" fmla="val 50000"/>
            </a:avLst>
          </a:prstGeom>
          <a:solidFill>
            <a:srgbClr val="CF4420"/>
          </a:solidFill>
          <a:ln w="12700">
            <a:solidFill>
              <a:srgbClr val="333333"/>
            </a:solidFill>
            <a:prstDash val="solid"/>
          </a:ln>
        </p:spPr>
      </p:sp>
      <p:sp>
        <p:nvSpPr>
          <p:cNvPr id="12" name="Text 10"/>
          <p:cNvSpPr txBox="1"/>
          <p:nvPr/>
        </p:nvSpPr>
        <p:spPr>
          <a:xfrm>
            <a:off x="4183380" y="3630168"/>
            <a:ext cx="141732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Jump</a:t>
            </a:r>
            <a:endParaRPr lang="en-US" sz="1500" dirty="0"/>
          </a:p>
        </p:txBody>
      </p:sp>
      <p:sp>
        <p:nvSpPr>
          <p:cNvPr id="13" name="Shape 11"/>
          <p:cNvSpPr/>
          <p:nvPr/>
        </p:nvSpPr>
        <p:spPr>
          <a:xfrm>
            <a:off x="2583180" y="5230368"/>
            <a:ext cx="1417320" cy="603504"/>
          </a:xfrm>
          <a:prstGeom prst="roundRect">
            <a:avLst>
              <a:gd name="adj" fmla="val 50000"/>
            </a:avLst>
          </a:prstGeom>
          <a:solidFill>
            <a:srgbClr val="CF4420"/>
          </a:solidFill>
          <a:ln w="12700">
            <a:solidFill>
              <a:srgbClr val="333333"/>
            </a:solidFill>
            <a:prstDash val="solid"/>
          </a:ln>
        </p:spPr>
      </p:sp>
      <p:sp>
        <p:nvSpPr>
          <p:cNvPr id="14" name="Text 12"/>
          <p:cNvSpPr txBox="1"/>
          <p:nvPr/>
        </p:nvSpPr>
        <p:spPr>
          <a:xfrm>
            <a:off x="2583180" y="5230368"/>
            <a:ext cx="141732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15" name="Shape 13"/>
          <p:cNvSpPr/>
          <p:nvPr/>
        </p:nvSpPr>
        <p:spPr>
          <a:xfrm>
            <a:off x="982980" y="3630168"/>
            <a:ext cx="1417320" cy="603504"/>
          </a:xfrm>
          <a:prstGeom prst="roundRect">
            <a:avLst>
              <a:gd name="adj" fmla="val 50000"/>
            </a:avLst>
          </a:prstGeom>
          <a:solidFill>
            <a:srgbClr val="CF4420"/>
          </a:solidFill>
          <a:ln w="12700">
            <a:solidFill>
              <a:srgbClr val="333333"/>
            </a:solidFill>
            <a:prstDash val="solid"/>
          </a:ln>
        </p:spPr>
      </p:sp>
      <p:sp>
        <p:nvSpPr>
          <p:cNvPr id="16" name="Text 14"/>
          <p:cNvSpPr txBox="1"/>
          <p:nvPr/>
        </p:nvSpPr>
        <p:spPr>
          <a:xfrm>
            <a:off x="982980" y="3630168"/>
            <a:ext cx="141732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Reach the flag</a:t>
            </a:r>
            <a:endParaRPr lang="en-US" sz="1500" dirty="0"/>
          </a:p>
        </p:txBody>
      </p:sp>
      <p:sp>
        <p:nvSpPr>
          <p:cNvPr id="17" name="Text 15"/>
          <p:cNvSpPr txBox="1"/>
          <p:nvPr/>
        </p:nvSpPr>
        <p:spPr>
          <a:xfrm>
            <a:off x="2834640" y="3474720"/>
            <a:ext cx="914400" cy="914400"/>
          </a:xfrm>
          <a:prstGeom prst="rect">
            <a:avLst/>
          </a:prstGeom>
          <a:noFill/>
          <a:ln/>
        </p:spPr>
        <p:txBody>
          <a:bodyPr wrap="square" lIns="0" tIns="0" rIns="0" bIns="0" rtlCol="0" anchor="ctr"/>
          <a:lstStyle/>
          <a:p>
            <a:pPr algn="ctr" indent="0" marL="0">
              <a:buNone/>
            </a:pPr>
            <a:r>
              <a:rPr lang="en-US" sz="4000" b="1" dirty="0">
                <a:solidFill>
                  <a:srgbClr val="C9C1B4"/>
                </a:solidFill>
                <a:latin typeface="Calibri" pitchFamily="34" charset="0"/>
                <a:ea typeface="Calibri" pitchFamily="34" charset="-122"/>
                <a:cs typeface="Calibri" pitchFamily="34" charset="-120"/>
              </a:rPr>
              <a:t>↻</a:t>
            </a:r>
            <a:endParaRPr lang="en-US" sz="4000" dirty="0"/>
          </a:p>
        </p:txBody>
      </p:sp>
      <p:sp>
        <p:nvSpPr>
          <p:cNvPr id="18" name="Text 16"/>
          <p:cNvSpPr txBox="1"/>
          <p:nvPr/>
        </p:nvSpPr>
        <p:spPr>
          <a:xfrm>
            <a:off x="640080" y="1554480"/>
            <a:ext cx="5303520" cy="310896"/>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A PLATFORMER</a:t>
            </a:r>
            <a:endParaRPr lang="en-US" sz="1300" dirty="0"/>
          </a:p>
        </p:txBody>
      </p:sp>
      <p:sp>
        <p:nvSpPr>
          <p:cNvPr id="19" name="Shape 17"/>
          <p:cNvSpPr/>
          <p:nvPr/>
        </p:nvSpPr>
        <p:spPr>
          <a:xfrm>
            <a:off x="6400800" y="1737360"/>
            <a:ext cx="5150815" cy="4206240"/>
          </a:xfrm>
          <a:prstGeom prst="roundRect">
            <a:avLst>
              <a:gd name="adj" fmla="val 195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Text 18"/>
          <p:cNvSpPr txBox="1"/>
          <p:nvPr/>
        </p:nvSpPr>
        <p:spPr>
          <a:xfrm>
            <a:off x="6720840" y="1965960"/>
            <a:ext cx="4510735" cy="3840480"/>
          </a:xfrm>
          <a:prstGeom prst="rect">
            <a:avLst/>
          </a:prstGeom>
          <a:noFill/>
          <a:ln/>
        </p:spPr>
        <p:txBody>
          <a:bodyPr wrap="square" lIns="0" tIns="0" rIns="0" bIns="0" rtlCol="0" anchor="t"/>
          <a:lstStyle/>
          <a:p>
            <a:pPr indent="0" marL="0">
              <a:lnSpc>
                <a:spcPts val="2800"/>
              </a:lnSpc>
              <a:spcAft>
                <a:spcPts val="1400"/>
              </a:spcAft>
              <a:buNone/>
            </a:pPr>
            <a:r>
              <a:rPr lang="en-US" sz="1900" b="1" dirty="0">
                <a:solidFill>
                  <a:srgbClr val="630031"/>
                </a:solidFill>
                <a:latin typeface="Calibri" pitchFamily="34" charset="0"/>
                <a:ea typeface="Calibri" pitchFamily="34" charset="-122"/>
                <a:cs typeface="Calibri" pitchFamily="34" charset="-120"/>
              </a:rPr>
              <a:t>A core loop is the short list of things a player does again and again.</a:t>
            </a:r>
            <a:endParaRPr lang="en-US" sz="1800" dirty="0"/>
          </a:p>
          <a:p>
            <a:pPr marL="342900" indent="-342900">
              <a:lnSpc>
                <a:spcPts val="2800"/>
              </a:lnSpc>
              <a:buSzPct val="100000"/>
              <a:buChar char="•"/>
            </a:pPr>
            <a:r>
              <a:rPr lang="en-US" sz="1800" dirty="0">
                <a:solidFill>
                  <a:srgbClr val="1C1A19"/>
                </a:solidFill>
                <a:latin typeface="Calibri" pitchFamily="34" charset="0"/>
                <a:ea typeface="Calibri" pitchFamily="34" charset="-122"/>
                <a:cs typeface="Calibri" pitchFamily="34" charset="-120"/>
              </a:rPr>
              <a:t>3 or 4 verbs. Doing words.</a:t>
            </a:r>
            <a:endParaRPr lang="en-US" sz="1800" dirty="0"/>
          </a:p>
          <a:p>
            <a:pPr marL="342900" indent="-342900">
              <a:lnSpc>
                <a:spcPts val="2800"/>
              </a:lnSpc>
              <a:buSzPct val="100000"/>
              <a:buChar char="•"/>
            </a:pPr>
            <a:r>
              <a:rPr lang="en-US" sz="1800" dirty="0">
                <a:solidFill>
                  <a:srgbClr val="1C1A19"/>
                </a:solidFill>
                <a:latin typeface="Calibri" pitchFamily="34" charset="0"/>
                <a:ea typeface="Calibri" pitchFamily="34" charset="-122"/>
                <a:cs typeface="Calibri" pitchFamily="34" charset="-120"/>
              </a:rPr>
              <a:t>Each verb leads to the next.</a:t>
            </a:r>
            <a:endParaRPr lang="en-US" sz="1800" dirty="0"/>
          </a:p>
          <a:p>
            <a:pPr marL="342900" indent="-342900">
              <a:lnSpc>
                <a:spcPts val="2800"/>
              </a:lnSpc>
              <a:buSzPct val="100000"/>
              <a:buChar char="•"/>
            </a:pPr>
            <a:r>
              <a:rPr lang="en-US" sz="1800" dirty="0">
                <a:solidFill>
                  <a:srgbClr val="1C1A19"/>
                </a:solidFill>
                <a:latin typeface="Calibri" pitchFamily="34" charset="0"/>
                <a:ea typeface="Calibri" pitchFamily="34" charset="-122"/>
                <a:cs typeface="Calibri" pitchFamily="34" charset="-120"/>
              </a:rPr>
              <a:t>The last one leads back to the first.</a:t>
            </a:r>
            <a:endParaRPr lang="en-US" sz="1800" dirty="0"/>
          </a:p>
          <a:p>
            <a:pPr marL="342900" indent="-342900">
              <a:lnSpc>
                <a:spcPts val="2800"/>
              </a:lnSpc>
              <a:buSzPct val="100000"/>
              <a:buChar char="•"/>
            </a:pPr>
            <a:r>
              <a:rPr lang="en-US" sz="1800" dirty="0">
                <a:solidFill>
                  <a:srgbClr val="1C1A19"/>
                </a:solidFill>
                <a:latin typeface="Calibri" pitchFamily="34" charset="0"/>
                <a:ea typeface="Calibri" pitchFamily="34" charset="-122"/>
                <a:cs typeface="Calibri" pitchFamily="34" charset="-120"/>
              </a:rPr>
              <a:t>Every level is the same loop, a little harder.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2 · WORKED EXAMPLES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Same idea, different games</a:t>
            </a:r>
            <a:endParaRPr lang="en-US" sz="3400" dirty="0"/>
          </a:p>
        </p:txBody>
      </p:sp>
      <p:sp>
        <p:nvSpPr>
          <p:cNvPr id="8" name="Shape 6"/>
          <p:cNvSpPr/>
          <p:nvPr/>
        </p:nvSpPr>
        <p:spPr>
          <a:xfrm>
            <a:off x="640080" y="1645920"/>
            <a:ext cx="3393338" cy="4206240"/>
          </a:xfrm>
          <a:prstGeom prst="roundRect">
            <a:avLst>
              <a:gd name="adj" fmla="val 24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68680" y="1783080"/>
            <a:ext cx="2936138" cy="457200"/>
          </a:xfrm>
          <a:prstGeom prst="rect">
            <a:avLst/>
          </a:prstGeom>
          <a:noFill/>
          <a:ln/>
        </p:spPr>
        <p:txBody>
          <a:bodyPr wrap="square" lIns="0" tIns="0" rIns="0" bIns="0" rtlCol="0" anchor="ctr"/>
          <a:lstStyle/>
          <a:p>
            <a:pPr algn="ctr" indent="0" marL="0">
              <a:buNone/>
            </a:pPr>
            <a:r>
              <a:rPr lang="en-US" sz="2000" b="1" dirty="0">
                <a:solidFill>
                  <a:srgbClr val="630031"/>
                </a:solidFill>
                <a:latin typeface="Cambria" pitchFamily="34" charset="0"/>
                <a:ea typeface="Cambria" pitchFamily="34" charset="-122"/>
                <a:cs typeface="Cambria" pitchFamily="34" charset="-120"/>
              </a:rPr>
              <a:t>A racing game</a:t>
            </a:r>
            <a:endParaRPr lang="en-US" sz="2000" dirty="0"/>
          </a:p>
        </p:txBody>
      </p:sp>
      <p:sp>
        <p:nvSpPr>
          <p:cNvPr id="10" name="Shape 8"/>
          <p:cNvSpPr/>
          <p:nvPr/>
        </p:nvSpPr>
        <p:spPr>
          <a:xfrm>
            <a:off x="1193749" y="2743200"/>
            <a:ext cx="2286000" cy="2286000"/>
          </a:xfrm>
          <a:prstGeom prst="ellipse">
            <a:avLst/>
          </a:prstGeom>
          <a:ln w="38100">
            <a:solidFill>
              <a:srgbClr val="D9D2C7"/>
            </a:solidFill>
            <a:prstDash val="dash"/>
          </a:ln>
        </p:spPr>
      </p:sp>
      <p:sp>
        <p:nvSpPr>
          <p:cNvPr id="11" name="Shape 9"/>
          <p:cNvSpPr/>
          <p:nvPr/>
        </p:nvSpPr>
        <p:spPr>
          <a:xfrm>
            <a:off x="1719529" y="2441448"/>
            <a:ext cx="1234440" cy="603504"/>
          </a:xfrm>
          <a:prstGeom prst="roundRect">
            <a:avLst>
              <a:gd name="adj" fmla="val 50000"/>
            </a:avLst>
          </a:prstGeom>
          <a:solidFill>
            <a:srgbClr val="CF4420"/>
          </a:solidFill>
          <a:ln w="12700">
            <a:solidFill>
              <a:srgbClr val="333333"/>
            </a:solidFill>
            <a:prstDash val="solid"/>
          </a:ln>
        </p:spPr>
      </p:sp>
      <p:sp>
        <p:nvSpPr>
          <p:cNvPr id="12" name="Text 10"/>
          <p:cNvSpPr txBox="1"/>
          <p:nvPr/>
        </p:nvSpPr>
        <p:spPr>
          <a:xfrm>
            <a:off x="1719529" y="2441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Steer</a:t>
            </a:r>
            <a:endParaRPr lang="en-US" sz="1500" dirty="0"/>
          </a:p>
        </p:txBody>
      </p:sp>
      <p:sp>
        <p:nvSpPr>
          <p:cNvPr id="13" name="Shape 11"/>
          <p:cNvSpPr/>
          <p:nvPr/>
        </p:nvSpPr>
        <p:spPr>
          <a:xfrm>
            <a:off x="2862529" y="3584448"/>
            <a:ext cx="1234440" cy="603504"/>
          </a:xfrm>
          <a:prstGeom prst="roundRect">
            <a:avLst>
              <a:gd name="adj" fmla="val 50000"/>
            </a:avLst>
          </a:prstGeom>
          <a:solidFill>
            <a:srgbClr val="CF4420"/>
          </a:solidFill>
          <a:ln w="12700">
            <a:solidFill>
              <a:srgbClr val="333333"/>
            </a:solidFill>
            <a:prstDash val="solid"/>
          </a:ln>
        </p:spPr>
      </p:sp>
      <p:sp>
        <p:nvSpPr>
          <p:cNvPr id="14" name="Text 12"/>
          <p:cNvSpPr txBox="1"/>
          <p:nvPr/>
        </p:nvSpPr>
        <p:spPr>
          <a:xfrm>
            <a:off x="2862529"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Boost</a:t>
            </a:r>
            <a:endParaRPr lang="en-US" sz="1500" dirty="0"/>
          </a:p>
        </p:txBody>
      </p:sp>
      <p:sp>
        <p:nvSpPr>
          <p:cNvPr id="15" name="Shape 13"/>
          <p:cNvSpPr/>
          <p:nvPr/>
        </p:nvSpPr>
        <p:spPr>
          <a:xfrm>
            <a:off x="1719529" y="4727448"/>
            <a:ext cx="1234440" cy="603504"/>
          </a:xfrm>
          <a:prstGeom prst="roundRect">
            <a:avLst>
              <a:gd name="adj" fmla="val 50000"/>
            </a:avLst>
          </a:prstGeom>
          <a:solidFill>
            <a:srgbClr val="CF4420"/>
          </a:solidFill>
          <a:ln w="12700">
            <a:solidFill>
              <a:srgbClr val="333333"/>
            </a:solidFill>
            <a:prstDash val="solid"/>
          </a:ln>
        </p:spPr>
      </p:sp>
      <p:sp>
        <p:nvSpPr>
          <p:cNvPr id="16" name="Text 14"/>
          <p:cNvSpPr txBox="1"/>
          <p:nvPr/>
        </p:nvSpPr>
        <p:spPr>
          <a:xfrm>
            <a:off x="1719529" y="4727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p>
        </p:txBody>
      </p:sp>
      <p:sp>
        <p:nvSpPr>
          <p:cNvPr id="17" name="Shape 15"/>
          <p:cNvSpPr/>
          <p:nvPr/>
        </p:nvSpPr>
        <p:spPr>
          <a:xfrm>
            <a:off x="576529" y="3584448"/>
            <a:ext cx="1234440" cy="603504"/>
          </a:xfrm>
          <a:prstGeom prst="roundRect">
            <a:avLst>
              <a:gd name="adj" fmla="val 50000"/>
            </a:avLst>
          </a:prstGeom>
          <a:solidFill>
            <a:srgbClr val="CF4420"/>
          </a:solidFill>
          <a:ln w="12700">
            <a:solidFill>
              <a:srgbClr val="333333"/>
            </a:solidFill>
            <a:prstDash val="solid"/>
          </a:ln>
        </p:spPr>
      </p:sp>
      <p:sp>
        <p:nvSpPr>
          <p:cNvPr id="18" name="Text 16"/>
          <p:cNvSpPr txBox="1"/>
          <p:nvPr/>
        </p:nvSpPr>
        <p:spPr>
          <a:xfrm>
            <a:off x="576529"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Finish</a:t>
            </a:r>
            <a:endParaRPr lang="en-US" sz="1500" dirty="0"/>
          </a:p>
        </p:txBody>
      </p:sp>
      <p:sp>
        <p:nvSpPr>
          <p:cNvPr id="19" name="Text 17"/>
          <p:cNvSpPr txBox="1"/>
          <p:nvPr/>
        </p:nvSpPr>
        <p:spPr>
          <a:xfrm>
            <a:off x="1879549" y="3429000"/>
            <a:ext cx="914400" cy="914400"/>
          </a:xfrm>
          <a:prstGeom prst="rect">
            <a:avLst/>
          </a:prstGeom>
          <a:noFill/>
          <a:ln/>
        </p:spPr>
        <p:txBody>
          <a:bodyPr wrap="square" lIns="0" tIns="0" rIns="0" bIns="0" rtlCol="0" anchor="ctr"/>
          <a:lstStyle/>
          <a:p>
            <a:pPr algn="ctr" indent="0" marL="0">
              <a:buNone/>
            </a:pPr>
            <a:r>
              <a:rPr lang="en-US" sz="4000" b="1" dirty="0">
                <a:solidFill>
                  <a:srgbClr val="C9C1B4"/>
                </a:solidFill>
                <a:latin typeface="Calibri" pitchFamily="34" charset="0"/>
                <a:ea typeface="Calibri" pitchFamily="34" charset="-122"/>
                <a:cs typeface="Calibri" pitchFamily="34" charset="-120"/>
              </a:rPr>
              <a:t>↻</a:t>
            </a:r>
            <a:endParaRPr lang="en-US" sz="4000" dirty="0"/>
          </a:p>
        </p:txBody>
      </p:sp>
      <p:sp>
        <p:nvSpPr>
          <p:cNvPr id="20" name="Shape 18"/>
          <p:cNvSpPr/>
          <p:nvPr/>
        </p:nvSpPr>
        <p:spPr>
          <a:xfrm>
            <a:off x="4399178" y="1645920"/>
            <a:ext cx="3393338" cy="4206240"/>
          </a:xfrm>
          <a:prstGeom prst="roundRect">
            <a:avLst>
              <a:gd name="adj" fmla="val 24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4627778" y="1783080"/>
            <a:ext cx="2936138" cy="457200"/>
          </a:xfrm>
          <a:prstGeom prst="rect">
            <a:avLst/>
          </a:prstGeom>
          <a:noFill/>
          <a:ln/>
        </p:spPr>
        <p:txBody>
          <a:bodyPr wrap="square" lIns="0" tIns="0" rIns="0" bIns="0" rtlCol="0" anchor="ctr"/>
          <a:lstStyle/>
          <a:p>
            <a:pPr algn="ctr" indent="0" marL="0">
              <a:buNone/>
            </a:pPr>
            <a:r>
              <a:rPr lang="en-US" sz="2000" b="1" dirty="0">
                <a:solidFill>
                  <a:srgbClr val="630031"/>
                </a:solidFill>
                <a:latin typeface="Cambria" pitchFamily="34" charset="0"/>
                <a:ea typeface="Cambria" pitchFamily="34" charset="-122"/>
                <a:cs typeface="Cambria" pitchFamily="34" charset="-120"/>
              </a:rPr>
              <a:t>A collect-and-upgrade game</a:t>
            </a:r>
            <a:endParaRPr lang="en-US" sz="2000" dirty="0"/>
          </a:p>
        </p:txBody>
      </p:sp>
      <p:sp>
        <p:nvSpPr>
          <p:cNvPr id="22" name="Shape 20"/>
          <p:cNvSpPr/>
          <p:nvPr/>
        </p:nvSpPr>
        <p:spPr>
          <a:xfrm>
            <a:off x="4952848" y="2743200"/>
            <a:ext cx="2286000" cy="2286000"/>
          </a:xfrm>
          <a:prstGeom prst="ellipse">
            <a:avLst/>
          </a:prstGeom>
          <a:ln w="38100">
            <a:solidFill>
              <a:srgbClr val="D9D2C7"/>
            </a:solidFill>
            <a:prstDash val="dash"/>
          </a:ln>
        </p:spPr>
      </p:sp>
      <p:sp>
        <p:nvSpPr>
          <p:cNvPr id="23" name="Shape 21"/>
          <p:cNvSpPr/>
          <p:nvPr/>
        </p:nvSpPr>
        <p:spPr>
          <a:xfrm>
            <a:off x="5478628" y="2441448"/>
            <a:ext cx="1234440" cy="603504"/>
          </a:xfrm>
          <a:prstGeom prst="roundRect">
            <a:avLst>
              <a:gd name="adj" fmla="val 50000"/>
            </a:avLst>
          </a:prstGeom>
          <a:solidFill>
            <a:srgbClr val="630031"/>
          </a:solidFill>
          <a:ln w="12700">
            <a:solidFill>
              <a:srgbClr val="333333"/>
            </a:solidFill>
            <a:prstDash val="solid"/>
          </a:ln>
        </p:spPr>
      </p:sp>
      <p:sp>
        <p:nvSpPr>
          <p:cNvPr id="24" name="Text 22"/>
          <p:cNvSpPr txBox="1"/>
          <p:nvPr/>
        </p:nvSpPr>
        <p:spPr>
          <a:xfrm>
            <a:off x="5478628" y="2441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a:t>
            </a:r>
            <a:endParaRPr lang="en-US" sz="1500" dirty="0"/>
          </a:p>
        </p:txBody>
      </p:sp>
      <p:sp>
        <p:nvSpPr>
          <p:cNvPr id="25" name="Shape 23"/>
          <p:cNvSpPr/>
          <p:nvPr/>
        </p:nvSpPr>
        <p:spPr>
          <a:xfrm>
            <a:off x="6621628" y="3584448"/>
            <a:ext cx="1234440" cy="603504"/>
          </a:xfrm>
          <a:prstGeom prst="roundRect">
            <a:avLst>
              <a:gd name="adj" fmla="val 50000"/>
            </a:avLst>
          </a:prstGeom>
          <a:solidFill>
            <a:srgbClr val="630031"/>
          </a:solidFill>
          <a:ln w="12700">
            <a:solidFill>
              <a:srgbClr val="333333"/>
            </a:solidFill>
            <a:prstDash val="solid"/>
          </a:ln>
        </p:spPr>
      </p:sp>
      <p:sp>
        <p:nvSpPr>
          <p:cNvPr id="26" name="Text 24"/>
          <p:cNvSpPr txBox="1"/>
          <p:nvPr/>
        </p:nvSpPr>
        <p:spPr>
          <a:xfrm>
            <a:off x="6621628"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Collect</a:t>
            </a:r>
            <a:endParaRPr lang="en-US" sz="1500" dirty="0"/>
          </a:p>
        </p:txBody>
      </p:sp>
      <p:sp>
        <p:nvSpPr>
          <p:cNvPr id="27" name="Shape 25"/>
          <p:cNvSpPr/>
          <p:nvPr/>
        </p:nvSpPr>
        <p:spPr>
          <a:xfrm>
            <a:off x="5478628" y="4727448"/>
            <a:ext cx="1234440" cy="603504"/>
          </a:xfrm>
          <a:prstGeom prst="roundRect">
            <a:avLst>
              <a:gd name="adj" fmla="val 50000"/>
            </a:avLst>
          </a:prstGeom>
          <a:solidFill>
            <a:srgbClr val="630031"/>
          </a:solidFill>
          <a:ln w="12700">
            <a:solidFill>
              <a:srgbClr val="333333"/>
            </a:solidFill>
            <a:prstDash val="solid"/>
          </a:ln>
        </p:spPr>
      </p:sp>
      <p:sp>
        <p:nvSpPr>
          <p:cNvPr id="28" name="Text 26"/>
          <p:cNvSpPr txBox="1"/>
          <p:nvPr/>
        </p:nvSpPr>
        <p:spPr>
          <a:xfrm>
            <a:off x="5478628" y="4727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Upgrade</a:t>
            </a:r>
            <a:endParaRPr lang="en-US" sz="1500" dirty="0"/>
          </a:p>
        </p:txBody>
      </p:sp>
      <p:sp>
        <p:nvSpPr>
          <p:cNvPr id="29" name="Shape 27"/>
          <p:cNvSpPr/>
          <p:nvPr/>
        </p:nvSpPr>
        <p:spPr>
          <a:xfrm>
            <a:off x="4335628" y="3584448"/>
            <a:ext cx="1234440" cy="603504"/>
          </a:xfrm>
          <a:prstGeom prst="roundRect">
            <a:avLst>
              <a:gd name="adj" fmla="val 50000"/>
            </a:avLst>
          </a:prstGeom>
          <a:solidFill>
            <a:srgbClr val="630031"/>
          </a:solidFill>
          <a:ln w="12700">
            <a:solidFill>
              <a:srgbClr val="333333"/>
            </a:solidFill>
            <a:prstDash val="solid"/>
          </a:ln>
        </p:spPr>
      </p:sp>
      <p:sp>
        <p:nvSpPr>
          <p:cNvPr id="30" name="Text 28"/>
          <p:cNvSpPr txBox="1"/>
          <p:nvPr/>
        </p:nvSpPr>
        <p:spPr>
          <a:xfrm>
            <a:off x="4335628"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 further</a:t>
            </a:r>
            <a:endParaRPr lang="en-US" sz="1500" dirty="0"/>
          </a:p>
        </p:txBody>
      </p:sp>
      <p:sp>
        <p:nvSpPr>
          <p:cNvPr id="31" name="Text 29"/>
          <p:cNvSpPr txBox="1"/>
          <p:nvPr/>
        </p:nvSpPr>
        <p:spPr>
          <a:xfrm>
            <a:off x="5638648" y="3429000"/>
            <a:ext cx="914400" cy="914400"/>
          </a:xfrm>
          <a:prstGeom prst="rect">
            <a:avLst/>
          </a:prstGeom>
          <a:noFill/>
          <a:ln/>
        </p:spPr>
        <p:txBody>
          <a:bodyPr wrap="square" lIns="0" tIns="0" rIns="0" bIns="0" rtlCol="0" anchor="ctr"/>
          <a:lstStyle/>
          <a:p>
            <a:pPr algn="ctr" indent="0" marL="0">
              <a:buNone/>
            </a:pPr>
            <a:r>
              <a:rPr lang="en-US" sz="4000" b="1" dirty="0">
                <a:solidFill>
                  <a:srgbClr val="C9C1B4"/>
                </a:solidFill>
                <a:latin typeface="Calibri" pitchFamily="34" charset="0"/>
                <a:ea typeface="Calibri" pitchFamily="34" charset="-122"/>
                <a:cs typeface="Calibri" pitchFamily="34" charset="-120"/>
              </a:rPr>
              <a:t>↻</a:t>
            </a:r>
            <a:endParaRPr lang="en-US" sz="4000" dirty="0"/>
          </a:p>
        </p:txBody>
      </p:sp>
      <p:sp>
        <p:nvSpPr>
          <p:cNvPr id="32" name="Shape 30"/>
          <p:cNvSpPr/>
          <p:nvPr/>
        </p:nvSpPr>
        <p:spPr>
          <a:xfrm>
            <a:off x="8158277" y="1645920"/>
            <a:ext cx="3393338" cy="4206240"/>
          </a:xfrm>
          <a:prstGeom prst="roundRect">
            <a:avLst>
              <a:gd name="adj" fmla="val 24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3" name="Text 31"/>
          <p:cNvSpPr txBox="1"/>
          <p:nvPr/>
        </p:nvSpPr>
        <p:spPr>
          <a:xfrm>
            <a:off x="8386877" y="1783080"/>
            <a:ext cx="2936138" cy="457200"/>
          </a:xfrm>
          <a:prstGeom prst="rect">
            <a:avLst/>
          </a:prstGeom>
          <a:noFill/>
          <a:ln/>
        </p:spPr>
        <p:txBody>
          <a:bodyPr wrap="square" lIns="0" tIns="0" rIns="0" bIns="0" rtlCol="0" anchor="ctr"/>
          <a:lstStyle/>
          <a:p>
            <a:pPr algn="ctr" indent="0" marL="0">
              <a:buNone/>
            </a:pPr>
            <a:r>
              <a:rPr lang="en-US" sz="2000" b="1" dirty="0">
                <a:solidFill>
                  <a:srgbClr val="630031"/>
                </a:solidFill>
                <a:latin typeface="Cambria" pitchFamily="34" charset="0"/>
                <a:ea typeface="Cambria" pitchFamily="34" charset="-122"/>
                <a:cs typeface="Cambria" pitchFamily="34" charset="-120"/>
              </a:rPr>
              <a:t>A tower-defense game</a:t>
            </a:r>
            <a:endParaRPr lang="en-US" sz="2000" dirty="0"/>
          </a:p>
        </p:txBody>
      </p:sp>
      <p:sp>
        <p:nvSpPr>
          <p:cNvPr id="34" name="Shape 32"/>
          <p:cNvSpPr/>
          <p:nvPr/>
        </p:nvSpPr>
        <p:spPr>
          <a:xfrm>
            <a:off x="8711946" y="2743200"/>
            <a:ext cx="2286000" cy="2286000"/>
          </a:xfrm>
          <a:prstGeom prst="ellipse">
            <a:avLst/>
          </a:prstGeom>
          <a:ln w="38100">
            <a:solidFill>
              <a:srgbClr val="D9D2C7"/>
            </a:solidFill>
            <a:prstDash val="dash"/>
          </a:ln>
        </p:spPr>
      </p:sp>
      <p:sp>
        <p:nvSpPr>
          <p:cNvPr id="35" name="Shape 33"/>
          <p:cNvSpPr/>
          <p:nvPr/>
        </p:nvSpPr>
        <p:spPr>
          <a:xfrm>
            <a:off x="9237726" y="2441448"/>
            <a:ext cx="1234440" cy="603504"/>
          </a:xfrm>
          <a:prstGeom prst="roundRect">
            <a:avLst>
              <a:gd name="adj" fmla="val 50000"/>
            </a:avLst>
          </a:prstGeom>
          <a:solidFill>
            <a:srgbClr val="1F6F78"/>
          </a:solidFill>
          <a:ln w="12700">
            <a:solidFill>
              <a:srgbClr val="333333"/>
            </a:solidFill>
            <a:prstDash val="solid"/>
          </a:ln>
        </p:spPr>
      </p:sp>
      <p:sp>
        <p:nvSpPr>
          <p:cNvPr id="36" name="Text 34"/>
          <p:cNvSpPr txBox="1"/>
          <p:nvPr/>
        </p:nvSpPr>
        <p:spPr>
          <a:xfrm>
            <a:off x="9237726" y="2441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Place</a:t>
            </a:r>
            <a:endParaRPr lang="en-US" sz="1500" dirty="0"/>
          </a:p>
        </p:txBody>
      </p:sp>
      <p:sp>
        <p:nvSpPr>
          <p:cNvPr id="37" name="Shape 35"/>
          <p:cNvSpPr/>
          <p:nvPr/>
        </p:nvSpPr>
        <p:spPr>
          <a:xfrm>
            <a:off x="10380726" y="3584448"/>
            <a:ext cx="1234440" cy="603504"/>
          </a:xfrm>
          <a:prstGeom prst="roundRect">
            <a:avLst>
              <a:gd name="adj" fmla="val 50000"/>
            </a:avLst>
          </a:prstGeom>
          <a:solidFill>
            <a:srgbClr val="1F6F78"/>
          </a:solidFill>
          <a:ln w="12700">
            <a:solidFill>
              <a:srgbClr val="333333"/>
            </a:solidFill>
            <a:prstDash val="solid"/>
          </a:ln>
        </p:spPr>
      </p:sp>
      <p:sp>
        <p:nvSpPr>
          <p:cNvPr id="38" name="Text 36"/>
          <p:cNvSpPr txBox="1"/>
          <p:nvPr/>
        </p:nvSpPr>
        <p:spPr>
          <a:xfrm>
            <a:off x="10380726"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Watch</a:t>
            </a:r>
            <a:endParaRPr lang="en-US" sz="1500" dirty="0"/>
          </a:p>
        </p:txBody>
      </p:sp>
      <p:sp>
        <p:nvSpPr>
          <p:cNvPr id="39" name="Shape 37"/>
          <p:cNvSpPr/>
          <p:nvPr/>
        </p:nvSpPr>
        <p:spPr>
          <a:xfrm>
            <a:off x="9237726" y="4727448"/>
            <a:ext cx="1234440" cy="603504"/>
          </a:xfrm>
          <a:prstGeom prst="roundRect">
            <a:avLst>
              <a:gd name="adj" fmla="val 50000"/>
            </a:avLst>
          </a:prstGeom>
          <a:solidFill>
            <a:srgbClr val="1F6F78"/>
          </a:solidFill>
          <a:ln w="12700">
            <a:solidFill>
              <a:srgbClr val="333333"/>
            </a:solidFill>
            <a:prstDash val="solid"/>
          </a:ln>
        </p:spPr>
      </p:sp>
      <p:sp>
        <p:nvSpPr>
          <p:cNvPr id="40" name="Text 38"/>
          <p:cNvSpPr txBox="1"/>
          <p:nvPr/>
        </p:nvSpPr>
        <p:spPr>
          <a:xfrm>
            <a:off x="9237726" y="4727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Earn</a:t>
            </a:r>
            <a:endParaRPr lang="en-US" sz="1500" dirty="0"/>
          </a:p>
        </p:txBody>
      </p:sp>
      <p:sp>
        <p:nvSpPr>
          <p:cNvPr id="41" name="Shape 39"/>
          <p:cNvSpPr/>
          <p:nvPr/>
        </p:nvSpPr>
        <p:spPr>
          <a:xfrm>
            <a:off x="8094726" y="3584448"/>
            <a:ext cx="1234440" cy="603504"/>
          </a:xfrm>
          <a:prstGeom prst="roundRect">
            <a:avLst>
              <a:gd name="adj" fmla="val 50000"/>
            </a:avLst>
          </a:prstGeom>
          <a:solidFill>
            <a:srgbClr val="1F6F78"/>
          </a:solidFill>
          <a:ln w="12700">
            <a:solidFill>
              <a:srgbClr val="333333"/>
            </a:solidFill>
            <a:prstDash val="solid"/>
          </a:ln>
        </p:spPr>
      </p:sp>
      <p:sp>
        <p:nvSpPr>
          <p:cNvPr id="42" name="Text 40"/>
          <p:cNvSpPr txBox="1"/>
          <p:nvPr/>
        </p:nvSpPr>
        <p:spPr>
          <a:xfrm>
            <a:off x="8094726" y="3584448"/>
            <a:ext cx="123444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Upgrade</a:t>
            </a:r>
            <a:endParaRPr lang="en-US" sz="1500" dirty="0"/>
          </a:p>
        </p:txBody>
      </p:sp>
      <p:sp>
        <p:nvSpPr>
          <p:cNvPr id="43" name="Text 41"/>
          <p:cNvSpPr txBox="1"/>
          <p:nvPr/>
        </p:nvSpPr>
        <p:spPr>
          <a:xfrm>
            <a:off x="9397746" y="3429000"/>
            <a:ext cx="914400" cy="914400"/>
          </a:xfrm>
          <a:prstGeom prst="rect">
            <a:avLst/>
          </a:prstGeom>
          <a:noFill/>
          <a:ln/>
        </p:spPr>
        <p:txBody>
          <a:bodyPr wrap="square" lIns="0" tIns="0" rIns="0" bIns="0" rtlCol="0" anchor="ctr"/>
          <a:lstStyle/>
          <a:p>
            <a:pPr algn="ctr" indent="0" marL="0">
              <a:buNone/>
            </a:pPr>
            <a:r>
              <a:rPr lang="en-US" sz="4000" b="1" dirty="0">
                <a:solidFill>
                  <a:srgbClr val="C9C1B4"/>
                </a:solidFill>
                <a:latin typeface="Calibri" pitchFamily="34" charset="0"/>
                <a:ea typeface="Calibri" pitchFamily="34" charset="-122"/>
                <a:cs typeface="Calibri" pitchFamily="34" charset="-120"/>
              </a:rPr>
              <a:t>↻</a:t>
            </a:r>
            <a:endParaRPr lang="en-US" sz="4000" dirty="0"/>
          </a:p>
        </p:txBody>
      </p:sp>
      <p:sp>
        <p:nvSpPr>
          <p:cNvPr id="44" name="Text 42"/>
          <p:cNvSpPr txBox="1"/>
          <p:nvPr/>
        </p:nvSpPr>
        <p:spPr>
          <a:xfrm>
            <a:off x="640080" y="6035040"/>
            <a:ext cx="10911535" cy="45720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Notice: you could describe each one without knowing its name. That is how you know it is a real loop.</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2 · YOUR CLASS ALREADY DID THIS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A loop from this room: W.C.O 27</a:t>
            </a:r>
            <a:endParaRPr lang="en-US" sz="3400" dirty="0"/>
          </a:p>
        </p:txBody>
      </p:sp>
      <p:sp>
        <p:nvSpPr>
          <p:cNvPr id="8" name="Shape 6"/>
          <p:cNvSpPr/>
          <p:nvPr/>
        </p:nvSpPr>
        <p:spPr>
          <a:xfrm>
            <a:off x="1920240" y="2240280"/>
            <a:ext cx="3291840" cy="3291840"/>
          </a:xfrm>
          <a:prstGeom prst="ellipse">
            <a:avLst/>
          </a:prstGeom>
          <a:ln w="38100">
            <a:solidFill>
              <a:srgbClr val="D9D2C7"/>
            </a:solidFill>
            <a:prstDash val="dash"/>
          </a:ln>
        </p:spPr>
      </p:sp>
      <p:sp>
        <p:nvSpPr>
          <p:cNvPr id="9" name="Shape 7"/>
          <p:cNvSpPr/>
          <p:nvPr/>
        </p:nvSpPr>
        <p:spPr>
          <a:xfrm>
            <a:off x="2697480" y="1938528"/>
            <a:ext cx="1737360" cy="603504"/>
          </a:xfrm>
          <a:prstGeom prst="roundRect">
            <a:avLst>
              <a:gd name="adj" fmla="val 50000"/>
            </a:avLst>
          </a:prstGeom>
          <a:solidFill>
            <a:srgbClr val="16A34A"/>
          </a:solidFill>
          <a:ln w="12700">
            <a:solidFill>
              <a:srgbClr val="333333"/>
            </a:solidFill>
            <a:prstDash val="solid"/>
          </a:ln>
        </p:spPr>
      </p:sp>
      <p:sp>
        <p:nvSpPr>
          <p:cNvPr id="10" name="Text 8"/>
          <p:cNvSpPr txBox="1"/>
          <p:nvPr/>
        </p:nvSpPr>
        <p:spPr>
          <a:xfrm>
            <a:off x="2697480" y="1938528"/>
            <a:ext cx="173736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Play the obby</a:t>
            </a:r>
            <a:endParaRPr lang="en-US" sz="1500" dirty="0"/>
          </a:p>
        </p:txBody>
      </p:sp>
      <p:sp>
        <p:nvSpPr>
          <p:cNvPr id="11" name="Shape 9"/>
          <p:cNvSpPr/>
          <p:nvPr/>
        </p:nvSpPr>
        <p:spPr>
          <a:xfrm>
            <a:off x="4343400" y="3584448"/>
            <a:ext cx="1737360" cy="603504"/>
          </a:xfrm>
          <a:prstGeom prst="roundRect">
            <a:avLst>
              <a:gd name="adj" fmla="val 50000"/>
            </a:avLst>
          </a:prstGeom>
          <a:solidFill>
            <a:srgbClr val="16A34A"/>
          </a:solidFill>
          <a:ln w="12700">
            <a:solidFill>
              <a:srgbClr val="333333"/>
            </a:solidFill>
            <a:prstDash val="solid"/>
          </a:ln>
        </p:spPr>
      </p:sp>
      <p:sp>
        <p:nvSpPr>
          <p:cNvPr id="12" name="Text 10"/>
          <p:cNvSpPr txBox="1"/>
          <p:nvPr/>
        </p:nvSpPr>
        <p:spPr>
          <a:xfrm>
            <a:off x="4343400" y="3584448"/>
            <a:ext cx="173736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Earn cards</a:t>
            </a:r>
            <a:endParaRPr lang="en-US" sz="1500" dirty="0"/>
          </a:p>
        </p:txBody>
      </p:sp>
      <p:sp>
        <p:nvSpPr>
          <p:cNvPr id="13" name="Shape 11"/>
          <p:cNvSpPr/>
          <p:nvPr/>
        </p:nvSpPr>
        <p:spPr>
          <a:xfrm>
            <a:off x="2697480" y="5230368"/>
            <a:ext cx="1737360" cy="603504"/>
          </a:xfrm>
          <a:prstGeom prst="roundRect">
            <a:avLst>
              <a:gd name="adj" fmla="val 50000"/>
            </a:avLst>
          </a:prstGeom>
          <a:solidFill>
            <a:srgbClr val="16A34A"/>
          </a:solidFill>
          <a:ln w="12700">
            <a:solidFill>
              <a:srgbClr val="333333"/>
            </a:solidFill>
            <a:prstDash val="solid"/>
          </a:ln>
        </p:spPr>
      </p:sp>
      <p:sp>
        <p:nvSpPr>
          <p:cNvPr id="14" name="Text 12"/>
          <p:cNvSpPr txBox="1"/>
          <p:nvPr/>
        </p:nvSpPr>
        <p:spPr>
          <a:xfrm>
            <a:off x="2697480" y="5230368"/>
            <a:ext cx="173736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 your team</a:t>
            </a:r>
            <a:endParaRPr lang="en-US" sz="1500" dirty="0"/>
          </a:p>
        </p:txBody>
      </p:sp>
      <p:sp>
        <p:nvSpPr>
          <p:cNvPr id="15" name="Shape 13"/>
          <p:cNvSpPr/>
          <p:nvPr/>
        </p:nvSpPr>
        <p:spPr>
          <a:xfrm>
            <a:off x="1051560" y="3584448"/>
            <a:ext cx="1737360" cy="603504"/>
          </a:xfrm>
          <a:prstGeom prst="roundRect">
            <a:avLst>
              <a:gd name="adj" fmla="val 50000"/>
            </a:avLst>
          </a:prstGeom>
          <a:solidFill>
            <a:srgbClr val="16A34A"/>
          </a:solidFill>
          <a:ln w="12700">
            <a:solidFill>
              <a:srgbClr val="333333"/>
            </a:solidFill>
            <a:prstDash val="solid"/>
          </a:ln>
        </p:spPr>
      </p:sp>
      <p:sp>
        <p:nvSpPr>
          <p:cNvPr id="16" name="Text 14"/>
          <p:cNvSpPr txBox="1"/>
          <p:nvPr/>
        </p:nvSpPr>
        <p:spPr>
          <a:xfrm>
            <a:off x="1051560" y="3584448"/>
            <a:ext cx="1737360"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Play the tournament</a:t>
            </a:r>
            <a:endParaRPr lang="en-US" sz="1500" dirty="0"/>
          </a:p>
        </p:txBody>
      </p:sp>
      <p:sp>
        <p:nvSpPr>
          <p:cNvPr id="17" name="Text 15"/>
          <p:cNvSpPr txBox="1"/>
          <p:nvPr/>
        </p:nvSpPr>
        <p:spPr>
          <a:xfrm>
            <a:off x="3108960" y="3429000"/>
            <a:ext cx="914400" cy="914400"/>
          </a:xfrm>
          <a:prstGeom prst="rect">
            <a:avLst/>
          </a:prstGeom>
          <a:noFill/>
          <a:ln/>
        </p:spPr>
        <p:txBody>
          <a:bodyPr wrap="square" lIns="0" tIns="0" rIns="0" bIns="0" rtlCol="0" anchor="ctr"/>
          <a:lstStyle/>
          <a:p>
            <a:pPr algn="ctr" indent="0" marL="0">
              <a:buNone/>
            </a:pPr>
            <a:r>
              <a:rPr lang="en-US" sz="4000" b="1" dirty="0">
                <a:solidFill>
                  <a:srgbClr val="C9C1B4"/>
                </a:solidFill>
                <a:latin typeface="Calibri" pitchFamily="34" charset="0"/>
                <a:ea typeface="Calibri" pitchFamily="34" charset="-122"/>
                <a:cs typeface="Calibri" pitchFamily="34" charset="-120"/>
              </a:rPr>
              <a:t>↻</a:t>
            </a:r>
            <a:endParaRPr lang="en-US" sz="4000" dirty="0"/>
          </a:p>
        </p:txBody>
      </p:sp>
      <p:sp>
        <p:nvSpPr>
          <p:cNvPr id="18" name="Shape 16"/>
          <p:cNvSpPr/>
          <p:nvPr/>
        </p:nvSpPr>
        <p:spPr>
          <a:xfrm>
            <a:off x="6766560" y="1691640"/>
            <a:ext cx="4785055" cy="4251960"/>
          </a:xfrm>
          <a:prstGeom prst="roundRect">
            <a:avLst>
              <a:gd name="adj" fmla="val 1935"/>
            </a:avLst>
          </a:prstGeom>
          <a:solidFill>
            <a:srgbClr val="EFFAF2"/>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Text 17"/>
          <p:cNvSpPr txBox="1"/>
          <p:nvPr/>
        </p:nvSpPr>
        <p:spPr>
          <a:xfrm>
            <a:off x="7086600" y="1920240"/>
            <a:ext cx="4144975" cy="3931920"/>
          </a:xfrm>
          <a:prstGeom prst="rect">
            <a:avLst/>
          </a:prstGeom>
          <a:noFill/>
          <a:ln/>
        </p:spPr>
        <p:txBody>
          <a:bodyPr wrap="square" lIns="0" tIns="0" rIns="0" bIns="0" rtlCol="0" anchor="t"/>
          <a:lstStyle/>
          <a:p>
            <a:pPr indent="0" marL="0">
              <a:lnSpc>
                <a:spcPts val="2400"/>
              </a:lnSpc>
              <a:buNone/>
            </a:pPr>
            <a:r>
              <a:rPr lang="en-US" sz="1800" b="1" dirty="0">
                <a:solidFill>
                  <a:srgbClr val="630031"/>
                </a:solidFill>
                <a:latin typeface="Calibri" pitchFamily="34" charset="0"/>
                <a:ea typeface="Calibri" pitchFamily="34" charset="-122"/>
                <a:cs typeface="Calibri" pitchFamily="34" charset="-120"/>
              </a:rPr>
              <a:t>the dragon slayer wrote three stories:
</a:t>
            </a:r>
            <a:pPr indent="0" marL="0">
              <a:lnSpc>
                <a:spcPts val="2400"/>
              </a:lnSpc>
              <a:buNone/>
            </a:pPr>
            <a:r>
              <a:rPr lang="en-US" sz="1650" i="1" dirty="0">
                <a:solidFill>
                  <a:srgbClr val="1C1A19"/>
                </a:solidFill>
                <a:latin typeface="Calibri" pitchFamily="34" charset="0"/>
                <a:ea typeface="Calibri" pitchFamily="34" charset="-122"/>
                <a:cs typeface="Calibri" pitchFamily="34" charset="-120"/>
              </a:rPr>
              <a:t>“I want to play the obby, so I can get cards.”
</a:t>
            </a:r>
            <a:pPr indent="0" marL="0">
              <a:lnSpc>
                <a:spcPts val="2400"/>
              </a:lnSpc>
              <a:buNone/>
            </a:pPr>
            <a:r>
              <a:rPr lang="en-US" sz="1650" i="1" dirty="0">
                <a:solidFill>
                  <a:srgbClr val="1C1A19"/>
                </a:solidFill>
                <a:latin typeface="Calibri" pitchFamily="34" charset="0"/>
                <a:ea typeface="Calibri" pitchFamily="34" charset="-122"/>
                <a:cs typeface="Calibri" pitchFamily="34" charset="-120"/>
              </a:rPr>
              <a:t>“I want to collect soccer cards, so I can use them in my dream team.”
</a:t>
            </a:r>
            <a:pPr indent="0" marL="0">
              <a:lnSpc>
                <a:spcPts val="2400"/>
              </a:lnSpc>
              <a:buNone/>
            </a:pPr>
            <a:r>
              <a:rPr lang="en-US" sz="1650" i="1" dirty="0">
                <a:solidFill>
                  <a:srgbClr val="1C1A19"/>
                </a:solidFill>
                <a:latin typeface="Calibri" pitchFamily="34" charset="0"/>
                <a:ea typeface="Calibri" pitchFamily="34" charset="-122"/>
                <a:cs typeface="Calibri" pitchFamily="34" charset="-120"/>
              </a:rPr>
              <a:t>“I want to use my team, so I can play in the tournament.”
</a:t>
            </a:r>
            <a:pPr indent="0" marL="0">
              <a:lnSpc>
                <a:spcPts val="2400"/>
              </a:lnSpc>
              <a:buNone/>
            </a:pPr>
            <a:r>
              <a:rPr lang="en-US" sz="1650" b="1" dirty="0">
                <a:solidFill>
                  <a:srgbClr val="CF4420"/>
                </a:solidFill>
                <a:latin typeface="Calibri" pitchFamily="34" charset="0"/>
                <a:ea typeface="Calibri" pitchFamily="34" charset="-122"/>
                <a:cs typeface="Calibri" pitchFamily="34" charset="-120"/>
              </a:rPr>
              <a:t>Each “so I can” leads to the next story. That is a core loop, and they wrote it before they knew the word.</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2 · WIN AND LOSE CONDITIONS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How do you win? How do you lose?</a:t>
            </a:r>
            <a:endParaRPr lang="en-US" sz="3400" dirty="0"/>
          </a:p>
        </p:txBody>
      </p:sp>
      <p:sp>
        <p:nvSpPr>
          <p:cNvPr id="8" name="Shape 6"/>
          <p:cNvSpPr/>
          <p:nvPr/>
        </p:nvSpPr>
        <p:spPr>
          <a:xfrm>
            <a:off x="640080" y="1691640"/>
            <a:ext cx="5272888" cy="3291840"/>
          </a:xfrm>
          <a:prstGeom prst="roundRect">
            <a:avLst>
              <a:gd name="adj" fmla="val 2500"/>
            </a:avLst>
          </a:prstGeom>
          <a:solidFill>
            <a:srgbClr val="EAF7E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6278728" y="1691640"/>
            <a:ext cx="5272888" cy="3291840"/>
          </a:xfrm>
          <a:prstGeom prst="roundRect">
            <a:avLst>
              <a:gd name="adj" fmla="val 2500"/>
            </a:avLst>
          </a:prstGeom>
          <a:solidFill>
            <a:srgbClr val="FDECEA"/>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960120" y="1874520"/>
            <a:ext cx="4632808" cy="365760"/>
          </a:xfrm>
          <a:prstGeom prst="rect">
            <a:avLst/>
          </a:prstGeom>
          <a:noFill/>
          <a:ln/>
        </p:spPr>
        <p:txBody>
          <a:bodyPr wrap="square" lIns="0" tIns="0" rIns="0" bIns="0" rtlCol="0" anchor="ctr"/>
          <a:lstStyle/>
          <a:p>
            <a:pPr indent="0" marL="0">
              <a:buNone/>
            </a:pPr>
            <a:r>
              <a:rPr lang="en-US" sz="1500" b="1" spc="100" kern="0" dirty="0">
                <a:solidFill>
                  <a:srgbClr val="1E7A44"/>
                </a:solidFill>
                <a:latin typeface="Calibri" pitchFamily="34" charset="0"/>
                <a:ea typeface="Calibri" pitchFamily="34" charset="-122"/>
                <a:cs typeface="Calibri" pitchFamily="34" charset="-120"/>
              </a:rPr>
              <a:t>🏆  WIN CONDITION</a:t>
            </a:r>
            <a:endParaRPr lang="en-US" sz="1500" dirty="0"/>
          </a:p>
        </p:txBody>
      </p:sp>
      <p:sp>
        <p:nvSpPr>
          <p:cNvPr id="11" name="Text 9"/>
          <p:cNvSpPr txBox="1"/>
          <p:nvPr/>
        </p:nvSpPr>
        <p:spPr>
          <a:xfrm>
            <a:off x="960120" y="2331720"/>
            <a:ext cx="4632808" cy="2468880"/>
          </a:xfrm>
          <a:prstGeom prst="rect">
            <a:avLst/>
          </a:prstGeom>
          <a:noFill/>
          <a:ln/>
        </p:spPr>
        <p:txBody>
          <a:bodyPr wrap="square" lIns="0" tIns="0" rIns="0" bIns="0" rtlCol="0" anchor="t"/>
          <a:lstStyle/>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What the player has to do to finish.</a:t>
            </a:r>
            <a:endParaRPr lang="en-US" sz="1800" dirty="0"/>
          </a:p>
          <a:p>
            <a:pPr indent="0" marL="0">
              <a:lnSpc>
                <a:spcPts val="2600"/>
              </a:lnSpc>
              <a:buNone/>
            </a:pP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Reach the flag</a:t>
            </a: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Score 10 goals first</a:t>
            </a: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Survive until sunrise</a:t>
            </a:r>
            <a:endParaRPr lang="en-US" sz="1800" dirty="0"/>
          </a:p>
        </p:txBody>
      </p:sp>
      <p:sp>
        <p:nvSpPr>
          <p:cNvPr id="12" name="Text 10"/>
          <p:cNvSpPr txBox="1"/>
          <p:nvPr/>
        </p:nvSpPr>
        <p:spPr>
          <a:xfrm>
            <a:off x="6598768" y="1874520"/>
            <a:ext cx="4632808" cy="365760"/>
          </a:xfrm>
          <a:prstGeom prst="rect">
            <a:avLst/>
          </a:prstGeom>
          <a:noFill/>
          <a:ln/>
        </p:spPr>
        <p:txBody>
          <a:bodyPr wrap="square" lIns="0" tIns="0" rIns="0" bIns="0" rtlCol="0" anchor="ctr"/>
          <a:lstStyle/>
          <a:p>
            <a:pPr indent="0" marL="0">
              <a:buNone/>
            </a:pPr>
            <a:r>
              <a:rPr lang="en-US" sz="1500" b="1" spc="100" kern="0" dirty="0">
                <a:solidFill>
                  <a:srgbClr val="B4261C"/>
                </a:solidFill>
                <a:latin typeface="Calibri" pitchFamily="34" charset="0"/>
                <a:ea typeface="Calibri" pitchFamily="34" charset="-122"/>
                <a:cs typeface="Calibri" pitchFamily="34" charset="-120"/>
              </a:rPr>
              <a:t>💥  LOSE CONDITION</a:t>
            </a:r>
            <a:endParaRPr lang="en-US" sz="1500" dirty="0"/>
          </a:p>
        </p:txBody>
      </p:sp>
      <p:sp>
        <p:nvSpPr>
          <p:cNvPr id="13" name="Text 11"/>
          <p:cNvSpPr txBox="1"/>
          <p:nvPr/>
        </p:nvSpPr>
        <p:spPr>
          <a:xfrm>
            <a:off x="6598768" y="2331720"/>
            <a:ext cx="4632808" cy="2468880"/>
          </a:xfrm>
          <a:prstGeom prst="rect">
            <a:avLst/>
          </a:prstGeom>
          <a:noFill/>
          <a:ln/>
        </p:spPr>
        <p:txBody>
          <a:bodyPr wrap="square" lIns="0" tIns="0" rIns="0" bIns="0" rtlCol="0" anchor="t"/>
          <a:lstStyle/>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What ends the game or costs the player.</a:t>
            </a:r>
            <a:endParaRPr lang="en-US" sz="1800" dirty="0"/>
          </a:p>
          <a:p>
            <a:pPr indent="0" marL="0">
              <a:lnSpc>
                <a:spcPts val="2600"/>
              </a:lnSpc>
              <a:buNone/>
            </a:pP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Out of hearts</a:t>
            </a: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The timer runs out</a:t>
            </a:r>
            <a:endParaRPr lang="en-US" sz="1800" dirty="0"/>
          </a:p>
          <a:p>
            <a:pPr indent="0" marL="0">
              <a:lnSpc>
                <a:spcPts val="2600"/>
              </a:lnSpc>
              <a:buNone/>
            </a:pPr>
            <a:r>
              <a:rPr lang="en-US" sz="1800" dirty="0">
                <a:solidFill>
                  <a:srgbClr val="1C1A19"/>
                </a:solidFill>
                <a:latin typeface="Calibri" pitchFamily="34" charset="0"/>
                <a:ea typeface="Calibri" pitchFamily="34" charset="-122"/>
                <a:cs typeface="Calibri" pitchFamily="34" charset="-120"/>
              </a:rPr>
              <a:t>• Hunger hits zero</a:t>
            </a:r>
            <a:endParaRPr lang="en-US" sz="1800" dirty="0"/>
          </a:p>
        </p:txBody>
      </p:sp>
      <p:sp>
        <p:nvSpPr>
          <p:cNvPr id="14" name="Text 12"/>
          <p:cNvSpPr txBox="1"/>
          <p:nvPr/>
        </p:nvSpPr>
        <p:spPr>
          <a:xfrm>
            <a:off x="640080" y="5303520"/>
            <a:ext cx="10911535" cy="731520"/>
          </a:xfrm>
          <a:prstGeom prst="rect">
            <a:avLst/>
          </a:prstGeom>
          <a:noFill/>
          <a:ln/>
        </p:spPr>
        <p:txBody>
          <a:bodyPr wrap="square" lIns="0" tIns="0" rIns="0" bIns="0" rtlCol="0" anchor="t"/>
          <a:lstStyle/>
          <a:p>
            <a:pPr indent="0" marL="0">
              <a:lnSpc>
                <a:spcPts val="2200"/>
              </a:lnSpc>
              <a:buNone/>
            </a:pPr>
            <a:r>
              <a:rPr lang="en-US" sz="1900" b="1" dirty="0">
                <a:solidFill>
                  <a:srgbClr val="630031"/>
                </a:solidFill>
                <a:latin typeface="Calibri" pitchFamily="34" charset="0"/>
                <a:ea typeface="Calibri" pitchFamily="34" charset="-122"/>
                <a:cs typeface="Calibri" pitchFamily="34" charset="-120"/>
              </a:rPr>
              <a:t>No way to lose usually means no reason to try. The chance of losing is where the feeling comes from.</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1097280" y="6035040"/>
            <a:ext cx="128016" cy="128016"/>
          </a:xfrm>
          <a:prstGeom prst="rect">
            <a:avLst/>
          </a:prstGeom>
          <a:solidFill>
            <a:srgbClr val="FFB13B"/>
          </a:solidFill>
          <a:ln w="12700">
            <a:solidFill>
              <a:srgbClr val="333333"/>
            </a:solidFill>
            <a:prstDash val="solid"/>
          </a:ln>
        </p:spPr>
      </p:sp>
      <p:sp>
        <p:nvSpPr>
          <p:cNvPr id="3" name="Shape 1"/>
          <p:cNvSpPr/>
          <p:nvPr/>
        </p:nvSpPr>
        <p:spPr>
          <a:xfrm>
            <a:off x="3108960" y="457200"/>
            <a:ext cx="128016" cy="128016"/>
          </a:xfrm>
          <a:prstGeom prst="rect">
            <a:avLst/>
          </a:prstGeom>
          <a:solidFill>
            <a:srgbClr val="3DDC97"/>
          </a:solidFill>
          <a:ln w="12700">
            <a:solidFill>
              <a:srgbClr val="333333"/>
            </a:solidFill>
            <a:prstDash val="solid"/>
          </a:ln>
        </p:spPr>
      </p:sp>
      <p:sp>
        <p:nvSpPr>
          <p:cNvPr id="4" name="Shape 2"/>
          <p:cNvSpPr/>
          <p:nvPr/>
        </p:nvSpPr>
        <p:spPr>
          <a:xfrm>
            <a:off x="5577840" y="6309360"/>
            <a:ext cx="128016" cy="128016"/>
          </a:xfrm>
          <a:prstGeom prst="rect">
            <a:avLst/>
          </a:prstGeom>
          <a:solidFill>
            <a:srgbClr val="5CC8FF"/>
          </a:solidFill>
          <a:ln w="12700">
            <a:solidFill>
              <a:srgbClr val="333333"/>
            </a:solidFill>
            <a:prstDash val="solid"/>
          </a:ln>
        </p:spPr>
      </p:sp>
      <p:sp>
        <p:nvSpPr>
          <p:cNvPr id="5" name="Shape 3"/>
          <p:cNvSpPr/>
          <p:nvPr/>
        </p:nvSpPr>
        <p:spPr>
          <a:xfrm>
            <a:off x="7863840" y="640080"/>
            <a:ext cx="128016" cy="128016"/>
          </a:xfrm>
          <a:prstGeom prst="rect">
            <a:avLst/>
          </a:prstGeom>
          <a:solidFill>
            <a:srgbClr val="CF4420"/>
          </a:solidFill>
          <a:ln w="12700">
            <a:solidFill>
              <a:srgbClr val="333333"/>
            </a:solidFill>
            <a:prstDash val="solid"/>
          </a:ln>
        </p:spPr>
      </p:sp>
      <p:sp>
        <p:nvSpPr>
          <p:cNvPr id="6" name="Shape 4"/>
          <p:cNvSpPr/>
          <p:nvPr/>
        </p:nvSpPr>
        <p:spPr>
          <a:xfrm>
            <a:off x="11338560" y="5669280"/>
            <a:ext cx="128016" cy="128016"/>
          </a:xfrm>
          <a:prstGeom prst="rect">
            <a:avLst/>
          </a:prstGeom>
          <a:solidFill>
            <a:srgbClr val="3DDC97"/>
          </a:solidFill>
          <a:ln w="12700">
            <a:solidFill>
              <a:srgbClr val="333333"/>
            </a:solidFill>
            <a:prstDash val="solid"/>
          </a:ln>
        </p:spPr>
      </p:sp>
      <p:sp>
        <p:nvSpPr>
          <p:cNvPr id="7" name="Shape 5"/>
          <p:cNvSpPr/>
          <p:nvPr/>
        </p:nvSpPr>
        <p:spPr>
          <a:xfrm>
            <a:off x="11064240" y="1188720"/>
            <a:ext cx="128016" cy="128016"/>
          </a:xfrm>
          <a:prstGeom prst="rect">
            <a:avLst/>
          </a:prstGeom>
          <a:solidFill>
            <a:srgbClr val="FFB13B"/>
          </a:solidFill>
          <a:ln w="12700">
            <a:solidFill>
              <a:srgbClr val="333333"/>
            </a:solidFill>
            <a:prstDash val="solid"/>
          </a:ln>
        </p:spPr>
      </p:sp>
      <p:sp>
        <p:nvSpPr>
          <p:cNvPr id="8" name="Shape 6"/>
          <p:cNvSpPr/>
          <p:nvPr/>
        </p:nvSpPr>
        <p:spPr>
          <a:xfrm>
            <a:off x="8412480" y="1280160"/>
            <a:ext cx="3108960" cy="4297680"/>
          </a:xfrm>
          <a:prstGeom prst="roundRect">
            <a:avLst>
              <a:gd name="adj" fmla="val 5882"/>
            </a:avLst>
          </a:prstGeom>
          <a:solidFill>
            <a:srgbClr val="2A1D47"/>
          </a:solidFill>
          <a:ln w="38100">
            <a:solidFill>
              <a:srgbClr val="FFB13B"/>
            </a:solidFill>
            <a:prstDash val="solid"/>
          </a:ln>
        </p:spPr>
      </p:sp>
      <p:sp>
        <p:nvSpPr>
          <p:cNvPr id="9" name="Text 7"/>
          <p:cNvSpPr txBox="1"/>
          <p:nvPr/>
        </p:nvSpPr>
        <p:spPr>
          <a:xfrm>
            <a:off x="8412480" y="1645920"/>
            <a:ext cx="3108960" cy="548640"/>
          </a:xfrm>
          <a:prstGeom prst="rect">
            <a:avLst/>
          </a:prstGeom>
          <a:noFill/>
          <a:ln/>
        </p:spPr>
        <p:txBody>
          <a:bodyPr wrap="square" lIns="0" tIns="0" rIns="0" bIns="0" rtlCol="0" anchor="ctr"/>
          <a:lstStyle/>
          <a:p>
            <a:pPr algn="ctr" indent="0" marL="0">
              <a:buNone/>
            </a:pPr>
            <a:r>
              <a:rPr lang="en-US" sz="3000" b="1" dirty="0">
                <a:solidFill>
                  <a:srgbClr val="FFB13B"/>
                </a:solidFill>
                <a:latin typeface="Consolas" pitchFamily="34" charset="0"/>
                <a:ea typeface="Consolas" pitchFamily="34" charset="-122"/>
                <a:cs typeface="Consolas" pitchFamily="34" charset="-120"/>
              </a:rPr>
              <a:t>DAY</a:t>
            </a:r>
            <a:endParaRPr lang="en-US" sz="3000" dirty="0"/>
          </a:p>
        </p:txBody>
      </p:sp>
      <p:sp>
        <p:nvSpPr>
          <p:cNvPr id="10" name="Text 8"/>
          <p:cNvSpPr txBox="1"/>
          <p:nvPr/>
        </p:nvSpPr>
        <p:spPr>
          <a:xfrm>
            <a:off x="8412480" y="2194560"/>
            <a:ext cx="3108960" cy="2377440"/>
          </a:xfrm>
          <a:prstGeom prst="rect">
            <a:avLst/>
          </a:prstGeom>
          <a:noFill/>
          <a:ln/>
        </p:spPr>
        <p:txBody>
          <a:bodyPr wrap="square" lIns="0" tIns="0" rIns="0" bIns="0" rtlCol="0" anchor="ctr"/>
          <a:lstStyle/>
          <a:p>
            <a:pPr algn="ctr" indent="0" marL="0">
              <a:buNone/>
            </a:pPr>
            <a:r>
              <a:rPr lang="en-US" sz="15000" b="1" dirty="0">
                <a:solidFill>
                  <a:srgbClr val="FFFFFF"/>
                </a:solidFill>
                <a:latin typeface="Consolas" pitchFamily="34" charset="0"/>
                <a:ea typeface="Consolas" pitchFamily="34" charset="-122"/>
                <a:cs typeface="Consolas" pitchFamily="34" charset="-120"/>
              </a:rPr>
              <a:t>3</a:t>
            </a:r>
            <a:endParaRPr lang="en-US" sz="15000" dirty="0"/>
          </a:p>
        </p:txBody>
      </p:sp>
      <p:sp>
        <p:nvSpPr>
          <p:cNvPr id="11" name="Text 9"/>
          <p:cNvSpPr txBox="1"/>
          <p:nvPr/>
        </p:nvSpPr>
        <p:spPr>
          <a:xfrm>
            <a:off x="8412480" y="4800600"/>
            <a:ext cx="3108960" cy="457200"/>
          </a:xfrm>
          <a:prstGeom prst="rect">
            <a:avLst/>
          </a:prstGeom>
          <a:noFill/>
          <a:ln/>
        </p:spPr>
        <p:txBody>
          <a:bodyPr wrap="square" lIns="0" tIns="0" rIns="0" bIns="0"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PRESS START</a:t>
            </a:r>
            <a:endParaRPr lang="en-US" sz="1600" dirty="0"/>
          </a:p>
        </p:txBody>
      </p:sp>
      <p:sp>
        <p:nvSpPr>
          <p:cNvPr id="12" name="Text 10"/>
          <p:cNvSpPr txBox="1"/>
          <p:nvPr/>
        </p:nvSpPr>
        <p:spPr>
          <a:xfrm>
            <a:off x="640080" y="2011680"/>
            <a:ext cx="749808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WEEK 1  ·  DAY 3 OF 5</a:t>
            </a:r>
            <a:endParaRPr lang="en-US" sz="1300" dirty="0"/>
          </a:p>
        </p:txBody>
      </p:sp>
      <p:sp>
        <p:nvSpPr>
          <p:cNvPr id="13" name="Text 11"/>
          <p:cNvSpPr txBox="1"/>
          <p:nvPr/>
        </p:nvSpPr>
        <p:spPr>
          <a:xfrm>
            <a:off x="640080" y="2377440"/>
            <a:ext cx="749808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Players and the feeling</a:t>
            </a:r>
            <a:endParaRPr lang="en-US" sz="4600" dirty="0"/>
          </a:p>
        </p:txBody>
      </p:sp>
      <p:sp>
        <p:nvSpPr>
          <p:cNvPr id="14" name="Text 12"/>
          <p:cNvSpPr txBox="1"/>
          <p:nvPr/>
        </p:nvSpPr>
        <p:spPr>
          <a:xfrm>
            <a:off x="640080" y="3931920"/>
            <a:ext cx="7498080" cy="1280160"/>
          </a:xfrm>
          <a:prstGeom prst="rect">
            <a:avLst/>
          </a:prstGeom>
          <a:noFill/>
          <a:ln/>
        </p:spPr>
        <p:txBody>
          <a:bodyPr wrap="square" lIns="0" tIns="0" rIns="0" bIns="0" rtlCol="0" anchor="t"/>
          <a:lstStyle/>
          <a:p>
            <a:pPr indent="0" marL="0">
              <a:lnSpc>
                <a:spcPts val="2900"/>
              </a:lnSpc>
              <a:buNone/>
            </a:pPr>
            <a:r>
              <a:rPr lang="en-US" sz="2100" dirty="0">
                <a:solidFill>
                  <a:srgbClr val="DCD3F0"/>
                </a:solidFill>
                <a:latin typeface="Calibri" pitchFamily="34" charset="0"/>
                <a:ea typeface="Calibri" pitchFamily="34" charset="-122"/>
                <a:cs typeface="Calibri" pitchFamily="34" charset="-120"/>
              </a:rPr>
              <a:t>There is always more than one kind of player. Know who they are, and decide how your game should make them feel.</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3 · PLAYER TYPES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There is always more than one player</a:t>
            </a:r>
            <a:endParaRPr lang="en-US" sz="3400" dirty="0"/>
          </a:p>
        </p:txBody>
      </p:sp>
      <p:sp>
        <p:nvSpPr>
          <p:cNvPr id="8" name="Shape 6"/>
          <p:cNvSpPr/>
          <p:nvPr/>
        </p:nvSpPr>
        <p:spPr>
          <a:xfrm>
            <a:off x="640080" y="1645920"/>
            <a:ext cx="10911535" cy="731520"/>
          </a:xfrm>
          <a:prstGeom prst="roundRect">
            <a:avLst>
              <a:gd name="adj" fmla="val 1125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22960" y="1645920"/>
            <a:ext cx="640080" cy="73152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0" name="Text 8"/>
          <p:cNvSpPr txBox="1"/>
          <p:nvPr/>
        </p:nvSpPr>
        <p:spPr>
          <a:xfrm>
            <a:off x="1554480" y="1645920"/>
            <a:ext cx="3291840" cy="73152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Explorer</a:t>
            </a:r>
            <a:endParaRPr lang="en-US" sz="2100" dirty="0"/>
          </a:p>
        </p:txBody>
      </p:sp>
      <p:sp>
        <p:nvSpPr>
          <p:cNvPr id="11" name="Text 9"/>
          <p:cNvSpPr txBox="1"/>
          <p:nvPr/>
        </p:nvSpPr>
        <p:spPr>
          <a:xfrm>
            <a:off x="4937760" y="1645920"/>
            <a:ext cx="6385255" cy="731520"/>
          </a:xfrm>
          <a:prstGeom prst="rect">
            <a:avLst/>
          </a:prstGeom>
          <a:noFill/>
          <a:ln/>
        </p:spPr>
        <p:txBody>
          <a:bodyPr wrap="square" lIns="0" tIns="0" rIns="0" bIns="0" rtlCol="0" anchor="ctr"/>
          <a:lstStyle/>
          <a:p>
            <a:pPr indent="0" marL="0">
              <a:buNone/>
            </a:pPr>
            <a:r>
              <a:rPr lang="en-US" sz="1650" dirty="0">
                <a:solidFill>
                  <a:srgbClr val="1C1A19"/>
                </a:solidFill>
                <a:latin typeface="Calibri" pitchFamily="34" charset="0"/>
                <a:ea typeface="Calibri" pitchFamily="34" charset="-122"/>
                <a:cs typeface="Calibri" pitchFamily="34" charset="-120"/>
              </a:rPr>
              <a:t>Wants to find every secret and see what is around the corner.</a:t>
            </a:r>
            <a:endParaRPr lang="en-US" sz="1650" dirty="0"/>
          </a:p>
        </p:txBody>
      </p:sp>
      <p:sp>
        <p:nvSpPr>
          <p:cNvPr id="12" name="Shape 10"/>
          <p:cNvSpPr/>
          <p:nvPr/>
        </p:nvSpPr>
        <p:spPr>
          <a:xfrm>
            <a:off x="640080" y="2514600"/>
            <a:ext cx="10911535" cy="731520"/>
          </a:xfrm>
          <a:prstGeom prst="roundRect">
            <a:avLst>
              <a:gd name="adj" fmla="val 1125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822960" y="2514600"/>
            <a:ext cx="640080" cy="73152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4" name="Text 12"/>
          <p:cNvSpPr txBox="1"/>
          <p:nvPr/>
        </p:nvSpPr>
        <p:spPr>
          <a:xfrm>
            <a:off x="1554480" y="2514600"/>
            <a:ext cx="3291840" cy="73152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Competitor</a:t>
            </a:r>
            <a:endParaRPr lang="en-US" sz="2100" dirty="0"/>
          </a:p>
        </p:txBody>
      </p:sp>
      <p:sp>
        <p:nvSpPr>
          <p:cNvPr id="15" name="Text 13"/>
          <p:cNvSpPr txBox="1"/>
          <p:nvPr/>
        </p:nvSpPr>
        <p:spPr>
          <a:xfrm>
            <a:off x="4937760" y="2514600"/>
            <a:ext cx="6385255" cy="731520"/>
          </a:xfrm>
          <a:prstGeom prst="rect">
            <a:avLst/>
          </a:prstGeom>
          <a:noFill/>
          <a:ln/>
        </p:spPr>
        <p:txBody>
          <a:bodyPr wrap="square" lIns="0" tIns="0" rIns="0" bIns="0" rtlCol="0" anchor="ctr"/>
          <a:lstStyle/>
          <a:p>
            <a:pPr indent="0" marL="0">
              <a:buNone/>
            </a:pPr>
            <a:r>
              <a:rPr lang="en-US" sz="1650" dirty="0">
                <a:solidFill>
                  <a:srgbClr val="1C1A19"/>
                </a:solidFill>
                <a:latin typeface="Calibri" pitchFamily="34" charset="0"/>
                <a:ea typeface="Calibri" pitchFamily="34" charset="-122"/>
                <a:cs typeface="Calibri" pitchFamily="34" charset="-120"/>
              </a:rPr>
              <a:t>Wants to win, beat a high score, and beat their friends.</a:t>
            </a:r>
            <a:endParaRPr lang="en-US" sz="1650" dirty="0"/>
          </a:p>
        </p:txBody>
      </p:sp>
      <p:sp>
        <p:nvSpPr>
          <p:cNvPr id="16" name="Shape 14"/>
          <p:cNvSpPr/>
          <p:nvPr/>
        </p:nvSpPr>
        <p:spPr>
          <a:xfrm>
            <a:off x="640080" y="3383280"/>
            <a:ext cx="10911535" cy="731520"/>
          </a:xfrm>
          <a:prstGeom prst="roundRect">
            <a:avLst>
              <a:gd name="adj" fmla="val 1125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822960" y="3383280"/>
            <a:ext cx="640080" cy="73152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8" name="Text 16"/>
          <p:cNvSpPr txBox="1"/>
          <p:nvPr/>
        </p:nvSpPr>
        <p:spPr>
          <a:xfrm>
            <a:off x="1554480" y="3383280"/>
            <a:ext cx="3291840" cy="73152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Collector</a:t>
            </a:r>
            <a:endParaRPr lang="en-US" sz="2100" dirty="0"/>
          </a:p>
        </p:txBody>
      </p:sp>
      <p:sp>
        <p:nvSpPr>
          <p:cNvPr id="19" name="Text 17"/>
          <p:cNvSpPr txBox="1"/>
          <p:nvPr/>
        </p:nvSpPr>
        <p:spPr>
          <a:xfrm>
            <a:off x="4937760" y="3383280"/>
            <a:ext cx="6385255" cy="731520"/>
          </a:xfrm>
          <a:prstGeom prst="rect">
            <a:avLst/>
          </a:prstGeom>
          <a:noFill/>
          <a:ln/>
        </p:spPr>
        <p:txBody>
          <a:bodyPr wrap="square" lIns="0" tIns="0" rIns="0" bIns="0" rtlCol="0" anchor="ctr"/>
          <a:lstStyle/>
          <a:p>
            <a:pPr indent="0" marL="0">
              <a:buNone/>
            </a:pPr>
            <a:r>
              <a:rPr lang="en-US" sz="1650" dirty="0">
                <a:solidFill>
                  <a:srgbClr val="1C1A19"/>
                </a:solidFill>
                <a:latin typeface="Calibri" pitchFamily="34" charset="0"/>
                <a:ea typeface="Calibri" pitchFamily="34" charset="-122"/>
                <a:cs typeface="Calibri" pitchFamily="34" charset="-120"/>
              </a:rPr>
              <a:t>Wants to get them all: every card, every coin, every badge.</a:t>
            </a:r>
            <a:endParaRPr lang="en-US" sz="1650" dirty="0"/>
          </a:p>
        </p:txBody>
      </p:sp>
      <p:sp>
        <p:nvSpPr>
          <p:cNvPr id="20" name="Shape 18"/>
          <p:cNvSpPr/>
          <p:nvPr/>
        </p:nvSpPr>
        <p:spPr>
          <a:xfrm>
            <a:off x="640080" y="4251960"/>
            <a:ext cx="10911535" cy="731520"/>
          </a:xfrm>
          <a:prstGeom prst="roundRect">
            <a:avLst>
              <a:gd name="adj" fmla="val 1125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822960" y="4251960"/>
            <a:ext cx="640080" cy="73152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2" name="Text 20"/>
          <p:cNvSpPr txBox="1"/>
          <p:nvPr/>
        </p:nvSpPr>
        <p:spPr>
          <a:xfrm>
            <a:off x="1554480" y="4251960"/>
            <a:ext cx="3291840" cy="73152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Builder</a:t>
            </a:r>
            <a:endParaRPr lang="en-US" sz="2100" dirty="0"/>
          </a:p>
        </p:txBody>
      </p:sp>
      <p:sp>
        <p:nvSpPr>
          <p:cNvPr id="23" name="Text 21"/>
          <p:cNvSpPr txBox="1"/>
          <p:nvPr/>
        </p:nvSpPr>
        <p:spPr>
          <a:xfrm>
            <a:off x="4937760" y="4251960"/>
            <a:ext cx="6385255" cy="731520"/>
          </a:xfrm>
          <a:prstGeom prst="rect">
            <a:avLst/>
          </a:prstGeom>
          <a:noFill/>
          <a:ln/>
        </p:spPr>
        <p:txBody>
          <a:bodyPr wrap="square" lIns="0" tIns="0" rIns="0" bIns="0" rtlCol="0" anchor="ctr"/>
          <a:lstStyle/>
          <a:p>
            <a:pPr indent="0" marL="0">
              <a:buNone/>
            </a:pPr>
            <a:r>
              <a:rPr lang="en-US" sz="1650" dirty="0">
                <a:solidFill>
                  <a:srgbClr val="1C1A19"/>
                </a:solidFill>
                <a:latin typeface="Calibri" pitchFamily="34" charset="0"/>
                <a:ea typeface="Calibri" pitchFamily="34" charset="-122"/>
                <a:cs typeface="Calibri" pitchFamily="34" charset="-120"/>
              </a:rPr>
              <a:t>Wants to make something of their own: a base, a team, a world.</a:t>
            </a:r>
            <a:endParaRPr lang="en-US" sz="1650" dirty="0"/>
          </a:p>
        </p:txBody>
      </p:sp>
      <p:sp>
        <p:nvSpPr>
          <p:cNvPr id="24" name="Shape 22"/>
          <p:cNvSpPr/>
          <p:nvPr/>
        </p:nvSpPr>
        <p:spPr>
          <a:xfrm>
            <a:off x="640080" y="5120640"/>
            <a:ext cx="10911535" cy="731520"/>
          </a:xfrm>
          <a:prstGeom prst="roundRect">
            <a:avLst>
              <a:gd name="adj" fmla="val 11250"/>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Text 23"/>
          <p:cNvSpPr txBox="1"/>
          <p:nvPr/>
        </p:nvSpPr>
        <p:spPr>
          <a:xfrm>
            <a:off x="822960" y="5120640"/>
            <a:ext cx="640080" cy="731520"/>
          </a:xfrm>
          <a:prstGeom prst="rect">
            <a:avLst/>
          </a:prstGeom>
          <a:noFill/>
          <a:ln/>
        </p:spPr>
        <p:txBody>
          <a:bodyPr wrap="square" lIns="0" tIns="0" rIns="0" bIns="0" rtlCol="0" anchor="ctr"/>
          <a:lstStyle/>
          <a:p>
            <a:pP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6" name="Text 24"/>
          <p:cNvSpPr txBox="1"/>
          <p:nvPr/>
        </p:nvSpPr>
        <p:spPr>
          <a:xfrm>
            <a:off x="1554480" y="5120640"/>
            <a:ext cx="3291840" cy="73152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The parent who says yes</a:t>
            </a:r>
            <a:endParaRPr lang="en-US" sz="2100" dirty="0"/>
          </a:p>
        </p:txBody>
      </p:sp>
      <p:sp>
        <p:nvSpPr>
          <p:cNvPr id="27" name="Text 25"/>
          <p:cNvSpPr txBox="1"/>
          <p:nvPr/>
        </p:nvSpPr>
        <p:spPr>
          <a:xfrm>
            <a:off x="4937760" y="5120640"/>
            <a:ext cx="6385255" cy="731520"/>
          </a:xfrm>
          <a:prstGeom prst="rect">
            <a:avLst/>
          </a:prstGeom>
          <a:noFill/>
          <a:ln/>
        </p:spPr>
        <p:txBody>
          <a:bodyPr wrap="square" lIns="0" tIns="0" rIns="0" bIns="0" rtlCol="0" anchor="ctr"/>
          <a:lstStyle/>
          <a:p>
            <a:pPr indent="0" marL="0">
              <a:buNone/>
            </a:pPr>
            <a:r>
              <a:rPr lang="en-US" sz="1650" dirty="0">
                <a:solidFill>
                  <a:srgbClr val="1C1A19"/>
                </a:solidFill>
                <a:latin typeface="Calibri" pitchFamily="34" charset="0"/>
                <a:ea typeface="Calibri" pitchFamily="34" charset="-122"/>
                <a:cs typeface="Calibri" pitchFamily="34" charset="-120"/>
              </a:rPr>
              <a:t>Never plays, but decides if it is allowed. Wants it safe and fair.</a:t>
            </a:r>
            <a:endParaRPr lang="en-US" sz="1650" dirty="0"/>
          </a:p>
        </p:txBody>
      </p:sp>
      <p:sp>
        <p:nvSpPr>
          <p:cNvPr id="28" name="Text 26"/>
          <p:cNvSpPr txBox="1"/>
          <p:nvPr/>
        </p:nvSpPr>
        <p:spPr>
          <a:xfrm>
            <a:off x="640080" y="6080760"/>
            <a:ext cx="10911535" cy="457200"/>
          </a:xfrm>
          <a:prstGeom prst="rect">
            <a:avLst/>
          </a:prstGeom>
          <a:noFill/>
          <a:ln/>
        </p:spPr>
        <p:txBody>
          <a:bodyPr wrap="square" lIns="0" tIns="0" rIns="0" bIns="0" rtlCol="0" anchor="t"/>
          <a:lstStyle/>
          <a:p>
            <a:pPr indent="0" marL="0">
              <a:lnSpc>
                <a:spcPts val="2200"/>
              </a:lnSpc>
              <a:buNone/>
            </a:pPr>
            <a:r>
              <a:rPr lang="en-US" sz="1600" b="1" dirty="0">
                <a:solidFill>
                  <a:srgbClr val="CF4420"/>
                </a:solidFill>
                <a:latin typeface="Calibri" pitchFamily="34" charset="0"/>
                <a:ea typeface="Calibri" pitchFamily="34" charset="-122"/>
                <a:cs typeface="Calibri" pitchFamily="34" charset="-120"/>
              </a:rPr>
              <a:t>Same rule as Launch Pad: name at least two, and write what each one wants.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3 · FEELING WORDS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Pick the feeling</a:t>
            </a:r>
            <a:endParaRPr lang="en-US" sz="3400" dirty="0"/>
          </a:p>
        </p:txBody>
      </p:sp>
      <p:sp>
        <p:nvSpPr>
          <p:cNvPr id="8" name="Shape 6"/>
          <p:cNvSpPr/>
          <p:nvPr/>
        </p:nvSpPr>
        <p:spPr>
          <a:xfrm>
            <a:off x="731520" y="1737360"/>
            <a:ext cx="1999427" cy="960120"/>
          </a:xfrm>
          <a:prstGeom prst="roundRect">
            <a:avLst>
              <a:gd name="adj" fmla="val 47619"/>
            </a:avLst>
          </a:prstGeom>
          <a:solidFill>
            <a:srgbClr val="CF4420"/>
          </a:solidFill>
          <a:ln w="12700">
            <a:solidFill>
              <a:srgbClr val="333333"/>
            </a:solidFill>
            <a:prstDash val="solid"/>
          </a:ln>
        </p:spPr>
      </p:sp>
      <p:sp>
        <p:nvSpPr>
          <p:cNvPr id="9" name="Text 7"/>
          <p:cNvSpPr txBox="1"/>
          <p:nvPr/>
        </p:nvSpPr>
        <p:spPr>
          <a:xfrm>
            <a:off x="731520" y="173736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Brave</a:t>
            </a:r>
            <a:endParaRPr lang="en-US" sz="2400" dirty="0"/>
          </a:p>
        </p:txBody>
      </p:sp>
      <p:sp>
        <p:nvSpPr>
          <p:cNvPr id="10" name="Shape 8"/>
          <p:cNvSpPr/>
          <p:nvPr/>
        </p:nvSpPr>
        <p:spPr>
          <a:xfrm>
            <a:off x="2913827" y="1737360"/>
            <a:ext cx="1999427" cy="960120"/>
          </a:xfrm>
          <a:prstGeom prst="roundRect">
            <a:avLst>
              <a:gd name="adj" fmla="val 47619"/>
            </a:avLst>
          </a:prstGeom>
          <a:solidFill>
            <a:srgbClr val="1F6F78"/>
          </a:solidFill>
          <a:ln w="12700">
            <a:solidFill>
              <a:srgbClr val="333333"/>
            </a:solidFill>
            <a:prstDash val="solid"/>
          </a:ln>
        </p:spPr>
      </p:sp>
      <p:sp>
        <p:nvSpPr>
          <p:cNvPr id="11" name="Text 9"/>
          <p:cNvSpPr txBox="1"/>
          <p:nvPr/>
        </p:nvSpPr>
        <p:spPr>
          <a:xfrm>
            <a:off x="2913827" y="173736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Clever</a:t>
            </a:r>
            <a:endParaRPr lang="en-US" sz="2400" dirty="0"/>
          </a:p>
        </p:txBody>
      </p:sp>
      <p:sp>
        <p:nvSpPr>
          <p:cNvPr id="12" name="Shape 10"/>
          <p:cNvSpPr/>
          <p:nvPr/>
        </p:nvSpPr>
        <p:spPr>
          <a:xfrm>
            <a:off x="5096134" y="1737360"/>
            <a:ext cx="1999427" cy="960120"/>
          </a:xfrm>
          <a:prstGeom prst="roundRect">
            <a:avLst>
              <a:gd name="adj" fmla="val 47619"/>
            </a:avLst>
          </a:prstGeom>
          <a:solidFill>
            <a:srgbClr val="B4261C"/>
          </a:solidFill>
          <a:ln w="12700">
            <a:solidFill>
              <a:srgbClr val="333333"/>
            </a:solidFill>
            <a:prstDash val="solid"/>
          </a:ln>
        </p:spPr>
      </p:sp>
      <p:sp>
        <p:nvSpPr>
          <p:cNvPr id="13" name="Text 11"/>
          <p:cNvSpPr txBox="1"/>
          <p:nvPr/>
        </p:nvSpPr>
        <p:spPr>
          <a:xfrm>
            <a:off x="5096134" y="173736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Fast</a:t>
            </a:r>
            <a:endParaRPr lang="en-US" sz="2400" dirty="0"/>
          </a:p>
        </p:txBody>
      </p:sp>
      <p:sp>
        <p:nvSpPr>
          <p:cNvPr id="14" name="Shape 12"/>
          <p:cNvSpPr/>
          <p:nvPr/>
        </p:nvSpPr>
        <p:spPr>
          <a:xfrm>
            <a:off x="7278441" y="1737360"/>
            <a:ext cx="1999427" cy="960120"/>
          </a:xfrm>
          <a:prstGeom prst="roundRect">
            <a:avLst>
              <a:gd name="adj" fmla="val 47619"/>
            </a:avLst>
          </a:prstGeom>
          <a:solidFill>
            <a:srgbClr val="8A5A2B"/>
          </a:solidFill>
          <a:ln w="12700">
            <a:solidFill>
              <a:srgbClr val="333333"/>
            </a:solidFill>
            <a:prstDash val="solid"/>
          </a:ln>
        </p:spPr>
      </p:sp>
      <p:sp>
        <p:nvSpPr>
          <p:cNvPr id="15" name="Text 13"/>
          <p:cNvSpPr txBox="1"/>
          <p:nvPr/>
        </p:nvSpPr>
        <p:spPr>
          <a:xfrm>
            <a:off x="7278441" y="173736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Cozy</a:t>
            </a:r>
            <a:endParaRPr lang="en-US" sz="2400" dirty="0"/>
          </a:p>
        </p:txBody>
      </p:sp>
      <p:sp>
        <p:nvSpPr>
          <p:cNvPr id="16" name="Shape 14"/>
          <p:cNvSpPr/>
          <p:nvPr/>
        </p:nvSpPr>
        <p:spPr>
          <a:xfrm>
            <a:off x="9460748" y="1737360"/>
            <a:ext cx="1999427" cy="960120"/>
          </a:xfrm>
          <a:prstGeom prst="roundRect">
            <a:avLst>
              <a:gd name="adj" fmla="val 47619"/>
            </a:avLst>
          </a:prstGeom>
          <a:solidFill>
            <a:srgbClr val="2A1D47"/>
          </a:solidFill>
          <a:ln w="12700">
            <a:solidFill>
              <a:srgbClr val="333333"/>
            </a:solidFill>
            <a:prstDash val="solid"/>
          </a:ln>
        </p:spPr>
      </p:sp>
      <p:sp>
        <p:nvSpPr>
          <p:cNvPr id="17" name="Text 15"/>
          <p:cNvSpPr txBox="1"/>
          <p:nvPr/>
        </p:nvSpPr>
        <p:spPr>
          <a:xfrm>
            <a:off x="9460748" y="173736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Spooky</a:t>
            </a:r>
            <a:endParaRPr lang="en-US" sz="2400" dirty="0"/>
          </a:p>
        </p:txBody>
      </p:sp>
      <p:sp>
        <p:nvSpPr>
          <p:cNvPr id="18" name="Shape 16"/>
          <p:cNvSpPr/>
          <p:nvPr/>
        </p:nvSpPr>
        <p:spPr>
          <a:xfrm>
            <a:off x="731520" y="2971800"/>
            <a:ext cx="1999427" cy="960120"/>
          </a:xfrm>
          <a:prstGeom prst="roundRect">
            <a:avLst>
              <a:gd name="adj" fmla="val 47619"/>
            </a:avLst>
          </a:prstGeom>
          <a:solidFill>
            <a:srgbClr val="630031"/>
          </a:solidFill>
          <a:ln w="12700">
            <a:solidFill>
              <a:srgbClr val="333333"/>
            </a:solidFill>
            <a:prstDash val="solid"/>
          </a:ln>
        </p:spPr>
      </p:sp>
      <p:sp>
        <p:nvSpPr>
          <p:cNvPr id="19" name="Text 17"/>
          <p:cNvSpPr txBox="1"/>
          <p:nvPr/>
        </p:nvSpPr>
        <p:spPr>
          <a:xfrm>
            <a:off x="731520" y="297180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Proud</a:t>
            </a:r>
            <a:endParaRPr lang="en-US" sz="2400" dirty="0"/>
          </a:p>
        </p:txBody>
      </p:sp>
      <p:sp>
        <p:nvSpPr>
          <p:cNvPr id="20" name="Shape 18"/>
          <p:cNvSpPr/>
          <p:nvPr/>
        </p:nvSpPr>
        <p:spPr>
          <a:xfrm>
            <a:off x="2913827" y="2971800"/>
            <a:ext cx="1999427" cy="960120"/>
          </a:xfrm>
          <a:prstGeom prst="roundRect">
            <a:avLst>
              <a:gd name="adj" fmla="val 47619"/>
            </a:avLst>
          </a:prstGeom>
          <a:solidFill>
            <a:srgbClr val="2E6B4A"/>
          </a:solidFill>
          <a:ln w="12700">
            <a:solidFill>
              <a:srgbClr val="333333"/>
            </a:solidFill>
            <a:prstDash val="solid"/>
          </a:ln>
        </p:spPr>
      </p:sp>
      <p:sp>
        <p:nvSpPr>
          <p:cNvPr id="21" name="Text 19"/>
          <p:cNvSpPr txBox="1"/>
          <p:nvPr/>
        </p:nvSpPr>
        <p:spPr>
          <a:xfrm>
            <a:off x="2913827" y="297180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Curious</a:t>
            </a:r>
            <a:endParaRPr lang="en-US" sz="2400" dirty="0"/>
          </a:p>
        </p:txBody>
      </p:sp>
      <p:sp>
        <p:nvSpPr>
          <p:cNvPr id="22" name="Shape 20"/>
          <p:cNvSpPr/>
          <p:nvPr/>
        </p:nvSpPr>
        <p:spPr>
          <a:xfrm>
            <a:off x="5096134" y="2971800"/>
            <a:ext cx="1999427" cy="960120"/>
          </a:xfrm>
          <a:prstGeom prst="roundRect">
            <a:avLst>
              <a:gd name="adj" fmla="val 47619"/>
            </a:avLst>
          </a:prstGeom>
          <a:solidFill>
            <a:srgbClr val="B45309"/>
          </a:solidFill>
          <a:ln w="12700">
            <a:solidFill>
              <a:srgbClr val="333333"/>
            </a:solidFill>
            <a:prstDash val="solid"/>
          </a:ln>
        </p:spPr>
      </p:sp>
      <p:sp>
        <p:nvSpPr>
          <p:cNvPr id="23" name="Text 21"/>
          <p:cNvSpPr txBox="1"/>
          <p:nvPr/>
        </p:nvSpPr>
        <p:spPr>
          <a:xfrm>
            <a:off x="5096134" y="297180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Powerful</a:t>
            </a:r>
            <a:endParaRPr lang="en-US" sz="2400" dirty="0"/>
          </a:p>
        </p:txBody>
      </p:sp>
      <p:sp>
        <p:nvSpPr>
          <p:cNvPr id="24" name="Shape 22"/>
          <p:cNvSpPr/>
          <p:nvPr/>
        </p:nvSpPr>
        <p:spPr>
          <a:xfrm>
            <a:off x="7278441" y="2971800"/>
            <a:ext cx="1999427" cy="960120"/>
          </a:xfrm>
          <a:prstGeom prst="roundRect">
            <a:avLst>
              <a:gd name="adj" fmla="val 47619"/>
            </a:avLst>
          </a:prstGeom>
          <a:solidFill>
            <a:srgbClr val="3B82A0"/>
          </a:solidFill>
          <a:ln w="12700">
            <a:solidFill>
              <a:srgbClr val="333333"/>
            </a:solidFill>
            <a:prstDash val="solid"/>
          </a:ln>
        </p:spPr>
      </p:sp>
      <p:sp>
        <p:nvSpPr>
          <p:cNvPr id="25" name="Text 23"/>
          <p:cNvSpPr txBox="1"/>
          <p:nvPr/>
        </p:nvSpPr>
        <p:spPr>
          <a:xfrm>
            <a:off x="7278441" y="297180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Calm</a:t>
            </a:r>
            <a:endParaRPr lang="en-US" sz="2400" dirty="0"/>
          </a:p>
        </p:txBody>
      </p:sp>
      <p:sp>
        <p:nvSpPr>
          <p:cNvPr id="26" name="Shape 24"/>
          <p:cNvSpPr/>
          <p:nvPr/>
        </p:nvSpPr>
        <p:spPr>
          <a:xfrm>
            <a:off x="9460748" y="2971800"/>
            <a:ext cx="1999427" cy="960120"/>
          </a:xfrm>
          <a:prstGeom prst="roundRect">
            <a:avLst>
              <a:gd name="adj" fmla="val 47619"/>
            </a:avLst>
          </a:prstGeom>
          <a:solidFill>
            <a:srgbClr val="4B3F72"/>
          </a:solidFill>
          <a:ln w="12700">
            <a:solidFill>
              <a:srgbClr val="333333"/>
            </a:solidFill>
            <a:prstDash val="solid"/>
          </a:ln>
        </p:spPr>
      </p:sp>
      <p:sp>
        <p:nvSpPr>
          <p:cNvPr id="27" name="Text 25"/>
          <p:cNvSpPr txBox="1"/>
          <p:nvPr/>
        </p:nvSpPr>
        <p:spPr>
          <a:xfrm>
            <a:off x="9460748" y="2971800"/>
            <a:ext cx="1999427"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Sneaky</a:t>
            </a:r>
            <a:endParaRPr lang="en-US" sz="2400" dirty="0"/>
          </a:p>
        </p:txBody>
      </p:sp>
      <p:sp>
        <p:nvSpPr>
          <p:cNvPr id="28" name="Shape 26"/>
          <p:cNvSpPr/>
          <p:nvPr/>
        </p:nvSpPr>
        <p:spPr>
          <a:xfrm>
            <a:off x="640080" y="4434840"/>
            <a:ext cx="10911535" cy="1417320"/>
          </a:xfrm>
          <a:prstGeom prst="roundRect">
            <a:avLst>
              <a:gd name="adj" fmla="val 5806"/>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9" name="Text 27"/>
          <p:cNvSpPr txBox="1"/>
          <p:nvPr/>
        </p:nvSpPr>
        <p:spPr>
          <a:xfrm>
            <a:off x="960120" y="4617720"/>
            <a:ext cx="10271455" cy="1143000"/>
          </a:xfrm>
          <a:prstGeom prst="rect">
            <a:avLst/>
          </a:prstGeom>
          <a:noFill/>
          <a:ln/>
        </p:spPr>
        <p:txBody>
          <a:bodyPr wrap="square" lIns="0" tIns="0" rIns="0" bIns="0" rtlCol="0" anchor="t"/>
          <a:lstStyle/>
          <a:p>
            <a:pPr indent="0" marL="0">
              <a:lnSpc>
                <a:spcPts val="2600"/>
              </a:lnSpc>
              <a:buNone/>
            </a:pPr>
            <a:r>
              <a:rPr lang="en-US" sz="1800" b="1" dirty="0">
                <a:solidFill>
                  <a:srgbClr val="630031"/>
                </a:solidFill>
                <a:latin typeface="Calibri" pitchFamily="34" charset="0"/>
                <a:ea typeface="Calibri" pitchFamily="34" charset="-122"/>
                <a:cs typeface="Calibri" pitchFamily="34" charset="-120"/>
              </a:rPr>
              <a:t>Then check your loop against it. </a:t>
            </a:r>
            <a:pPr indent="0" marL="0">
              <a:lnSpc>
                <a:spcPts val="2600"/>
              </a:lnSpc>
              <a:buNone/>
            </a:pPr>
            <a:r>
              <a:rPr lang="en-US" sz="1800" dirty="0">
                <a:solidFill>
                  <a:srgbClr val="1C1A19"/>
                </a:solidFill>
                <a:latin typeface="Calibri" pitchFamily="34" charset="0"/>
                <a:ea typeface="Calibri" pitchFamily="34" charset="-122"/>
                <a:cs typeface="Calibri" pitchFamily="34" charset="-120"/>
              </a:rPr>
              <a:t>If the feeling is “spooky”, does your loop have hiding, sneaking, and things that jump out? If the feeling is “cozy”, do you really need a timer?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3 · PURPOSE IS THE FEELING</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From apps to games: the same skill</a:t>
            </a:r>
            <a:endParaRPr lang="en-US" sz="3400" dirty="0"/>
          </a:p>
        </p:txBody>
      </p:sp>
      <p:sp>
        <p:nvSpPr>
          <p:cNvPr id="8" name="Shape 6"/>
          <p:cNvSpPr/>
          <p:nvPr/>
        </p:nvSpPr>
        <p:spPr>
          <a:xfrm>
            <a:off x="640080" y="1691640"/>
            <a:ext cx="5272888" cy="3383280"/>
          </a:xfrm>
          <a:prstGeom prst="roundRect">
            <a:avLst>
              <a:gd name="adj" fmla="val 2432"/>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6278728" y="1691640"/>
            <a:ext cx="5272888" cy="3383280"/>
          </a:xfrm>
          <a:prstGeom prst="roundRect">
            <a:avLst>
              <a:gd name="adj" fmla="val 2432"/>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960120" y="1874520"/>
            <a:ext cx="4632808" cy="320040"/>
          </a:xfrm>
          <a:prstGeom prst="rect">
            <a:avLst/>
          </a:prstGeom>
          <a:noFill/>
          <a:ln/>
        </p:spPr>
        <p:txBody>
          <a:bodyPr wrap="square" lIns="0" tIns="0" rIns="0" bIns="0" rtlCol="0" anchor="ctr"/>
          <a:lstStyle/>
          <a:p>
            <a:pPr indent="0" marL="0">
              <a:buNone/>
            </a:pPr>
            <a:r>
              <a:rPr lang="en-US" sz="1300" b="1" spc="200" kern="0" dirty="0">
                <a:solidFill>
                  <a:srgbClr val="75787B"/>
                </a:solidFill>
                <a:latin typeface="Calibri" pitchFamily="34" charset="0"/>
                <a:ea typeface="Calibri" pitchFamily="34" charset="-122"/>
                <a:cs typeface="Calibri" pitchFamily="34" charset="-120"/>
              </a:rPr>
              <a:t>APPS (LAUNCH PAD)</a:t>
            </a:r>
            <a:endParaRPr lang="en-US" sz="1300" dirty="0"/>
          </a:p>
        </p:txBody>
      </p:sp>
      <p:sp>
        <p:nvSpPr>
          <p:cNvPr id="11" name="Text 9"/>
          <p:cNvSpPr txBox="1"/>
          <p:nvPr/>
        </p:nvSpPr>
        <p:spPr>
          <a:xfrm>
            <a:off x="960120" y="2240280"/>
            <a:ext cx="4632808" cy="548640"/>
          </a:xfrm>
          <a:prstGeom prst="rect">
            <a:avLst/>
          </a:prstGeom>
          <a:noFill/>
          <a:ln/>
        </p:spPr>
        <p:txBody>
          <a:bodyPr wrap="square" lIns="0" tIns="0" rIns="0" bIns="0" rtlCol="0" anchor="ctr"/>
          <a:lstStyle/>
          <a:p>
            <a:pPr indent="0" marL="0">
              <a:buNone/>
            </a:pPr>
            <a:r>
              <a:rPr lang="en-US" sz="2600" b="1" dirty="0">
                <a:solidFill>
                  <a:srgbClr val="630031"/>
                </a:solidFill>
                <a:latin typeface="Cambria" pitchFamily="34" charset="0"/>
                <a:ea typeface="Cambria" pitchFamily="34" charset="-122"/>
                <a:cs typeface="Cambria" pitchFamily="34" charset="-120"/>
              </a:rPr>
              <a:t>Purpose = the impact.</a:t>
            </a:r>
            <a:endParaRPr lang="en-US" sz="2600" dirty="0"/>
          </a:p>
        </p:txBody>
      </p:sp>
      <p:sp>
        <p:nvSpPr>
          <p:cNvPr id="12" name="Text 10"/>
          <p:cNvSpPr txBox="1"/>
          <p:nvPr/>
        </p:nvSpPr>
        <p:spPr>
          <a:xfrm>
            <a:off x="960120" y="2880360"/>
            <a:ext cx="4632808" cy="2011680"/>
          </a:xfrm>
          <a:prstGeom prst="rect">
            <a:avLst/>
          </a:prstGeom>
          <a:noFill/>
          <a:ln/>
        </p:spPr>
        <p:txBody>
          <a:bodyPr wrap="square" lIns="0" tIns="0" rIns="0" bIns="0" rtlCol="0" anchor="t"/>
          <a:lstStyle/>
          <a:p>
            <a:pPr indent="0" marL="0">
              <a:lnSpc>
                <a:spcPts val="2500"/>
              </a:lnSpc>
              <a:buNone/>
            </a:pPr>
            <a:r>
              <a:rPr lang="en-US" sz="1800" dirty="0">
                <a:solidFill>
                  <a:srgbClr val="1C1A19"/>
                </a:solidFill>
                <a:latin typeface="Calibri" pitchFamily="34" charset="0"/>
                <a:ea typeface="Calibri" pitchFamily="34" charset="-122"/>
                <a:cs typeface="Calibri" pitchFamily="34" charset="-120"/>
              </a:rPr>
              <a:t>“New kids get to class on time instead of getting lost.”</a:t>
            </a:r>
            <a:endParaRPr lang="en-US" sz="1800" dirty="0"/>
          </a:p>
          <a:p>
            <a:pPr indent="0" marL="0">
              <a:lnSpc>
                <a:spcPts val="2500"/>
              </a:lnSpc>
              <a:buNone/>
            </a:pPr>
            <a:endParaRPr lang="en-US" sz="1800" dirty="0"/>
          </a:p>
          <a:p>
            <a:pPr indent="0" marL="0">
              <a:lnSpc>
                <a:spcPts val="2500"/>
              </a:lnSpc>
              <a:buNone/>
            </a:pPr>
            <a:r>
              <a:rPr lang="en-US" sz="1800" dirty="0">
                <a:solidFill>
                  <a:srgbClr val="1C1A19"/>
                </a:solidFill>
                <a:latin typeface="Calibri" pitchFamily="34" charset="0"/>
                <a:ea typeface="Calibri" pitchFamily="34" charset="-122"/>
                <a:cs typeface="Calibri" pitchFamily="34" charset="-120"/>
              </a:rPr>
              <a:t>Who is better off, and how?</a:t>
            </a:r>
            <a:endParaRPr lang="en-US" sz="1800" dirty="0"/>
          </a:p>
        </p:txBody>
      </p:sp>
      <p:sp>
        <p:nvSpPr>
          <p:cNvPr id="13" name="Text 11"/>
          <p:cNvSpPr txBox="1"/>
          <p:nvPr/>
        </p:nvSpPr>
        <p:spPr>
          <a:xfrm>
            <a:off x="6598768" y="1874520"/>
            <a:ext cx="4632808" cy="320040"/>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GAMES (GAME STUDIO)</a:t>
            </a:r>
            <a:endParaRPr lang="en-US" sz="1300" dirty="0"/>
          </a:p>
        </p:txBody>
      </p:sp>
      <p:sp>
        <p:nvSpPr>
          <p:cNvPr id="14" name="Text 12"/>
          <p:cNvSpPr txBox="1"/>
          <p:nvPr/>
        </p:nvSpPr>
        <p:spPr>
          <a:xfrm>
            <a:off x="6598768" y="2240280"/>
            <a:ext cx="4632808" cy="548640"/>
          </a:xfrm>
          <a:prstGeom prst="rect">
            <a:avLst/>
          </a:prstGeom>
          <a:noFill/>
          <a:ln/>
        </p:spPr>
        <p:txBody>
          <a:bodyPr wrap="square" lIns="0" tIns="0" rIns="0" bIns="0" rtlCol="0" anchor="ctr"/>
          <a:lstStyle/>
          <a:p>
            <a:pPr indent="0" marL="0">
              <a:buNone/>
            </a:pPr>
            <a:r>
              <a:rPr lang="en-US" sz="2600" b="1" dirty="0">
                <a:solidFill>
                  <a:srgbClr val="630031"/>
                </a:solidFill>
                <a:latin typeface="Cambria" pitchFamily="34" charset="0"/>
                <a:ea typeface="Cambria" pitchFamily="34" charset="-122"/>
                <a:cs typeface="Cambria" pitchFamily="34" charset="-120"/>
              </a:rPr>
              <a:t>Purpose = the feeling.</a:t>
            </a:r>
            <a:endParaRPr lang="en-US" sz="2600" dirty="0"/>
          </a:p>
        </p:txBody>
      </p:sp>
      <p:sp>
        <p:nvSpPr>
          <p:cNvPr id="15" name="Text 13"/>
          <p:cNvSpPr txBox="1"/>
          <p:nvPr/>
        </p:nvSpPr>
        <p:spPr>
          <a:xfrm>
            <a:off x="6598768" y="2880360"/>
            <a:ext cx="4632808" cy="2011680"/>
          </a:xfrm>
          <a:prstGeom prst="rect">
            <a:avLst/>
          </a:prstGeom>
          <a:noFill/>
          <a:ln/>
        </p:spPr>
        <p:txBody>
          <a:bodyPr wrap="square" lIns="0" tIns="0" rIns="0" bIns="0" rtlCol="0" anchor="t"/>
          <a:lstStyle/>
          <a:p>
            <a:pPr indent="0" marL="0">
              <a:lnSpc>
                <a:spcPts val="2500"/>
              </a:lnSpc>
              <a:buNone/>
            </a:pPr>
            <a:r>
              <a:rPr lang="en-US" sz="1800" dirty="0">
                <a:solidFill>
                  <a:srgbClr val="1C1A19"/>
                </a:solidFill>
                <a:latin typeface="Calibri" pitchFamily="34" charset="0"/>
                <a:ea typeface="Calibri" pitchFamily="34" charset="-122"/>
                <a:cs typeface="Calibri" pitchFamily="34" charset="-120"/>
              </a:rPr>
              <a:t>“The player feels brave, because the dragon is huge and they beat it anyway.”</a:t>
            </a:r>
            <a:endParaRPr lang="en-US" sz="1800" dirty="0"/>
          </a:p>
          <a:p>
            <a:pPr indent="0" marL="0">
              <a:lnSpc>
                <a:spcPts val="2500"/>
              </a:lnSpc>
              <a:buNone/>
            </a:pPr>
            <a:endParaRPr lang="en-US" sz="1800" dirty="0"/>
          </a:p>
          <a:p>
            <a:pPr indent="0" marL="0">
              <a:lnSpc>
                <a:spcPts val="2500"/>
              </a:lnSpc>
              <a:buNone/>
            </a:pPr>
            <a:r>
              <a:rPr lang="en-US" sz="1800" dirty="0">
                <a:solidFill>
                  <a:srgbClr val="1C1A19"/>
                </a:solidFill>
                <a:latin typeface="Calibri" pitchFamily="34" charset="0"/>
                <a:ea typeface="Calibri" pitchFamily="34" charset="-122"/>
                <a:cs typeface="Calibri" pitchFamily="34" charset="-120"/>
              </a:rPr>
              <a:t>How does the player feel, and why?</a:t>
            </a:r>
            <a:endParaRPr lang="en-US" sz="1800" dirty="0"/>
          </a:p>
        </p:txBody>
      </p:sp>
      <p:sp>
        <p:nvSpPr>
          <p:cNvPr id="16" name="Text 14"/>
          <p:cNvSpPr txBox="1"/>
          <p:nvPr/>
        </p:nvSpPr>
        <p:spPr>
          <a:xfrm>
            <a:off x="640080" y="5394960"/>
            <a:ext cx="10911535" cy="731520"/>
          </a:xfrm>
          <a:prstGeom prst="rect">
            <a:avLst/>
          </a:prstGeom>
          <a:noFill/>
          <a:ln/>
        </p:spPr>
        <p:txBody>
          <a:bodyPr wrap="square" lIns="0" tIns="0" rIns="0" bIns="0" rtlCol="0" anchor="t"/>
          <a:lstStyle/>
          <a:p>
            <a:pPr indent="0" marL="0">
              <a:lnSpc>
                <a:spcPts val="2200"/>
              </a:lnSpc>
              <a:buNone/>
            </a:pPr>
            <a:r>
              <a:rPr lang="en-US" sz="1900" b="1" dirty="0">
                <a:solidFill>
                  <a:srgbClr val="CF4420"/>
                </a:solidFill>
                <a:latin typeface="Calibri" pitchFamily="34" charset="0"/>
                <a:ea typeface="Calibri" pitchFamily="34" charset="-122"/>
                <a:cs typeface="Calibri" pitchFamily="34" charset="-120"/>
              </a:rPr>
              <a:t>Write it as: “The player feels ____, because ____.” That sentence goes at the top of your design doc.</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1097280" y="6035040"/>
            <a:ext cx="128016" cy="128016"/>
          </a:xfrm>
          <a:prstGeom prst="rect">
            <a:avLst/>
          </a:prstGeom>
          <a:solidFill>
            <a:srgbClr val="FFB13B"/>
          </a:solidFill>
          <a:ln w="12700">
            <a:solidFill>
              <a:srgbClr val="333333"/>
            </a:solidFill>
            <a:prstDash val="solid"/>
          </a:ln>
        </p:spPr>
      </p:sp>
      <p:sp>
        <p:nvSpPr>
          <p:cNvPr id="3" name="Shape 1"/>
          <p:cNvSpPr/>
          <p:nvPr/>
        </p:nvSpPr>
        <p:spPr>
          <a:xfrm>
            <a:off x="3108960" y="457200"/>
            <a:ext cx="128016" cy="128016"/>
          </a:xfrm>
          <a:prstGeom prst="rect">
            <a:avLst/>
          </a:prstGeom>
          <a:solidFill>
            <a:srgbClr val="3DDC97"/>
          </a:solidFill>
          <a:ln w="12700">
            <a:solidFill>
              <a:srgbClr val="333333"/>
            </a:solidFill>
            <a:prstDash val="solid"/>
          </a:ln>
        </p:spPr>
      </p:sp>
      <p:sp>
        <p:nvSpPr>
          <p:cNvPr id="4" name="Shape 2"/>
          <p:cNvSpPr/>
          <p:nvPr/>
        </p:nvSpPr>
        <p:spPr>
          <a:xfrm>
            <a:off x="5577840" y="6309360"/>
            <a:ext cx="128016" cy="128016"/>
          </a:xfrm>
          <a:prstGeom prst="rect">
            <a:avLst/>
          </a:prstGeom>
          <a:solidFill>
            <a:srgbClr val="5CC8FF"/>
          </a:solidFill>
          <a:ln w="12700">
            <a:solidFill>
              <a:srgbClr val="333333"/>
            </a:solidFill>
            <a:prstDash val="solid"/>
          </a:ln>
        </p:spPr>
      </p:sp>
      <p:sp>
        <p:nvSpPr>
          <p:cNvPr id="5" name="Shape 3"/>
          <p:cNvSpPr/>
          <p:nvPr/>
        </p:nvSpPr>
        <p:spPr>
          <a:xfrm>
            <a:off x="7863840" y="640080"/>
            <a:ext cx="128016" cy="128016"/>
          </a:xfrm>
          <a:prstGeom prst="rect">
            <a:avLst/>
          </a:prstGeom>
          <a:solidFill>
            <a:srgbClr val="CF4420"/>
          </a:solidFill>
          <a:ln w="12700">
            <a:solidFill>
              <a:srgbClr val="333333"/>
            </a:solidFill>
            <a:prstDash val="solid"/>
          </a:ln>
        </p:spPr>
      </p:sp>
      <p:sp>
        <p:nvSpPr>
          <p:cNvPr id="6" name="Shape 4"/>
          <p:cNvSpPr/>
          <p:nvPr/>
        </p:nvSpPr>
        <p:spPr>
          <a:xfrm>
            <a:off x="11338560" y="5669280"/>
            <a:ext cx="128016" cy="128016"/>
          </a:xfrm>
          <a:prstGeom prst="rect">
            <a:avLst/>
          </a:prstGeom>
          <a:solidFill>
            <a:srgbClr val="3DDC97"/>
          </a:solidFill>
          <a:ln w="12700">
            <a:solidFill>
              <a:srgbClr val="333333"/>
            </a:solidFill>
            <a:prstDash val="solid"/>
          </a:ln>
        </p:spPr>
      </p:sp>
      <p:sp>
        <p:nvSpPr>
          <p:cNvPr id="7" name="Shape 5"/>
          <p:cNvSpPr/>
          <p:nvPr/>
        </p:nvSpPr>
        <p:spPr>
          <a:xfrm>
            <a:off x="11064240" y="1188720"/>
            <a:ext cx="128016" cy="128016"/>
          </a:xfrm>
          <a:prstGeom prst="rect">
            <a:avLst/>
          </a:prstGeom>
          <a:solidFill>
            <a:srgbClr val="FFB13B"/>
          </a:solidFill>
          <a:ln w="12700">
            <a:solidFill>
              <a:srgbClr val="333333"/>
            </a:solidFill>
            <a:prstDash val="solid"/>
          </a:ln>
        </p:spPr>
      </p:sp>
      <p:sp>
        <p:nvSpPr>
          <p:cNvPr id="8" name="Shape 6"/>
          <p:cNvSpPr/>
          <p:nvPr/>
        </p:nvSpPr>
        <p:spPr>
          <a:xfrm>
            <a:off x="8412480" y="1280160"/>
            <a:ext cx="3108960" cy="4297680"/>
          </a:xfrm>
          <a:prstGeom prst="roundRect">
            <a:avLst>
              <a:gd name="adj" fmla="val 5882"/>
            </a:avLst>
          </a:prstGeom>
          <a:solidFill>
            <a:srgbClr val="2A1D47"/>
          </a:solidFill>
          <a:ln w="38100">
            <a:solidFill>
              <a:srgbClr val="FFB13B"/>
            </a:solidFill>
            <a:prstDash val="solid"/>
          </a:ln>
        </p:spPr>
      </p:sp>
      <p:sp>
        <p:nvSpPr>
          <p:cNvPr id="9" name="Text 7"/>
          <p:cNvSpPr txBox="1"/>
          <p:nvPr/>
        </p:nvSpPr>
        <p:spPr>
          <a:xfrm>
            <a:off x="8412480" y="1645920"/>
            <a:ext cx="3108960" cy="548640"/>
          </a:xfrm>
          <a:prstGeom prst="rect">
            <a:avLst/>
          </a:prstGeom>
          <a:noFill/>
          <a:ln/>
        </p:spPr>
        <p:txBody>
          <a:bodyPr wrap="square" lIns="0" tIns="0" rIns="0" bIns="0" rtlCol="0" anchor="ctr"/>
          <a:lstStyle/>
          <a:p>
            <a:pPr algn="ctr" indent="0" marL="0">
              <a:buNone/>
            </a:pPr>
            <a:r>
              <a:rPr lang="en-US" sz="3000" b="1" dirty="0">
                <a:solidFill>
                  <a:srgbClr val="FFB13B"/>
                </a:solidFill>
                <a:latin typeface="Consolas" pitchFamily="34" charset="0"/>
                <a:ea typeface="Consolas" pitchFamily="34" charset="-122"/>
                <a:cs typeface="Consolas" pitchFamily="34" charset="-120"/>
              </a:rPr>
              <a:t>DAY</a:t>
            </a:r>
            <a:endParaRPr lang="en-US" sz="3000" dirty="0"/>
          </a:p>
        </p:txBody>
      </p:sp>
      <p:sp>
        <p:nvSpPr>
          <p:cNvPr id="10" name="Text 8"/>
          <p:cNvSpPr txBox="1"/>
          <p:nvPr/>
        </p:nvSpPr>
        <p:spPr>
          <a:xfrm>
            <a:off x="8412480" y="2194560"/>
            <a:ext cx="3108960" cy="2377440"/>
          </a:xfrm>
          <a:prstGeom prst="rect">
            <a:avLst/>
          </a:prstGeom>
          <a:noFill/>
          <a:ln/>
        </p:spPr>
        <p:txBody>
          <a:bodyPr wrap="square" lIns="0" tIns="0" rIns="0" bIns="0" rtlCol="0" anchor="ctr"/>
          <a:lstStyle/>
          <a:p>
            <a:pPr algn="ctr" indent="0" marL="0">
              <a:buNone/>
            </a:pPr>
            <a:r>
              <a:rPr lang="en-US" sz="15000" b="1" dirty="0">
                <a:solidFill>
                  <a:srgbClr val="FFFFFF"/>
                </a:solidFill>
                <a:latin typeface="Consolas" pitchFamily="34" charset="0"/>
                <a:ea typeface="Consolas" pitchFamily="34" charset="-122"/>
                <a:cs typeface="Consolas" pitchFamily="34" charset="-120"/>
              </a:rPr>
              <a:t>4</a:t>
            </a:r>
            <a:endParaRPr lang="en-US" sz="15000" dirty="0"/>
          </a:p>
        </p:txBody>
      </p:sp>
      <p:sp>
        <p:nvSpPr>
          <p:cNvPr id="11" name="Text 9"/>
          <p:cNvSpPr txBox="1"/>
          <p:nvPr/>
        </p:nvSpPr>
        <p:spPr>
          <a:xfrm>
            <a:off x="8412480" y="4800600"/>
            <a:ext cx="3108960" cy="457200"/>
          </a:xfrm>
          <a:prstGeom prst="rect">
            <a:avLst/>
          </a:prstGeom>
          <a:noFill/>
          <a:ln/>
        </p:spPr>
        <p:txBody>
          <a:bodyPr wrap="square" lIns="0" tIns="0" rIns="0" bIns="0"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PRESS START</a:t>
            </a:r>
            <a:endParaRPr lang="en-US" sz="1600" dirty="0"/>
          </a:p>
        </p:txBody>
      </p:sp>
      <p:sp>
        <p:nvSpPr>
          <p:cNvPr id="12" name="Text 10"/>
          <p:cNvSpPr txBox="1"/>
          <p:nvPr/>
        </p:nvSpPr>
        <p:spPr>
          <a:xfrm>
            <a:off x="640080" y="2011680"/>
            <a:ext cx="749808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WEEK 1  ·  DAY 4 OF 5</a:t>
            </a:r>
            <a:endParaRPr lang="en-US" sz="1300" dirty="0"/>
          </a:p>
        </p:txBody>
      </p:sp>
      <p:sp>
        <p:nvSpPr>
          <p:cNvPr id="13" name="Text 11"/>
          <p:cNvSpPr txBox="1"/>
          <p:nvPr/>
        </p:nvSpPr>
        <p:spPr>
          <a:xfrm>
            <a:off x="640080" y="2377440"/>
            <a:ext cx="749808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The pitch</a:t>
            </a:r>
            <a:endParaRPr lang="en-US" sz="4600" dirty="0"/>
          </a:p>
        </p:txBody>
      </p:sp>
      <p:sp>
        <p:nvSpPr>
          <p:cNvPr id="14" name="Text 12"/>
          <p:cNvSpPr txBox="1"/>
          <p:nvPr/>
        </p:nvSpPr>
        <p:spPr>
          <a:xfrm>
            <a:off x="640080" y="3931920"/>
            <a:ext cx="7498080" cy="1280160"/>
          </a:xfrm>
          <a:prstGeom prst="rect">
            <a:avLst/>
          </a:prstGeom>
          <a:noFill/>
          <a:ln/>
        </p:spPr>
        <p:txBody>
          <a:bodyPr wrap="square" lIns="0" tIns="0" rIns="0" bIns="0" rtlCol="0" anchor="t"/>
          <a:lstStyle/>
          <a:p>
            <a:pPr indent="0" marL="0">
              <a:lnSpc>
                <a:spcPts val="2900"/>
              </a:lnSpc>
              <a:buNone/>
            </a:pPr>
            <a:r>
              <a:rPr lang="en-US" sz="2100" dirty="0">
                <a:solidFill>
                  <a:srgbClr val="DCD3F0"/>
                </a:solidFill>
                <a:latin typeface="Calibri" pitchFamily="34" charset="0"/>
                <a:ea typeface="Calibri" pitchFamily="34" charset="-122"/>
                <a:cs typeface="Calibri" pitchFamily="34" charset="-120"/>
              </a:rPr>
              <a:t>One sentence that makes people want to play your game, and a plan small enough to actually make in six weeks.</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4 · THE PITCH</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 pitch sentence</a:t>
            </a:r>
            <a:endParaRPr lang="en-US" sz="3400" dirty="0"/>
          </a:p>
        </p:txBody>
      </p:sp>
      <p:sp>
        <p:nvSpPr>
          <p:cNvPr id="8" name="Shape 6"/>
          <p:cNvSpPr/>
          <p:nvPr/>
        </p:nvSpPr>
        <p:spPr>
          <a:xfrm>
            <a:off x="640080" y="1737360"/>
            <a:ext cx="10911535" cy="1463040"/>
          </a:xfrm>
          <a:prstGeom prst="roundRect">
            <a:avLst>
              <a:gd name="adj" fmla="val 562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1005840" y="1737360"/>
            <a:ext cx="10180015" cy="1463040"/>
          </a:xfrm>
          <a:prstGeom prst="rect">
            <a:avLst/>
          </a:prstGeom>
          <a:noFill/>
          <a:ln/>
        </p:spPr>
        <p:txBody>
          <a:bodyPr wrap="square" lIns="0" tIns="0" rIns="0" bIns="0" rtlCol="0" anchor="ctr"/>
          <a:lstStyle/>
          <a:p>
            <a:pPr indent="0" marL="0">
              <a:buNone/>
            </a:pPr>
            <a:r>
              <a:rPr lang="en-US" sz="3200" dirty="0">
                <a:solidFill>
                  <a:srgbClr val="1C1A19"/>
                </a:solidFill>
                <a:latin typeface="Cambria" pitchFamily="34" charset="0"/>
                <a:ea typeface="Cambria" pitchFamily="34" charset="-122"/>
                <a:cs typeface="Cambria" pitchFamily="34" charset="-120"/>
              </a:rPr>
              <a:t>It's a </a:t>
            </a:r>
            <a:pPr indent="0" marL="0">
              <a:buNone/>
            </a:pPr>
            <a:r>
              <a:rPr lang="en-US" sz="3200" b="1" dirty="0">
                <a:solidFill>
                  <a:srgbClr val="CF4420"/>
                </a:solidFill>
                <a:latin typeface="Cambria" pitchFamily="34" charset="0"/>
                <a:ea typeface="Cambria" pitchFamily="34" charset="-122"/>
                <a:cs typeface="Cambria" pitchFamily="34" charset="-120"/>
              </a:rPr>
              <a:t>______</a:t>
            </a:r>
            <a:pPr indent="0" marL="0">
              <a:buNone/>
            </a:pPr>
            <a:r>
              <a:rPr lang="en-US" sz="3200" dirty="0">
                <a:solidFill>
                  <a:srgbClr val="1C1A19"/>
                </a:solidFill>
                <a:latin typeface="Cambria" pitchFamily="34" charset="0"/>
                <a:ea typeface="Cambria" pitchFamily="34" charset="-122"/>
                <a:cs typeface="Cambria" pitchFamily="34" charset="-120"/>
              </a:rPr>
              <a:t> game where you </a:t>
            </a:r>
            <a:pPr indent="0" marL="0">
              <a:buNone/>
            </a:pPr>
            <a:r>
              <a:rPr lang="en-US" sz="3200" b="1" dirty="0">
                <a:solidFill>
                  <a:srgbClr val="CF4420"/>
                </a:solidFill>
                <a:latin typeface="Cambria" pitchFamily="34" charset="0"/>
                <a:ea typeface="Cambria" pitchFamily="34" charset="-122"/>
                <a:cs typeface="Cambria" pitchFamily="34" charset="-120"/>
              </a:rPr>
              <a:t>______</a:t>
            </a:r>
            <a:pPr indent="0" marL="0">
              <a:buNone/>
            </a:pPr>
            <a:r>
              <a:rPr lang="en-US" sz="3200" dirty="0">
                <a:solidFill>
                  <a:srgbClr val="1C1A19"/>
                </a:solidFill>
                <a:latin typeface="Cambria" pitchFamily="34" charset="0"/>
                <a:ea typeface="Cambria" pitchFamily="34" charset="-122"/>
                <a:cs typeface="Cambria" pitchFamily="34" charset="-120"/>
              </a:rPr>
              <a:t> so that you feel </a:t>
            </a:r>
            <a:pPr indent="0" marL="0">
              <a:buNone/>
            </a:pPr>
            <a:r>
              <a:rPr lang="en-US" sz="3200" b="1" dirty="0">
                <a:solidFill>
                  <a:srgbClr val="CF4420"/>
                </a:solidFill>
                <a:latin typeface="Cambria" pitchFamily="34" charset="0"/>
                <a:ea typeface="Cambria" pitchFamily="34" charset="-122"/>
                <a:cs typeface="Cambria" pitchFamily="34" charset="-120"/>
              </a:rPr>
              <a:t>______</a:t>
            </a:r>
            <a:pPr indent="0" marL="0">
              <a:buNone/>
            </a:pPr>
            <a:r>
              <a:rPr lang="en-US" sz="3200" dirty="0">
                <a:solidFill>
                  <a:srgbClr val="1C1A19"/>
                </a:solidFill>
                <a:latin typeface="Cambria" pitchFamily="34" charset="0"/>
                <a:ea typeface="Cambria" pitchFamily="34" charset="-122"/>
                <a:cs typeface="Cambria" pitchFamily="34" charset="-120"/>
              </a:rPr>
              <a:t>.</a:t>
            </a:r>
            <a:endParaRPr lang="en-US" sz="3200" dirty="0"/>
          </a:p>
        </p:txBody>
      </p:sp>
      <p:sp>
        <p:nvSpPr>
          <p:cNvPr id="10" name="Shape 8"/>
          <p:cNvSpPr/>
          <p:nvPr/>
        </p:nvSpPr>
        <p:spPr>
          <a:xfrm>
            <a:off x="640080" y="3520440"/>
            <a:ext cx="3417722" cy="2011680"/>
          </a:xfrm>
          <a:prstGeom prst="roundRect">
            <a:avLst>
              <a:gd name="adj" fmla="val 4091"/>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914400" y="3703320"/>
            <a:ext cx="420624" cy="420624"/>
          </a:xfrm>
          <a:prstGeom prst="ellipse">
            <a:avLst/>
          </a:prstGeom>
          <a:solidFill>
            <a:srgbClr val="CF4420"/>
          </a:solidFill>
          <a:ln w="12700">
            <a:solidFill>
              <a:srgbClr val="333333"/>
            </a:solidFill>
            <a:prstDash val="solid"/>
          </a:ln>
        </p:spPr>
      </p:sp>
      <p:sp>
        <p:nvSpPr>
          <p:cNvPr id="12" name="Text 10"/>
          <p:cNvSpPr txBox="1"/>
          <p:nvPr/>
        </p:nvSpPr>
        <p:spPr>
          <a:xfrm>
            <a:off x="91440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txBox="1"/>
          <p:nvPr/>
        </p:nvSpPr>
        <p:spPr>
          <a:xfrm>
            <a:off x="1508760" y="3703320"/>
            <a:ext cx="2320442" cy="42062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Game type</a:t>
            </a:r>
            <a:endParaRPr lang="en-US" sz="2000" dirty="0"/>
          </a:p>
        </p:txBody>
      </p:sp>
      <p:sp>
        <p:nvSpPr>
          <p:cNvPr id="14" name="Text 12"/>
          <p:cNvSpPr txBox="1"/>
          <p:nvPr/>
        </p:nvSpPr>
        <p:spPr>
          <a:xfrm>
            <a:off x="914400" y="4297680"/>
            <a:ext cx="2869082" cy="1143000"/>
          </a:xfrm>
          <a:prstGeom prst="rect">
            <a:avLst/>
          </a:prstGeom>
          <a:noFill/>
          <a:ln/>
        </p:spPr>
        <p:txBody>
          <a:bodyPr wrap="square" lIns="0" tIns="0" rIns="0" bIns="0" rtlCol="0" anchor="t"/>
          <a:lstStyle/>
          <a:p>
            <a:pPr indent="0" marL="0">
              <a:lnSpc>
                <a:spcPts val="2100"/>
              </a:lnSpc>
              <a:buNone/>
            </a:pPr>
            <a:r>
              <a:rPr lang="en-US" sz="1550" i="1" dirty="0">
                <a:solidFill>
                  <a:srgbClr val="75787B"/>
                </a:solidFill>
                <a:latin typeface="Calibri" pitchFamily="34" charset="0"/>
                <a:ea typeface="Calibri" pitchFamily="34" charset="-122"/>
                <a:cs typeface="Calibri" pitchFamily="34" charset="-120"/>
              </a:rPr>
              <a:t>platformer, racer, puzzle, survival, sports, collect-and-upgrade</a:t>
            </a:r>
            <a:endParaRPr lang="en-US" sz="1550" dirty="0"/>
          </a:p>
        </p:txBody>
      </p:sp>
      <p:sp>
        <p:nvSpPr>
          <p:cNvPr id="15" name="Shape 13"/>
          <p:cNvSpPr/>
          <p:nvPr/>
        </p:nvSpPr>
        <p:spPr>
          <a:xfrm>
            <a:off x="4386986" y="3520440"/>
            <a:ext cx="3417722" cy="2011680"/>
          </a:xfrm>
          <a:prstGeom prst="roundRect">
            <a:avLst>
              <a:gd name="adj" fmla="val 4091"/>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Shape 14"/>
          <p:cNvSpPr/>
          <p:nvPr/>
        </p:nvSpPr>
        <p:spPr>
          <a:xfrm>
            <a:off x="4661306" y="3703320"/>
            <a:ext cx="420624" cy="420624"/>
          </a:xfrm>
          <a:prstGeom prst="ellipse">
            <a:avLst/>
          </a:prstGeom>
          <a:solidFill>
            <a:srgbClr val="CF4420"/>
          </a:solidFill>
          <a:ln w="12700">
            <a:solidFill>
              <a:srgbClr val="333333"/>
            </a:solidFill>
            <a:prstDash val="solid"/>
          </a:ln>
        </p:spPr>
      </p:sp>
      <p:sp>
        <p:nvSpPr>
          <p:cNvPr id="17" name="Text 15"/>
          <p:cNvSpPr txBox="1"/>
          <p:nvPr/>
        </p:nvSpPr>
        <p:spPr>
          <a:xfrm>
            <a:off x="466130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5255666" y="3703320"/>
            <a:ext cx="2320442" cy="42062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Your core loop</a:t>
            </a:r>
            <a:endParaRPr lang="en-US" sz="2000" dirty="0"/>
          </a:p>
        </p:txBody>
      </p:sp>
      <p:sp>
        <p:nvSpPr>
          <p:cNvPr id="19" name="Text 17"/>
          <p:cNvSpPr txBox="1"/>
          <p:nvPr/>
        </p:nvSpPr>
        <p:spPr>
          <a:xfrm>
            <a:off x="4661306" y="4297680"/>
            <a:ext cx="2869082" cy="1143000"/>
          </a:xfrm>
          <a:prstGeom prst="rect">
            <a:avLst/>
          </a:prstGeom>
          <a:noFill/>
          <a:ln/>
        </p:spPr>
        <p:txBody>
          <a:bodyPr wrap="square" lIns="0" tIns="0" rIns="0" bIns="0" rtlCol="0" anchor="t"/>
          <a:lstStyle/>
          <a:p>
            <a:pPr indent="0" marL="0">
              <a:lnSpc>
                <a:spcPts val="2100"/>
              </a:lnSpc>
              <a:buNone/>
            </a:pPr>
            <a:r>
              <a:rPr lang="en-US" sz="1550" i="1" dirty="0">
                <a:solidFill>
                  <a:srgbClr val="75787B"/>
                </a:solidFill>
                <a:latin typeface="Calibri" pitchFamily="34" charset="0"/>
                <a:ea typeface="Calibri" pitchFamily="34" charset="-122"/>
                <a:cs typeface="Calibri" pitchFamily="34" charset="-120"/>
              </a:rPr>
              <a:t>the verbs: jump across rooftops and collect lost kittens</a:t>
            </a:r>
            <a:endParaRPr lang="en-US" sz="1550" dirty="0"/>
          </a:p>
        </p:txBody>
      </p:sp>
      <p:sp>
        <p:nvSpPr>
          <p:cNvPr id="20" name="Shape 18"/>
          <p:cNvSpPr/>
          <p:nvPr/>
        </p:nvSpPr>
        <p:spPr>
          <a:xfrm>
            <a:off x="8133893" y="3520440"/>
            <a:ext cx="3417722" cy="2011680"/>
          </a:xfrm>
          <a:prstGeom prst="roundRect">
            <a:avLst>
              <a:gd name="adj" fmla="val 4091"/>
            </a:avLst>
          </a:prstGeom>
          <a:solidFill>
            <a:srgbClr val="FFF8EC"/>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Shape 19"/>
          <p:cNvSpPr/>
          <p:nvPr/>
        </p:nvSpPr>
        <p:spPr>
          <a:xfrm>
            <a:off x="8408213" y="3703320"/>
            <a:ext cx="420624" cy="420624"/>
          </a:xfrm>
          <a:prstGeom prst="ellipse">
            <a:avLst/>
          </a:prstGeom>
          <a:solidFill>
            <a:srgbClr val="CF4420"/>
          </a:solidFill>
          <a:ln w="12700">
            <a:solidFill>
              <a:srgbClr val="333333"/>
            </a:solidFill>
            <a:prstDash val="solid"/>
          </a:ln>
        </p:spPr>
      </p:sp>
      <p:sp>
        <p:nvSpPr>
          <p:cNvPr id="22" name="Text 20"/>
          <p:cNvSpPr txBox="1"/>
          <p:nvPr/>
        </p:nvSpPr>
        <p:spPr>
          <a:xfrm>
            <a:off x="8408213"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3" name="Text 21"/>
          <p:cNvSpPr txBox="1"/>
          <p:nvPr/>
        </p:nvSpPr>
        <p:spPr>
          <a:xfrm>
            <a:off x="9002573" y="3703320"/>
            <a:ext cx="2320442" cy="420624"/>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The feeling</a:t>
            </a:r>
            <a:endParaRPr lang="en-US" sz="2000" dirty="0"/>
          </a:p>
        </p:txBody>
      </p:sp>
      <p:sp>
        <p:nvSpPr>
          <p:cNvPr id="24" name="Text 22"/>
          <p:cNvSpPr txBox="1"/>
          <p:nvPr/>
        </p:nvSpPr>
        <p:spPr>
          <a:xfrm>
            <a:off x="8408213" y="4297680"/>
            <a:ext cx="2869082" cy="1143000"/>
          </a:xfrm>
          <a:prstGeom prst="rect">
            <a:avLst/>
          </a:prstGeom>
          <a:noFill/>
          <a:ln/>
        </p:spPr>
        <p:txBody>
          <a:bodyPr wrap="square" lIns="0" tIns="0" rIns="0" bIns="0" rtlCol="0" anchor="t"/>
          <a:lstStyle/>
          <a:p>
            <a:pPr indent="0" marL="0">
              <a:lnSpc>
                <a:spcPts val="2100"/>
              </a:lnSpc>
              <a:buNone/>
            </a:pPr>
            <a:r>
              <a:rPr lang="en-US" sz="1550" i="1" dirty="0">
                <a:solidFill>
                  <a:srgbClr val="75787B"/>
                </a:solidFill>
                <a:latin typeface="Calibri" pitchFamily="34" charset="0"/>
                <a:ea typeface="Calibri" pitchFamily="34" charset="-122"/>
                <a:cs typeface="Calibri" pitchFamily="34" charset="-120"/>
              </a:rPr>
              <a:t>brave, clever, fast, cozy, spooky, proud</a:t>
            </a:r>
            <a:endParaRPr lang="en-US" sz="1550" dirty="0"/>
          </a:p>
        </p:txBody>
      </p:sp>
      <p:sp>
        <p:nvSpPr>
          <p:cNvPr id="25" name="Text 23"/>
          <p:cNvSpPr txBox="1"/>
          <p:nvPr/>
        </p:nvSpPr>
        <p:spPr>
          <a:xfrm>
            <a:off x="640080" y="5806440"/>
            <a:ext cx="10911535" cy="45720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Three blanks: what kind of game, what you do, how it feels. Everything else waits until next week.</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4 · THE PITCH</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Weak pitch, strong pitch</a:t>
            </a:r>
            <a:endParaRPr lang="en-US" sz="3400" dirty="0"/>
          </a:p>
        </p:txBody>
      </p:sp>
      <p:sp>
        <p:nvSpPr>
          <p:cNvPr id="8" name="Shape 6"/>
          <p:cNvSpPr/>
          <p:nvPr/>
        </p:nvSpPr>
        <p:spPr>
          <a:xfrm>
            <a:off x="640080" y="1691640"/>
            <a:ext cx="4023360" cy="1828800"/>
          </a:xfrm>
          <a:prstGeom prst="roundRect">
            <a:avLst>
              <a:gd name="adj" fmla="val 4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4983480" y="1691640"/>
            <a:ext cx="6568135" cy="1828800"/>
          </a:xfrm>
          <a:prstGeom prst="roundRect">
            <a:avLst>
              <a:gd name="adj" fmla="val 4500"/>
            </a:avLst>
          </a:prstGeom>
          <a:solidFill>
            <a:srgbClr val="EAF7E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Text 8"/>
          <p:cNvSpPr txBox="1"/>
          <p:nvPr/>
        </p:nvSpPr>
        <p:spPr>
          <a:xfrm>
            <a:off x="914400" y="1828800"/>
            <a:ext cx="1828800" cy="274320"/>
          </a:xfrm>
          <a:prstGeom prst="rect">
            <a:avLst/>
          </a:prstGeom>
          <a:noFill/>
          <a:ln/>
        </p:spPr>
        <p:txBody>
          <a:bodyPr wrap="square" lIns="0" tIns="0" rIns="0" bIns="0" rtlCol="0" anchor="ctr"/>
          <a:lstStyle/>
          <a:p>
            <a:pPr indent="0" marL="0">
              <a:buNone/>
            </a:pPr>
            <a:r>
              <a:rPr lang="en-US" sz="1200" b="1" spc="200" kern="0" dirty="0">
                <a:solidFill>
                  <a:srgbClr val="75787B"/>
                </a:solidFill>
                <a:latin typeface="Calibri" pitchFamily="34" charset="0"/>
                <a:ea typeface="Calibri" pitchFamily="34" charset="-122"/>
                <a:cs typeface="Calibri" pitchFamily="34" charset="-120"/>
              </a:rPr>
              <a:t>WEAK</a:t>
            </a:r>
            <a:endParaRPr lang="en-US" sz="1200" dirty="0"/>
          </a:p>
        </p:txBody>
      </p:sp>
      <p:sp>
        <p:nvSpPr>
          <p:cNvPr id="11" name="Text 9"/>
          <p:cNvSpPr txBox="1"/>
          <p:nvPr/>
        </p:nvSpPr>
        <p:spPr>
          <a:xfrm>
            <a:off x="914400" y="2103120"/>
            <a:ext cx="3474720" cy="868680"/>
          </a:xfrm>
          <a:prstGeom prst="rect">
            <a:avLst/>
          </a:prstGeom>
          <a:noFill/>
          <a:ln/>
        </p:spPr>
        <p:txBody>
          <a:bodyPr wrap="square" lIns="0" tIns="0" rIns="0" bIns="0" rtlCol="0" anchor="t"/>
          <a:lstStyle/>
          <a:p>
            <a:pPr indent="0" marL="0">
              <a:buNone/>
            </a:pPr>
            <a:r>
              <a:rPr lang="en-US" sz="1700" dirty="0">
                <a:solidFill>
                  <a:srgbClr val="5A5F63"/>
                </a:solidFill>
                <a:latin typeface="Cambria" pitchFamily="34" charset="0"/>
                <a:ea typeface="Cambria" pitchFamily="34" charset="-122"/>
                <a:cs typeface="Cambria" pitchFamily="34" charset="-120"/>
              </a:rPr>
              <a:t>It's a really fun game with lots of levels and cool stuff.</a:t>
            </a:r>
            <a:endParaRPr lang="en-US" sz="1700" dirty="0"/>
          </a:p>
        </p:txBody>
      </p:sp>
      <p:sp>
        <p:nvSpPr>
          <p:cNvPr id="12" name="Text 10"/>
          <p:cNvSpPr txBox="1"/>
          <p:nvPr/>
        </p:nvSpPr>
        <p:spPr>
          <a:xfrm>
            <a:off x="914400" y="3017520"/>
            <a:ext cx="3474720" cy="411480"/>
          </a:xfrm>
          <a:prstGeom prst="rect">
            <a:avLst/>
          </a:prstGeom>
          <a:noFill/>
          <a:ln/>
        </p:spPr>
        <p:txBody>
          <a:bodyPr wrap="square" lIns="0" tIns="0" rIns="0" bIns="0" rtlCol="0" anchor="ctr"/>
          <a:lstStyle/>
          <a:p>
            <a:pPr indent="0" marL="0">
              <a:buNone/>
            </a:pPr>
            <a:r>
              <a:rPr lang="en-US" sz="1400" i="1" dirty="0">
                <a:solidFill>
                  <a:srgbClr val="CF4420"/>
                </a:solidFill>
                <a:latin typeface="Calibri" pitchFamily="34" charset="0"/>
                <a:ea typeface="Calibri" pitchFamily="34" charset="-122"/>
                <a:cs typeface="Calibri" pitchFamily="34" charset="-120"/>
              </a:rPr>
              <a:t>What do you DO? How does it feel?</a:t>
            </a:r>
            <a:endParaRPr lang="en-US" sz="1400" dirty="0"/>
          </a:p>
        </p:txBody>
      </p:sp>
      <p:sp>
        <p:nvSpPr>
          <p:cNvPr id="13" name="Text 11"/>
          <p:cNvSpPr txBox="1"/>
          <p:nvPr/>
        </p:nvSpPr>
        <p:spPr>
          <a:xfrm>
            <a:off x="5257800" y="1828800"/>
            <a:ext cx="1828800" cy="274320"/>
          </a:xfrm>
          <a:prstGeom prst="rect">
            <a:avLst/>
          </a:prstGeom>
          <a:noFill/>
          <a:ln/>
        </p:spPr>
        <p:txBody>
          <a:bodyPr wrap="square" lIns="0" tIns="0" rIns="0" bIns="0" rtlCol="0" anchor="ctr"/>
          <a:lstStyle/>
          <a:p>
            <a:pPr indent="0" marL="0">
              <a:buNone/>
            </a:pPr>
            <a:r>
              <a:rPr lang="en-US" sz="1200" b="1" spc="200" kern="0" dirty="0">
                <a:solidFill>
                  <a:srgbClr val="1E7A44"/>
                </a:solidFill>
                <a:latin typeface="Calibri" pitchFamily="34" charset="0"/>
                <a:ea typeface="Calibri" pitchFamily="34" charset="-122"/>
                <a:cs typeface="Calibri" pitchFamily="34" charset="-120"/>
              </a:rPr>
              <a:t>STRONG</a:t>
            </a:r>
            <a:endParaRPr lang="en-US" sz="1200" dirty="0"/>
          </a:p>
        </p:txBody>
      </p:sp>
      <p:sp>
        <p:nvSpPr>
          <p:cNvPr id="14" name="Text 12"/>
          <p:cNvSpPr txBox="1"/>
          <p:nvPr/>
        </p:nvSpPr>
        <p:spPr>
          <a:xfrm>
            <a:off x="5257800" y="2103120"/>
            <a:ext cx="6019495" cy="1325880"/>
          </a:xfrm>
          <a:prstGeom prst="rect">
            <a:avLst/>
          </a:prstGeom>
          <a:noFill/>
          <a:ln/>
        </p:spPr>
        <p:txBody>
          <a:bodyPr wrap="square" lIns="0" tIns="0" rIns="0" bIns="0" rtlCol="0" anchor="t"/>
          <a:lstStyle/>
          <a:p>
            <a:pPr indent="0" marL="0">
              <a:lnSpc>
                <a:spcPts val="2600"/>
              </a:lnSpc>
              <a:buNone/>
            </a:pPr>
            <a:r>
              <a:rPr lang="en-US" sz="1900" dirty="0">
                <a:solidFill>
                  <a:srgbClr val="1C1A19"/>
                </a:solidFill>
                <a:latin typeface="Cambria" pitchFamily="34" charset="0"/>
                <a:ea typeface="Cambria" pitchFamily="34" charset="-122"/>
                <a:cs typeface="Cambria" pitchFamily="34" charset="-120"/>
              </a:rPr>
              <a:t>It's a survival game where you build a camp and scare off wolves at night so that you feel brave.</a:t>
            </a:r>
            <a:endParaRPr lang="en-US" sz="1900" dirty="0"/>
          </a:p>
        </p:txBody>
      </p:sp>
      <p:sp>
        <p:nvSpPr>
          <p:cNvPr id="15" name="Shape 13"/>
          <p:cNvSpPr/>
          <p:nvPr/>
        </p:nvSpPr>
        <p:spPr>
          <a:xfrm>
            <a:off x="640080" y="3749040"/>
            <a:ext cx="4023360" cy="1828800"/>
          </a:xfrm>
          <a:prstGeom prst="roundRect">
            <a:avLst>
              <a:gd name="adj" fmla="val 4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Shape 14"/>
          <p:cNvSpPr/>
          <p:nvPr/>
        </p:nvSpPr>
        <p:spPr>
          <a:xfrm>
            <a:off x="4983480" y="3749040"/>
            <a:ext cx="6568135" cy="1828800"/>
          </a:xfrm>
          <a:prstGeom prst="roundRect">
            <a:avLst>
              <a:gd name="adj" fmla="val 4500"/>
            </a:avLst>
          </a:prstGeom>
          <a:solidFill>
            <a:srgbClr val="EAF7E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14400" y="3886200"/>
            <a:ext cx="1828800" cy="274320"/>
          </a:xfrm>
          <a:prstGeom prst="rect">
            <a:avLst/>
          </a:prstGeom>
          <a:noFill/>
          <a:ln/>
        </p:spPr>
        <p:txBody>
          <a:bodyPr wrap="square" lIns="0" tIns="0" rIns="0" bIns="0" rtlCol="0" anchor="ctr"/>
          <a:lstStyle/>
          <a:p>
            <a:pPr indent="0" marL="0">
              <a:buNone/>
            </a:pPr>
            <a:r>
              <a:rPr lang="en-US" sz="1200" b="1" spc="200" kern="0" dirty="0">
                <a:solidFill>
                  <a:srgbClr val="75787B"/>
                </a:solidFill>
                <a:latin typeface="Calibri" pitchFamily="34" charset="0"/>
                <a:ea typeface="Calibri" pitchFamily="34" charset="-122"/>
                <a:cs typeface="Calibri" pitchFamily="34" charset="-120"/>
              </a:rPr>
              <a:t>WEAK</a:t>
            </a:r>
            <a:endParaRPr lang="en-US" sz="1200" dirty="0"/>
          </a:p>
        </p:txBody>
      </p:sp>
      <p:sp>
        <p:nvSpPr>
          <p:cNvPr id="18" name="Text 16"/>
          <p:cNvSpPr txBox="1"/>
          <p:nvPr/>
        </p:nvSpPr>
        <p:spPr>
          <a:xfrm>
            <a:off x="914400" y="4160520"/>
            <a:ext cx="3474720" cy="868680"/>
          </a:xfrm>
          <a:prstGeom prst="rect">
            <a:avLst/>
          </a:prstGeom>
          <a:noFill/>
          <a:ln/>
        </p:spPr>
        <p:txBody>
          <a:bodyPr wrap="square" lIns="0" tIns="0" rIns="0" bIns="0" rtlCol="0" anchor="t"/>
          <a:lstStyle/>
          <a:p>
            <a:pPr indent="0" marL="0">
              <a:buNone/>
            </a:pPr>
            <a:r>
              <a:rPr lang="en-US" sz="1700" dirty="0">
                <a:solidFill>
                  <a:srgbClr val="5A5F63"/>
                </a:solidFill>
                <a:latin typeface="Cambria" pitchFamily="34" charset="0"/>
                <a:ea typeface="Cambria" pitchFamily="34" charset="-122"/>
                <a:cs typeface="Cambria" pitchFamily="34" charset="-120"/>
              </a:rPr>
              <a:t>It's like a game everyone plays, but better.</a:t>
            </a:r>
            <a:endParaRPr lang="en-US" sz="1700" dirty="0"/>
          </a:p>
        </p:txBody>
      </p:sp>
      <p:sp>
        <p:nvSpPr>
          <p:cNvPr id="19" name="Text 17"/>
          <p:cNvSpPr txBox="1"/>
          <p:nvPr/>
        </p:nvSpPr>
        <p:spPr>
          <a:xfrm>
            <a:off x="914400" y="5074920"/>
            <a:ext cx="3474720" cy="411480"/>
          </a:xfrm>
          <a:prstGeom prst="rect">
            <a:avLst/>
          </a:prstGeom>
          <a:noFill/>
          <a:ln/>
        </p:spPr>
        <p:txBody>
          <a:bodyPr wrap="square" lIns="0" tIns="0" rIns="0" bIns="0" rtlCol="0" anchor="ctr"/>
          <a:lstStyle/>
          <a:p>
            <a:pPr indent="0" marL="0">
              <a:buNone/>
            </a:pPr>
            <a:r>
              <a:rPr lang="en-US" sz="1400" i="1" dirty="0">
                <a:solidFill>
                  <a:srgbClr val="CF4420"/>
                </a:solidFill>
                <a:latin typeface="Calibri" pitchFamily="34" charset="0"/>
                <a:ea typeface="Calibri" pitchFamily="34" charset="-122"/>
                <a:cs typeface="Calibri" pitchFamily="34" charset="-120"/>
              </a:rPr>
              <a:t>Say what it is, not what it is like.</a:t>
            </a:r>
            <a:endParaRPr lang="en-US" sz="1400" dirty="0"/>
          </a:p>
        </p:txBody>
      </p:sp>
      <p:sp>
        <p:nvSpPr>
          <p:cNvPr id="20" name="Text 18"/>
          <p:cNvSpPr txBox="1"/>
          <p:nvPr/>
        </p:nvSpPr>
        <p:spPr>
          <a:xfrm>
            <a:off x="5257800" y="3886200"/>
            <a:ext cx="1828800" cy="274320"/>
          </a:xfrm>
          <a:prstGeom prst="rect">
            <a:avLst/>
          </a:prstGeom>
          <a:noFill/>
          <a:ln/>
        </p:spPr>
        <p:txBody>
          <a:bodyPr wrap="square" lIns="0" tIns="0" rIns="0" bIns="0" rtlCol="0" anchor="ctr"/>
          <a:lstStyle/>
          <a:p>
            <a:pPr indent="0" marL="0">
              <a:buNone/>
            </a:pPr>
            <a:r>
              <a:rPr lang="en-US" sz="1200" b="1" spc="200" kern="0" dirty="0">
                <a:solidFill>
                  <a:srgbClr val="1E7A44"/>
                </a:solidFill>
                <a:latin typeface="Calibri" pitchFamily="34" charset="0"/>
                <a:ea typeface="Calibri" pitchFamily="34" charset="-122"/>
                <a:cs typeface="Calibri" pitchFamily="34" charset="-120"/>
              </a:rPr>
              <a:t>STRONG</a:t>
            </a:r>
            <a:endParaRPr lang="en-US" sz="1200" dirty="0"/>
          </a:p>
        </p:txBody>
      </p:sp>
      <p:sp>
        <p:nvSpPr>
          <p:cNvPr id="21" name="Text 19"/>
          <p:cNvSpPr txBox="1"/>
          <p:nvPr/>
        </p:nvSpPr>
        <p:spPr>
          <a:xfrm>
            <a:off x="5257800" y="4160520"/>
            <a:ext cx="6019495" cy="1325880"/>
          </a:xfrm>
          <a:prstGeom prst="rect">
            <a:avLst/>
          </a:prstGeom>
          <a:noFill/>
          <a:ln/>
        </p:spPr>
        <p:txBody>
          <a:bodyPr wrap="square" lIns="0" tIns="0" rIns="0" bIns="0" rtlCol="0" anchor="t"/>
          <a:lstStyle/>
          <a:p>
            <a:pPr indent="0" marL="0">
              <a:lnSpc>
                <a:spcPts val="2600"/>
              </a:lnSpc>
              <a:buNone/>
            </a:pPr>
            <a:r>
              <a:rPr lang="en-US" sz="1900" dirty="0">
                <a:solidFill>
                  <a:srgbClr val="1C1A19"/>
                </a:solidFill>
                <a:latin typeface="Cambria" pitchFamily="34" charset="0"/>
                <a:ea typeface="Cambria" pitchFamily="34" charset="-122"/>
                <a:cs typeface="Cambria" pitchFamily="34" charset="-120"/>
              </a:rPr>
              <a:t>It's a sports game where you win matches to unlock new players for your dream team so that you feel proud.</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4 · SCOPE</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Can it be made in six weeks?</a:t>
            </a:r>
            <a:endParaRPr lang="en-US" sz="3400" dirty="0"/>
          </a:p>
        </p:txBody>
      </p:sp>
      <p:sp>
        <p:nvSpPr>
          <p:cNvPr id="8" name="Shape 6"/>
          <p:cNvSpPr/>
          <p:nvPr/>
        </p:nvSpPr>
        <p:spPr>
          <a:xfrm>
            <a:off x="640080" y="169164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640080" y="1828800"/>
            <a:ext cx="3417722" cy="1280160"/>
          </a:xfrm>
          <a:prstGeom prst="rect">
            <a:avLst/>
          </a:prstGeom>
          <a:noFill/>
          <a:ln/>
        </p:spPr>
        <p:txBody>
          <a:bodyPr wrap="square" lIns="0" tIns="0" rIns="0" bIns="0" rtlCol="0" anchor="ctr"/>
          <a:lstStyle/>
          <a:p>
            <a:pPr algn="ctr" indent="0" marL="0">
              <a:buNone/>
            </a:pPr>
            <a:r>
              <a:rPr lang="en-US" sz="8800" b="1" dirty="0">
                <a:solidFill>
                  <a:srgbClr val="CF4420"/>
                </a:solidFill>
                <a:latin typeface="Consolas" pitchFamily="34" charset="0"/>
                <a:ea typeface="Consolas" pitchFamily="34" charset="-122"/>
                <a:cs typeface="Consolas" pitchFamily="34" charset="-120"/>
              </a:rPr>
              <a:t>1</a:t>
            </a:r>
            <a:endParaRPr lang="en-US" sz="8800" dirty="0"/>
          </a:p>
        </p:txBody>
      </p:sp>
      <p:sp>
        <p:nvSpPr>
          <p:cNvPr id="10" name="Text 8"/>
          <p:cNvSpPr txBox="1"/>
          <p:nvPr/>
        </p:nvSpPr>
        <p:spPr>
          <a:xfrm>
            <a:off x="914400" y="3154680"/>
            <a:ext cx="2869082" cy="457200"/>
          </a:xfrm>
          <a:prstGeom prst="rect">
            <a:avLst/>
          </a:prstGeom>
          <a:noFill/>
          <a:ln/>
        </p:spPr>
        <p:txBody>
          <a:bodyPr wrap="square" lIns="0" tIns="0" rIns="0" bIns="0" rtlCol="0" anchor="ctr"/>
          <a:lstStyle/>
          <a:p>
            <a:pPr algn="ctr" indent="0" marL="0">
              <a:buNone/>
            </a:pPr>
            <a:r>
              <a:rPr lang="en-US" sz="2300" b="1" dirty="0">
                <a:solidFill>
                  <a:srgbClr val="630031"/>
                </a:solidFill>
                <a:latin typeface="Cambria" pitchFamily="34" charset="0"/>
                <a:ea typeface="Cambria" pitchFamily="34" charset="-122"/>
                <a:cs typeface="Cambria" pitchFamily="34" charset="-120"/>
              </a:rPr>
              <a:t>One hero</a:t>
            </a:r>
            <a:endParaRPr lang="en-US" sz="2300" dirty="0"/>
          </a:p>
        </p:txBody>
      </p:sp>
      <p:sp>
        <p:nvSpPr>
          <p:cNvPr id="11" name="Text 9"/>
          <p:cNvSpPr txBox="1"/>
          <p:nvPr/>
        </p:nvSpPr>
        <p:spPr>
          <a:xfrm>
            <a:off x="914400" y="3657600"/>
            <a:ext cx="2869082" cy="1005840"/>
          </a:xfrm>
          <a:prstGeom prst="rect">
            <a:avLst/>
          </a:prstGeom>
          <a:noFill/>
          <a:ln/>
        </p:spPr>
        <p:txBody>
          <a:bodyPr wrap="square" lIns="0" tIns="0" rIns="0" bIns="0" rtlCol="0" anchor="t"/>
          <a:lstStyle/>
          <a:p>
            <a:pPr algn="ctr" indent="0" marL="0">
              <a:lnSpc>
                <a:spcPts val="2200"/>
              </a:lnSpc>
              <a:buNone/>
            </a:pPr>
            <a:r>
              <a:rPr lang="en-US" sz="1600" dirty="0">
                <a:solidFill>
                  <a:srgbClr val="1C1A19"/>
                </a:solidFill>
                <a:latin typeface="Calibri" pitchFamily="34" charset="0"/>
                <a:ea typeface="Calibri" pitchFamily="34" charset="-122"/>
                <a:cs typeface="Calibri" pitchFamily="34" charset="-120"/>
              </a:rPr>
              <a:t>One character the player controls. Not a team of twelve.</a:t>
            </a:r>
            <a:endParaRPr lang="en-US" sz="1600" dirty="0"/>
          </a:p>
        </p:txBody>
      </p:sp>
      <p:sp>
        <p:nvSpPr>
          <p:cNvPr id="12" name="Shape 10"/>
          <p:cNvSpPr/>
          <p:nvPr/>
        </p:nvSpPr>
        <p:spPr>
          <a:xfrm>
            <a:off x="4386986" y="169164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4386986" y="1828800"/>
            <a:ext cx="3417722" cy="1280160"/>
          </a:xfrm>
          <a:prstGeom prst="rect">
            <a:avLst/>
          </a:prstGeom>
          <a:noFill/>
          <a:ln/>
        </p:spPr>
        <p:txBody>
          <a:bodyPr wrap="square" lIns="0" tIns="0" rIns="0" bIns="0" rtlCol="0" anchor="ctr"/>
          <a:lstStyle/>
          <a:p>
            <a:pPr algn="ctr" indent="0" marL="0">
              <a:buNone/>
            </a:pPr>
            <a:r>
              <a:rPr lang="en-US" sz="8800" b="1" dirty="0">
                <a:solidFill>
                  <a:srgbClr val="630031"/>
                </a:solidFill>
                <a:latin typeface="Consolas" pitchFamily="34" charset="0"/>
                <a:ea typeface="Consolas" pitchFamily="34" charset="-122"/>
                <a:cs typeface="Consolas" pitchFamily="34" charset="-120"/>
              </a:rPr>
              <a:t>1</a:t>
            </a:r>
            <a:endParaRPr lang="en-US" sz="8800" dirty="0"/>
          </a:p>
        </p:txBody>
      </p:sp>
      <p:sp>
        <p:nvSpPr>
          <p:cNvPr id="14" name="Text 12"/>
          <p:cNvSpPr txBox="1"/>
          <p:nvPr/>
        </p:nvSpPr>
        <p:spPr>
          <a:xfrm>
            <a:off x="4661306" y="3154680"/>
            <a:ext cx="2869082" cy="457200"/>
          </a:xfrm>
          <a:prstGeom prst="rect">
            <a:avLst/>
          </a:prstGeom>
          <a:noFill/>
          <a:ln/>
        </p:spPr>
        <p:txBody>
          <a:bodyPr wrap="square" lIns="0" tIns="0" rIns="0" bIns="0" rtlCol="0" anchor="ctr"/>
          <a:lstStyle/>
          <a:p>
            <a:pPr algn="ctr" indent="0" marL="0">
              <a:buNone/>
            </a:pPr>
            <a:r>
              <a:rPr lang="en-US" sz="2300" b="1" dirty="0">
                <a:solidFill>
                  <a:srgbClr val="630031"/>
                </a:solidFill>
                <a:latin typeface="Cambria" pitchFamily="34" charset="0"/>
                <a:ea typeface="Cambria" pitchFamily="34" charset="-122"/>
                <a:cs typeface="Cambria" pitchFamily="34" charset="-120"/>
              </a:rPr>
              <a:t>One core loop</a:t>
            </a:r>
            <a:endParaRPr lang="en-US" sz="2300" dirty="0"/>
          </a:p>
        </p:txBody>
      </p:sp>
      <p:sp>
        <p:nvSpPr>
          <p:cNvPr id="15" name="Text 13"/>
          <p:cNvSpPr txBox="1"/>
          <p:nvPr/>
        </p:nvSpPr>
        <p:spPr>
          <a:xfrm>
            <a:off x="4661306" y="3657600"/>
            <a:ext cx="2869082" cy="1005840"/>
          </a:xfrm>
          <a:prstGeom prst="rect">
            <a:avLst/>
          </a:prstGeom>
          <a:noFill/>
          <a:ln/>
        </p:spPr>
        <p:txBody>
          <a:bodyPr wrap="square" lIns="0" tIns="0" rIns="0" bIns="0" rtlCol="0" anchor="t"/>
          <a:lstStyle/>
          <a:p>
            <a:pPr algn="ctr" indent="0" marL="0">
              <a:lnSpc>
                <a:spcPts val="2200"/>
              </a:lnSpc>
              <a:buNone/>
            </a:pPr>
            <a:r>
              <a:rPr lang="en-US" sz="1600" dirty="0">
                <a:solidFill>
                  <a:srgbClr val="1C1A19"/>
                </a:solidFill>
                <a:latin typeface="Calibri" pitchFamily="34" charset="0"/>
                <a:ea typeface="Calibri" pitchFamily="34" charset="-122"/>
                <a:cs typeface="Calibri" pitchFamily="34" charset="-120"/>
              </a:rPr>
              <a:t>3 or 4 verbs. Not five different mini-games.</a:t>
            </a:r>
            <a:endParaRPr lang="en-US" sz="1600" dirty="0"/>
          </a:p>
        </p:txBody>
      </p:sp>
      <p:sp>
        <p:nvSpPr>
          <p:cNvPr id="16" name="Shape 14"/>
          <p:cNvSpPr/>
          <p:nvPr/>
        </p:nvSpPr>
        <p:spPr>
          <a:xfrm>
            <a:off x="8133893" y="1691640"/>
            <a:ext cx="3417722"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8133893" y="1828800"/>
            <a:ext cx="3417722" cy="1280160"/>
          </a:xfrm>
          <a:prstGeom prst="rect">
            <a:avLst/>
          </a:prstGeom>
          <a:noFill/>
          <a:ln/>
        </p:spPr>
        <p:txBody>
          <a:bodyPr wrap="square" lIns="0" tIns="0" rIns="0" bIns="0" rtlCol="0" anchor="ctr"/>
          <a:lstStyle/>
          <a:p>
            <a:pPr algn="ctr" indent="0" marL="0">
              <a:buNone/>
            </a:pPr>
            <a:r>
              <a:rPr lang="en-US" sz="8800" b="1" dirty="0">
                <a:solidFill>
                  <a:srgbClr val="1F6F78"/>
                </a:solidFill>
                <a:latin typeface="Consolas" pitchFamily="34" charset="0"/>
                <a:ea typeface="Consolas" pitchFamily="34" charset="-122"/>
                <a:cs typeface="Consolas" pitchFamily="34" charset="-120"/>
              </a:rPr>
              <a:t>3</a:t>
            </a:r>
            <a:endParaRPr lang="en-US" sz="8800" dirty="0"/>
          </a:p>
        </p:txBody>
      </p:sp>
      <p:sp>
        <p:nvSpPr>
          <p:cNvPr id="18" name="Text 16"/>
          <p:cNvSpPr txBox="1"/>
          <p:nvPr/>
        </p:nvSpPr>
        <p:spPr>
          <a:xfrm>
            <a:off x="8408213" y="3154680"/>
            <a:ext cx="2869082" cy="457200"/>
          </a:xfrm>
          <a:prstGeom prst="rect">
            <a:avLst/>
          </a:prstGeom>
          <a:noFill/>
          <a:ln/>
        </p:spPr>
        <p:txBody>
          <a:bodyPr wrap="square" lIns="0" tIns="0" rIns="0" bIns="0" rtlCol="0" anchor="ctr"/>
          <a:lstStyle/>
          <a:p>
            <a:pPr algn="ctr" indent="0" marL="0">
              <a:buNone/>
            </a:pPr>
            <a:r>
              <a:rPr lang="en-US" sz="2300" b="1" dirty="0">
                <a:solidFill>
                  <a:srgbClr val="630031"/>
                </a:solidFill>
                <a:latin typeface="Cambria" pitchFamily="34" charset="0"/>
                <a:ea typeface="Cambria" pitchFamily="34" charset="-122"/>
                <a:cs typeface="Cambria" pitchFamily="34" charset="-120"/>
              </a:rPr>
              <a:t>Three levels</a:t>
            </a:r>
            <a:endParaRPr lang="en-US" sz="2300" dirty="0"/>
          </a:p>
        </p:txBody>
      </p:sp>
      <p:sp>
        <p:nvSpPr>
          <p:cNvPr id="19" name="Text 17"/>
          <p:cNvSpPr txBox="1"/>
          <p:nvPr/>
        </p:nvSpPr>
        <p:spPr>
          <a:xfrm>
            <a:off x="8408213" y="3657600"/>
            <a:ext cx="2869082" cy="1005840"/>
          </a:xfrm>
          <a:prstGeom prst="rect">
            <a:avLst/>
          </a:prstGeom>
          <a:noFill/>
          <a:ln/>
        </p:spPr>
        <p:txBody>
          <a:bodyPr wrap="square" lIns="0" tIns="0" rIns="0" bIns="0" rtlCol="0" anchor="t"/>
          <a:lstStyle/>
          <a:p>
            <a:pPr algn="ctr" indent="0" marL="0">
              <a:lnSpc>
                <a:spcPts val="2200"/>
              </a:lnSpc>
              <a:buNone/>
            </a:pPr>
            <a:r>
              <a:rPr lang="en-US" sz="1600" dirty="0">
                <a:solidFill>
                  <a:srgbClr val="1C1A19"/>
                </a:solidFill>
                <a:latin typeface="Calibri" pitchFamily="34" charset="0"/>
                <a:ea typeface="Calibri" pitchFamily="34" charset="-122"/>
                <a:cs typeface="Calibri" pitchFamily="34" charset="-120"/>
              </a:rPr>
              <a:t>The same loop, getting harder. Not an open world.</a:t>
            </a:r>
            <a:endParaRPr lang="en-US" sz="1600" dirty="0"/>
          </a:p>
        </p:txBody>
      </p:sp>
      <p:sp>
        <p:nvSpPr>
          <p:cNvPr id="20" name="Shape 18"/>
          <p:cNvSpPr/>
          <p:nvPr/>
        </p:nvSpPr>
        <p:spPr>
          <a:xfrm>
            <a:off x="640080" y="5074920"/>
            <a:ext cx="10911535" cy="1097280"/>
          </a:xfrm>
          <a:prstGeom prst="roundRect">
            <a:avLst>
              <a:gd name="adj" fmla="val 7500"/>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960120" y="5230368"/>
            <a:ext cx="10271455" cy="868680"/>
          </a:xfrm>
          <a:prstGeom prst="rect">
            <a:avLst/>
          </a:prstGeom>
          <a:noFill/>
          <a:ln/>
        </p:spPr>
        <p:txBody>
          <a:bodyPr wrap="square" lIns="0" tIns="0" rIns="0" bIns="0" rtlCol="0" anchor="t"/>
          <a:lstStyle/>
          <a:p>
            <a:pPr indent="0" marL="0">
              <a:lnSpc>
                <a:spcPts val="2500"/>
              </a:lnSpc>
              <a:buNone/>
            </a:pPr>
            <a:r>
              <a:rPr lang="en-US" sz="1800" b="1" dirty="0">
                <a:solidFill>
                  <a:srgbClr val="CF4420"/>
                </a:solidFill>
                <a:latin typeface="Calibri" pitchFamily="34" charset="0"/>
                <a:ea typeface="Calibri" pitchFamily="34" charset="-122"/>
                <a:cs typeface="Calibri" pitchFamily="34" charset="-120"/>
              </a:rPr>
              <a:t>Real studios call this scope. </a:t>
            </a:r>
            <a:pPr indent="0" marL="0">
              <a:lnSpc>
                <a:spcPts val="2500"/>
              </a:lnSpc>
              <a:buNone/>
            </a:pPr>
            <a:r>
              <a:rPr lang="en-US" sz="1800" dirty="0">
                <a:solidFill>
                  <a:srgbClr val="1C1A19"/>
                </a:solidFill>
                <a:latin typeface="Calibri" pitchFamily="34" charset="0"/>
                <a:ea typeface="Calibri" pitchFamily="34" charset="-122"/>
                <a:cs typeface="Calibri" pitchFamily="34" charset="-120"/>
              </a:rPr>
              <a:t>A small game that is finished and fun beats a huge game that is half made. You can always add more in version 2.</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1097280" y="6035040"/>
            <a:ext cx="128016" cy="128016"/>
          </a:xfrm>
          <a:prstGeom prst="rect">
            <a:avLst/>
          </a:prstGeom>
          <a:solidFill>
            <a:srgbClr val="FFB13B"/>
          </a:solidFill>
          <a:ln w="12700">
            <a:solidFill>
              <a:srgbClr val="333333"/>
            </a:solidFill>
            <a:prstDash val="solid"/>
          </a:ln>
        </p:spPr>
      </p:sp>
      <p:sp>
        <p:nvSpPr>
          <p:cNvPr id="3" name="Shape 1"/>
          <p:cNvSpPr/>
          <p:nvPr/>
        </p:nvSpPr>
        <p:spPr>
          <a:xfrm>
            <a:off x="3108960" y="457200"/>
            <a:ext cx="128016" cy="128016"/>
          </a:xfrm>
          <a:prstGeom prst="rect">
            <a:avLst/>
          </a:prstGeom>
          <a:solidFill>
            <a:srgbClr val="3DDC97"/>
          </a:solidFill>
          <a:ln w="12700">
            <a:solidFill>
              <a:srgbClr val="333333"/>
            </a:solidFill>
            <a:prstDash val="solid"/>
          </a:ln>
        </p:spPr>
      </p:sp>
      <p:sp>
        <p:nvSpPr>
          <p:cNvPr id="4" name="Shape 2"/>
          <p:cNvSpPr/>
          <p:nvPr/>
        </p:nvSpPr>
        <p:spPr>
          <a:xfrm>
            <a:off x="5577840" y="6309360"/>
            <a:ext cx="128016" cy="128016"/>
          </a:xfrm>
          <a:prstGeom prst="rect">
            <a:avLst/>
          </a:prstGeom>
          <a:solidFill>
            <a:srgbClr val="5CC8FF"/>
          </a:solidFill>
          <a:ln w="12700">
            <a:solidFill>
              <a:srgbClr val="333333"/>
            </a:solidFill>
            <a:prstDash val="solid"/>
          </a:ln>
        </p:spPr>
      </p:sp>
      <p:sp>
        <p:nvSpPr>
          <p:cNvPr id="5" name="Shape 3"/>
          <p:cNvSpPr/>
          <p:nvPr/>
        </p:nvSpPr>
        <p:spPr>
          <a:xfrm>
            <a:off x="7863840" y="640080"/>
            <a:ext cx="128016" cy="128016"/>
          </a:xfrm>
          <a:prstGeom prst="rect">
            <a:avLst/>
          </a:prstGeom>
          <a:solidFill>
            <a:srgbClr val="CF4420"/>
          </a:solidFill>
          <a:ln w="12700">
            <a:solidFill>
              <a:srgbClr val="333333"/>
            </a:solidFill>
            <a:prstDash val="solid"/>
          </a:ln>
        </p:spPr>
      </p:sp>
      <p:sp>
        <p:nvSpPr>
          <p:cNvPr id="6" name="Shape 4"/>
          <p:cNvSpPr/>
          <p:nvPr/>
        </p:nvSpPr>
        <p:spPr>
          <a:xfrm>
            <a:off x="11338560" y="5669280"/>
            <a:ext cx="128016" cy="128016"/>
          </a:xfrm>
          <a:prstGeom prst="rect">
            <a:avLst/>
          </a:prstGeom>
          <a:solidFill>
            <a:srgbClr val="3DDC97"/>
          </a:solidFill>
          <a:ln w="12700">
            <a:solidFill>
              <a:srgbClr val="333333"/>
            </a:solidFill>
            <a:prstDash val="solid"/>
          </a:ln>
        </p:spPr>
      </p:sp>
      <p:sp>
        <p:nvSpPr>
          <p:cNvPr id="7" name="Shape 5"/>
          <p:cNvSpPr/>
          <p:nvPr/>
        </p:nvSpPr>
        <p:spPr>
          <a:xfrm>
            <a:off x="11064240" y="1188720"/>
            <a:ext cx="128016" cy="128016"/>
          </a:xfrm>
          <a:prstGeom prst="rect">
            <a:avLst/>
          </a:prstGeom>
          <a:solidFill>
            <a:srgbClr val="FFB13B"/>
          </a:solidFill>
          <a:ln w="12700">
            <a:solidFill>
              <a:srgbClr val="333333"/>
            </a:solidFill>
            <a:prstDash val="solid"/>
          </a:ln>
        </p:spPr>
      </p:sp>
      <p:sp>
        <p:nvSpPr>
          <p:cNvPr id="8" name="Shape 6"/>
          <p:cNvSpPr/>
          <p:nvPr/>
        </p:nvSpPr>
        <p:spPr>
          <a:xfrm>
            <a:off x="8412480" y="1280160"/>
            <a:ext cx="3108960" cy="4297680"/>
          </a:xfrm>
          <a:prstGeom prst="roundRect">
            <a:avLst>
              <a:gd name="adj" fmla="val 5882"/>
            </a:avLst>
          </a:prstGeom>
          <a:solidFill>
            <a:srgbClr val="2A1D47"/>
          </a:solidFill>
          <a:ln w="38100">
            <a:solidFill>
              <a:srgbClr val="FFB13B"/>
            </a:solidFill>
            <a:prstDash val="solid"/>
          </a:ln>
        </p:spPr>
      </p:sp>
      <p:sp>
        <p:nvSpPr>
          <p:cNvPr id="9" name="Text 7"/>
          <p:cNvSpPr txBox="1"/>
          <p:nvPr/>
        </p:nvSpPr>
        <p:spPr>
          <a:xfrm>
            <a:off x="8412480" y="1645920"/>
            <a:ext cx="3108960" cy="548640"/>
          </a:xfrm>
          <a:prstGeom prst="rect">
            <a:avLst/>
          </a:prstGeom>
          <a:noFill/>
          <a:ln/>
        </p:spPr>
        <p:txBody>
          <a:bodyPr wrap="square" lIns="0" tIns="0" rIns="0" bIns="0" rtlCol="0" anchor="ctr"/>
          <a:lstStyle/>
          <a:p>
            <a:pPr algn="ctr" indent="0" marL="0">
              <a:buNone/>
            </a:pPr>
            <a:r>
              <a:rPr lang="en-US" sz="3000" b="1" dirty="0">
                <a:solidFill>
                  <a:srgbClr val="FFB13B"/>
                </a:solidFill>
                <a:latin typeface="Consolas" pitchFamily="34" charset="0"/>
                <a:ea typeface="Consolas" pitchFamily="34" charset="-122"/>
                <a:cs typeface="Consolas" pitchFamily="34" charset="-120"/>
              </a:rPr>
              <a:t>DAY</a:t>
            </a:r>
            <a:endParaRPr lang="en-US" sz="3000" dirty="0"/>
          </a:p>
        </p:txBody>
      </p:sp>
      <p:sp>
        <p:nvSpPr>
          <p:cNvPr id="10" name="Text 8"/>
          <p:cNvSpPr txBox="1"/>
          <p:nvPr/>
        </p:nvSpPr>
        <p:spPr>
          <a:xfrm>
            <a:off x="8412480" y="2194560"/>
            <a:ext cx="3108960" cy="2377440"/>
          </a:xfrm>
          <a:prstGeom prst="rect">
            <a:avLst/>
          </a:prstGeom>
          <a:noFill/>
          <a:ln/>
        </p:spPr>
        <p:txBody>
          <a:bodyPr wrap="square" lIns="0" tIns="0" rIns="0" bIns="0" rtlCol="0" anchor="ctr"/>
          <a:lstStyle/>
          <a:p>
            <a:pPr algn="ctr" indent="0" marL="0">
              <a:buNone/>
            </a:pPr>
            <a:r>
              <a:rPr lang="en-US" sz="15000" b="1" dirty="0">
                <a:solidFill>
                  <a:srgbClr val="FFFFFF"/>
                </a:solidFill>
                <a:latin typeface="Consolas" pitchFamily="34" charset="0"/>
                <a:ea typeface="Consolas" pitchFamily="34" charset="-122"/>
                <a:cs typeface="Consolas" pitchFamily="34" charset="-120"/>
              </a:rPr>
              <a:t>5</a:t>
            </a:r>
            <a:endParaRPr lang="en-US" sz="15000" dirty="0"/>
          </a:p>
        </p:txBody>
      </p:sp>
      <p:sp>
        <p:nvSpPr>
          <p:cNvPr id="11" name="Text 9"/>
          <p:cNvSpPr txBox="1"/>
          <p:nvPr/>
        </p:nvSpPr>
        <p:spPr>
          <a:xfrm>
            <a:off x="8412480" y="4800600"/>
            <a:ext cx="3108960" cy="457200"/>
          </a:xfrm>
          <a:prstGeom prst="rect">
            <a:avLst/>
          </a:prstGeom>
          <a:noFill/>
          <a:ln/>
        </p:spPr>
        <p:txBody>
          <a:bodyPr wrap="square" lIns="0" tIns="0" rIns="0" bIns="0" rtlCol="0" anchor="ctr"/>
          <a:lstStyle/>
          <a:p>
            <a:pPr algn="ctr" indent="0" marL="0">
              <a:buNone/>
            </a:pPr>
            <a:r>
              <a:rPr lang="en-US" sz="1600" b="1" dirty="0">
                <a:solidFill>
                  <a:srgbClr val="3DDC97"/>
                </a:solidFill>
                <a:latin typeface="Consolas" pitchFamily="34" charset="0"/>
                <a:ea typeface="Consolas" pitchFamily="34" charset="-122"/>
                <a:cs typeface="Consolas" pitchFamily="34" charset="-120"/>
              </a:rPr>
              <a:t>PRESS START</a:t>
            </a:r>
            <a:endParaRPr lang="en-US" sz="1600" dirty="0"/>
          </a:p>
        </p:txBody>
      </p:sp>
      <p:sp>
        <p:nvSpPr>
          <p:cNvPr id="12" name="Text 10"/>
          <p:cNvSpPr txBox="1"/>
          <p:nvPr/>
        </p:nvSpPr>
        <p:spPr>
          <a:xfrm>
            <a:off x="640080" y="2011680"/>
            <a:ext cx="7498080"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GAME STUDIO  ·  WEEK 1  ·  DAY 5 OF 5</a:t>
            </a:r>
            <a:endParaRPr lang="en-US" sz="1300" dirty="0"/>
          </a:p>
        </p:txBody>
      </p:sp>
      <p:sp>
        <p:nvSpPr>
          <p:cNvPr id="13" name="Text 11"/>
          <p:cNvSpPr txBox="1"/>
          <p:nvPr/>
        </p:nvSpPr>
        <p:spPr>
          <a:xfrm>
            <a:off x="640080" y="2377440"/>
            <a:ext cx="7498080" cy="146304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Pitch day</a:t>
            </a:r>
            <a:endParaRPr lang="en-US" sz="4600" dirty="0"/>
          </a:p>
        </p:txBody>
      </p:sp>
      <p:sp>
        <p:nvSpPr>
          <p:cNvPr id="14" name="Text 12"/>
          <p:cNvSpPr txBox="1"/>
          <p:nvPr/>
        </p:nvSpPr>
        <p:spPr>
          <a:xfrm>
            <a:off x="640080" y="3931920"/>
            <a:ext cx="7498080" cy="1280160"/>
          </a:xfrm>
          <a:prstGeom prst="rect">
            <a:avLst/>
          </a:prstGeom>
          <a:noFill/>
          <a:ln/>
        </p:spPr>
        <p:txBody>
          <a:bodyPr wrap="square" lIns="0" tIns="0" rIns="0" bIns="0" rtlCol="0" anchor="t"/>
          <a:lstStyle/>
          <a:p>
            <a:pPr indent="0" marL="0">
              <a:lnSpc>
                <a:spcPts val="2900"/>
              </a:lnSpc>
              <a:buNone/>
            </a:pPr>
            <a:r>
              <a:rPr lang="en-US" sz="2100" dirty="0">
                <a:solidFill>
                  <a:srgbClr val="DCD3F0"/>
                </a:solidFill>
                <a:latin typeface="Calibri" pitchFamily="34" charset="0"/>
                <a:ea typeface="Calibri" pitchFamily="34" charset="-122"/>
                <a:cs typeface="Calibri" pitchFamily="34" charset="-120"/>
              </a:rPr>
              <a:t>Sixty seconds each. Then teams form around the games people most want to make.</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5 · PITCH DAY</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How pitch day works</a:t>
            </a:r>
            <a:endParaRPr lang="en-US" sz="3400" dirty="0"/>
          </a:p>
        </p:txBody>
      </p:sp>
      <p:sp>
        <p:nvSpPr>
          <p:cNvPr id="8" name="Shape 6"/>
          <p:cNvSpPr/>
          <p:nvPr/>
        </p:nvSpPr>
        <p:spPr>
          <a:xfrm>
            <a:off x="640080" y="1691640"/>
            <a:ext cx="10911535"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914400" y="1993392"/>
            <a:ext cx="548640" cy="548640"/>
          </a:xfrm>
          <a:prstGeom prst="ellipse">
            <a:avLst/>
          </a:prstGeom>
          <a:solidFill>
            <a:srgbClr val="CF4420"/>
          </a:solidFill>
          <a:ln w="12700">
            <a:solidFill>
              <a:srgbClr val="333333"/>
            </a:solidFill>
            <a:prstDash val="solid"/>
          </a:ln>
        </p:spPr>
      </p:sp>
      <p:sp>
        <p:nvSpPr>
          <p:cNvPr id="10" name="Text 8"/>
          <p:cNvSpPr txBox="1"/>
          <p:nvPr/>
        </p:nvSpPr>
        <p:spPr>
          <a:xfrm>
            <a:off x="914400" y="19933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9"/>
          <p:cNvSpPr txBox="1"/>
          <p:nvPr/>
        </p:nvSpPr>
        <p:spPr>
          <a:xfrm>
            <a:off x="1691640" y="1691640"/>
            <a:ext cx="3017520" cy="11430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60 seconds</a:t>
            </a:r>
            <a:endParaRPr lang="en-US" sz="2200" dirty="0"/>
          </a:p>
        </p:txBody>
      </p:sp>
      <p:sp>
        <p:nvSpPr>
          <p:cNvPr id="12" name="Text 10"/>
          <p:cNvSpPr txBox="1"/>
          <p:nvPr/>
        </p:nvSpPr>
        <p:spPr>
          <a:xfrm>
            <a:off x="4754880" y="1691640"/>
            <a:ext cx="6522415" cy="1143000"/>
          </a:xfrm>
          <a:prstGeom prst="rect">
            <a:avLst/>
          </a:prstGeom>
          <a:noFill/>
          <a:ln/>
        </p:spPr>
        <p:txBody>
          <a:bodyPr wrap="square" lIns="0" tIns="0" rIns="0" bIns="0" rtlCol="0" anchor="ctr"/>
          <a:lstStyle/>
          <a:p>
            <a:pPr indent="0" marL="0">
              <a:lnSpc>
                <a:spcPts val="2200"/>
              </a:lnSpc>
              <a:buNone/>
            </a:pPr>
            <a:r>
              <a:rPr lang="en-US" sz="1650" dirty="0">
                <a:solidFill>
                  <a:srgbClr val="1C1A19"/>
                </a:solidFill>
                <a:latin typeface="Calibri" pitchFamily="34" charset="0"/>
                <a:ea typeface="Calibri" pitchFamily="34" charset="-122"/>
                <a:cs typeface="Calibri" pitchFamily="34" charset="-120"/>
              </a:rPr>
              <a:t>Stand up and give your pitch: the sentence, then your loop and your win and lose conditions.</a:t>
            </a:r>
            <a:endParaRPr lang="en-US" sz="1650" dirty="0"/>
          </a:p>
        </p:txBody>
      </p:sp>
      <p:sp>
        <p:nvSpPr>
          <p:cNvPr id="13" name="Shape 11"/>
          <p:cNvSpPr/>
          <p:nvPr/>
        </p:nvSpPr>
        <p:spPr>
          <a:xfrm>
            <a:off x="640080" y="3017520"/>
            <a:ext cx="10911535"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914400" y="3319272"/>
            <a:ext cx="548640" cy="548640"/>
          </a:xfrm>
          <a:prstGeom prst="ellipse">
            <a:avLst/>
          </a:prstGeom>
          <a:solidFill>
            <a:srgbClr val="630031"/>
          </a:solidFill>
          <a:ln w="12700">
            <a:solidFill>
              <a:srgbClr val="333333"/>
            </a:solidFill>
            <a:prstDash val="solid"/>
          </a:ln>
        </p:spPr>
      </p:sp>
      <p:sp>
        <p:nvSpPr>
          <p:cNvPr id="15" name="Text 13"/>
          <p:cNvSpPr txBox="1"/>
          <p:nvPr/>
        </p:nvSpPr>
        <p:spPr>
          <a:xfrm>
            <a:off x="914400" y="33192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txBox="1"/>
          <p:nvPr/>
        </p:nvSpPr>
        <p:spPr>
          <a:xfrm>
            <a:off x="1691640" y="3017520"/>
            <a:ext cx="3017520" cy="11430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One question each</a:t>
            </a:r>
            <a:endParaRPr lang="en-US" sz="2200" dirty="0"/>
          </a:p>
        </p:txBody>
      </p:sp>
      <p:sp>
        <p:nvSpPr>
          <p:cNvPr id="17" name="Text 15"/>
          <p:cNvSpPr txBox="1"/>
          <p:nvPr/>
        </p:nvSpPr>
        <p:spPr>
          <a:xfrm>
            <a:off x="4754880" y="3017520"/>
            <a:ext cx="6522415" cy="1143000"/>
          </a:xfrm>
          <a:prstGeom prst="rect">
            <a:avLst/>
          </a:prstGeom>
          <a:noFill/>
          <a:ln/>
        </p:spPr>
        <p:txBody>
          <a:bodyPr wrap="square" lIns="0" tIns="0" rIns="0" bIns="0" rtlCol="0" anchor="ctr"/>
          <a:lstStyle/>
          <a:p>
            <a:pPr indent="0" marL="0">
              <a:lnSpc>
                <a:spcPts val="2200"/>
              </a:lnSpc>
              <a:buNone/>
            </a:pPr>
            <a:r>
              <a:rPr lang="en-US" sz="1650" dirty="0">
                <a:solidFill>
                  <a:srgbClr val="1C1A19"/>
                </a:solidFill>
                <a:latin typeface="Calibri" pitchFamily="34" charset="0"/>
                <a:ea typeface="Calibri" pitchFamily="34" charset="-122"/>
                <a:cs typeface="Calibri" pitchFamily="34" charset="-120"/>
              </a:rPr>
              <a:t>The class asks one question per pitch. Good questions: How do you lose? Who is it for? What does level 3 look like?</a:t>
            </a:r>
            <a:endParaRPr lang="en-US" sz="1650" dirty="0"/>
          </a:p>
        </p:txBody>
      </p:sp>
      <p:sp>
        <p:nvSpPr>
          <p:cNvPr id="18" name="Shape 16"/>
          <p:cNvSpPr/>
          <p:nvPr/>
        </p:nvSpPr>
        <p:spPr>
          <a:xfrm>
            <a:off x="640080" y="4343400"/>
            <a:ext cx="10911535"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914400" y="4645152"/>
            <a:ext cx="548640" cy="548640"/>
          </a:xfrm>
          <a:prstGeom prst="ellipse">
            <a:avLst/>
          </a:prstGeom>
          <a:solidFill>
            <a:srgbClr val="1F6F78"/>
          </a:solidFill>
          <a:ln w="12700">
            <a:solidFill>
              <a:srgbClr val="333333"/>
            </a:solidFill>
            <a:prstDash val="solid"/>
          </a:ln>
        </p:spPr>
      </p:sp>
      <p:sp>
        <p:nvSpPr>
          <p:cNvPr id="20" name="Text 18"/>
          <p:cNvSpPr txBox="1"/>
          <p:nvPr/>
        </p:nvSpPr>
        <p:spPr>
          <a:xfrm>
            <a:off x="914400" y="464515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txBox="1"/>
          <p:nvPr/>
        </p:nvSpPr>
        <p:spPr>
          <a:xfrm>
            <a:off x="1691640" y="4343400"/>
            <a:ext cx="3017520" cy="1143000"/>
          </a:xfrm>
          <a:prstGeom prst="rect">
            <a:avLst/>
          </a:prstGeom>
          <a:noFill/>
          <a:ln/>
        </p:spPr>
        <p:txBody>
          <a:bodyPr wrap="square" lIns="0" tIns="0" rIns="0" bIns="0" rtlCol="0" anchor="ctr"/>
          <a:lstStyle/>
          <a:p>
            <a:pPr indent="0" marL="0">
              <a:buNone/>
            </a:pPr>
            <a:r>
              <a:rPr lang="en-US" sz="2200" b="1" dirty="0">
                <a:solidFill>
                  <a:srgbClr val="630031"/>
                </a:solidFill>
                <a:latin typeface="Cambria" pitchFamily="34" charset="0"/>
                <a:ea typeface="Cambria" pitchFamily="34" charset="-122"/>
                <a:cs typeface="Cambria" pitchFamily="34" charset="-120"/>
              </a:rPr>
              <a:t>Clap it out</a:t>
            </a:r>
            <a:endParaRPr lang="en-US" sz="2200" dirty="0"/>
          </a:p>
        </p:txBody>
      </p:sp>
      <p:sp>
        <p:nvSpPr>
          <p:cNvPr id="22" name="Text 20"/>
          <p:cNvSpPr txBox="1"/>
          <p:nvPr/>
        </p:nvSpPr>
        <p:spPr>
          <a:xfrm>
            <a:off x="4754880" y="4343400"/>
            <a:ext cx="6522415" cy="1143000"/>
          </a:xfrm>
          <a:prstGeom prst="rect">
            <a:avLst/>
          </a:prstGeom>
          <a:noFill/>
          <a:ln/>
        </p:spPr>
        <p:txBody>
          <a:bodyPr wrap="square" lIns="0" tIns="0" rIns="0" bIns="0" rtlCol="0" anchor="ctr"/>
          <a:lstStyle/>
          <a:p>
            <a:pPr indent="0" marL="0">
              <a:lnSpc>
                <a:spcPts val="2200"/>
              </a:lnSpc>
              <a:buNone/>
            </a:pPr>
            <a:r>
              <a:rPr lang="en-US" sz="1650" dirty="0">
                <a:solidFill>
                  <a:srgbClr val="1C1A19"/>
                </a:solidFill>
                <a:latin typeface="Calibri" pitchFamily="34" charset="0"/>
                <a:ea typeface="Calibri" pitchFamily="34" charset="-122"/>
                <a:cs typeface="Calibri" pitchFamily="34" charset="-120"/>
              </a:rPr>
              <a:t>Every pitch gets the same applause. Being brave enough to pitch is the point.</a:t>
            </a:r>
            <a:endParaRPr lang="en-US" sz="1650" dirty="0"/>
          </a:p>
        </p:txBody>
      </p:sp>
      <p:sp>
        <p:nvSpPr>
          <p:cNvPr id="23" name="Text 21"/>
          <p:cNvSpPr txBox="1"/>
          <p:nvPr/>
        </p:nvSpPr>
        <p:spPr>
          <a:xfrm>
            <a:off x="640080" y="5806440"/>
            <a:ext cx="10911535" cy="548640"/>
          </a:xfrm>
          <a:prstGeom prst="rect">
            <a:avLst/>
          </a:prstGeom>
          <a:noFill/>
          <a:ln/>
        </p:spPr>
        <p:txBody>
          <a:bodyPr wrap="square" lIns="0" tIns="0" rIns="0" bIns="0" rtlCol="0" anchor="t"/>
          <a:lstStyle/>
          <a:p>
            <a:pPr indent="0" marL="0">
              <a:lnSpc>
                <a:spcPts val="2200"/>
              </a:lnSpc>
              <a:buNone/>
            </a:pPr>
            <a:r>
              <a:rPr lang="en-US" sz="1700" b="1" dirty="0">
                <a:solidFill>
                  <a:srgbClr val="CF4420"/>
                </a:solidFill>
                <a:latin typeface="Calibri" pitchFamily="34" charset="0"/>
                <a:ea typeface="Calibri" pitchFamily="34" charset="-122"/>
                <a:cs typeface="Calibri" pitchFamily="34" charset="-120"/>
              </a:rPr>
              <a:t>Listeners: you are about to choose a team. Listen for the game you would want to work on for five weeks.</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5 · TEAMS</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Form your studio</a:t>
            </a:r>
            <a:endParaRPr lang="en-US" sz="3400" dirty="0"/>
          </a:p>
        </p:txBody>
      </p:sp>
      <p:sp>
        <p:nvSpPr>
          <p:cNvPr id="8" name="Shape 6"/>
          <p:cNvSpPr/>
          <p:nvPr/>
        </p:nvSpPr>
        <p:spPr>
          <a:xfrm>
            <a:off x="640080" y="1691640"/>
            <a:ext cx="5272888"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Shape 7"/>
          <p:cNvSpPr/>
          <p:nvPr/>
        </p:nvSpPr>
        <p:spPr>
          <a:xfrm>
            <a:off x="914400" y="1965960"/>
            <a:ext cx="420624" cy="420624"/>
          </a:xfrm>
          <a:prstGeom prst="ellipse">
            <a:avLst/>
          </a:prstGeom>
          <a:solidFill>
            <a:srgbClr val="CF4420"/>
          </a:solidFill>
          <a:ln w="12700">
            <a:solidFill>
              <a:srgbClr val="333333"/>
            </a:solidFill>
            <a:prstDash val="solid"/>
          </a:ln>
        </p:spPr>
      </p:sp>
      <p:sp>
        <p:nvSpPr>
          <p:cNvPr id="10" name="Text 8"/>
          <p:cNvSpPr txBox="1"/>
          <p:nvPr/>
        </p:nvSpPr>
        <p:spPr>
          <a:xfrm>
            <a:off x="914400" y="1965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1508760" y="1920240"/>
            <a:ext cx="4175608" cy="50292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Pick a game, not your friends</a:t>
            </a:r>
            <a:endParaRPr lang="en-US" sz="2000" dirty="0"/>
          </a:p>
        </p:txBody>
      </p:sp>
      <p:sp>
        <p:nvSpPr>
          <p:cNvPr id="12" name="Text 10"/>
          <p:cNvSpPr txBox="1"/>
          <p:nvPr/>
        </p:nvSpPr>
        <p:spPr>
          <a:xfrm>
            <a:off x="914400" y="2514600"/>
            <a:ext cx="4724248" cy="777240"/>
          </a:xfrm>
          <a:prstGeom prst="rect">
            <a:avLst/>
          </a:prstGeom>
          <a:noFill/>
          <a:ln/>
        </p:spPr>
        <p:txBody>
          <a:bodyPr wrap="square" lIns="0" tIns="0" rIns="0" bIns="0" rtlCol="0" anchor="t"/>
          <a:lstStyle/>
          <a:p>
            <a:pPr indent="0" marL="0">
              <a:lnSpc>
                <a:spcPts val="2100"/>
              </a:lnSpc>
              <a:buNone/>
            </a:pPr>
            <a:r>
              <a:rPr lang="en-US" sz="1600" dirty="0">
                <a:solidFill>
                  <a:srgbClr val="1C1A19"/>
                </a:solidFill>
                <a:latin typeface="Calibri" pitchFamily="34" charset="0"/>
                <a:ea typeface="Calibri" pitchFamily="34" charset="-122"/>
                <a:cs typeface="Calibri" pitchFamily="34" charset="-120"/>
              </a:rPr>
              <a:t>Choose the pitch you most want to build. Write your initials under it.</a:t>
            </a:r>
            <a:endParaRPr lang="en-US" sz="1600" dirty="0"/>
          </a:p>
        </p:txBody>
      </p:sp>
      <p:sp>
        <p:nvSpPr>
          <p:cNvPr id="13" name="Shape 11"/>
          <p:cNvSpPr/>
          <p:nvPr/>
        </p:nvSpPr>
        <p:spPr>
          <a:xfrm>
            <a:off x="6278728" y="1691640"/>
            <a:ext cx="5272888"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6553048" y="1965960"/>
            <a:ext cx="420624" cy="420624"/>
          </a:xfrm>
          <a:prstGeom prst="ellipse">
            <a:avLst/>
          </a:prstGeom>
          <a:solidFill>
            <a:srgbClr val="CF4420"/>
          </a:solidFill>
          <a:ln w="12700">
            <a:solidFill>
              <a:srgbClr val="333333"/>
            </a:solidFill>
            <a:prstDash val="solid"/>
          </a:ln>
        </p:spPr>
      </p:sp>
      <p:sp>
        <p:nvSpPr>
          <p:cNvPr id="15" name="Text 13"/>
          <p:cNvSpPr txBox="1"/>
          <p:nvPr/>
        </p:nvSpPr>
        <p:spPr>
          <a:xfrm>
            <a:off x="6553048" y="1965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7147408" y="1920240"/>
            <a:ext cx="4175608" cy="50292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3 or 4 per studio</a:t>
            </a:r>
            <a:endParaRPr lang="en-US" sz="2000" dirty="0"/>
          </a:p>
        </p:txBody>
      </p:sp>
      <p:sp>
        <p:nvSpPr>
          <p:cNvPr id="17" name="Text 15"/>
          <p:cNvSpPr txBox="1"/>
          <p:nvPr/>
        </p:nvSpPr>
        <p:spPr>
          <a:xfrm>
            <a:off x="6553048" y="2514600"/>
            <a:ext cx="4724248" cy="777240"/>
          </a:xfrm>
          <a:prstGeom prst="rect">
            <a:avLst/>
          </a:prstGeom>
          <a:noFill/>
          <a:ln/>
        </p:spPr>
        <p:txBody>
          <a:bodyPr wrap="square" lIns="0" tIns="0" rIns="0" bIns="0" rtlCol="0" anchor="t"/>
          <a:lstStyle/>
          <a:p>
            <a:pPr indent="0" marL="0">
              <a:lnSpc>
                <a:spcPts val="2100"/>
              </a:lnSpc>
              <a:buNone/>
            </a:pPr>
            <a:r>
              <a:rPr lang="en-US" sz="1600" dirty="0">
                <a:solidFill>
                  <a:srgbClr val="1C1A19"/>
                </a:solidFill>
                <a:latin typeface="Calibri" pitchFamily="34" charset="0"/>
                <a:ea typeface="Calibri" pitchFamily="34" charset="-122"/>
                <a:cs typeface="Calibri" pitchFamily="34" charset="-120"/>
              </a:rPr>
              <a:t>Popular games may split into two studios, or merge with a similar pitch.</a:t>
            </a:r>
            <a:endParaRPr lang="en-US" sz="1600" dirty="0"/>
          </a:p>
        </p:txBody>
      </p:sp>
      <p:sp>
        <p:nvSpPr>
          <p:cNvPr id="18" name="Shape 16"/>
          <p:cNvSpPr/>
          <p:nvPr/>
        </p:nvSpPr>
        <p:spPr>
          <a:xfrm>
            <a:off x="640080" y="3611880"/>
            <a:ext cx="5272888"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9" name="Shape 17"/>
          <p:cNvSpPr/>
          <p:nvPr/>
        </p:nvSpPr>
        <p:spPr>
          <a:xfrm>
            <a:off x="914400" y="3886200"/>
            <a:ext cx="420624" cy="420624"/>
          </a:xfrm>
          <a:prstGeom prst="ellipse">
            <a:avLst/>
          </a:prstGeom>
          <a:solidFill>
            <a:srgbClr val="CF4420"/>
          </a:solidFill>
          <a:ln w="12700">
            <a:solidFill>
              <a:srgbClr val="333333"/>
            </a:solidFill>
            <a:prstDash val="solid"/>
          </a:ln>
        </p:spPr>
      </p:sp>
      <p:sp>
        <p:nvSpPr>
          <p:cNvPr id="20" name="Text 18"/>
          <p:cNvSpPr txBox="1"/>
          <p:nvPr/>
        </p:nvSpPr>
        <p:spPr>
          <a:xfrm>
            <a:off x="914400" y="38862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508760" y="3840480"/>
            <a:ext cx="4175608" cy="50292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The pitcher is not the boss</a:t>
            </a:r>
            <a:endParaRPr lang="en-US" sz="2000" dirty="0"/>
          </a:p>
        </p:txBody>
      </p:sp>
      <p:sp>
        <p:nvSpPr>
          <p:cNvPr id="22" name="Text 20"/>
          <p:cNvSpPr txBox="1"/>
          <p:nvPr/>
        </p:nvSpPr>
        <p:spPr>
          <a:xfrm>
            <a:off x="914400" y="4434840"/>
            <a:ext cx="4724248" cy="777240"/>
          </a:xfrm>
          <a:prstGeom prst="rect">
            <a:avLst/>
          </a:prstGeom>
          <a:noFill/>
          <a:ln/>
        </p:spPr>
        <p:txBody>
          <a:bodyPr wrap="square" lIns="0" tIns="0" rIns="0" bIns="0" rtlCol="0" anchor="t"/>
          <a:lstStyle/>
          <a:p>
            <a:pPr indent="0" marL="0">
              <a:lnSpc>
                <a:spcPts val="2100"/>
              </a:lnSpc>
              <a:buNone/>
            </a:pPr>
            <a:r>
              <a:rPr lang="en-US" sz="1600" dirty="0">
                <a:solidFill>
                  <a:srgbClr val="1C1A19"/>
                </a:solidFill>
                <a:latin typeface="Calibri" pitchFamily="34" charset="0"/>
                <a:ea typeface="Calibri" pitchFamily="34" charset="-122"/>
                <a:cs typeface="Calibri" pitchFamily="34" charset="-120"/>
              </a:rPr>
              <a:t>Everyone rotates roles. The pitcher's idea becomes the team's idea.</a:t>
            </a:r>
            <a:endParaRPr lang="en-US" sz="1600" dirty="0"/>
          </a:p>
        </p:txBody>
      </p:sp>
      <p:sp>
        <p:nvSpPr>
          <p:cNvPr id="23" name="Shape 21"/>
          <p:cNvSpPr/>
          <p:nvPr/>
        </p:nvSpPr>
        <p:spPr>
          <a:xfrm>
            <a:off x="6278728" y="3611880"/>
            <a:ext cx="5272888" cy="1691640"/>
          </a:xfrm>
          <a:prstGeom prst="roundRect">
            <a:avLst>
              <a:gd name="adj" fmla="val 4865"/>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4" name="Shape 22"/>
          <p:cNvSpPr/>
          <p:nvPr/>
        </p:nvSpPr>
        <p:spPr>
          <a:xfrm>
            <a:off x="6553048" y="3886200"/>
            <a:ext cx="420624" cy="420624"/>
          </a:xfrm>
          <a:prstGeom prst="ellipse">
            <a:avLst/>
          </a:prstGeom>
          <a:solidFill>
            <a:srgbClr val="CF4420"/>
          </a:solidFill>
          <a:ln w="12700">
            <a:solidFill>
              <a:srgbClr val="333333"/>
            </a:solidFill>
            <a:prstDash val="solid"/>
          </a:ln>
        </p:spPr>
      </p:sp>
      <p:sp>
        <p:nvSpPr>
          <p:cNvPr id="25" name="Text 23"/>
          <p:cNvSpPr txBox="1"/>
          <p:nvPr/>
        </p:nvSpPr>
        <p:spPr>
          <a:xfrm>
            <a:off x="6553048" y="38862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7147408" y="3840480"/>
            <a:ext cx="4175608" cy="50292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Merge ideas on purpose</a:t>
            </a:r>
            <a:endParaRPr lang="en-US" sz="2000" dirty="0"/>
          </a:p>
        </p:txBody>
      </p:sp>
      <p:sp>
        <p:nvSpPr>
          <p:cNvPr id="27" name="Text 25"/>
          <p:cNvSpPr txBox="1"/>
          <p:nvPr/>
        </p:nvSpPr>
        <p:spPr>
          <a:xfrm>
            <a:off x="6553048" y="4434840"/>
            <a:ext cx="4724248" cy="777240"/>
          </a:xfrm>
          <a:prstGeom prst="rect">
            <a:avLst/>
          </a:prstGeom>
          <a:noFill/>
          <a:ln/>
        </p:spPr>
        <p:txBody>
          <a:bodyPr wrap="square" lIns="0" tIns="0" rIns="0" bIns="0" rtlCol="0" anchor="t"/>
          <a:lstStyle/>
          <a:p>
            <a:pPr indent="0" marL="0">
              <a:lnSpc>
                <a:spcPts val="2100"/>
              </a:lnSpc>
              <a:buNone/>
            </a:pPr>
            <a:r>
              <a:rPr lang="en-US" sz="1600" dirty="0">
                <a:solidFill>
                  <a:srgbClr val="1C1A19"/>
                </a:solidFill>
                <a:latin typeface="Calibri" pitchFamily="34" charset="0"/>
                <a:ea typeface="Calibri" pitchFamily="34" charset="-122"/>
                <a:cs typeface="Calibri" pitchFamily="34" charset="-120"/>
              </a:rPr>
              <a:t>Two pitches can become one game. Keep the best loop and the best feeling.</a:t>
            </a:r>
            <a:endParaRPr lang="en-US" sz="1600" dirty="0"/>
          </a:p>
        </p:txBody>
      </p:sp>
      <p:sp>
        <p:nvSpPr>
          <p:cNvPr id="28" name="Text 26"/>
          <p:cNvSpPr txBox="1"/>
          <p:nvPr/>
        </p:nvSpPr>
        <p:spPr>
          <a:xfrm>
            <a:off x="640080" y="5669280"/>
            <a:ext cx="10911535" cy="45720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Your teacher has the final say, so every studio is balanced and every game gets made.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F1"/>
        </a:solidFill>
      </p:bgPr>
    </p:bg>
    <p:spTree>
      <p:nvGrpSpPr>
        <p:cNvPr id="1" name=""/>
        <p:cNvGrpSpPr/>
        <p:nvPr/>
      </p:nvGrpSpPr>
      <p:grpSpPr>
        <a:xfrm>
          <a:off x="0" y="0"/>
          <a:ext cx="0" cy="0"/>
          <a:chOff x="0" y="0"/>
          <a:chExt cx="0" cy="0"/>
        </a:xfrm>
      </p:grpSpPr>
      <p:sp>
        <p:nvSpPr>
          <p:cNvPr id="2" name="Shape 0"/>
          <p:cNvSpPr/>
          <p:nvPr/>
        </p:nvSpPr>
        <p:spPr>
          <a:xfrm>
            <a:off x="10728655" y="420624"/>
            <a:ext cx="164592" cy="164592"/>
          </a:xfrm>
          <a:prstGeom prst="rect">
            <a:avLst/>
          </a:prstGeom>
          <a:solidFill>
            <a:srgbClr val="CF4420"/>
          </a:solidFill>
          <a:ln w="12700">
            <a:solidFill>
              <a:srgbClr val="333333"/>
            </a:solidFill>
            <a:prstDash val="solid"/>
          </a:ln>
        </p:spPr>
      </p:sp>
      <p:sp>
        <p:nvSpPr>
          <p:cNvPr id="3" name="Shape 1"/>
          <p:cNvSpPr/>
          <p:nvPr/>
        </p:nvSpPr>
        <p:spPr>
          <a:xfrm>
            <a:off x="10948111" y="420624"/>
            <a:ext cx="164592" cy="164592"/>
          </a:xfrm>
          <a:prstGeom prst="rect">
            <a:avLst/>
          </a:prstGeom>
          <a:solidFill>
            <a:srgbClr val="FFB13B"/>
          </a:solidFill>
          <a:ln w="12700">
            <a:solidFill>
              <a:srgbClr val="333333"/>
            </a:solidFill>
            <a:prstDash val="solid"/>
          </a:ln>
        </p:spPr>
      </p:sp>
      <p:sp>
        <p:nvSpPr>
          <p:cNvPr id="4" name="Shape 2"/>
          <p:cNvSpPr/>
          <p:nvPr/>
        </p:nvSpPr>
        <p:spPr>
          <a:xfrm>
            <a:off x="11167567" y="420624"/>
            <a:ext cx="164592" cy="164592"/>
          </a:xfrm>
          <a:prstGeom prst="rect">
            <a:avLst/>
          </a:prstGeom>
          <a:solidFill>
            <a:srgbClr val="3DDC97"/>
          </a:solidFill>
          <a:ln w="12700">
            <a:solidFill>
              <a:srgbClr val="333333"/>
            </a:solidFill>
            <a:prstDash val="solid"/>
          </a:ln>
        </p:spPr>
      </p:sp>
      <p:sp>
        <p:nvSpPr>
          <p:cNvPr id="5" name="Shape 3"/>
          <p:cNvSpPr/>
          <p:nvPr/>
        </p:nvSpPr>
        <p:spPr>
          <a:xfrm>
            <a:off x="11387023" y="420624"/>
            <a:ext cx="164592" cy="164592"/>
          </a:xfrm>
          <a:prstGeom prst="rect">
            <a:avLst/>
          </a:prstGeom>
          <a:solidFill>
            <a:srgbClr val="5CC8FF"/>
          </a:solidFill>
          <a:ln w="12700">
            <a:solidFill>
              <a:srgbClr val="333333"/>
            </a:solidFill>
            <a:prstDash val="solid"/>
          </a:ln>
        </p:spPr>
      </p:sp>
      <p:sp>
        <p:nvSpPr>
          <p:cNvPr id="6" name="Text 4"/>
          <p:cNvSpPr txBox="1"/>
          <p:nvPr/>
        </p:nvSpPr>
        <p:spPr>
          <a:xfrm>
            <a:off x="640080" y="384048"/>
            <a:ext cx="981425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DAY 5 · STUDIO NAME</a:t>
            </a:r>
            <a:endParaRPr lang="en-US" sz="1200" dirty="0"/>
          </a:p>
        </p:txBody>
      </p:sp>
      <p:sp>
        <p:nvSpPr>
          <p:cNvPr id="7" name="Text 5"/>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Name your studio</a:t>
            </a:r>
            <a:endParaRPr lang="en-US" sz="3400" dirty="0"/>
          </a:p>
        </p:txBody>
      </p:sp>
      <p:sp>
        <p:nvSpPr>
          <p:cNvPr id="8" name="Shape 6"/>
          <p:cNvSpPr/>
          <p:nvPr/>
        </p:nvSpPr>
        <p:spPr>
          <a:xfrm>
            <a:off x="640080" y="1783080"/>
            <a:ext cx="5272888" cy="1005840"/>
          </a:xfrm>
          <a:prstGeom prst="roundRect">
            <a:avLst>
              <a:gd name="adj" fmla="val 10909"/>
            </a:avLst>
          </a:prstGeom>
          <a:solidFill>
            <a:srgbClr val="1B1230"/>
          </a:solidFill>
          <a:ln w="12700">
            <a:solidFill>
              <a:srgbClr val="333333"/>
            </a:solidFill>
            <a:prstDash val="solid"/>
          </a:ln>
        </p:spPr>
      </p:sp>
      <p:sp>
        <p:nvSpPr>
          <p:cNvPr id="9" name="Text 7"/>
          <p:cNvSpPr txBox="1"/>
          <p:nvPr/>
        </p:nvSpPr>
        <p:spPr>
          <a:xfrm>
            <a:off x="640080" y="1783080"/>
            <a:ext cx="5272888"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Pixel Pickle Games</a:t>
            </a:r>
            <a:endParaRPr lang="en-US" sz="2400" dirty="0"/>
          </a:p>
        </p:txBody>
      </p:sp>
      <p:sp>
        <p:nvSpPr>
          <p:cNvPr id="10" name="Shape 8"/>
          <p:cNvSpPr/>
          <p:nvPr/>
        </p:nvSpPr>
        <p:spPr>
          <a:xfrm>
            <a:off x="6278728" y="1783080"/>
            <a:ext cx="5272888" cy="1005840"/>
          </a:xfrm>
          <a:prstGeom prst="roundRect">
            <a:avLst>
              <a:gd name="adj" fmla="val 10909"/>
            </a:avLst>
          </a:prstGeom>
          <a:solidFill>
            <a:srgbClr val="630031"/>
          </a:solidFill>
          <a:ln w="12700">
            <a:solidFill>
              <a:srgbClr val="333333"/>
            </a:solidFill>
            <a:prstDash val="solid"/>
          </a:ln>
        </p:spPr>
      </p:sp>
      <p:sp>
        <p:nvSpPr>
          <p:cNvPr id="11" name="Text 9"/>
          <p:cNvSpPr txBox="1"/>
          <p:nvPr/>
        </p:nvSpPr>
        <p:spPr>
          <a:xfrm>
            <a:off x="6278728" y="1783080"/>
            <a:ext cx="5272888"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Night Owl Studio</a:t>
            </a:r>
            <a:endParaRPr lang="en-US" sz="2400" dirty="0"/>
          </a:p>
        </p:txBody>
      </p:sp>
      <p:sp>
        <p:nvSpPr>
          <p:cNvPr id="12" name="Shape 10"/>
          <p:cNvSpPr/>
          <p:nvPr/>
        </p:nvSpPr>
        <p:spPr>
          <a:xfrm>
            <a:off x="640080" y="3017520"/>
            <a:ext cx="5272888" cy="1005840"/>
          </a:xfrm>
          <a:prstGeom prst="roundRect">
            <a:avLst>
              <a:gd name="adj" fmla="val 10909"/>
            </a:avLst>
          </a:prstGeom>
          <a:solidFill>
            <a:srgbClr val="1F6F78"/>
          </a:solidFill>
          <a:ln w="12700">
            <a:solidFill>
              <a:srgbClr val="333333"/>
            </a:solidFill>
            <a:prstDash val="solid"/>
          </a:ln>
        </p:spPr>
      </p:sp>
      <p:sp>
        <p:nvSpPr>
          <p:cNvPr id="13" name="Text 11"/>
          <p:cNvSpPr txBox="1"/>
          <p:nvPr/>
        </p:nvSpPr>
        <p:spPr>
          <a:xfrm>
            <a:off x="640080" y="3017520"/>
            <a:ext cx="5272888"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Dragon Byte</a:t>
            </a:r>
            <a:endParaRPr lang="en-US" sz="2400" dirty="0"/>
          </a:p>
        </p:txBody>
      </p:sp>
      <p:sp>
        <p:nvSpPr>
          <p:cNvPr id="14" name="Shape 12"/>
          <p:cNvSpPr/>
          <p:nvPr/>
        </p:nvSpPr>
        <p:spPr>
          <a:xfrm>
            <a:off x="6278728" y="3017520"/>
            <a:ext cx="5272888" cy="1005840"/>
          </a:xfrm>
          <a:prstGeom prst="roundRect">
            <a:avLst>
              <a:gd name="adj" fmla="val 10909"/>
            </a:avLst>
          </a:prstGeom>
          <a:solidFill>
            <a:srgbClr val="CF4420"/>
          </a:solidFill>
          <a:ln w="12700">
            <a:solidFill>
              <a:srgbClr val="333333"/>
            </a:solidFill>
            <a:prstDash val="solid"/>
          </a:ln>
        </p:spPr>
      </p:sp>
      <p:sp>
        <p:nvSpPr>
          <p:cNvPr id="15" name="Text 13"/>
          <p:cNvSpPr txBox="1"/>
          <p:nvPr/>
        </p:nvSpPr>
        <p:spPr>
          <a:xfrm>
            <a:off x="6278728" y="3017520"/>
            <a:ext cx="5272888" cy="1005840"/>
          </a:xfrm>
          <a:prstGeom prst="rect">
            <a:avLst/>
          </a:prstGeom>
          <a:noFill/>
          <a:ln/>
        </p:spPr>
        <p:txBody>
          <a:bodyPr wrap="square" lIns="0" tIns="0" rIns="0" bIns="0" rtlCol="0" anchor="ctr"/>
          <a:lstStyle/>
          <a:p>
            <a:pPr algn="ctr" indent="0" marL="0">
              <a:buNone/>
            </a:pPr>
            <a:r>
              <a:rPr lang="en-US" sz="2400" b="1" dirty="0">
                <a:solidFill>
                  <a:srgbClr val="FFFFFF"/>
                </a:solidFill>
                <a:latin typeface="Consolas" pitchFamily="34" charset="0"/>
                <a:ea typeface="Consolas" pitchFamily="34" charset="-122"/>
                <a:cs typeface="Consolas" pitchFamily="34" charset="-120"/>
              </a:rPr>
              <a:t>Purple Rocket Works</a:t>
            </a:r>
            <a:endParaRPr lang="en-US" sz="2400" dirty="0"/>
          </a:p>
        </p:txBody>
      </p:sp>
      <p:sp>
        <p:nvSpPr>
          <p:cNvPr id="16" name="Shape 14"/>
          <p:cNvSpPr/>
          <p:nvPr/>
        </p:nvSpPr>
        <p:spPr>
          <a:xfrm>
            <a:off x="640080" y="4434840"/>
            <a:ext cx="10911535" cy="1417320"/>
          </a:xfrm>
          <a:prstGeom prst="roundRect">
            <a:avLst>
              <a:gd name="adj" fmla="val 5806"/>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60120" y="4617720"/>
            <a:ext cx="10271455" cy="1097280"/>
          </a:xfrm>
          <a:prstGeom prst="rect">
            <a:avLst/>
          </a:prstGeom>
          <a:noFill/>
          <a:ln/>
        </p:spPr>
        <p:txBody>
          <a:bodyPr wrap="square" lIns="0" tIns="0" rIns="0" bIns="0" rtlCol="0" anchor="t"/>
          <a:lstStyle/>
          <a:p>
            <a:pPr indent="0" marL="0">
              <a:lnSpc>
                <a:spcPts val="2600"/>
              </a:lnSpc>
              <a:buNone/>
            </a:pPr>
            <a:r>
              <a:rPr lang="en-US" sz="1800" b="1" dirty="0">
                <a:solidFill>
                  <a:srgbClr val="630031"/>
                </a:solidFill>
                <a:latin typeface="Calibri" pitchFamily="34" charset="0"/>
                <a:ea typeface="Calibri" pitchFamily="34" charset="-122"/>
                <a:cs typeface="Calibri" pitchFamily="34" charset="-120"/>
              </a:rPr>
              <a:t>The rules: </a:t>
            </a:r>
            <a:pPr indent="0" marL="0">
              <a:lnSpc>
                <a:spcPts val="2600"/>
              </a:lnSpc>
              <a:buNone/>
            </a:pPr>
            <a:r>
              <a:rPr lang="en-US" sz="1800" dirty="0">
                <a:solidFill>
                  <a:srgbClr val="1C1A19"/>
                </a:solidFill>
                <a:latin typeface="Calibri" pitchFamily="34" charset="0"/>
                <a:ea typeface="Calibri" pitchFamily="34" charset="-122"/>
                <a:cs typeface="Calibri" pitchFamily="34" charset="-120"/>
              </a:rPr>
              <a:t>no real names, no real companies, and nothing you would not say in front of the principal. Your studio name is what you type on </a:t>
            </a:r>
            <a:pPr indent="0" marL="0">
              <a:lnSpc>
                <a:spcPts val="2600"/>
              </a:lnSpc>
              <a:buNone/>
            </a:pPr>
            <a:r>
              <a:rPr lang="en-US" sz="1800" b="1" dirty="0">
                <a:solidFill>
                  <a:srgbClr val="1C1A19"/>
                </a:solidFill>
                <a:latin typeface="Consolas" pitchFamily="34" charset="0"/>
                <a:ea typeface="Consolas" pitchFamily="34" charset="-122"/>
                <a:cs typeface="Consolas" pitchFamily="34" charset="-120"/>
              </a:rPr>
              <a:t>doubleblaze.solutions/studio</a:t>
            </a:r>
            <a:pPr indent="0" marL="0">
              <a:lnSpc>
                <a:spcPts val="2600"/>
              </a:lnSpc>
              <a:buNone/>
            </a:pPr>
            <a:r>
              <a:rPr lang="en-US" sz="1800" dirty="0">
                <a:solidFill>
                  <a:srgbClr val="1C1A19"/>
                </a:solidFill>
                <a:latin typeface="Calibri" pitchFamily="34" charset="0"/>
                <a:ea typeface="Calibri" pitchFamily="34" charset="-122"/>
                <a:cs typeface="Calibri" pitchFamily="34" charset="-120"/>
              </a:rPr>
              <a:t> and what shows on /play.</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230"/>
        </a:solidFill>
      </p:bgPr>
    </p:bg>
    <p:spTree>
      <p:nvGrpSpPr>
        <p:cNvPr id="1" name=""/>
        <p:cNvGrpSpPr/>
        <p:nvPr/>
      </p:nvGrpSpPr>
      <p:grpSpPr>
        <a:xfrm>
          <a:off x="0" y="0"/>
          <a:ext cx="0" cy="0"/>
          <a:chOff x="0" y="0"/>
          <a:chExt cx="0" cy="0"/>
        </a:xfrm>
      </p:grpSpPr>
      <p:sp>
        <p:nvSpPr>
          <p:cNvPr id="2" name="Shape 0"/>
          <p:cNvSpPr/>
          <p:nvPr/>
        </p:nvSpPr>
        <p:spPr>
          <a:xfrm>
            <a:off x="914400" y="5943600"/>
            <a:ext cx="128016" cy="128016"/>
          </a:xfrm>
          <a:prstGeom prst="rect">
            <a:avLst/>
          </a:prstGeom>
          <a:solidFill>
            <a:srgbClr val="FFB13B"/>
          </a:solidFill>
          <a:ln w="12700">
            <a:solidFill>
              <a:srgbClr val="333333"/>
            </a:solidFill>
            <a:prstDash val="solid"/>
          </a:ln>
        </p:spPr>
      </p:sp>
      <p:sp>
        <p:nvSpPr>
          <p:cNvPr id="3" name="Shape 1"/>
          <p:cNvSpPr/>
          <p:nvPr/>
        </p:nvSpPr>
        <p:spPr>
          <a:xfrm>
            <a:off x="3840480" y="548640"/>
            <a:ext cx="128016" cy="128016"/>
          </a:xfrm>
          <a:prstGeom prst="rect">
            <a:avLst/>
          </a:prstGeom>
          <a:solidFill>
            <a:srgbClr val="3DDC97"/>
          </a:solidFill>
          <a:ln w="12700">
            <a:solidFill>
              <a:srgbClr val="333333"/>
            </a:solidFill>
            <a:prstDash val="solid"/>
          </a:ln>
        </p:spPr>
      </p:sp>
      <p:sp>
        <p:nvSpPr>
          <p:cNvPr id="4" name="Shape 2"/>
          <p:cNvSpPr/>
          <p:nvPr/>
        </p:nvSpPr>
        <p:spPr>
          <a:xfrm>
            <a:off x="10881360" y="5852160"/>
            <a:ext cx="128016" cy="128016"/>
          </a:xfrm>
          <a:prstGeom prst="rect">
            <a:avLst/>
          </a:prstGeom>
          <a:solidFill>
            <a:srgbClr val="5CC8FF"/>
          </a:solidFill>
          <a:ln w="12700">
            <a:solidFill>
              <a:srgbClr val="333333"/>
            </a:solidFill>
            <a:prstDash val="solid"/>
          </a:ln>
        </p:spPr>
      </p:sp>
      <p:sp>
        <p:nvSpPr>
          <p:cNvPr id="5" name="Shape 3"/>
          <p:cNvSpPr/>
          <p:nvPr/>
        </p:nvSpPr>
        <p:spPr>
          <a:xfrm>
            <a:off x="11247120" y="822960"/>
            <a:ext cx="128016" cy="128016"/>
          </a:xfrm>
          <a:prstGeom prst="rect">
            <a:avLst/>
          </a:prstGeom>
          <a:solidFill>
            <a:srgbClr val="CF4420"/>
          </a:solidFill>
          <a:ln w="12700">
            <a:solidFill>
              <a:srgbClr val="333333"/>
            </a:solidFill>
            <a:prstDash val="solid"/>
          </a:ln>
        </p:spPr>
      </p:sp>
      <p:sp>
        <p:nvSpPr>
          <p:cNvPr id="6" name="Text 4"/>
          <p:cNvSpPr txBox="1"/>
          <p:nvPr/>
        </p:nvSpPr>
        <p:spPr>
          <a:xfrm>
            <a:off x="640080" y="914400"/>
            <a:ext cx="10911535" cy="310896"/>
          </a:xfrm>
          <a:prstGeom prst="rect">
            <a:avLst/>
          </a:prstGeom>
          <a:noFill/>
          <a:ln/>
        </p:spPr>
        <p:txBody>
          <a:bodyPr wrap="square" lIns="0" tIns="0" rIns="0" bIns="0" rtlCol="0" anchor="ctr"/>
          <a:lstStyle/>
          <a:p>
            <a:pPr indent="0" marL="0">
              <a:buNone/>
            </a:pPr>
            <a:r>
              <a:rPr lang="en-US" sz="1300" b="1" spc="300" kern="0" dirty="0">
                <a:solidFill>
                  <a:srgbClr val="FFB13B"/>
                </a:solidFill>
                <a:latin typeface="Calibri" pitchFamily="34" charset="0"/>
                <a:ea typeface="Calibri" pitchFamily="34" charset="-122"/>
                <a:cs typeface="Calibri" pitchFamily="34" charset="-120"/>
              </a:rPr>
              <a:t>NEXT WEEK  ·  WEEK 2</a:t>
            </a:r>
            <a:endParaRPr lang="en-US" sz="1300" dirty="0"/>
          </a:p>
        </p:txBody>
      </p:sp>
      <p:sp>
        <p:nvSpPr>
          <p:cNvPr id="7" name="Text 5"/>
          <p:cNvSpPr txBox="1"/>
          <p:nvPr/>
        </p:nvSpPr>
        <p:spPr>
          <a:xfrm>
            <a:off x="640080" y="1280160"/>
            <a:ext cx="10911535"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Write your game down.</a:t>
            </a:r>
            <a:endParaRPr lang="en-US" sz="4800" dirty="0"/>
          </a:p>
        </p:txBody>
      </p:sp>
      <p:sp>
        <p:nvSpPr>
          <p:cNvPr id="8" name="Shape 6"/>
          <p:cNvSpPr/>
          <p:nvPr/>
        </p:nvSpPr>
        <p:spPr>
          <a:xfrm>
            <a:off x="640080" y="2468880"/>
            <a:ext cx="420624" cy="420624"/>
          </a:xfrm>
          <a:prstGeom prst="ellipse">
            <a:avLst/>
          </a:prstGeom>
          <a:solidFill>
            <a:srgbClr val="CF4420"/>
          </a:solidFill>
          <a:ln w="12700">
            <a:solidFill>
              <a:srgbClr val="333333"/>
            </a:solidFill>
            <a:prstDash val="solid"/>
          </a:ln>
        </p:spPr>
      </p:sp>
      <p:sp>
        <p:nvSpPr>
          <p:cNvPr id="9" name="Text 7"/>
          <p:cNvSpPr txBox="1"/>
          <p:nvPr/>
        </p:nvSpPr>
        <p:spPr>
          <a:xfrm>
            <a:off x="640080" y="2468880"/>
            <a:ext cx="420624" cy="420624"/>
          </a:xfrm>
          <a:prstGeom prst="rect">
            <a:avLst/>
          </a:prstGeom>
          <a:noFill/>
          <a:ln/>
        </p:spPr>
        <p:txBody>
          <a:bodyPr wrap="square" lIns="0" tIns="0" rIns="0" bIns="0" rtlCol="0" anchor="ctr"/>
          <a:lstStyle/>
          <a:p>
            <a:pPr algn="ctr" indent="0" marL="0">
              <a:buNone/>
            </a:pPr>
            <a:r>
              <a:rPr lang="en-US" sz="1500" b="1" dirty="0">
                <a:solidFill>
                  <a:srgbClr val="1B1230"/>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280160" y="2423160"/>
            <a:ext cx="2926080" cy="51206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feeling</a:t>
            </a:r>
            <a:endParaRPr lang="en-US" sz="1900" dirty="0"/>
          </a:p>
        </p:txBody>
      </p:sp>
      <p:sp>
        <p:nvSpPr>
          <p:cNvPr id="11" name="Text 9"/>
          <p:cNvSpPr txBox="1"/>
          <p:nvPr/>
        </p:nvSpPr>
        <p:spPr>
          <a:xfrm>
            <a:off x="4206240" y="2423160"/>
            <a:ext cx="7345375" cy="512064"/>
          </a:xfrm>
          <a:prstGeom prst="rect">
            <a:avLst/>
          </a:prstGeom>
          <a:noFill/>
          <a:ln/>
        </p:spPr>
        <p:txBody>
          <a:bodyPr wrap="square" lIns="0" tIns="0" rIns="0" bIns="0" rtlCol="0" anchor="ctr"/>
          <a:lstStyle/>
          <a:p>
            <a:pPr indent="0" marL="0">
              <a:buNone/>
            </a:pPr>
            <a:r>
              <a:rPr lang="en-US" sz="1700" dirty="0">
                <a:solidFill>
                  <a:srgbClr val="DCD3F0"/>
                </a:solidFill>
                <a:latin typeface="Calibri" pitchFamily="34" charset="0"/>
                <a:ea typeface="Calibri" pitchFamily="34" charset="-122"/>
                <a:cs typeface="Calibri" pitchFamily="34" charset="-120"/>
              </a:rPr>
              <a:t>The player feels ____, because ____.</a:t>
            </a:r>
            <a:endParaRPr lang="en-US" sz="1700" dirty="0"/>
          </a:p>
        </p:txBody>
      </p:sp>
      <p:sp>
        <p:nvSpPr>
          <p:cNvPr id="12" name="Shape 10"/>
          <p:cNvSpPr/>
          <p:nvPr/>
        </p:nvSpPr>
        <p:spPr>
          <a:xfrm>
            <a:off x="640080" y="3072384"/>
            <a:ext cx="420624" cy="420624"/>
          </a:xfrm>
          <a:prstGeom prst="ellipse">
            <a:avLst/>
          </a:prstGeom>
          <a:solidFill>
            <a:srgbClr val="FFB13B"/>
          </a:solidFill>
          <a:ln w="12700">
            <a:solidFill>
              <a:srgbClr val="333333"/>
            </a:solidFill>
            <a:prstDash val="solid"/>
          </a:ln>
        </p:spPr>
      </p:sp>
      <p:sp>
        <p:nvSpPr>
          <p:cNvPr id="13" name="Text 11"/>
          <p:cNvSpPr txBox="1"/>
          <p:nvPr/>
        </p:nvSpPr>
        <p:spPr>
          <a:xfrm>
            <a:off x="640080" y="3072384"/>
            <a:ext cx="420624" cy="420624"/>
          </a:xfrm>
          <a:prstGeom prst="rect">
            <a:avLst/>
          </a:prstGeom>
          <a:noFill/>
          <a:ln/>
        </p:spPr>
        <p:txBody>
          <a:bodyPr wrap="square" lIns="0" tIns="0" rIns="0" bIns="0" rtlCol="0" anchor="ctr"/>
          <a:lstStyle/>
          <a:p>
            <a:pPr algn="ctr" indent="0" marL="0">
              <a:buNone/>
            </a:pPr>
            <a:r>
              <a:rPr lang="en-US" sz="1500" b="1" dirty="0">
                <a:solidFill>
                  <a:srgbClr val="1B1230"/>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280160" y="3026664"/>
            <a:ext cx="2926080" cy="51206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Players</a:t>
            </a:r>
            <a:endParaRPr lang="en-US" sz="1900" dirty="0"/>
          </a:p>
        </p:txBody>
      </p:sp>
      <p:sp>
        <p:nvSpPr>
          <p:cNvPr id="15" name="Text 13"/>
          <p:cNvSpPr txBox="1"/>
          <p:nvPr/>
        </p:nvSpPr>
        <p:spPr>
          <a:xfrm>
            <a:off x="4206240" y="3026664"/>
            <a:ext cx="7345375" cy="512064"/>
          </a:xfrm>
          <a:prstGeom prst="rect">
            <a:avLst/>
          </a:prstGeom>
          <a:noFill/>
          <a:ln/>
        </p:spPr>
        <p:txBody>
          <a:bodyPr wrap="square" lIns="0" tIns="0" rIns="0" bIns="0" rtlCol="0" anchor="ctr"/>
          <a:lstStyle/>
          <a:p>
            <a:pPr indent="0" marL="0">
              <a:buNone/>
            </a:pPr>
            <a:r>
              <a:rPr lang="en-US" sz="1700" dirty="0">
                <a:solidFill>
                  <a:srgbClr val="DCD3F0"/>
                </a:solidFill>
                <a:latin typeface="Calibri" pitchFamily="34" charset="0"/>
                <a:ea typeface="Calibri" pitchFamily="34" charset="-122"/>
                <a:cs typeface="Calibri" pitchFamily="34" charset="-120"/>
              </a:rPr>
              <a:t>At least two types, and what each wants.</a:t>
            </a:r>
            <a:endParaRPr lang="en-US" sz="1700" dirty="0"/>
          </a:p>
        </p:txBody>
      </p:sp>
      <p:sp>
        <p:nvSpPr>
          <p:cNvPr id="16" name="Shape 14"/>
          <p:cNvSpPr/>
          <p:nvPr/>
        </p:nvSpPr>
        <p:spPr>
          <a:xfrm>
            <a:off x="640080" y="3675888"/>
            <a:ext cx="420624" cy="420624"/>
          </a:xfrm>
          <a:prstGeom prst="ellipse">
            <a:avLst/>
          </a:prstGeom>
          <a:solidFill>
            <a:srgbClr val="3DDC97"/>
          </a:solidFill>
          <a:ln w="12700">
            <a:solidFill>
              <a:srgbClr val="333333"/>
            </a:solidFill>
            <a:prstDash val="solid"/>
          </a:ln>
        </p:spPr>
      </p:sp>
      <p:sp>
        <p:nvSpPr>
          <p:cNvPr id="17" name="Text 15"/>
          <p:cNvSpPr txBox="1"/>
          <p:nvPr/>
        </p:nvSpPr>
        <p:spPr>
          <a:xfrm>
            <a:off x="640080" y="3675888"/>
            <a:ext cx="420624" cy="420624"/>
          </a:xfrm>
          <a:prstGeom prst="rect">
            <a:avLst/>
          </a:prstGeom>
          <a:noFill/>
          <a:ln/>
        </p:spPr>
        <p:txBody>
          <a:bodyPr wrap="square" lIns="0" tIns="0" rIns="0" bIns="0" rtlCol="0" anchor="ctr"/>
          <a:lstStyle/>
          <a:p>
            <a:pPr algn="ctr" indent="0" marL="0">
              <a:buNone/>
            </a:pPr>
            <a:r>
              <a:rPr lang="en-US" sz="1500" b="1" dirty="0">
                <a:solidFill>
                  <a:srgbClr val="1B1230"/>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280160" y="3630168"/>
            <a:ext cx="2926080" cy="51206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Core loop</a:t>
            </a:r>
            <a:endParaRPr lang="en-US" sz="1900" dirty="0"/>
          </a:p>
        </p:txBody>
      </p:sp>
      <p:sp>
        <p:nvSpPr>
          <p:cNvPr id="19" name="Text 17"/>
          <p:cNvSpPr txBox="1"/>
          <p:nvPr/>
        </p:nvSpPr>
        <p:spPr>
          <a:xfrm>
            <a:off x="4206240" y="3630168"/>
            <a:ext cx="7345375" cy="512064"/>
          </a:xfrm>
          <a:prstGeom prst="rect">
            <a:avLst/>
          </a:prstGeom>
          <a:noFill/>
          <a:ln/>
        </p:spPr>
        <p:txBody>
          <a:bodyPr wrap="square" lIns="0" tIns="0" rIns="0" bIns="0" rtlCol="0" anchor="ctr"/>
          <a:lstStyle/>
          <a:p>
            <a:pPr indent="0" marL="0">
              <a:buNone/>
            </a:pPr>
            <a:r>
              <a:rPr lang="en-US" sz="1700" dirty="0">
                <a:solidFill>
                  <a:srgbClr val="DCD3F0"/>
                </a:solidFill>
                <a:latin typeface="Calibri" pitchFamily="34" charset="0"/>
                <a:ea typeface="Calibri" pitchFamily="34" charset="-122"/>
                <a:cs typeface="Calibri" pitchFamily="34" charset="-120"/>
              </a:rPr>
              <a:t>Your verbs, plus how you win and lose.</a:t>
            </a:r>
            <a:endParaRPr lang="en-US" sz="1700" dirty="0"/>
          </a:p>
        </p:txBody>
      </p:sp>
      <p:sp>
        <p:nvSpPr>
          <p:cNvPr id="20" name="Shape 18"/>
          <p:cNvSpPr/>
          <p:nvPr/>
        </p:nvSpPr>
        <p:spPr>
          <a:xfrm>
            <a:off x="640080" y="4279392"/>
            <a:ext cx="420624" cy="420624"/>
          </a:xfrm>
          <a:prstGeom prst="ellipse">
            <a:avLst/>
          </a:prstGeom>
          <a:solidFill>
            <a:srgbClr val="5CC8FF"/>
          </a:solidFill>
          <a:ln w="12700">
            <a:solidFill>
              <a:srgbClr val="333333"/>
            </a:solidFill>
            <a:prstDash val="solid"/>
          </a:ln>
        </p:spPr>
      </p:sp>
      <p:sp>
        <p:nvSpPr>
          <p:cNvPr id="21" name="Text 19"/>
          <p:cNvSpPr txBox="1"/>
          <p:nvPr/>
        </p:nvSpPr>
        <p:spPr>
          <a:xfrm>
            <a:off x="640080" y="4279392"/>
            <a:ext cx="420624" cy="420624"/>
          </a:xfrm>
          <a:prstGeom prst="rect">
            <a:avLst/>
          </a:prstGeom>
          <a:noFill/>
          <a:ln/>
        </p:spPr>
        <p:txBody>
          <a:bodyPr wrap="square" lIns="0" tIns="0" rIns="0" bIns="0" rtlCol="0" anchor="ctr"/>
          <a:lstStyle/>
          <a:p>
            <a:pPr algn="ctr" indent="0" marL="0">
              <a:buNone/>
            </a:pPr>
            <a:r>
              <a:rPr lang="en-US" sz="1500" b="1" dirty="0">
                <a:solidFill>
                  <a:srgbClr val="1B1230"/>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280160" y="4233672"/>
            <a:ext cx="2926080" cy="51206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World and story</a:t>
            </a:r>
            <a:endParaRPr lang="en-US" sz="1900" dirty="0"/>
          </a:p>
        </p:txBody>
      </p:sp>
      <p:sp>
        <p:nvSpPr>
          <p:cNvPr id="23" name="Text 21"/>
          <p:cNvSpPr txBox="1"/>
          <p:nvPr/>
        </p:nvSpPr>
        <p:spPr>
          <a:xfrm>
            <a:off x="4206240" y="4233672"/>
            <a:ext cx="7345375" cy="512064"/>
          </a:xfrm>
          <a:prstGeom prst="rect">
            <a:avLst/>
          </a:prstGeom>
          <a:noFill/>
          <a:ln/>
        </p:spPr>
        <p:txBody>
          <a:bodyPr wrap="square" lIns="0" tIns="0" rIns="0" bIns="0" rtlCol="0" anchor="ctr"/>
          <a:lstStyle/>
          <a:p>
            <a:pPr indent="0" marL="0">
              <a:buNone/>
            </a:pPr>
            <a:r>
              <a:rPr lang="en-US" sz="1700" dirty="0">
                <a:solidFill>
                  <a:srgbClr val="DCD3F0"/>
                </a:solidFill>
                <a:latin typeface="Calibri" pitchFamily="34" charset="0"/>
                <a:ea typeface="Calibri" pitchFamily="34" charset="-122"/>
                <a:cs typeface="Calibri" pitchFamily="34" charset="-120"/>
              </a:rPr>
              <a:t>The hero, the goal, what stands in the way.</a:t>
            </a:r>
            <a:endParaRPr lang="en-US" sz="1700" dirty="0"/>
          </a:p>
        </p:txBody>
      </p:sp>
      <p:sp>
        <p:nvSpPr>
          <p:cNvPr id="24" name="Shape 22"/>
          <p:cNvSpPr/>
          <p:nvPr/>
        </p:nvSpPr>
        <p:spPr>
          <a:xfrm>
            <a:off x="640080" y="4882896"/>
            <a:ext cx="420624" cy="420624"/>
          </a:xfrm>
          <a:prstGeom prst="ellipse">
            <a:avLst/>
          </a:prstGeom>
          <a:solidFill>
            <a:srgbClr val="E9C9D6"/>
          </a:solidFill>
          <a:ln w="12700">
            <a:solidFill>
              <a:srgbClr val="333333"/>
            </a:solidFill>
            <a:prstDash val="solid"/>
          </a:ln>
        </p:spPr>
      </p:sp>
      <p:sp>
        <p:nvSpPr>
          <p:cNvPr id="25" name="Text 23"/>
          <p:cNvSpPr txBox="1"/>
          <p:nvPr/>
        </p:nvSpPr>
        <p:spPr>
          <a:xfrm>
            <a:off x="640080" y="4882896"/>
            <a:ext cx="420624" cy="420624"/>
          </a:xfrm>
          <a:prstGeom prst="rect">
            <a:avLst/>
          </a:prstGeom>
          <a:noFill/>
          <a:ln/>
        </p:spPr>
        <p:txBody>
          <a:bodyPr wrap="square" lIns="0" tIns="0" rIns="0" bIns="0" rtlCol="0" anchor="ctr"/>
          <a:lstStyle/>
          <a:p>
            <a:pPr algn="ctr" indent="0" marL="0">
              <a:buNone/>
            </a:pPr>
            <a:r>
              <a:rPr lang="en-US" sz="1500" b="1" dirty="0">
                <a:solidFill>
                  <a:srgbClr val="1B1230"/>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280160" y="4837176"/>
            <a:ext cx="2926080" cy="51206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Mechanics</a:t>
            </a:r>
            <a:endParaRPr lang="en-US" sz="1900" dirty="0"/>
          </a:p>
        </p:txBody>
      </p:sp>
      <p:sp>
        <p:nvSpPr>
          <p:cNvPr id="27" name="Text 25"/>
          <p:cNvSpPr txBox="1"/>
          <p:nvPr/>
        </p:nvSpPr>
        <p:spPr>
          <a:xfrm>
            <a:off x="4206240" y="4837176"/>
            <a:ext cx="7345375" cy="512064"/>
          </a:xfrm>
          <a:prstGeom prst="rect">
            <a:avLst/>
          </a:prstGeom>
          <a:noFill/>
          <a:ln/>
        </p:spPr>
        <p:txBody>
          <a:bodyPr wrap="square" lIns="0" tIns="0" rIns="0" bIns="0" rtlCol="0" anchor="ctr"/>
          <a:lstStyle/>
          <a:p>
            <a:pPr indent="0" marL="0">
              <a:buNone/>
            </a:pPr>
            <a:r>
              <a:rPr lang="en-US" sz="1700" dirty="0">
                <a:solidFill>
                  <a:srgbClr val="DCD3F0"/>
                </a:solidFill>
                <a:latin typeface="Calibri" pitchFamily="34" charset="0"/>
                <a:ea typeface="Calibri" pitchFamily="34" charset="-122"/>
                <a:cs typeface="Calibri" pitchFamily="34" charset="-120"/>
              </a:rPr>
              <a:t>The controls and the rules.</a:t>
            </a:r>
            <a:endParaRPr lang="en-US" sz="1700" dirty="0"/>
          </a:p>
        </p:txBody>
      </p:sp>
      <p:sp>
        <p:nvSpPr>
          <p:cNvPr id="28" name="Shape 26"/>
          <p:cNvSpPr/>
          <p:nvPr/>
        </p:nvSpPr>
        <p:spPr>
          <a:xfrm>
            <a:off x="640080" y="5669280"/>
            <a:ext cx="10911535" cy="777240"/>
          </a:xfrm>
          <a:prstGeom prst="roundRect">
            <a:avLst>
              <a:gd name="adj" fmla="val 10588"/>
            </a:avLst>
          </a:prstGeom>
          <a:solidFill>
            <a:srgbClr val="CF4420"/>
          </a:solidFill>
          <a:ln w="12700">
            <a:solidFill>
              <a:srgbClr val="333333"/>
            </a:solidFill>
            <a:prstDash val="solid"/>
          </a:ln>
        </p:spPr>
      </p:sp>
      <p:sp>
        <p:nvSpPr>
          <p:cNvPr id="29" name="Text 27"/>
          <p:cNvSpPr txBox="1"/>
          <p:nvPr/>
        </p:nvSpPr>
        <p:spPr>
          <a:xfrm>
            <a:off x="960120" y="5669280"/>
            <a:ext cx="10271455" cy="7772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Your design doc lives at:  </a:t>
            </a:r>
            <a:pPr indent="0" marL="0">
              <a:buNone/>
            </a:pPr>
            <a:r>
              <a:rPr lang="en-US" sz="2200" b="1" dirty="0">
                <a:solidFill>
                  <a:srgbClr val="FFFFFF"/>
                </a:solidFill>
                <a:latin typeface="Consolas" pitchFamily="34" charset="0"/>
                <a:ea typeface="Consolas" pitchFamily="34" charset="-122"/>
                <a:cs typeface="Consolas" pitchFamily="34" charset="-120"/>
              </a:rPr>
              <a:t>doubleblaze.solutions/studio</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Studio, week 1</dc:title>
  <dc:subject>PptxGenJS Presentation</dc:subject>
  <dc:creator>Double Blaze</dc:creator>
  <cp:lastModifiedBy>Double Blaze</cp:lastModifiedBy>
  <cp:revision>1</cp:revision>
  <dcterms:created xsi:type="dcterms:W3CDTF">2026-10-28T14:19:39Z</dcterms:created>
  <dcterms:modified xsi:type="dcterms:W3CDTF">2026-10-28T14:19:39Z</dcterms:modified>
</cp:coreProperties>
</file>