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Set the frame: today they are not just doing the next lesson, they are deciding what the next lessons are.
Say: real product teams do not get told everything. They look at what they have, what they are allowed to spend, and what users want, and then they choose. Today you are the product team for this class.
Plan for the period: about 12 minutes of slides, 8 minutes to vote, 25 minutes writing scenarios for your own app, and the results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first. Read the apps out and let teams cheer for their own.
The QA numbers were counted from the reports at /play: 15 love it, 2 bugs, 2 confusing, 2 ideas.
Make the point gently: kindness was right, and specific is the next level. A report that says what you did, what happened, and what you expected is what lets a team fix something. That idea comes back later today as the bad day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and matter of fact. Do not apologise for it at length.
Say: the garden is on pause because the school cannot spend money right now. That happens to real companies too. When it does, a product manager asks: what can we still make that is great, with what we have?
Then: everything on the next slides costs nothing but your thinking and a Chromebook.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overview. Do not say which one you like. Their vote has to be real, and kids can tell when it is not.
Say: I will show you each one for about a minute. Then you vote on your own Chromebook. Whatever gets the most points, we do. I am happy doing any of them.
Every choice uses the same product skills you started with: purpose, users, stories. And every choice uses today's new skill,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it with energy, the same as the others.
Point out: this is how almost every app on their phones works. Version 1 ships, people use it, the team listens and makes version 2.
Good for teams who love their idea and want to see it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it with energy, the same as the others.
Last session's sixth graders designed smart cities and loved it. This version is the city as a product: one system, many kinds of users, and every one of them needs stories.
Good for students who like big systems, maps, and how a whole town fits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it with energy, the same as the others.
Point out: game studios have product managers, and their stories sound like ours. As a player, I want to unlock a new level, so that I keep coming back.
Good for students who love games and want to know why some games are hard to put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while they vote. Results are live at doubleblaze.solutions/vote/results: keep that on your own screen, not the projector, until the end of class so nobody votes with the crowd.
Ranking matters: a first choice is worth the most, but a second choice still counts, so a choice lots of people like can win.
Walk the room and read a few of the why sentences. If someone is stuck, ask: which one would you be excited to work on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Say: no matter which choice wins, you will need today's skill. So we practice it now on the apps you already know best: your own.
A scenario is a tiny story about one exact moment in your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idea of today on one slide. Each step down the ladder is more exact than the one above it.
The story says what and why. The checks say how we would know it works. The scenarios describe the exact moments, so a builder knows precisely what to make, and a tester knows precisely what to try.
The examples are from Find your way, Da purples' app, which is already built, so they can open it and see each line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example slowly, one line at a time, and point at the matching box above.
Tip to give: the When is one action. If you need two Whens, you probably have two scenarios.
The Then has to be something you could check. 'It works' is not a Then. 'A route draws to C101' is.
If you have time, open Find your way and do exactly this on the projector: Map tab, from Front doors to C101.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only imagine the happy path. Good product teams spend just as long on the bad day, because that is where users get stuck and give up.
Ask the class: what is a bad day for Find me? (No animals match my answers. The shelter is closed.) For W.C.O 27? (I lose every heart on the first defender.)
The bottom box is the link to /play: a bug report already has a Given (the screen), a When (what you did) and a Then (what you expected). That is why it turns into a bad day scenario with one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teams call this the Definition of Done. Everyone agrees on it before they start, so nobody argues later about whether something is finished.
This is our class's Definition of Done for a story. It is on Launch Pad under every story, and the boxes tick themselves as they write.
Point out: their stories from Launch Pad day already have the first box. Most have nothing for the other three yet. That is today's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the work time.
Teams sign in with the same period and team name as before. One person types, everyone decides.
Walk the room with three questions:
1. Read me a Then. Could I check it with a yes or no?
2. What is your bad day? What does your app do when it happens?
3. Is your When one action, or two?
Teams who finish: /play shows approved QA reports for their own app, and a bug can be turned into a bad day scenario with one button. Then they press See my app and look for what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three minutes. Switch the projector to doubleblaze.solutions/vote/results.
Read the winner, then read two or three of the why sentences out loud, including one from a choice that did not win. Everyone's voice counted, even when their choice lost.
Close with: next class we start on what you chose, and the scenarios you wrote today are how we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30031"/>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4A0025"/>
          </a:solidFill>
          <a:ln w="12700">
            <a:solidFill>
              <a:srgbClr val="333333"/>
            </a:solidFill>
            <a:prstDash val="solid"/>
          </a:ln>
        </p:spPr>
      </p:sp>
      <p:sp>
        <p:nvSpPr>
          <p:cNvPr id="3" name="Shape 1"/>
          <p:cNvSpPr/>
          <p:nvPr/>
        </p:nvSpPr>
        <p:spPr>
          <a:xfrm>
            <a:off x="10424160" y="3931920"/>
            <a:ext cx="3108960" cy="3108960"/>
          </a:xfrm>
          <a:prstGeom prst="ellipse">
            <a:avLst/>
          </a:prstGeom>
          <a:solidFill>
            <a:srgbClr val="CF4420"/>
          </a:solidFill>
          <a:ln w="12700">
            <a:solidFill>
              <a:srgbClr val="333333"/>
            </a:solidFill>
            <a:prstDash val="solid"/>
          </a:ln>
        </p:spPr>
      </p:sp>
      <p:sp>
        <p:nvSpPr>
          <p:cNvPr id="4" name="Text 2"/>
          <p:cNvSpPr txBox="1"/>
          <p:nvPr/>
        </p:nvSpPr>
        <p:spPr>
          <a:xfrm>
            <a:off x="640080" y="1737360"/>
            <a:ext cx="7680960" cy="310896"/>
          </a:xfrm>
          <a:prstGeom prst="rect">
            <a:avLst/>
          </a:prstGeom>
          <a:noFill/>
          <a:ln/>
        </p:spPr>
        <p:txBody>
          <a:bodyPr wrap="square" lIns="0" tIns="0" rIns="0" bIns="0" rtlCol="0" anchor="ctr"/>
          <a:lstStyle/>
          <a:p>
            <a:pPr indent="0" marL="0">
              <a:buNone/>
            </a:pPr>
            <a:r>
              <a:rPr lang="en-US" sz="1300" b="1" spc="300" kern="0" dirty="0">
                <a:solidFill>
                  <a:srgbClr val="E9C9D6"/>
                </a:solidFill>
                <a:latin typeface="Calibri" pitchFamily="34" charset="0"/>
                <a:ea typeface="Calibri" pitchFamily="34" charset="-122"/>
                <a:cs typeface="Calibri" pitchFamily="34" charset="-120"/>
              </a:rPr>
              <a:t>LAUNCH PAD  ·  PERIOD 3</a:t>
            </a:r>
            <a:endParaRPr lang="en-US" sz="1300" dirty="0"/>
          </a:p>
        </p:txBody>
      </p:sp>
      <p:sp>
        <p:nvSpPr>
          <p:cNvPr id="5" name="Text 3"/>
          <p:cNvSpPr txBox="1"/>
          <p:nvPr/>
        </p:nvSpPr>
        <p:spPr>
          <a:xfrm>
            <a:off x="640080" y="2121408"/>
            <a:ext cx="8046720" cy="1920240"/>
          </a:xfrm>
          <a:prstGeom prst="rect">
            <a:avLst/>
          </a:prstGeom>
          <a:noFill/>
          <a:ln/>
        </p:spPr>
        <p:txBody>
          <a:bodyPr wrap="square" lIns="0" tIns="0" rIns="0" bIns="0" rtlCol="0" anchor="ctr"/>
          <a:lstStyle/>
          <a:p>
            <a:pPr indent="0" marL="0">
              <a:lnSpc>
                <a:spcPts val="6000"/>
              </a:lnSpc>
              <a:buNone/>
            </a:pPr>
            <a:r>
              <a:rPr lang="en-US" sz="5400" b="1" dirty="0">
                <a:solidFill>
                  <a:srgbClr val="FFFFFF"/>
                </a:solidFill>
                <a:latin typeface="Cambria" pitchFamily="34" charset="0"/>
                <a:ea typeface="Cambria" pitchFamily="34" charset="-122"/>
                <a:cs typeface="Cambria" pitchFamily="34" charset="-120"/>
              </a:rPr>
              <a:t>What next?</a:t>
            </a:r>
            <a:endParaRPr lang="en-US" sz="5400" dirty="0"/>
          </a:p>
          <a:p>
            <a:pPr indent="0" marL="0">
              <a:lnSpc>
                <a:spcPts val="6000"/>
              </a:lnSpc>
              <a:buNone/>
            </a:pPr>
            <a:r>
              <a:rPr lang="en-US" sz="5400" b="1" dirty="0">
                <a:solidFill>
                  <a:srgbClr val="FFFFFF"/>
                </a:solidFill>
                <a:latin typeface="Cambria" pitchFamily="34" charset="0"/>
                <a:ea typeface="Cambria" pitchFamily="34" charset="-122"/>
                <a:cs typeface="Cambria" pitchFamily="34" charset="-120"/>
              </a:rPr>
              <a:t>You decide.</a:t>
            </a:r>
            <a:endParaRPr lang="en-US" sz="5400" dirty="0"/>
          </a:p>
        </p:txBody>
      </p:sp>
      <p:sp>
        <p:nvSpPr>
          <p:cNvPr id="6" name="Text 4"/>
          <p:cNvSpPr txBox="1"/>
          <p:nvPr/>
        </p:nvSpPr>
        <p:spPr>
          <a:xfrm>
            <a:off x="640080" y="4251960"/>
            <a:ext cx="7498080" cy="1005840"/>
          </a:xfrm>
          <a:prstGeom prst="rect">
            <a:avLst/>
          </a:prstGeom>
          <a:noFill/>
          <a:ln/>
        </p:spPr>
        <p:txBody>
          <a:bodyPr wrap="square" lIns="0" tIns="0" rIns="0" bIns="0" rtlCol="0" anchor="ctr"/>
          <a:lstStyle/>
          <a:p>
            <a:pPr indent="0" marL="0">
              <a:lnSpc>
                <a:spcPts val="2600"/>
              </a:lnSpc>
              <a:buNone/>
            </a:pPr>
            <a:r>
              <a:rPr lang="en-US" sz="1800" dirty="0">
                <a:solidFill>
                  <a:srgbClr val="EBD9E1"/>
                </a:solidFill>
                <a:latin typeface="Calibri" pitchFamily="34" charset="0"/>
                <a:ea typeface="Calibri" pitchFamily="34" charset="-122"/>
                <a:cs typeface="Calibri" pitchFamily="34" charset="-120"/>
              </a:rPr>
              <a:t>Today you choose where this class goes next. Then you learn the skill every product team needs, whichever way you vote.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SINCE LAUNCH PAD</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Look what you already built</a:t>
            </a:r>
            <a:endParaRPr lang="en-US" sz="3400" dirty="0"/>
          </a:p>
        </p:txBody>
      </p:sp>
      <p:sp>
        <p:nvSpPr>
          <p:cNvPr id="4" name="Shape 2"/>
          <p:cNvSpPr/>
          <p:nvPr/>
        </p:nvSpPr>
        <p:spPr>
          <a:xfrm>
            <a:off x="640080" y="1691640"/>
            <a:ext cx="3393338" cy="2103120"/>
          </a:xfrm>
          <a:prstGeom prst="roundRect">
            <a:avLst>
              <a:gd name="adj" fmla="val 391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640080" y="1810512"/>
            <a:ext cx="3393338" cy="960120"/>
          </a:xfrm>
          <a:prstGeom prst="rect">
            <a:avLst/>
          </a:prstGeom>
          <a:noFill/>
          <a:ln/>
        </p:spPr>
        <p:txBody>
          <a:bodyPr wrap="square" lIns="0" tIns="0" rIns="0" bIns="0" rtlCol="0" anchor="ctr"/>
          <a:lstStyle/>
          <a:p>
            <a:pPr algn="ctr" indent="0" marL="0">
              <a:buNone/>
            </a:pPr>
            <a:r>
              <a:rPr lang="en-US" sz="5800" b="1" dirty="0">
                <a:solidFill>
                  <a:srgbClr val="630031"/>
                </a:solidFill>
                <a:latin typeface="Cambria" pitchFamily="34" charset="0"/>
                <a:ea typeface="Cambria" pitchFamily="34" charset="-122"/>
                <a:cs typeface="Cambria" pitchFamily="34" charset="-120"/>
              </a:rPr>
              <a:t>6</a:t>
            </a:r>
            <a:endParaRPr lang="en-US" sz="5800" dirty="0"/>
          </a:p>
        </p:txBody>
      </p:sp>
      <p:sp>
        <p:nvSpPr>
          <p:cNvPr id="6" name="Text 4"/>
          <p:cNvSpPr txBox="1"/>
          <p:nvPr/>
        </p:nvSpPr>
        <p:spPr>
          <a:xfrm>
            <a:off x="640080" y="2788920"/>
            <a:ext cx="3393338" cy="310896"/>
          </a:xfrm>
          <a:prstGeom prst="rect">
            <a:avLst/>
          </a:prstGeom>
          <a:noFill/>
          <a:ln/>
        </p:spPr>
        <p:txBody>
          <a:bodyPr wrap="square" lIns="0" tIns="0" rIns="0" bIns="0" rtlCol="0" anchor="ctr"/>
          <a:lstStyle/>
          <a:p>
            <a:pPr algn="ctr" indent="0" marL="0">
              <a:buNone/>
            </a:pPr>
            <a:r>
              <a:rPr lang="en-US" sz="1600" b="1" dirty="0">
                <a:solidFill>
                  <a:srgbClr val="1C1A19"/>
                </a:solidFill>
                <a:latin typeface="Calibri" pitchFamily="34" charset="0"/>
                <a:ea typeface="Calibri" pitchFamily="34" charset="-122"/>
                <a:cs typeface="Calibri" pitchFamily="34" charset="-120"/>
              </a:rPr>
              <a:t>teams</a:t>
            </a:r>
            <a:endParaRPr lang="en-US" sz="1600" dirty="0"/>
          </a:p>
        </p:txBody>
      </p:sp>
      <p:sp>
        <p:nvSpPr>
          <p:cNvPr id="7" name="Text 5"/>
          <p:cNvSpPr txBox="1"/>
          <p:nvPr/>
        </p:nvSpPr>
        <p:spPr>
          <a:xfrm>
            <a:off x="868680" y="3127248"/>
            <a:ext cx="2936138" cy="548640"/>
          </a:xfrm>
          <a:prstGeom prst="rect">
            <a:avLst/>
          </a:prstGeom>
          <a:noFill/>
          <a:ln/>
        </p:spPr>
        <p:txBody>
          <a:bodyPr wrap="square" lIns="0" tIns="0" rIns="0" bIns="0" rtlCol="0" anchor="ctr"/>
          <a:lstStyle/>
          <a:p>
            <a:pPr algn="ctr" indent="0" marL="0">
              <a:buNone/>
            </a:pPr>
            <a:r>
              <a:rPr lang="en-US" sz="1300" dirty="0">
                <a:solidFill>
                  <a:srgbClr val="5A5F63"/>
                </a:solidFill>
                <a:latin typeface="Calibri" pitchFamily="34" charset="0"/>
                <a:ea typeface="Calibri" pitchFamily="34" charset="-122"/>
                <a:cs typeface="Calibri" pitchFamily="34" charset="-120"/>
              </a:rPr>
              <a:t>wrote a purpose, users and stories</a:t>
            </a:r>
            <a:endParaRPr lang="en-US" sz="1300" dirty="0"/>
          </a:p>
        </p:txBody>
      </p:sp>
      <p:sp>
        <p:nvSpPr>
          <p:cNvPr id="8" name="Shape 6"/>
          <p:cNvSpPr/>
          <p:nvPr/>
        </p:nvSpPr>
        <p:spPr>
          <a:xfrm>
            <a:off x="4399178" y="1691640"/>
            <a:ext cx="3393338" cy="2103120"/>
          </a:xfrm>
          <a:prstGeom prst="roundRect">
            <a:avLst>
              <a:gd name="adj" fmla="val 391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4399178" y="1810512"/>
            <a:ext cx="3393338" cy="960120"/>
          </a:xfrm>
          <a:prstGeom prst="rect">
            <a:avLst/>
          </a:prstGeom>
          <a:noFill/>
          <a:ln/>
        </p:spPr>
        <p:txBody>
          <a:bodyPr wrap="square" lIns="0" tIns="0" rIns="0" bIns="0" rtlCol="0" anchor="ctr"/>
          <a:lstStyle/>
          <a:p>
            <a:pPr algn="ctr" indent="0" marL="0">
              <a:buNone/>
            </a:pPr>
            <a:r>
              <a:rPr lang="en-US" sz="5800" b="1" dirty="0">
                <a:solidFill>
                  <a:srgbClr val="630031"/>
                </a:solidFill>
                <a:latin typeface="Cambria" pitchFamily="34" charset="0"/>
                <a:ea typeface="Cambria" pitchFamily="34" charset="-122"/>
                <a:cs typeface="Cambria" pitchFamily="34" charset="-120"/>
              </a:rPr>
              <a:t>6</a:t>
            </a:r>
            <a:endParaRPr lang="en-US" sz="5800" dirty="0"/>
          </a:p>
        </p:txBody>
      </p:sp>
      <p:sp>
        <p:nvSpPr>
          <p:cNvPr id="10" name="Text 8"/>
          <p:cNvSpPr txBox="1"/>
          <p:nvPr/>
        </p:nvSpPr>
        <p:spPr>
          <a:xfrm>
            <a:off x="4399178" y="2788920"/>
            <a:ext cx="3393338" cy="310896"/>
          </a:xfrm>
          <a:prstGeom prst="rect">
            <a:avLst/>
          </a:prstGeom>
          <a:noFill/>
          <a:ln/>
        </p:spPr>
        <p:txBody>
          <a:bodyPr wrap="square" lIns="0" tIns="0" rIns="0" bIns="0" rtlCol="0" anchor="ctr"/>
          <a:lstStyle/>
          <a:p>
            <a:pPr algn="ctr" indent="0" marL="0">
              <a:buNone/>
            </a:pPr>
            <a:r>
              <a:rPr lang="en-US" sz="1600" b="1" dirty="0">
                <a:solidFill>
                  <a:srgbClr val="1C1A19"/>
                </a:solidFill>
                <a:latin typeface="Calibri" pitchFamily="34" charset="0"/>
                <a:ea typeface="Calibri" pitchFamily="34" charset="-122"/>
                <a:cs typeface="Calibri" pitchFamily="34" charset="-120"/>
              </a:rPr>
              <a:t>working apps</a:t>
            </a:r>
            <a:endParaRPr lang="en-US" sz="1600" dirty="0"/>
          </a:p>
        </p:txBody>
      </p:sp>
      <p:sp>
        <p:nvSpPr>
          <p:cNvPr id="11" name="Text 9"/>
          <p:cNvSpPr txBox="1"/>
          <p:nvPr/>
        </p:nvSpPr>
        <p:spPr>
          <a:xfrm>
            <a:off x="4627778" y="3127248"/>
            <a:ext cx="2936138" cy="548640"/>
          </a:xfrm>
          <a:prstGeom prst="rect">
            <a:avLst/>
          </a:prstGeom>
          <a:noFill/>
          <a:ln/>
        </p:spPr>
        <p:txBody>
          <a:bodyPr wrap="square" lIns="0" tIns="0" rIns="0" bIns="0" rtlCol="0" anchor="ctr"/>
          <a:lstStyle/>
          <a:p>
            <a:pPr algn="ctr" indent="0" marL="0">
              <a:buNone/>
            </a:pPr>
            <a:r>
              <a:rPr lang="en-US" sz="1300" dirty="0">
                <a:solidFill>
                  <a:srgbClr val="5A5F63"/>
                </a:solidFill>
                <a:latin typeface="Calibri" pitchFamily="34" charset="0"/>
                <a:ea typeface="Calibri" pitchFamily="34" charset="-122"/>
                <a:cs typeface="Calibri" pitchFamily="34" charset="-120"/>
              </a:rPr>
              <a:t>built from your own words</a:t>
            </a:r>
            <a:endParaRPr lang="en-US" sz="1300" dirty="0"/>
          </a:p>
        </p:txBody>
      </p:sp>
      <p:sp>
        <p:nvSpPr>
          <p:cNvPr id="12" name="Shape 10"/>
          <p:cNvSpPr/>
          <p:nvPr/>
        </p:nvSpPr>
        <p:spPr>
          <a:xfrm>
            <a:off x="8158277" y="1691640"/>
            <a:ext cx="3393338" cy="2103120"/>
          </a:xfrm>
          <a:prstGeom prst="roundRect">
            <a:avLst>
              <a:gd name="adj" fmla="val 391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3" name="Text 11"/>
          <p:cNvSpPr txBox="1"/>
          <p:nvPr/>
        </p:nvSpPr>
        <p:spPr>
          <a:xfrm>
            <a:off x="8158277" y="1810512"/>
            <a:ext cx="3393338" cy="960120"/>
          </a:xfrm>
          <a:prstGeom prst="rect">
            <a:avLst/>
          </a:prstGeom>
          <a:noFill/>
          <a:ln/>
        </p:spPr>
        <p:txBody>
          <a:bodyPr wrap="square" lIns="0" tIns="0" rIns="0" bIns="0" rtlCol="0" anchor="ctr"/>
          <a:lstStyle/>
          <a:p>
            <a:pPr algn="ctr" indent="0" marL="0">
              <a:buNone/>
            </a:pPr>
            <a:r>
              <a:rPr lang="en-US" sz="5800" b="1" dirty="0">
                <a:solidFill>
                  <a:srgbClr val="630031"/>
                </a:solidFill>
                <a:latin typeface="Cambria" pitchFamily="34" charset="0"/>
                <a:ea typeface="Cambria" pitchFamily="34" charset="-122"/>
                <a:cs typeface="Cambria" pitchFamily="34" charset="-120"/>
              </a:rPr>
              <a:t>21</a:t>
            </a:r>
            <a:endParaRPr lang="en-US" sz="5800" dirty="0"/>
          </a:p>
        </p:txBody>
      </p:sp>
      <p:sp>
        <p:nvSpPr>
          <p:cNvPr id="14" name="Text 12"/>
          <p:cNvSpPr txBox="1"/>
          <p:nvPr/>
        </p:nvSpPr>
        <p:spPr>
          <a:xfrm>
            <a:off x="8158277" y="2788920"/>
            <a:ext cx="3393338" cy="310896"/>
          </a:xfrm>
          <a:prstGeom prst="rect">
            <a:avLst/>
          </a:prstGeom>
          <a:noFill/>
          <a:ln/>
        </p:spPr>
        <p:txBody>
          <a:bodyPr wrap="square" lIns="0" tIns="0" rIns="0" bIns="0" rtlCol="0" anchor="ctr"/>
          <a:lstStyle/>
          <a:p>
            <a:pPr algn="ctr" indent="0" marL="0">
              <a:buNone/>
            </a:pPr>
            <a:r>
              <a:rPr lang="en-US" sz="1600" b="1" dirty="0">
                <a:solidFill>
                  <a:srgbClr val="1C1A19"/>
                </a:solidFill>
                <a:latin typeface="Calibri" pitchFamily="34" charset="0"/>
                <a:ea typeface="Calibri" pitchFamily="34" charset="-122"/>
                <a:cs typeface="Calibri" pitchFamily="34" charset="-120"/>
              </a:rPr>
              <a:t>QA reports</a:t>
            </a:r>
            <a:endParaRPr lang="en-US" sz="1600" dirty="0"/>
          </a:p>
        </p:txBody>
      </p:sp>
      <p:sp>
        <p:nvSpPr>
          <p:cNvPr id="15" name="Text 13"/>
          <p:cNvSpPr txBox="1"/>
          <p:nvPr/>
        </p:nvSpPr>
        <p:spPr>
          <a:xfrm>
            <a:off x="8386877" y="3127248"/>
            <a:ext cx="2936138" cy="548640"/>
          </a:xfrm>
          <a:prstGeom prst="rect">
            <a:avLst/>
          </a:prstGeom>
          <a:noFill/>
          <a:ln/>
        </p:spPr>
        <p:txBody>
          <a:bodyPr wrap="square" lIns="0" tIns="0" rIns="0" bIns="0" rtlCol="0" anchor="ctr"/>
          <a:lstStyle/>
          <a:p>
            <a:pPr algn="ctr" indent="0" marL="0">
              <a:buNone/>
            </a:pPr>
            <a:r>
              <a:rPr lang="en-US" sz="1300" dirty="0">
                <a:solidFill>
                  <a:srgbClr val="5A5F63"/>
                </a:solidFill>
                <a:latin typeface="Calibri" pitchFamily="34" charset="0"/>
                <a:ea typeface="Calibri" pitchFamily="34" charset="-122"/>
                <a:cs typeface="Calibri" pitchFamily="34" charset="-120"/>
              </a:rPr>
              <a:t>you wrote about each other's apps</a:t>
            </a:r>
            <a:endParaRPr lang="en-US" sz="1300" dirty="0"/>
          </a:p>
        </p:txBody>
      </p:sp>
      <p:sp>
        <p:nvSpPr>
          <p:cNvPr id="16" name="Text 14"/>
          <p:cNvSpPr txBox="1"/>
          <p:nvPr/>
        </p:nvSpPr>
        <p:spPr>
          <a:xfrm>
            <a:off x="640080" y="4023360"/>
            <a:ext cx="10911535" cy="411480"/>
          </a:xfrm>
          <a:prstGeom prst="rect">
            <a:avLst/>
          </a:prstGeom>
          <a:noFill/>
          <a:ln/>
        </p:spPr>
        <p:txBody>
          <a:bodyPr wrap="square" lIns="0" tIns="0" rIns="0" bIns="0" rtlCol="0" anchor="ctr"/>
          <a:lstStyle/>
          <a:p>
            <a:pPr algn="ctr" indent="0" marL="0">
              <a:buNone/>
            </a:pPr>
            <a:r>
              <a:rPr lang="en-US" sz="1800" b="1" dirty="0">
                <a:solidFill>
                  <a:srgbClr val="CF4420"/>
                </a:solidFill>
                <a:latin typeface="Cambria" pitchFamily="34" charset="0"/>
                <a:ea typeface="Cambria" pitchFamily="34" charset="-122"/>
                <a:cs typeface="Cambria" pitchFamily="34" charset="-120"/>
              </a:rPr>
              <a:t>Find your way   ·   Weightin   ·   Find me   ·   The Homework Helper   ·   W.C.O 27   ·   Survival</a:t>
            </a:r>
            <a:endParaRPr lang="en-US" sz="1800" dirty="0"/>
          </a:p>
        </p:txBody>
      </p:sp>
      <p:sp>
        <p:nvSpPr>
          <p:cNvPr id="17" name="Shape 15"/>
          <p:cNvSpPr/>
          <p:nvPr/>
        </p:nvSpPr>
        <p:spPr>
          <a:xfrm>
            <a:off x="640080" y="4663440"/>
            <a:ext cx="10911535" cy="1325880"/>
          </a:xfrm>
          <a:prstGeom prst="roundRect">
            <a:avLst>
              <a:gd name="adj" fmla="val 6207"/>
            </a:avLst>
          </a:prstGeom>
          <a:solidFill>
            <a:srgbClr val="EAF4EE"/>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8" name="Text 16"/>
          <p:cNvSpPr txBox="1"/>
          <p:nvPr/>
        </p:nvSpPr>
        <p:spPr>
          <a:xfrm>
            <a:off x="960120" y="4663440"/>
            <a:ext cx="10271455" cy="1325880"/>
          </a:xfrm>
          <a:prstGeom prst="rect">
            <a:avLst/>
          </a:prstGeom>
          <a:noFill/>
          <a:ln/>
        </p:spPr>
        <p:txBody>
          <a:bodyPr wrap="square" lIns="0" tIns="0" rIns="0" bIns="0" rtlCol="0" anchor="ctr"/>
          <a:lstStyle/>
          <a:p>
            <a:pPr indent="0" marL="0">
              <a:lnSpc>
                <a:spcPts val="2400"/>
              </a:lnSpc>
              <a:buNone/>
            </a:pPr>
            <a:r>
              <a:rPr lang="en-US" sz="1700" b="1" dirty="0">
                <a:solidFill>
                  <a:srgbClr val="2E6B4A"/>
                </a:solidFill>
                <a:latin typeface="Calibri" pitchFamily="34" charset="0"/>
                <a:ea typeface="Calibri" pitchFamily="34" charset="-122"/>
                <a:cs typeface="Calibri" pitchFamily="34" charset="-120"/>
              </a:rPr>
              <a:t>15 of your 21 reports were “Love it”. </a:t>
            </a:r>
            <a:pPr indent="0" marL="0">
              <a:lnSpc>
                <a:spcPts val="2400"/>
              </a:lnSpc>
              <a:buNone/>
            </a:pPr>
            <a:r>
              <a:rPr lang="en-US" sz="1700" dirty="0">
                <a:solidFill>
                  <a:srgbClr val="1C1A19"/>
                </a:solidFill>
                <a:latin typeface="Calibri" pitchFamily="34" charset="0"/>
                <a:ea typeface="Calibri" pitchFamily="34" charset="-122"/>
                <a:cs typeface="Calibri" pitchFamily="34" charset="-120"/>
              </a:rPr>
              <a:t>You were kind. Next, get specific: only 2 were bugs. A good bug report is a gift to a team, because it tells them exactly what to fix.</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WORKING WITHIN LIMITS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Some honest news</a:t>
            </a:r>
            <a:endParaRPr lang="en-US" sz="3400" dirty="0"/>
          </a:p>
        </p:txBody>
      </p:sp>
      <p:sp>
        <p:nvSpPr>
          <p:cNvPr id="4" name="Shape 2"/>
          <p:cNvSpPr/>
          <p:nvPr/>
        </p:nvSpPr>
        <p:spPr>
          <a:xfrm>
            <a:off x="640080" y="1691640"/>
            <a:ext cx="5272888" cy="3200400"/>
          </a:xfrm>
          <a:prstGeom prst="roundRect">
            <a:avLst>
              <a:gd name="adj" fmla="val 25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1005840" y="1920240"/>
            <a:ext cx="4541368" cy="320040"/>
          </a:xfrm>
          <a:prstGeom prst="rect">
            <a:avLst/>
          </a:prstGeom>
          <a:noFill/>
          <a:ln/>
        </p:spPr>
        <p:txBody>
          <a:bodyPr wrap="square" lIns="0" tIns="0" rIns="0" bIns="0" rtlCol="0" anchor="ctr"/>
          <a:lstStyle/>
          <a:p>
            <a:pPr indent="0" marL="0">
              <a:buNone/>
            </a:pPr>
            <a:r>
              <a:rPr lang="en-US" sz="1300" b="1" spc="200" kern="0" dirty="0">
                <a:solidFill>
                  <a:srgbClr val="75787B"/>
                </a:solidFill>
                <a:latin typeface="Calibri" pitchFamily="34" charset="0"/>
                <a:ea typeface="Calibri" pitchFamily="34" charset="-122"/>
                <a:cs typeface="Calibri" pitchFamily="34" charset="-120"/>
              </a:rPr>
              <a:t>THE NEWS</a:t>
            </a:r>
            <a:endParaRPr lang="en-US" sz="1300" dirty="0"/>
          </a:p>
        </p:txBody>
      </p:sp>
      <p:sp>
        <p:nvSpPr>
          <p:cNvPr id="6" name="Text 4"/>
          <p:cNvSpPr txBox="1"/>
          <p:nvPr/>
        </p:nvSpPr>
        <p:spPr>
          <a:xfrm>
            <a:off x="1005840" y="2331720"/>
            <a:ext cx="4541368" cy="2377440"/>
          </a:xfrm>
          <a:prstGeom prst="rect">
            <a:avLst/>
          </a:prstGeom>
          <a:noFill/>
          <a:ln/>
        </p:spPr>
        <p:txBody>
          <a:bodyPr wrap="square" lIns="0" tIns="0" rIns="0" bIns="0" rtlCol="0" anchor="t"/>
          <a:lstStyle/>
          <a:p>
            <a:pPr indent="0" marL="0">
              <a:lnSpc>
                <a:spcPts val="3000"/>
              </a:lnSpc>
              <a:buNone/>
            </a:pPr>
            <a:r>
              <a:rPr lang="en-US" sz="2200" dirty="0">
                <a:solidFill>
                  <a:srgbClr val="1C1A19"/>
                </a:solidFill>
                <a:latin typeface="Cambria" pitchFamily="34" charset="0"/>
                <a:ea typeface="Cambria" pitchFamily="34" charset="-122"/>
                <a:cs typeface="Cambria" pitchFamily="34" charset="-120"/>
              </a:rPr>
              <a:t>The school budget is frozen. No seeds, no soil, no FarmBot parts, so the garden project is on pause for now.</a:t>
            </a:r>
            <a:endParaRPr lang="en-US" sz="2200" dirty="0"/>
          </a:p>
        </p:txBody>
      </p:sp>
      <p:sp>
        <p:nvSpPr>
          <p:cNvPr id="7" name="Shape 5"/>
          <p:cNvSpPr/>
          <p:nvPr/>
        </p:nvSpPr>
        <p:spPr>
          <a:xfrm>
            <a:off x="6278728" y="1691640"/>
            <a:ext cx="5272888" cy="3200400"/>
          </a:xfrm>
          <a:prstGeom prst="roundRect">
            <a:avLst>
              <a:gd name="adj" fmla="val 2571"/>
            </a:avLst>
          </a:prstGeom>
          <a:solidFill>
            <a:srgbClr val="EAF4EE"/>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8" name="Text 6"/>
          <p:cNvSpPr txBox="1"/>
          <p:nvPr/>
        </p:nvSpPr>
        <p:spPr>
          <a:xfrm>
            <a:off x="6644488" y="1920240"/>
            <a:ext cx="4541368" cy="320040"/>
          </a:xfrm>
          <a:prstGeom prst="rect">
            <a:avLst/>
          </a:prstGeom>
          <a:noFill/>
          <a:ln/>
        </p:spPr>
        <p:txBody>
          <a:bodyPr wrap="square" lIns="0" tIns="0" rIns="0" bIns="0" rtlCol="0" anchor="ctr"/>
          <a:lstStyle/>
          <a:p>
            <a:pPr indent="0" marL="0">
              <a:buNone/>
            </a:pPr>
            <a:r>
              <a:rPr lang="en-US" sz="1300" b="1" spc="200" kern="0" dirty="0">
                <a:solidFill>
                  <a:srgbClr val="2E6B4A"/>
                </a:solidFill>
                <a:latin typeface="Calibri" pitchFamily="34" charset="0"/>
                <a:ea typeface="Calibri" pitchFamily="34" charset="-122"/>
                <a:cs typeface="Calibri" pitchFamily="34" charset="-120"/>
              </a:rPr>
              <a:t>WHAT PRODUCT TEAMS DO</a:t>
            </a:r>
            <a:endParaRPr lang="en-US" sz="1300" dirty="0"/>
          </a:p>
        </p:txBody>
      </p:sp>
      <p:sp>
        <p:nvSpPr>
          <p:cNvPr id="9" name="Text 7"/>
          <p:cNvSpPr txBox="1"/>
          <p:nvPr/>
        </p:nvSpPr>
        <p:spPr>
          <a:xfrm>
            <a:off x="6644488" y="2331720"/>
            <a:ext cx="4541368" cy="2377440"/>
          </a:xfrm>
          <a:prstGeom prst="rect">
            <a:avLst/>
          </a:prstGeom>
          <a:noFill/>
          <a:ln/>
        </p:spPr>
        <p:txBody>
          <a:bodyPr wrap="square" lIns="0" tIns="0" rIns="0" bIns="0" rtlCol="0" anchor="t"/>
          <a:lstStyle/>
          <a:p>
            <a:pPr indent="0" marL="0">
              <a:lnSpc>
                <a:spcPts val="3000"/>
              </a:lnSpc>
              <a:buNone/>
            </a:pPr>
            <a:r>
              <a:rPr lang="en-US" sz="2200" b="1" dirty="0">
                <a:solidFill>
                  <a:srgbClr val="1C1A19"/>
                </a:solidFill>
                <a:latin typeface="Cambria" pitchFamily="34" charset="0"/>
                <a:ea typeface="Cambria" pitchFamily="34" charset="-122"/>
                <a:cs typeface="Cambria" pitchFamily="34" charset="-120"/>
              </a:rPr>
              <a:t>Every real team has limits: money, time, people. The job is to make the best thing you can inside them. Ideas and writing cost nothing.</a:t>
            </a:r>
            <a:endParaRPr lang="en-US" sz="2200" dirty="0"/>
          </a:p>
        </p:txBody>
      </p:sp>
      <p:sp>
        <p:nvSpPr>
          <p:cNvPr id="10" name="Text 8"/>
          <p:cNvSpPr txBox="1"/>
          <p:nvPr/>
        </p:nvSpPr>
        <p:spPr>
          <a:xfrm>
            <a:off x="640080" y="5257800"/>
            <a:ext cx="10911535" cy="548640"/>
          </a:xfrm>
          <a:prstGeom prst="rect">
            <a:avLst/>
          </a:prstGeom>
          <a:noFill/>
          <a:ln/>
        </p:spPr>
        <p:txBody>
          <a:bodyPr wrap="square" lIns="0" tIns="0" rIns="0" bIns="0" rtlCol="0" anchor="t"/>
          <a:lstStyle/>
          <a:p>
            <a:pPr indent="0" marL="0">
              <a:lnSpc>
                <a:spcPts val="2200"/>
              </a:lnSpc>
              <a:buNone/>
            </a:pPr>
            <a:r>
              <a:rPr lang="en-US" sz="1800" b="1" dirty="0">
                <a:solidFill>
                  <a:srgbClr val="CF4420"/>
                </a:solidFill>
                <a:latin typeface="Calibri" pitchFamily="34" charset="0"/>
                <a:ea typeface="Calibri" pitchFamily="34" charset="-122"/>
                <a:cs typeface="Calibri" pitchFamily="34" charset="-120"/>
              </a:rPr>
              <a:t>A limit is called a constraint. Working well inside one is a product management skill.</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YOUR VOICE</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Three choices. You pick.</a:t>
            </a:r>
            <a:endParaRPr lang="en-US" sz="3400" dirty="0"/>
          </a:p>
        </p:txBody>
      </p:sp>
      <p:sp>
        <p:nvSpPr>
          <p:cNvPr id="4" name="Shape 2"/>
          <p:cNvSpPr/>
          <p:nvPr/>
        </p:nvSpPr>
        <p:spPr>
          <a:xfrm>
            <a:off x="640080" y="1737360"/>
            <a:ext cx="3417722" cy="3108960"/>
          </a:xfrm>
          <a:prstGeom prst="roundRect">
            <a:avLst>
              <a:gd name="adj" fmla="val 264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960120" y="2011680"/>
            <a:ext cx="566928" cy="566928"/>
          </a:xfrm>
          <a:prstGeom prst="ellipse">
            <a:avLst/>
          </a:prstGeom>
          <a:solidFill>
            <a:srgbClr val="630031"/>
          </a:solidFill>
          <a:ln w="12700">
            <a:solidFill>
              <a:srgbClr val="333333"/>
            </a:solidFill>
            <a:prstDash val="solid"/>
          </a:ln>
        </p:spPr>
      </p:sp>
      <p:sp>
        <p:nvSpPr>
          <p:cNvPr id="6" name="Text 4"/>
          <p:cNvSpPr txBox="1"/>
          <p:nvPr/>
        </p:nvSpPr>
        <p:spPr>
          <a:xfrm>
            <a:off x="960120" y="2011680"/>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1</a:t>
            </a:r>
            <a:endParaRPr lang="en-US" sz="2100" dirty="0"/>
          </a:p>
        </p:txBody>
      </p:sp>
      <p:sp>
        <p:nvSpPr>
          <p:cNvPr id="7" name="Text 5"/>
          <p:cNvSpPr txBox="1"/>
          <p:nvPr/>
        </p:nvSpPr>
        <p:spPr>
          <a:xfrm>
            <a:off x="960120" y="2743200"/>
            <a:ext cx="2777642" cy="822960"/>
          </a:xfrm>
          <a:prstGeom prst="rect">
            <a:avLst/>
          </a:prstGeom>
          <a:noFill/>
          <a:ln/>
        </p:spPr>
        <p:txBody>
          <a:bodyPr wrap="square" lIns="0" tIns="0" rIns="0" bIns="0" rtlCol="0" anchor="t"/>
          <a:lstStyle/>
          <a:p>
            <a:pPr indent="0" marL="0">
              <a:buNone/>
            </a:pPr>
            <a:r>
              <a:rPr lang="en-US" sz="2500" b="1" dirty="0">
                <a:solidFill>
                  <a:srgbClr val="630031"/>
                </a:solidFill>
                <a:latin typeface="Cambria" pitchFamily="34" charset="0"/>
                <a:ea typeface="Cambria" pitchFamily="34" charset="-122"/>
                <a:cs typeface="Cambria" pitchFamily="34" charset="-120"/>
              </a:rPr>
              <a:t>Level up our apps</a:t>
            </a:r>
            <a:endParaRPr lang="en-US" sz="2500" dirty="0"/>
          </a:p>
        </p:txBody>
      </p:sp>
      <p:sp>
        <p:nvSpPr>
          <p:cNvPr id="8" name="Text 6"/>
          <p:cNvSpPr txBox="1"/>
          <p:nvPr/>
        </p:nvSpPr>
        <p:spPr>
          <a:xfrm>
            <a:off x="960120" y="3611880"/>
            <a:ext cx="2777642" cy="1097280"/>
          </a:xfrm>
          <a:prstGeom prst="rect">
            <a:avLst/>
          </a:prstGeom>
          <a:noFill/>
          <a:ln/>
        </p:spPr>
        <p:txBody>
          <a:bodyPr wrap="square" lIns="0" tIns="0" rIns="0" bIns="0" rtlCol="0" anchor="t"/>
          <a:lstStyle/>
          <a:p>
            <a:pPr indent="0" marL="0">
              <a:lnSpc>
                <a:spcPts val="2200"/>
              </a:lnSpc>
              <a:buNone/>
            </a:pPr>
            <a:r>
              <a:rPr lang="en-US" sz="1600" dirty="0">
                <a:solidFill>
                  <a:srgbClr val="1C1A19"/>
                </a:solidFill>
                <a:latin typeface="Calibri" pitchFamily="34" charset="0"/>
                <a:ea typeface="Calibri" pitchFamily="34" charset="-122"/>
                <a:cs typeface="Calibri" pitchFamily="34" charset="-120"/>
              </a:rPr>
              <a:t>Make version 2 of the app your team already has.</a:t>
            </a:r>
            <a:endParaRPr lang="en-US" sz="1600" dirty="0"/>
          </a:p>
        </p:txBody>
      </p:sp>
      <p:sp>
        <p:nvSpPr>
          <p:cNvPr id="9" name="Shape 7"/>
          <p:cNvSpPr/>
          <p:nvPr/>
        </p:nvSpPr>
        <p:spPr>
          <a:xfrm>
            <a:off x="4386986" y="1737360"/>
            <a:ext cx="3417722" cy="3108960"/>
          </a:xfrm>
          <a:prstGeom prst="roundRect">
            <a:avLst>
              <a:gd name="adj" fmla="val 264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0" name="Shape 8"/>
          <p:cNvSpPr/>
          <p:nvPr/>
        </p:nvSpPr>
        <p:spPr>
          <a:xfrm>
            <a:off x="4707026" y="2011680"/>
            <a:ext cx="566928" cy="566928"/>
          </a:xfrm>
          <a:prstGeom prst="ellipse">
            <a:avLst/>
          </a:prstGeom>
          <a:solidFill>
            <a:srgbClr val="630031"/>
          </a:solidFill>
          <a:ln w="12700">
            <a:solidFill>
              <a:srgbClr val="333333"/>
            </a:solidFill>
            <a:prstDash val="solid"/>
          </a:ln>
        </p:spPr>
      </p:sp>
      <p:sp>
        <p:nvSpPr>
          <p:cNvPr id="11" name="Text 9"/>
          <p:cNvSpPr txBox="1"/>
          <p:nvPr/>
        </p:nvSpPr>
        <p:spPr>
          <a:xfrm>
            <a:off x="4707026" y="2011680"/>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2</a:t>
            </a:r>
            <a:endParaRPr lang="en-US" sz="2100" dirty="0"/>
          </a:p>
        </p:txBody>
      </p:sp>
      <p:sp>
        <p:nvSpPr>
          <p:cNvPr id="12" name="Text 10"/>
          <p:cNvSpPr txBox="1"/>
          <p:nvPr/>
        </p:nvSpPr>
        <p:spPr>
          <a:xfrm>
            <a:off x="4707026" y="2743200"/>
            <a:ext cx="2777642" cy="822960"/>
          </a:xfrm>
          <a:prstGeom prst="rect">
            <a:avLst/>
          </a:prstGeom>
          <a:noFill/>
          <a:ln/>
        </p:spPr>
        <p:txBody>
          <a:bodyPr wrap="square" lIns="0" tIns="0" rIns="0" bIns="0" rtlCol="0" anchor="t"/>
          <a:lstStyle/>
          <a:p>
            <a:pPr indent="0" marL="0">
              <a:buNone/>
            </a:pPr>
            <a:r>
              <a:rPr lang="en-US" sz="2500" b="1" dirty="0">
                <a:solidFill>
                  <a:srgbClr val="630031"/>
                </a:solidFill>
                <a:latin typeface="Cambria" pitchFamily="34" charset="0"/>
                <a:ea typeface="Cambria" pitchFamily="34" charset="-122"/>
                <a:cs typeface="Cambria" pitchFamily="34" charset="-120"/>
              </a:rPr>
              <a:t>Smart City 2.0</a:t>
            </a:r>
            <a:endParaRPr lang="en-US" sz="2500" dirty="0"/>
          </a:p>
        </p:txBody>
      </p:sp>
      <p:sp>
        <p:nvSpPr>
          <p:cNvPr id="13" name="Text 11"/>
          <p:cNvSpPr txBox="1"/>
          <p:nvPr/>
        </p:nvSpPr>
        <p:spPr>
          <a:xfrm>
            <a:off x="4707026" y="3611880"/>
            <a:ext cx="2777642" cy="1097280"/>
          </a:xfrm>
          <a:prstGeom prst="rect">
            <a:avLst/>
          </a:prstGeom>
          <a:noFill/>
          <a:ln/>
        </p:spPr>
        <p:txBody>
          <a:bodyPr wrap="square" lIns="0" tIns="0" rIns="0" bIns="0" rtlCol="0" anchor="t"/>
          <a:lstStyle/>
          <a:p>
            <a:pPr indent="0" marL="0">
              <a:lnSpc>
                <a:spcPts val="2200"/>
              </a:lnSpc>
              <a:buNone/>
            </a:pPr>
            <a:r>
              <a:rPr lang="en-US" sz="1600" dirty="0">
                <a:solidFill>
                  <a:srgbClr val="1C1A19"/>
                </a:solidFill>
                <a:latin typeface="Calibri" pitchFamily="34" charset="0"/>
                <a:ea typeface="Calibri" pitchFamily="34" charset="-122"/>
                <a:cs typeface="Calibri" pitchFamily="34" charset="-120"/>
              </a:rPr>
              <a:t>Design a system that runs a smart city, as a product team.</a:t>
            </a:r>
            <a:endParaRPr lang="en-US" sz="1600" dirty="0"/>
          </a:p>
        </p:txBody>
      </p:sp>
      <p:sp>
        <p:nvSpPr>
          <p:cNvPr id="14" name="Shape 12"/>
          <p:cNvSpPr/>
          <p:nvPr/>
        </p:nvSpPr>
        <p:spPr>
          <a:xfrm>
            <a:off x="8133893" y="1737360"/>
            <a:ext cx="3417722" cy="3108960"/>
          </a:xfrm>
          <a:prstGeom prst="roundRect">
            <a:avLst>
              <a:gd name="adj" fmla="val 264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5" name="Shape 13"/>
          <p:cNvSpPr/>
          <p:nvPr/>
        </p:nvSpPr>
        <p:spPr>
          <a:xfrm>
            <a:off x="8453933" y="2011680"/>
            <a:ext cx="566928" cy="566928"/>
          </a:xfrm>
          <a:prstGeom prst="ellipse">
            <a:avLst/>
          </a:prstGeom>
          <a:solidFill>
            <a:srgbClr val="630031"/>
          </a:solidFill>
          <a:ln w="12700">
            <a:solidFill>
              <a:srgbClr val="333333"/>
            </a:solidFill>
            <a:prstDash val="solid"/>
          </a:ln>
        </p:spPr>
      </p:sp>
      <p:sp>
        <p:nvSpPr>
          <p:cNvPr id="16" name="Text 14"/>
          <p:cNvSpPr txBox="1"/>
          <p:nvPr/>
        </p:nvSpPr>
        <p:spPr>
          <a:xfrm>
            <a:off x="8453933" y="2011680"/>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3</a:t>
            </a:r>
            <a:endParaRPr lang="en-US" sz="2100" dirty="0"/>
          </a:p>
        </p:txBody>
      </p:sp>
      <p:sp>
        <p:nvSpPr>
          <p:cNvPr id="17" name="Text 15"/>
          <p:cNvSpPr txBox="1"/>
          <p:nvPr/>
        </p:nvSpPr>
        <p:spPr>
          <a:xfrm>
            <a:off x="8453933" y="2743200"/>
            <a:ext cx="2777642" cy="822960"/>
          </a:xfrm>
          <a:prstGeom prst="rect">
            <a:avLst/>
          </a:prstGeom>
          <a:noFill/>
          <a:ln/>
        </p:spPr>
        <p:txBody>
          <a:bodyPr wrap="square" lIns="0" tIns="0" rIns="0" bIns="0" rtlCol="0" anchor="t"/>
          <a:lstStyle/>
          <a:p>
            <a:pPr indent="0" marL="0">
              <a:buNone/>
            </a:pPr>
            <a:r>
              <a:rPr lang="en-US" sz="2500" b="1" dirty="0">
                <a:solidFill>
                  <a:srgbClr val="630031"/>
                </a:solidFill>
                <a:latin typeface="Cambria" pitchFamily="34" charset="0"/>
                <a:ea typeface="Cambria" pitchFamily="34" charset="-122"/>
                <a:cs typeface="Cambria" pitchFamily="34" charset="-120"/>
              </a:rPr>
              <a:t>Game studio</a:t>
            </a:r>
            <a:endParaRPr lang="en-US" sz="2500" dirty="0"/>
          </a:p>
        </p:txBody>
      </p:sp>
      <p:sp>
        <p:nvSpPr>
          <p:cNvPr id="18" name="Text 16"/>
          <p:cNvSpPr txBox="1"/>
          <p:nvPr/>
        </p:nvSpPr>
        <p:spPr>
          <a:xfrm>
            <a:off x="8453933" y="3611880"/>
            <a:ext cx="2777642" cy="1097280"/>
          </a:xfrm>
          <a:prstGeom prst="rect">
            <a:avLst/>
          </a:prstGeom>
          <a:noFill/>
          <a:ln/>
        </p:spPr>
        <p:txBody>
          <a:bodyPr wrap="square" lIns="0" tIns="0" rIns="0" bIns="0" rtlCol="0" anchor="t"/>
          <a:lstStyle/>
          <a:p>
            <a:pPr indent="0" marL="0">
              <a:lnSpc>
                <a:spcPts val="2200"/>
              </a:lnSpc>
              <a:buNone/>
            </a:pPr>
            <a:r>
              <a:rPr lang="en-US" sz="1600" dirty="0">
                <a:solidFill>
                  <a:srgbClr val="1C1A19"/>
                </a:solidFill>
                <a:latin typeface="Calibri" pitchFamily="34" charset="0"/>
                <a:ea typeface="Calibri" pitchFamily="34" charset="-122"/>
                <a:cs typeface="Calibri" pitchFamily="34" charset="-120"/>
              </a:rPr>
              <a:t>Plan a game the way real game studios do.</a:t>
            </a:r>
            <a:endParaRPr lang="en-US" sz="1600" dirty="0"/>
          </a:p>
        </p:txBody>
      </p:sp>
      <p:sp>
        <p:nvSpPr>
          <p:cNvPr id="19" name="Text 17"/>
          <p:cNvSpPr txBox="1"/>
          <p:nvPr/>
        </p:nvSpPr>
        <p:spPr>
          <a:xfrm>
            <a:off x="640080" y="5212080"/>
            <a:ext cx="10911535" cy="548640"/>
          </a:xfrm>
          <a:prstGeom prst="rect">
            <a:avLst/>
          </a:prstGeom>
          <a:noFill/>
          <a:ln/>
        </p:spPr>
        <p:txBody>
          <a:bodyPr wrap="square" lIns="0" tIns="0" rIns="0" bIns="0" rtlCol="0" anchor="t"/>
          <a:lstStyle/>
          <a:p>
            <a:pPr indent="0" marL="0">
              <a:lnSpc>
                <a:spcPts val="2200"/>
              </a:lnSpc>
              <a:buNone/>
            </a:pPr>
            <a:r>
              <a:rPr lang="en-US" sz="1900" b="1" dirty="0">
                <a:solidFill>
                  <a:srgbClr val="CF4420"/>
                </a:solidFill>
                <a:latin typeface="Calibri" pitchFamily="34" charset="0"/>
                <a:ea typeface="Calibri" pitchFamily="34" charset="-122"/>
                <a:cs typeface="Calibri" pitchFamily="34" charset="-120"/>
              </a:rPr>
              <a:t>Whichever wins, this class does next. Listen to all three before you decide.</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CHOICE 1 OF 3</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Level up our apps</a:t>
            </a:r>
            <a:endParaRPr lang="en-US" sz="3400" dirty="0"/>
          </a:p>
        </p:txBody>
      </p:sp>
      <p:sp>
        <p:nvSpPr>
          <p:cNvPr id="4" name="Text 2"/>
          <p:cNvSpPr txBox="1"/>
          <p:nvPr/>
        </p:nvSpPr>
        <p:spPr>
          <a:xfrm>
            <a:off x="640080" y="1417320"/>
            <a:ext cx="10911535" cy="457200"/>
          </a:xfrm>
          <a:prstGeom prst="rect">
            <a:avLst/>
          </a:prstGeom>
          <a:noFill/>
          <a:ln/>
        </p:spPr>
        <p:txBody>
          <a:bodyPr wrap="square" lIns="0" tIns="0" rIns="0" bIns="0" rtlCol="0" anchor="t"/>
          <a:lstStyle/>
          <a:p>
            <a:pPr indent="0" marL="0">
              <a:lnSpc>
                <a:spcPts val="2200"/>
              </a:lnSpc>
              <a:buNone/>
            </a:pPr>
            <a:r>
              <a:rPr lang="en-US" sz="1900" i="1" dirty="0">
                <a:solidFill>
                  <a:srgbClr val="75787B"/>
                </a:solidFill>
                <a:latin typeface="Calibri" pitchFamily="34" charset="0"/>
                <a:ea typeface="Calibri" pitchFamily="34" charset="-122"/>
                <a:cs typeface="Calibri" pitchFamily="34" charset="-120"/>
              </a:rPr>
              <a:t>Keep your team's app. Make it version 2.</a:t>
            </a:r>
            <a:endParaRPr lang="en-US" sz="1900" dirty="0"/>
          </a:p>
        </p:txBody>
      </p:sp>
      <p:sp>
        <p:nvSpPr>
          <p:cNvPr id="5" name="Shape 3"/>
          <p:cNvSpPr/>
          <p:nvPr/>
        </p:nvSpPr>
        <p:spPr>
          <a:xfrm>
            <a:off x="640080" y="2103120"/>
            <a:ext cx="3417722" cy="3566160"/>
          </a:xfrm>
          <a:prstGeom prst="roundRect">
            <a:avLst>
              <a:gd name="adj" fmla="val 2408"/>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6" name="Text 4"/>
          <p:cNvSpPr txBox="1"/>
          <p:nvPr/>
        </p:nvSpPr>
        <p:spPr>
          <a:xfrm>
            <a:off x="914400" y="2286000"/>
            <a:ext cx="2869082" cy="320040"/>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WHAT YOU WOULD MAKE</a:t>
            </a:r>
            <a:endParaRPr lang="en-US" sz="1200" dirty="0"/>
          </a:p>
        </p:txBody>
      </p:sp>
      <p:sp>
        <p:nvSpPr>
          <p:cNvPr id="7" name="Text 5"/>
          <p:cNvSpPr txBox="1"/>
          <p:nvPr/>
        </p:nvSpPr>
        <p:spPr>
          <a:xfrm>
            <a:off x="914400" y="2697480"/>
            <a:ext cx="2869082" cy="2834640"/>
          </a:xfrm>
          <a:prstGeom prst="rect">
            <a:avLst/>
          </a:prstGeom>
          <a:noFill/>
          <a:ln/>
        </p:spPr>
        <p:txBody>
          <a:bodyPr wrap="square" lIns="0" tIns="0" rIns="0" bIns="0" rtlCol="0" anchor="t"/>
          <a:lstStyle/>
          <a:p>
            <a:pPr indent="0" marL="0">
              <a:lnSpc>
                <a:spcPts val="2300"/>
              </a:lnSpc>
              <a:buNone/>
            </a:pPr>
            <a:r>
              <a:rPr lang="en-US" sz="1600" dirty="0">
                <a:solidFill>
                  <a:srgbClr val="1C1A19"/>
                </a:solidFill>
                <a:latin typeface="Calibri" pitchFamily="34" charset="0"/>
                <a:ea typeface="Calibri" pitchFamily="34" charset="-122"/>
                <a:cs typeface="Calibri" pitchFamily="34" charset="-120"/>
              </a:rPr>
              <a:t>Version 2 of your own app. New stories, real scenarios, and the fixes your classmates found when they tested it at /play.</a:t>
            </a:r>
            <a:endParaRPr lang="en-US" sz="1600" dirty="0"/>
          </a:p>
        </p:txBody>
      </p:sp>
      <p:sp>
        <p:nvSpPr>
          <p:cNvPr id="8" name="Shape 6"/>
          <p:cNvSpPr/>
          <p:nvPr/>
        </p:nvSpPr>
        <p:spPr>
          <a:xfrm>
            <a:off x="4386986" y="2103120"/>
            <a:ext cx="3417722" cy="3566160"/>
          </a:xfrm>
          <a:prstGeom prst="roundRect">
            <a:avLst>
              <a:gd name="adj" fmla="val 2408"/>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4661306" y="2286000"/>
            <a:ext cx="2869082" cy="320040"/>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WHAT YOU WOULD LEARN</a:t>
            </a:r>
            <a:endParaRPr lang="en-US" sz="1200" dirty="0"/>
          </a:p>
        </p:txBody>
      </p:sp>
      <p:sp>
        <p:nvSpPr>
          <p:cNvPr id="10" name="Text 8"/>
          <p:cNvSpPr txBox="1"/>
          <p:nvPr/>
        </p:nvSpPr>
        <p:spPr>
          <a:xfrm>
            <a:off x="4661306" y="2697480"/>
            <a:ext cx="2869082" cy="2834640"/>
          </a:xfrm>
          <a:prstGeom prst="rect">
            <a:avLst/>
          </a:prstGeom>
          <a:noFill/>
          <a:ln/>
        </p:spPr>
        <p:txBody>
          <a:bodyPr wrap="square" lIns="0" tIns="0" rIns="0" bIns="0" rtlCol="0" anchor="t"/>
          <a:lstStyle/>
          <a:p>
            <a:pPr indent="0" marL="0">
              <a:lnSpc>
                <a:spcPts val="2300"/>
              </a:lnSpc>
              <a:buNone/>
            </a:pPr>
            <a:r>
              <a:rPr lang="en-US" sz="1600" dirty="0">
                <a:solidFill>
                  <a:srgbClr val="1C1A19"/>
                </a:solidFill>
                <a:latin typeface="Calibri" pitchFamily="34" charset="0"/>
                <a:ea typeface="Calibri" pitchFamily="34" charset="-122"/>
                <a:cs typeface="Calibri" pitchFamily="34" charset="-120"/>
              </a:rPr>
              <a:t>How real apps get better after launch: reading feedback, choosing what to fix first, and writing exactly what the next version must do.</a:t>
            </a:r>
            <a:endParaRPr lang="en-US" sz="1600" dirty="0"/>
          </a:p>
        </p:txBody>
      </p:sp>
      <p:sp>
        <p:nvSpPr>
          <p:cNvPr id="11" name="Shape 9"/>
          <p:cNvSpPr/>
          <p:nvPr/>
        </p:nvSpPr>
        <p:spPr>
          <a:xfrm>
            <a:off x="8133893" y="2103120"/>
            <a:ext cx="3417722" cy="3566160"/>
          </a:xfrm>
          <a:prstGeom prst="roundRect">
            <a:avLst>
              <a:gd name="adj" fmla="val 2408"/>
            </a:avLst>
          </a:prstGeom>
          <a:solidFill>
            <a:srgbClr val="FBEDE8"/>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2" name="Text 10"/>
          <p:cNvSpPr txBox="1"/>
          <p:nvPr/>
        </p:nvSpPr>
        <p:spPr>
          <a:xfrm>
            <a:off x="8408213" y="2286000"/>
            <a:ext cx="2869082" cy="320040"/>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FOR EXAMPLE</a:t>
            </a:r>
            <a:endParaRPr lang="en-US" sz="1200" dirty="0"/>
          </a:p>
        </p:txBody>
      </p:sp>
      <p:sp>
        <p:nvSpPr>
          <p:cNvPr id="13" name="Text 11"/>
          <p:cNvSpPr txBox="1"/>
          <p:nvPr/>
        </p:nvSpPr>
        <p:spPr>
          <a:xfrm>
            <a:off x="8408213" y="2697480"/>
            <a:ext cx="2869082" cy="2834640"/>
          </a:xfrm>
          <a:prstGeom prst="rect">
            <a:avLst/>
          </a:prstGeom>
          <a:noFill/>
          <a:ln/>
        </p:spPr>
        <p:txBody>
          <a:bodyPr wrap="square" lIns="0" tIns="0" rIns="0" bIns="0" rtlCol="0" anchor="t"/>
          <a:lstStyle/>
          <a:p>
            <a:pPr indent="0" marL="0">
              <a:lnSpc>
                <a:spcPts val="2300"/>
              </a:lnSpc>
              <a:buNone/>
            </a:pPr>
            <a:r>
              <a:rPr lang="en-US" sz="1600" dirty="0">
                <a:solidFill>
                  <a:srgbClr val="1C1A19"/>
                </a:solidFill>
                <a:latin typeface="Calibri" pitchFamily="34" charset="0"/>
                <a:ea typeface="Calibri" pitchFamily="34" charset="-122"/>
                <a:cs typeface="Calibri" pitchFamily="34" charset="-120"/>
              </a:rPr>
              <a:t>Find your way already grew a new feature, Scan my schedule, from one new story. What would your app's version 2 do?</a:t>
            </a:r>
            <a:endParaRPr lang="en-US" sz="1600" dirty="0"/>
          </a:p>
        </p:txBody>
      </p:sp>
      <p:sp>
        <p:nvSpPr>
          <p:cNvPr id="14" name="Shape 12"/>
          <p:cNvSpPr/>
          <p:nvPr/>
        </p:nvSpPr>
        <p:spPr>
          <a:xfrm>
            <a:off x="11002975" y="502920"/>
            <a:ext cx="548640" cy="548640"/>
          </a:xfrm>
          <a:prstGeom prst="ellipse">
            <a:avLst/>
          </a:prstGeom>
          <a:solidFill>
            <a:srgbClr val="630031"/>
          </a:solidFill>
          <a:ln w="12700">
            <a:solidFill>
              <a:srgbClr val="333333"/>
            </a:solidFill>
            <a:prstDash val="solid"/>
          </a:ln>
        </p:spPr>
      </p:sp>
      <p:sp>
        <p:nvSpPr>
          <p:cNvPr id="15" name="Text 13"/>
          <p:cNvSpPr txBox="1"/>
          <p:nvPr/>
        </p:nvSpPr>
        <p:spPr>
          <a:xfrm>
            <a:off x="11002975" y="502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CHOICE 2 OF 3</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Smart City 2.0</a:t>
            </a:r>
            <a:endParaRPr lang="en-US" sz="3400" dirty="0"/>
          </a:p>
        </p:txBody>
      </p:sp>
      <p:sp>
        <p:nvSpPr>
          <p:cNvPr id="4" name="Text 2"/>
          <p:cNvSpPr txBox="1"/>
          <p:nvPr/>
        </p:nvSpPr>
        <p:spPr>
          <a:xfrm>
            <a:off x="640080" y="1417320"/>
            <a:ext cx="10911535" cy="457200"/>
          </a:xfrm>
          <a:prstGeom prst="rect">
            <a:avLst/>
          </a:prstGeom>
          <a:noFill/>
          <a:ln/>
        </p:spPr>
        <p:txBody>
          <a:bodyPr wrap="square" lIns="0" tIns="0" rIns="0" bIns="0" rtlCol="0" anchor="t"/>
          <a:lstStyle/>
          <a:p>
            <a:pPr indent="0" marL="0">
              <a:lnSpc>
                <a:spcPts val="2200"/>
              </a:lnSpc>
              <a:buNone/>
            </a:pPr>
            <a:r>
              <a:rPr lang="en-US" sz="1900" i="1" dirty="0">
                <a:solidFill>
                  <a:srgbClr val="75787B"/>
                </a:solidFill>
                <a:latin typeface="Calibri" pitchFamily="34" charset="0"/>
                <a:ea typeface="Calibri" pitchFamily="34" charset="-122"/>
                <a:cs typeface="Calibri" pitchFamily="34" charset="-120"/>
              </a:rPr>
              <a:t>Like last session's city project, but you are the product team.</a:t>
            </a:r>
            <a:endParaRPr lang="en-US" sz="1900" dirty="0"/>
          </a:p>
        </p:txBody>
      </p:sp>
      <p:sp>
        <p:nvSpPr>
          <p:cNvPr id="5" name="Shape 3"/>
          <p:cNvSpPr/>
          <p:nvPr/>
        </p:nvSpPr>
        <p:spPr>
          <a:xfrm>
            <a:off x="640080" y="2103120"/>
            <a:ext cx="3417722" cy="3566160"/>
          </a:xfrm>
          <a:prstGeom prst="roundRect">
            <a:avLst>
              <a:gd name="adj" fmla="val 2408"/>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6" name="Text 4"/>
          <p:cNvSpPr txBox="1"/>
          <p:nvPr/>
        </p:nvSpPr>
        <p:spPr>
          <a:xfrm>
            <a:off x="914400" y="2286000"/>
            <a:ext cx="2869082" cy="320040"/>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WHAT YOU WOULD MAKE</a:t>
            </a:r>
            <a:endParaRPr lang="en-US" sz="1200" dirty="0"/>
          </a:p>
        </p:txBody>
      </p:sp>
      <p:sp>
        <p:nvSpPr>
          <p:cNvPr id="7" name="Text 5"/>
          <p:cNvSpPr txBox="1"/>
          <p:nvPr/>
        </p:nvSpPr>
        <p:spPr>
          <a:xfrm>
            <a:off x="914400" y="2697480"/>
            <a:ext cx="2869082" cy="2834640"/>
          </a:xfrm>
          <a:prstGeom prst="rect">
            <a:avLst/>
          </a:prstGeom>
          <a:noFill/>
          <a:ln/>
        </p:spPr>
        <p:txBody>
          <a:bodyPr wrap="square" lIns="0" tIns="0" rIns="0" bIns="0" rtlCol="0" anchor="t"/>
          <a:lstStyle/>
          <a:p>
            <a:pPr indent="0" marL="0">
              <a:lnSpc>
                <a:spcPts val="2300"/>
              </a:lnSpc>
              <a:buNone/>
            </a:pPr>
            <a:r>
              <a:rPr lang="en-US" sz="1600" dirty="0">
                <a:solidFill>
                  <a:srgbClr val="1C1A19"/>
                </a:solidFill>
                <a:latin typeface="Calibri" pitchFamily="34" charset="0"/>
                <a:ea typeface="Calibri" pitchFamily="34" charset="-122"/>
                <a:cs typeface="Calibri" pitchFamily="34" charset="-120"/>
              </a:rPr>
              <a:t>A system that runs part of a smart city: transit, safety, or an energy dashboard. Plus the users, stories and scenarios for it.</a:t>
            </a:r>
            <a:endParaRPr lang="en-US" sz="1600" dirty="0"/>
          </a:p>
        </p:txBody>
      </p:sp>
      <p:sp>
        <p:nvSpPr>
          <p:cNvPr id="8" name="Shape 6"/>
          <p:cNvSpPr/>
          <p:nvPr/>
        </p:nvSpPr>
        <p:spPr>
          <a:xfrm>
            <a:off x="4386986" y="2103120"/>
            <a:ext cx="3417722" cy="3566160"/>
          </a:xfrm>
          <a:prstGeom prst="roundRect">
            <a:avLst>
              <a:gd name="adj" fmla="val 2408"/>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4661306" y="2286000"/>
            <a:ext cx="2869082" cy="320040"/>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WHAT YOU WOULD LEARN</a:t>
            </a:r>
            <a:endParaRPr lang="en-US" sz="1200" dirty="0"/>
          </a:p>
        </p:txBody>
      </p:sp>
      <p:sp>
        <p:nvSpPr>
          <p:cNvPr id="10" name="Text 8"/>
          <p:cNvSpPr txBox="1"/>
          <p:nvPr/>
        </p:nvSpPr>
        <p:spPr>
          <a:xfrm>
            <a:off x="4661306" y="2697480"/>
            <a:ext cx="2869082" cy="2834640"/>
          </a:xfrm>
          <a:prstGeom prst="rect">
            <a:avLst/>
          </a:prstGeom>
          <a:noFill/>
          <a:ln/>
        </p:spPr>
        <p:txBody>
          <a:bodyPr wrap="square" lIns="0" tIns="0" rIns="0" bIns="0" rtlCol="0" anchor="t"/>
          <a:lstStyle/>
          <a:p>
            <a:pPr indent="0" marL="0">
              <a:lnSpc>
                <a:spcPts val="2300"/>
              </a:lnSpc>
              <a:buNone/>
            </a:pPr>
            <a:r>
              <a:rPr lang="en-US" sz="1600" dirty="0">
                <a:solidFill>
                  <a:srgbClr val="1C1A19"/>
                </a:solidFill>
                <a:latin typeface="Calibri" pitchFamily="34" charset="0"/>
                <a:ea typeface="Calibri" pitchFamily="34" charset="-122"/>
                <a:cs typeface="Calibri" pitchFamily="34" charset="-120"/>
              </a:rPr>
              <a:t>How to plan something with many users who want different things: riders, drivers, the mayor, the people who live next door.</a:t>
            </a:r>
            <a:endParaRPr lang="en-US" sz="1600" dirty="0"/>
          </a:p>
        </p:txBody>
      </p:sp>
      <p:sp>
        <p:nvSpPr>
          <p:cNvPr id="11" name="Shape 9"/>
          <p:cNvSpPr/>
          <p:nvPr/>
        </p:nvSpPr>
        <p:spPr>
          <a:xfrm>
            <a:off x="8133893" y="2103120"/>
            <a:ext cx="3417722" cy="3566160"/>
          </a:xfrm>
          <a:prstGeom prst="roundRect">
            <a:avLst>
              <a:gd name="adj" fmla="val 2408"/>
            </a:avLst>
          </a:prstGeom>
          <a:solidFill>
            <a:srgbClr val="FBEDE8"/>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2" name="Text 10"/>
          <p:cNvSpPr txBox="1"/>
          <p:nvPr/>
        </p:nvSpPr>
        <p:spPr>
          <a:xfrm>
            <a:off x="8408213" y="2286000"/>
            <a:ext cx="2869082" cy="320040"/>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FOR EXAMPLE</a:t>
            </a:r>
            <a:endParaRPr lang="en-US" sz="1200" dirty="0"/>
          </a:p>
        </p:txBody>
      </p:sp>
      <p:sp>
        <p:nvSpPr>
          <p:cNvPr id="13" name="Text 11"/>
          <p:cNvSpPr txBox="1"/>
          <p:nvPr/>
        </p:nvSpPr>
        <p:spPr>
          <a:xfrm>
            <a:off x="8408213" y="2697480"/>
            <a:ext cx="2869082" cy="2834640"/>
          </a:xfrm>
          <a:prstGeom prst="rect">
            <a:avLst/>
          </a:prstGeom>
          <a:noFill/>
          <a:ln/>
        </p:spPr>
        <p:txBody>
          <a:bodyPr wrap="square" lIns="0" tIns="0" rIns="0" bIns="0" rtlCol="0" anchor="t"/>
          <a:lstStyle/>
          <a:p>
            <a:pPr indent="0" marL="0">
              <a:lnSpc>
                <a:spcPts val="2300"/>
              </a:lnSpc>
              <a:buNone/>
            </a:pPr>
            <a:r>
              <a:rPr lang="en-US" sz="1600" dirty="0">
                <a:solidFill>
                  <a:srgbClr val="1C1A19"/>
                </a:solidFill>
                <a:latin typeface="Calibri" pitchFamily="34" charset="0"/>
                <a:ea typeface="Calibri" pitchFamily="34" charset="-122"/>
                <a:cs typeface="Calibri" pitchFamily="34" charset="-120"/>
              </a:rPr>
              <a:t>A bus system where riders see the next bus, drivers report delays, and the city sees which routes are always late.</a:t>
            </a:r>
            <a:endParaRPr lang="en-US" sz="1600" dirty="0"/>
          </a:p>
        </p:txBody>
      </p:sp>
      <p:sp>
        <p:nvSpPr>
          <p:cNvPr id="14" name="Shape 12"/>
          <p:cNvSpPr/>
          <p:nvPr/>
        </p:nvSpPr>
        <p:spPr>
          <a:xfrm>
            <a:off x="11002975" y="502920"/>
            <a:ext cx="548640" cy="548640"/>
          </a:xfrm>
          <a:prstGeom prst="ellipse">
            <a:avLst/>
          </a:prstGeom>
          <a:solidFill>
            <a:srgbClr val="630031"/>
          </a:solidFill>
          <a:ln w="12700">
            <a:solidFill>
              <a:srgbClr val="333333"/>
            </a:solidFill>
            <a:prstDash val="solid"/>
          </a:ln>
        </p:spPr>
      </p:sp>
      <p:sp>
        <p:nvSpPr>
          <p:cNvPr id="15" name="Text 13"/>
          <p:cNvSpPr txBox="1"/>
          <p:nvPr/>
        </p:nvSpPr>
        <p:spPr>
          <a:xfrm>
            <a:off x="11002975" y="502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CHOICE 3 OF 3</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Game studio</a:t>
            </a:r>
            <a:endParaRPr lang="en-US" sz="3400" dirty="0"/>
          </a:p>
        </p:txBody>
      </p:sp>
      <p:sp>
        <p:nvSpPr>
          <p:cNvPr id="4" name="Text 2"/>
          <p:cNvSpPr txBox="1"/>
          <p:nvPr/>
        </p:nvSpPr>
        <p:spPr>
          <a:xfrm>
            <a:off x="640080" y="1417320"/>
            <a:ext cx="10911535" cy="457200"/>
          </a:xfrm>
          <a:prstGeom prst="rect">
            <a:avLst/>
          </a:prstGeom>
          <a:noFill/>
          <a:ln/>
        </p:spPr>
        <p:txBody>
          <a:bodyPr wrap="square" lIns="0" tIns="0" rIns="0" bIns="0" rtlCol="0" anchor="t"/>
          <a:lstStyle/>
          <a:p>
            <a:pPr indent="0" marL="0">
              <a:lnSpc>
                <a:spcPts val="2200"/>
              </a:lnSpc>
              <a:buNone/>
            </a:pPr>
            <a:r>
              <a:rPr lang="en-US" sz="1900" i="1" dirty="0">
                <a:solidFill>
                  <a:srgbClr val="75787B"/>
                </a:solidFill>
                <a:latin typeface="Calibri" pitchFamily="34" charset="0"/>
                <a:ea typeface="Calibri" pitchFamily="34" charset="-122"/>
                <a:cs typeface="Calibri" pitchFamily="34" charset="-120"/>
              </a:rPr>
              <a:t>Plan a game the way real studios do.</a:t>
            </a:r>
            <a:endParaRPr lang="en-US" sz="1900" dirty="0"/>
          </a:p>
        </p:txBody>
      </p:sp>
      <p:sp>
        <p:nvSpPr>
          <p:cNvPr id="5" name="Shape 3"/>
          <p:cNvSpPr/>
          <p:nvPr/>
        </p:nvSpPr>
        <p:spPr>
          <a:xfrm>
            <a:off x="640080" y="2103120"/>
            <a:ext cx="3417722" cy="3566160"/>
          </a:xfrm>
          <a:prstGeom prst="roundRect">
            <a:avLst>
              <a:gd name="adj" fmla="val 2408"/>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6" name="Text 4"/>
          <p:cNvSpPr txBox="1"/>
          <p:nvPr/>
        </p:nvSpPr>
        <p:spPr>
          <a:xfrm>
            <a:off x="914400" y="2286000"/>
            <a:ext cx="2869082" cy="320040"/>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WHAT YOU WOULD MAKE</a:t>
            </a:r>
            <a:endParaRPr lang="en-US" sz="1200" dirty="0"/>
          </a:p>
        </p:txBody>
      </p:sp>
      <p:sp>
        <p:nvSpPr>
          <p:cNvPr id="7" name="Text 5"/>
          <p:cNvSpPr txBox="1"/>
          <p:nvPr/>
        </p:nvSpPr>
        <p:spPr>
          <a:xfrm>
            <a:off x="914400" y="2697480"/>
            <a:ext cx="2869082" cy="2834640"/>
          </a:xfrm>
          <a:prstGeom prst="rect">
            <a:avLst/>
          </a:prstGeom>
          <a:noFill/>
          <a:ln/>
        </p:spPr>
        <p:txBody>
          <a:bodyPr wrap="square" lIns="0" tIns="0" rIns="0" bIns="0" rtlCol="0" anchor="t"/>
          <a:lstStyle/>
          <a:p>
            <a:pPr indent="0" marL="0">
              <a:lnSpc>
                <a:spcPts val="2300"/>
              </a:lnSpc>
              <a:buNone/>
            </a:pPr>
            <a:r>
              <a:rPr lang="en-US" sz="1600" dirty="0">
                <a:solidFill>
                  <a:srgbClr val="1C1A19"/>
                </a:solidFill>
                <a:latin typeface="Calibri" pitchFamily="34" charset="0"/>
                <a:ea typeface="Calibri" pitchFamily="34" charset="-122"/>
                <a:cs typeface="Calibri" pitchFamily="34" charset="-120"/>
              </a:rPr>
              <a:t>A game plan: who the player is, the core loop (what you do over and over), levels written as stories, and playtesting as QA.</a:t>
            </a:r>
            <a:endParaRPr lang="en-US" sz="1600" dirty="0"/>
          </a:p>
        </p:txBody>
      </p:sp>
      <p:sp>
        <p:nvSpPr>
          <p:cNvPr id="8" name="Shape 6"/>
          <p:cNvSpPr/>
          <p:nvPr/>
        </p:nvSpPr>
        <p:spPr>
          <a:xfrm>
            <a:off x="4386986" y="2103120"/>
            <a:ext cx="3417722" cy="3566160"/>
          </a:xfrm>
          <a:prstGeom prst="roundRect">
            <a:avLst>
              <a:gd name="adj" fmla="val 2408"/>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4661306" y="2286000"/>
            <a:ext cx="2869082" cy="320040"/>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WHAT YOU WOULD LEARN</a:t>
            </a:r>
            <a:endParaRPr lang="en-US" sz="1200" dirty="0"/>
          </a:p>
        </p:txBody>
      </p:sp>
      <p:sp>
        <p:nvSpPr>
          <p:cNvPr id="10" name="Text 8"/>
          <p:cNvSpPr txBox="1"/>
          <p:nvPr/>
        </p:nvSpPr>
        <p:spPr>
          <a:xfrm>
            <a:off x="4661306" y="2697480"/>
            <a:ext cx="2869082" cy="2834640"/>
          </a:xfrm>
          <a:prstGeom prst="rect">
            <a:avLst/>
          </a:prstGeom>
          <a:noFill/>
          <a:ln/>
        </p:spPr>
        <p:txBody>
          <a:bodyPr wrap="square" lIns="0" tIns="0" rIns="0" bIns="0" rtlCol="0" anchor="t"/>
          <a:lstStyle/>
          <a:p>
            <a:pPr indent="0" marL="0">
              <a:lnSpc>
                <a:spcPts val="2300"/>
              </a:lnSpc>
              <a:buNone/>
            </a:pPr>
            <a:r>
              <a:rPr lang="en-US" sz="1600" dirty="0">
                <a:solidFill>
                  <a:srgbClr val="1C1A19"/>
                </a:solidFill>
                <a:latin typeface="Calibri" pitchFamily="34" charset="0"/>
                <a:ea typeface="Calibri" pitchFamily="34" charset="-122"/>
                <a:cs typeface="Calibri" pitchFamily="34" charset="-120"/>
              </a:rPr>
              <a:t>Why games need product managers too: what makes players come back, what makes a level fair, and how to test with real players.</a:t>
            </a:r>
            <a:endParaRPr lang="en-US" sz="1600" dirty="0"/>
          </a:p>
        </p:txBody>
      </p:sp>
      <p:sp>
        <p:nvSpPr>
          <p:cNvPr id="11" name="Shape 9"/>
          <p:cNvSpPr/>
          <p:nvPr/>
        </p:nvSpPr>
        <p:spPr>
          <a:xfrm>
            <a:off x="8133893" y="2103120"/>
            <a:ext cx="3417722" cy="3566160"/>
          </a:xfrm>
          <a:prstGeom prst="roundRect">
            <a:avLst>
              <a:gd name="adj" fmla="val 2408"/>
            </a:avLst>
          </a:prstGeom>
          <a:solidFill>
            <a:srgbClr val="FBEDE8"/>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2" name="Text 10"/>
          <p:cNvSpPr txBox="1"/>
          <p:nvPr/>
        </p:nvSpPr>
        <p:spPr>
          <a:xfrm>
            <a:off x="8408213" y="2286000"/>
            <a:ext cx="2869082" cy="320040"/>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FOR EXAMPLE</a:t>
            </a:r>
            <a:endParaRPr lang="en-US" sz="1200" dirty="0"/>
          </a:p>
        </p:txBody>
      </p:sp>
      <p:sp>
        <p:nvSpPr>
          <p:cNvPr id="13" name="Text 11"/>
          <p:cNvSpPr txBox="1"/>
          <p:nvPr/>
        </p:nvSpPr>
        <p:spPr>
          <a:xfrm>
            <a:off x="8408213" y="2697480"/>
            <a:ext cx="2869082" cy="2834640"/>
          </a:xfrm>
          <a:prstGeom prst="rect">
            <a:avLst/>
          </a:prstGeom>
          <a:noFill/>
          <a:ln/>
        </p:spPr>
        <p:txBody>
          <a:bodyPr wrap="square" lIns="0" tIns="0" rIns="0" bIns="0" rtlCol="0" anchor="t"/>
          <a:lstStyle/>
          <a:p>
            <a:pPr indent="0" marL="0">
              <a:lnSpc>
                <a:spcPts val="2300"/>
              </a:lnSpc>
              <a:buNone/>
            </a:pPr>
            <a:r>
              <a:rPr lang="en-US" sz="1600" dirty="0">
                <a:solidFill>
                  <a:srgbClr val="1C1A19"/>
                </a:solidFill>
                <a:latin typeface="Calibri" pitchFamily="34" charset="0"/>
                <a:ea typeface="Calibri" pitchFamily="34" charset="-122"/>
                <a:cs typeface="Calibri" pitchFamily="34" charset="-120"/>
              </a:rPr>
              <a:t>W.C.O 27's loop: play the obby, earn cards, build a dream team, win the tournament, and do it again.</a:t>
            </a:r>
            <a:endParaRPr lang="en-US" sz="1600" dirty="0"/>
          </a:p>
        </p:txBody>
      </p:sp>
      <p:sp>
        <p:nvSpPr>
          <p:cNvPr id="14" name="Shape 12"/>
          <p:cNvSpPr/>
          <p:nvPr/>
        </p:nvSpPr>
        <p:spPr>
          <a:xfrm>
            <a:off x="11002975" y="502920"/>
            <a:ext cx="548640" cy="548640"/>
          </a:xfrm>
          <a:prstGeom prst="ellipse">
            <a:avLst/>
          </a:prstGeom>
          <a:solidFill>
            <a:srgbClr val="630031"/>
          </a:solidFill>
          <a:ln w="12700">
            <a:solidFill>
              <a:srgbClr val="333333"/>
            </a:solidFill>
            <a:prstDash val="solid"/>
          </a:ln>
        </p:spPr>
      </p:sp>
      <p:sp>
        <p:nvSpPr>
          <p:cNvPr id="15" name="Text 13"/>
          <p:cNvSpPr txBox="1"/>
          <p:nvPr/>
        </p:nvSpPr>
        <p:spPr>
          <a:xfrm>
            <a:off x="11002975" y="502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1A19"/>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310896"/>
          </a:xfrm>
          <a:prstGeom prst="rect">
            <a:avLst/>
          </a:prstGeom>
          <a:noFill/>
          <a:ln/>
        </p:spPr>
        <p:txBody>
          <a:bodyPr wrap="square" lIns="0" tIns="0" rIns="0" bIns="0" rtlCol="0" anchor="ctr"/>
          <a:lstStyle/>
          <a:p>
            <a:pPr indent="0" marL="0">
              <a:buNone/>
            </a:pPr>
            <a:r>
              <a:rPr lang="en-US" sz="1300" b="1" spc="300" kern="0" dirty="0">
                <a:solidFill>
                  <a:srgbClr val="CF4420"/>
                </a:solidFill>
                <a:latin typeface="Calibri" pitchFamily="34" charset="0"/>
                <a:ea typeface="Calibri" pitchFamily="34" charset="-122"/>
                <a:cs typeface="Calibri" pitchFamily="34" charset="-120"/>
              </a:rPr>
              <a:t>VOTE  ·  ABOUT 8 MINUTES</a:t>
            </a:r>
            <a:endParaRPr lang="en-US" sz="1300" dirty="0"/>
          </a:p>
        </p:txBody>
      </p:sp>
      <p:sp>
        <p:nvSpPr>
          <p:cNvPr id="3" name="Text 1"/>
          <p:cNvSpPr txBox="1"/>
          <p:nvPr/>
        </p:nvSpPr>
        <p:spPr>
          <a:xfrm>
            <a:off x="640080" y="896112"/>
            <a:ext cx="10911535"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How to vote</a:t>
            </a:r>
            <a:endParaRPr lang="en-US" sz="3800" dirty="0"/>
          </a:p>
        </p:txBody>
      </p:sp>
      <p:sp>
        <p:nvSpPr>
          <p:cNvPr id="4" name="Shape 2"/>
          <p:cNvSpPr/>
          <p:nvPr/>
        </p:nvSpPr>
        <p:spPr>
          <a:xfrm>
            <a:off x="640080" y="2039112"/>
            <a:ext cx="475488" cy="475488"/>
          </a:xfrm>
          <a:prstGeom prst="ellipse">
            <a:avLst/>
          </a:prstGeom>
          <a:solidFill>
            <a:srgbClr val="CF4420"/>
          </a:solidFill>
          <a:ln w="12700">
            <a:solidFill>
              <a:srgbClr val="333333"/>
            </a:solidFill>
            <a:prstDash val="solid"/>
          </a:ln>
        </p:spPr>
      </p:sp>
      <p:sp>
        <p:nvSpPr>
          <p:cNvPr id="5" name="Text 3"/>
          <p:cNvSpPr txBox="1"/>
          <p:nvPr/>
        </p:nvSpPr>
        <p:spPr>
          <a:xfrm>
            <a:off x="640080" y="203911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6" name="Text 4"/>
          <p:cNvSpPr txBox="1"/>
          <p:nvPr/>
        </p:nvSpPr>
        <p:spPr>
          <a:xfrm>
            <a:off x="1371600" y="1965960"/>
            <a:ext cx="2468880" cy="603504"/>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Open the page</a:t>
            </a:r>
            <a:endParaRPr lang="en-US" sz="2000" dirty="0"/>
          </a:p>
        </p:txBody>
      </p:sp>
      <p:sp>
        <p:nvSpPr>
          <p:cNvPr id="7" name="Text 5"/>
          <p:cNvSpPr txBox="1"/>
          <p:nvPr/>
        </p:nvSpPr>
        <p:spPr>
          <a:xfrm>
            <a:off x="3840480" y="1965960"/>
            <a:ext cx="7711135" cy="603504"/>
          </a:xfrm>
          <a:prstGeom prst="rect">
            <a:avLst/>
          </a:prstGeom>
          <a:noFill/>
          <a:ln/>
        </p:spPr>
        <p:txBody>
          <a:bodyPr wrap="square" lIns="0" tIns="0" rIns="0" bIns="0" rtlCol="0" anchor="ctr"/>
          <a:lstStyle/>
          <a:p>
            <a:pPr indent="0" marL="0">
              <a:buNone/>
            </a:pPr>
            <a:r>
              <a:rPr lang="en-US" sz="1800" dirty="0">
                <a:solidFill>
                  <a:srgbClr val="D9D6D2"/>
                </a:solidFill>
                <a:latin typeface="Calibri" pitchFamily="34" charset="0"/>
                <a:ea typeface="Calibri" pitchFamily="34" charset="-122"/>
                <a:cs typeface="Calibri" pitchFamily="34" charset="-120"/>
              </a:rPr>
              <a:t>Go to doubleblaze.solutions/vote on your Chromebook.</a:t>
            </a:r>
            <a:endParaRPr lang="en-US" sz="1800" dirty="0"/>
          </a:p>
        </p:txBody>
      </p:sp>
      <p:sp>
        <p:nvSpPr>
          <p:cNvPr id="8" name="Shape 6"/>
          <p:cNvSpPr/>
          <p:nvPr/>
        </p:nvSpPr>
        <p:spPr>
          <a:xfrm>
            <a:off x="640080" y="2816352"/>
            <a:ext cx="475488" cy="475488"/>
          </a:xfrm>
          <a:prstGeom prst="ellipse">
            <a:avLst/>
          </a:prstGeom>
          <a:solidFill>
            <a:srgbClr val="CF4420"/>
          </a:solidFill>
          <a:ln w="12700">
            <a:solidFill>
              <a:srgbClr val="333333"/>
            </a:solidFill>
            <a:prstDash val="solid"/>
          </a:ln>
        </p:spPr>
      </p:sp>
      <p:sp>
        <p:nvSpPr>
          <p:cNvPr id="9" name="Text 7"/>
          <p:cNvSpPr txBox="1"/>
          <p:nvPr/>
        </p:nvSpPr>
        <p:spPr>
          <a:xfrm>
            <a:off x="640080" y="281635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0" name="Text 8"/>
          <p:cNvSpPr txBox="1"/>
          <p:nvPr/>
        </p:nvSpPr>
        <p:spPr>
          <a:xfrm>
            <a:off x="1371600" y="2743200"/>
            <a:ext cx="2468880" cy="603504"/>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Rank all 3</a:t>
            </a:r>
            <a:endParaRPr lang="en-US" sz="2000" dirty="0"/>
          </a:p>
        </p:txBody>
      </p:sp>
      <p:sp>
        <p:nvSpPr>
          <p:cNvPr id="11" name="Text 9"/>
          <p:cNvSpPr txBox="1"/>
          <p:nvPr/>
        </p:nvSpPr>
        <p:spPr>
          <a:xfrm>
            <a:off x="3840480" y="2743200"/>
            <a:ext cx="7711135" cy="603504"/>
          </a:xfrm>
          <a:prstGeom prst="rect">
            <a:avLst/>
          </a:prstGeom>
          <a:noFill/>
          <a:ln/>
        </p:spPr>
        <p:txBody>
          <a:bodyPr wrap="square" lIns="0" tIns="0" rIns="0" bIns="0" rtlCol="0" anchor="ctr"/>
          <a:lstStyle/>
          <a:p>
            <a:pPr indent="0" marL="0">
              <a:buNone/>
            </a:pPr>
            <a:r>
              <a:rPr lang="en-US" sz="1800" dirty="0">
                <a:solidFill>
                  <a:srgbClr val="D9D6D2"/>
                </a:solidFill>
                <a:latin typeface="Calibri" pitchFamily="34" charset="0"/>
                <a:ea typeface="Calibri" pitchFamily="34" charset="-122"/>
                <a:cs typeface="Calibri" pitchFamily="34" charset="-120"/>
              </a:rPr>
              <a:t>1 is your favorite. Every choice gets a rank.</a:t>
            </a:r>
            <a:endParaRPr lang="en-US" sz="1800" dirty="0"/>
          </a:p>
        </p:txBody>
      </p:sp>
      <p:sp>
        <p:nvSpPr>
          <p:cNvPr id="12" name="Shape 10"/>
          <p:cNvSpPr/>
          <p:nvPr/>
        </p:nvSpPr>
        <p:spPr>
          <a:xfrm>
            <a:off x="640080" y="3593592"/>
            <a:ext cx="475488" cy="475488"/>
          </a:xfrm>
          <a:prstGeom prst="ellipse">
            <a:avLst/>
          </a:prstGeom>
          <a:solidFill>
            <a:srgbClr val="CF4420"/>
          </a:solidFill>
          <a:ln w="12700">
            <a:solidFill>
              <a:srgbClr val="333333"/>
            </a:solidFill>
            <a:prstDash val="solid"/>
          </a:ln>
        </p:spPr>
      </p:sp>
      <p:sp>
        <p:nvSpPr>
          <p:cNvPr id="13" name="Text 11"/>
          <p:cNvSpPr txBox="1"/>
          <p:nvPr/>
        </p:nvSpPr>
        <p:spPr>
          <a:xfrm>
            <a:off x="640080" y="35935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4" name="Text 12"/>
          <p:cNvSpPr txBox="1"/>
          <p:nvPr/>
        </p:nvSpPr>
        <p:spPr>
          <a:xfrm>
            <a:off x="1371600" y="3520440"/>
            <a:ext cx="2468880" cy="603504"/>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Say why</a:t>
            </a:r>
            <a:endParaRPr lang="en-US" sz="2000" dirty="0"/>
          </a:p>
        </p:txBody>
      </p:sp>
      <p:sp>
        <p:nvSpPr>
          <p:cNvPr id="15" name="Text 13"/>
          <p:cNvSpPr txBox="1"/>
          <p:nvPr/>
        </p:nvSpPr>
        <p:spPr>
          <a:xfrm>
            <a:off x="3840480" y="3520440"/>
            <a:ext cx="7711135" cy="603504"/>
          </a:xfrm>
          <a:prstGeom prst="rect">
            <a:avLst/>
          </a:prstGeom>
          <a:noFill/>
          <a:ln/>
        </p:spPr>
        <p:txBody>
          <a:bodyPr wrap="square" lIns="0" tIns="0" rIns="0" bIns="0" rtlCol="0" anchor="ctr"/>
          <a:lstStyle/>
          <a:p>
            <a:pPr indent="0" marL="0">
              <a:buNone/>
            </a:pPr>
            <a:r>
              <a:rPr lang="en-US" sz="1800" dirty="0">
                <a:solidFill>
                  <a:srgbClr val="D9D6D2"/>
                </a:solidFill>
                <a:latin typeface="Calibri" pitchFamily="34" charset="0"/>
                <a:ea typeface="Calibri" pitchFamily="34" charset="-122"/>
                <a:cs typeface="Calibri" pitchFamily="34" charset="-120"/>
              </a:rPr>
              <a:t>One sentence. A good why helps your teacher plan.</a:t>
            </a:r>
            <a:endParaRPr lang="en-US" sz="1800" dirty="0"/>
          </a:p>
        </p:txBody>
      </p:sp>
      <p:sp>
        <p:nvSpPr>
          <p:cNvPr id="16" name="Shape 14"/>
          <p:cNvSpPr/>
          <p:nvPr/>
        </p:nvSpPr>
        <p:spPr>
          <a:xfrm>
            <a:off x="640080" y="4370832"/>
            <a:ext cx="475488" cy="475488"/>
          </a:xfrm>
          <a:prstGeom prst="ellipse">
            <a:avLst/>
          </a:prstGeom>
          <a:solidFill>
            <a:srgbClr val="CF4420"/>
          </a:solidFill>
          <a:ln w="12700">
            <a:solidFill>
              <a:srgbClr val="333333"/>
            </a:solidFill>
            <a:prstDash val="solid"/>
          </a:ln>
        </p:spPr>
      </p:sp>
      <p:sp>
        <p:nvSpPr>
          <p:cNvPr id="17" name="Text 15"/>
          <p:cNvSpPr txBox="1"/>
          <p:nvPr/>
        </p:nvSpPr>
        <p:spPr>
          <a:xfrm>
            <a:off x="640080" y="437083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8" name="Text 16"/>
          <p:cNvSpPr txBox="1"/>
          <p:nvPr/>
        </p:nvSpPr>
        <p:spPr>
          <a:xfrm>
            <a:off x="1371600" y="4297680"/>
            <a:ext cx="2468880" cy="603504"/>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Your own vote</a:t>
            </a:r>
            <a:endParaRPr lang="en-US" sz="2000" dirty="0"/>
          </a:p>
        </p:txBody>
      </p:sp>
      <p:sp>
        <p:nvSpPr>
          <p:cNvPr id="19" name="Text 17"/>
          <p:cNvSpPr txBox="1"/>
          <p:nvPr/>
        </p:nvSpPr>
        <p:spPr>
          <a:xfrm>
            <a:off x="3840480" y="4297680"/>
            <a:ext cx="7711135" cy="603504"/>
          </a:xfrm>
          <a:prstGeom prst="rect">
            <a:avLst/>
          </a:prstGeom>
          <a:noFill/>
          <a:ln/>
        </p:spPr>
        <p:txBody>
          <a:bodyPr wrap="square" lIns="0" tIns="0" rIns="0" bIns="0" rtlCol="0" anchor="ctr"/>
          <a:lstStyle/>
          <a:p>
            <a:pPr indent="0" marL="0">
              <a:buNone/>
            </a:pPr>
            <a:r>
              <a:rPr lang="en-US" sz="1800" dirty="0">
                <a:solidFill>
                  <a:srgbClr val="D9D6D2"/>
                </a:solidFill>
                <a:latin typeface="Calibri" pitchFamily="34" charset="0"/>
                <a:ea typeface="Calibri" pitchFamily="34" charset="-122"/>
                <a:cs typeface="Calibri" pitchFamily="34" charset="-120"/>
              </a:rPr>
              <a:t>Vote for what you want, not what your friend wants.</a:t>
            </a:r>
            <a:endParaRPr lang="en-US" sz="1800" dirty="0"/>
          </a:p>
        </p:txBody>
      </p:sp>
      <p:sp>
        <p:nvSpPr>
          <p:cNvPr id="20" name="Shape 18"/>
          <p:cNvSpPr/>
          <p:nvPr/>
        </p:nvSpPr>
        <p:spPr>
          <a:xfrm>
            <a:off x="640080" y="5440680"/>
            <a:ext cx="10911535" cy="868680"/>
          </a:xfrm>
          <a:prstGeom prst="roundRect">
            <a:avLst>
              <a:gd name="adj" fmla="val 9474"/>
            </a:avLst>
          </a:prstGeom>
          <a:solidFill>
            <a:srgbClr val="CF4420"/>
          </a:solidFill>
          <a:ln w="12700">
            <a:solidFill>
              <a:srgbClr val="333333"/>
            </a:solidFill>
            <a:prstDash val="solid"/>
          </a:ln>
        </p:spPr>
      </p:sp>
      <p:sp>
        <p:nvSpPr>
          <p:cNvPr id="21" name="Text 19"/>
          <p:cNvSpPr txBox="1"/>
          <p:nvPr/>
        </p:nvSpPr>
        <p:spPr>
          <a:xfrm>
            <a:off x="960120" y="5440680"/>
            <a:ext cx="10271455" cy="8686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Open:  </a:t>
            </a:r>
            <a:pPr indent="0" marL="0">
              <a:buNone/>
            </a:pPr>
            <a:r>
              <a:rPr lang="en-US" sz="2400" b="1" dirty="0">
                <a:solidFill>
                  <a:srgbClr val="FFFFFF"/>
                </a:solidFill>
                <a:latin typeface="Consolas" pitchFamily="34" charset="0"/>
                <a:ea typeface="Consolas" pitchFamily="34" charset="-122"/>
                <a:cs typeface="Consolas" pitchFamily="34" charset="-120"/>
              </a:rPr>
              <a:t>doubleblaze.solutions/vote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630031"/>
        </a:solidFill>
      </p:bgPr>
    </p:bg>
    <p:spTree>
      <p:nvGrpSpPr>
        <p:cNvPr id="1" name=""/>
        <p:cNvGrpSpPr/>
        <p:nvPr/>
      </p:nvGrpSpPr>
      <p:grpSpPr>
        <a:xfrm>
          <a:off x="0" y="0"/>
          <a:ext cx="0" cy="0"/>
          <a:chOff x="0" y="0"/>
          <a:chExt cx="0" cy="0"/>
        </a:xfrm>
      </p:grpSpPr>
      <p:sp>
        <p:nvSpPr>
          <p:cNvPr id="2" name="Shape 0"/>
          <p:cNvSpPr/>
          <p:nvPr/>
        </p:nvSpPr>
        <p:spPr>
          <a:xfrm>
            <a:off x="9052560" y="1097280"/>
            <a:ext cx="4754880" cy="4754880"/>
          </a:xfrm>
          <a:prstGeom prst="ellipse">
            <a:avLst/>
          </a:prstGeom>
          <a:solidFill>
            <a:srgbClr val="4A0025"/>
          </a:solidFill>
          <a:ln w="12700">
            <a:solidFill>
              <a:srgbClr val="333333"/>
            </a:solidFill>
            <a:prstDash val="solid"/>
          </a:ln>
        </p:spPr>
      </p:sp>
      <p:sp>
        <p:nvSpPr>
          <p:cNvPr id="3" name="Text 1"/>
          <p:cNvSpPr txBox="1"/>
          <p:nvPr/>
        </p:nvSpPr>
        <p:spPr>
          <a:xfrm>
            <a:off x="9052560" y="1097280"/>
            <a:ext cx="4754880" cy="4754880"/>
          </a:xfrm>
          <a:prstGeom prst="rect">
            <a:avLst/>
          </a:prstGeom>
          <a:noFill/>
          <a:ln/>
        </p:spPr>
        <p:txBody>
          <a:bodyPr wrap="square" lIns="0" tIns="0" rIns="0" bIns="0" rtlCol="0" anchor="ctr"/>
          <a:lstStyle/>
          <a:p>
            <a:pPr algn="ctr" indent="0" marL="0">
              <a:buNone/>
            </a:pPr>
            <a:r>
              <a:rPr lang="en-US" sz="15000" b="1" dirty="0">
                <a:solidFill>
                  <a:srgbClr val="CF4420"/>
                </a:solidFill>
                <a:latin typeface="Cambria" pitchFamily="34" charset="0"/>
                <a:ea typeface="Cambria" pitchFamily="34" charset="-122"/>
                <a:cs typeface="Cambria" pitchFamily="34" charset="-120"/>
              </a:rPr>
              <a:t>?</a:t>
            </a:r>
            <a:endParaRPr lang="en-US" sz="15000" dirty="0"/>
          </a:p>
        </p:txBody>
      </p:sp>
      <p:sp>
        <p:nvSpPr>
          <p:cNvPr id="4" name="Text 2"/>
          <p:cNvSpPr txBox="1"/>
          <p:nvPr/>
        </p:nvSpPr>
        <p:spPr>
          <a:xfrm>
            <a:off x="640080" y="2103120"/>
            <a:ext cx="7315200" cy="310896"/>
          </a:xfrm>
          <a:prstGeom prst="rect">
            <a:avLst/>
          </a:prstGeom>
          <a:noFill/>
          <a:ln/>
        </p:spPr>
        <p:txBody>
          <a:bodyPr wrap="square" lIns="0" tIns="0" rIns="0" bIns="0" rtlCol="0" anchor="ctr"/>
          <a:lstStyle/>
          <a:p>
            <a:pPr indent="0" marL="0">
              <a:buNone/>
            </a:pPr>
            <a:r>
              <a:rPr lang="en-US" sz="1300" b="1" spc="300" kern="0" dirty="0">
                <a:solidFill>
                  <a:srgbClr val="E9C9D6"/>
                </a:solidFill>
                <a:latin typeface="Calibri" pitchFamily="34" charset="0"/>
                <a:ea typeface="Calibri" pitchFamily="34" charset="-122"/>
                <a:cs typeface="Calibri" pitchFamily="34" charset="-120"/>
              </a:rPr>
              <a:t>WHICHEVER ONE WINS</a:t>
            </a:r>
            <a:endParaRPr lang="en-US" sz="1300" dirty="0"/>
          </a:p>
        </p:txBody>
      </p:sp>
      <p:sp>
        <p:nvSpPr>
          <p:cNvPr id="5" name="Text 3"/>
          <p:cNvSpPr txBox="1"/>
          <p:nvPr/>
        </p:nvSpPr>
        <p:spPr>
          <a:xfrm>
            <a:off x="640080" y="2468880"/>
            <a:ext cx="8046720" cy="100584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Scenarios</a:t>
            </a:r>
            <a:endParaRPr lang="en-US" sz="5000" dirty="0"/>
          </a:p>
        </p:txBody>
      </p:sp>
      <p:sp>
        <p:nvSpPr>
          <p:cNvPr id="6" name="Text 4"/>
          <p:cNvSpPr txBox="1"/>
          <p:nvPr/>
        </p:nvSpPr>
        <p:spPr>
          <a:xfrm>
            <a:off x="640080" y="3611880"/>
            <a:ext cx="7863840" cy="1280160"/>
          </a:xfrm>
          <a:prstGeom prst="rect">
            <a:avLst/>
          </a:prstGeom>
          <a:noFill/>
          <a:ln/>
        </p:spPr>
        <p:txBody>
          <a:bodyPr wrap="square" lIns="0" tIns="0" rIns="0" bIns="0" rtlCol="0" anchor="ctr"/>
          <a:lstStyle/>
          <a:p>
            <a:pPr indent="0" marL="0">
              <a:lnSpc>
                <a:spcPts val="3200"/>
              </a:lnSpc>
              <a:buNone/>
            </a:pPr>
            <a:r>
              <a:rPr lang="en-US" sz="2400" dirty="0">
                <a:solidFill>
                  <a:srgbClr val="F3E3EA"/>
                </a:solidFill>
                <a:latin typeface="Calibri" pitchFamily="34" charset="0"/>
                <a:ea typeface="Calibri" pitchFamily="34" charset="-122"/>
                <a:cs typeface="Calibri" pitchFamily="34" charset="-120"/>
              </a:rPr>
              <a:t>Every product team writes them.</a:t>
            </a:r>
            <a:endParaRPr lang="en-US" sz="2400" dirty="0"/>
          </a:p>
          <a:p>
            <a:pPr indent="0" marL="0">
              <a:lnSpc>
                <a:spcPts val="3200"/>
              </a:lnSpc>
              <a:buNone/>
            </a:pPr>
            <a:r>
              <a:rPr lang="en-US" sz="2400" dirty="0">
                <a:solidFill>
                  <a:srgbClr val="F3E3EA"/>
                </a:solidFill>
                <a:latin typeface="Calibri" pitchFamily="34" charset="0"/>
                <a:ea typeface="Calibri" pitchFamily="34" charset="-122"/>
                <a:cs typeface="Calibri" pitchFamily="34" charset="-120"/>
              </a:rPr>
              <a:t>You start today, on your own app.</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THE LADDER</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Three steps, each more exact</a:t>
            </a:r>
            <a:endParaRPr lang="en-US" sz="3400" dirty="0"/>
          </a:p>
        </p:txBody>
      </p:sp>
      <p:sp>
        <p:nvSpPr>
          <p:cNvPr id="4" name="Shape 2"/>
          <p:cNvSpPr/>
          <p:nvPr/>
        </p:nvSpPr>
        <p:spPr>
          <a:xfrm>
            <a:off x="640080" y="1691640"/>
            <a:ext cx="10911535" cy="1280160"/>
          </a:xfrm>
          <a:prstGeom prst="roundRect">
            <a:avLst>
              <a:gd name="adj" fmla="val 6429"/>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914400" y="1920240"/>
            <a:ext cx="457200" cy="457200"/>
          </a:xfrm>
          <a:prstGeom prst="ellipse">
            <a:avLst/>
          </a:prstGeom>
          <a:solidFill>
            <a:srgbClr val="CF4420"/>
          </a:solidFill>
          <a:ln w="12700">
            <a:solidFill>
              <a:srgbClr val="333333"/>
            </a:solidFill>
            <a:prstDash val="solid"/>
          </a:ln>
        </p:spPr>
      </p:sp>
      <p:sp>
        <p:nvSpPr>
          <p:cNvPr id="6" name="Text 4"/>
          <p:cNvSpPr txBox="1"/>
          <p:nvPr/>
        </p:nvSpPr>
        <p:spPr>
          <a:xfrm>
            <a:off x="91440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554480" y="1828800"/>
            <a:ext cx="3108960" cy="45720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User story</a:t>
            </a:r>
            <a:endParaRPr lang="en-US" sz="2100" dirty="0"/>
          </a:p>
        </p:txBody>
      </p:sp>
      <p:sp>
        <p:nvSpPr>
          <p:cNvPr id="8" name="Text 6"/>
          <p:cNvSpPr txBox="1"/>
          <p:nvPr/>
        </p:nvSpPr>
        <p:spPr>
          <a:xfrm>
            <a:off x="1554480" y="2286000"/>
            <a:ext cx="3108960" cy="594360"/>
          </a:xfrm>
          <a:prstGeom prst="rect">
            <a:avLst/>
          </a:prstGeom>
          <a:noFill/>
          <a:ln/>
        </p:spPr>
        <p:txBody>
          <a:bodyPr wrap="square" lIns="0" tIns="0" rIns="0" bIns="0" rtlCol="0" anchor="ctr"/>
          <a:lstStyle/>
          <a:p>
            <a:pPr indent="0" marL="0">
              <a:lnSpc>
                <a:spcPts val="1800"/>
              </a:lnSpc>
              <a:buNone/>
            </a:pPr>
            <a:r>
              <a:rPr lang="en-US" sz="1350" dirty="0">
                <a:solidFill>
                  <a:srgbClr val="5A5F63"/>
                </a:solidFill>
                <a:latin typeface="Calibri" pitchFamily="34" charset="0"/>
                <a:ea typeface="Calibri" pitchFamily="34" charset="-122"/>
                <a:cs typeface="Calibri" pitchFamily="34" charset="-120"/>
              </a:rPr>
              <a:t>Who wants it, what they want, and why.</a:t>
            </a:r>
            <a:endParaRPr lang="en-US" sz="1350" dirty="0"/>
          </a:p>
        </p:txBody>
      </p:sp>
      <p:sp>
        <p:nvSpPr>
          <p:cNvPr id="9" name="Text 7"/>
          <p:cNvSpPr txBox="1"/>
          <p:nvPr/>
        </p:nvSpPr>
        <p:spPr>
          <a:xfrm>
            <a:off x="4846320" y="1801368"/>
            <a:ext cx="6430975" cy="1060704"/>
          </a:xfrm>
          <a:prstGeom prst="rect">
            <a:avLst/>
          </a:prstGeom>
          <a:noFill/>
          <a:ln/>
        </p:spPr>
        <p:txBody>
          <a:bodyPr wrap="square" lIns="0" tIns="0" rIns="0" bIns="0" rtlCol="0" anchor="ctr"/>
          <a:lstStyle/>
          <a:p>
            <a:pPr indent="0" marL="0">
              <a:lnSpc>
                <a:spcPts val="2100"/>
              </a:lnSpc>
              <a:buNone/>
            </a:pPr>
            <a:r>
              <a:rPr lang="en-US" sz="1550" i="1" dirty="0">
                <a:solidFill>
                  <a:srgbClr val="1C1A19"/>
                </a:solidFill>
                <a:latin typeface="Calibri" pitchFamily="34" charset="0"/>
                <a:ea typeface="Calibri" pitchFamily="34" charset="-122"/>
                <a:cs typeface="Calibri" pitchFamily="34" charset="-120"/>
              </a:rPr>
              <a:t>As a new student, I want to easily find my class and not be late, so that I can learn and not be stressed.</a:t>
            </a:r>
            <a:endParaRPr lang="en-US" sz="1550" dirty="0"/>
          </a:p>
        </p:txBody>
      </p:sp>
      <p:sp>
        <p:nvSpPr>
          <p:cNvPr id="10" name="Shape 8"/>
          <p:cNvSpPr/>
          <p:nvPr/>
        </p:nvSpPr>
        <p:spPr>
          <a:xfrm>
            <a:off x="1097280" y="3154680"/>
            <a:ext cx="10454335" cy="1280160"/>
          </a:xfrm>
          <a:prstGeom prst="roundRect">
            <a:avLst>
              <a:gd name="adj" fmla="val 6429"/>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1" name="Shape 9"/>
          <p:cNvSpPr/>
          <p:nvPr/>
        </p:nvSpPr>
        <p:spPr>
          <a:xfrm>
            <a:off x="1371600" y="3383280"/>
            <a:ext cx="457200" cy="457200"/>
          </a:xfrm>
          <a:prstGeom prst="ellipse">
            <a:avLst/>
          </a:prstGeom>
          <a:solidFill>
            <a:srgbClr val="CF4420"/>
          </a:solidFill>
          <a:ln w="12700">
            <a:solidFill>
              <a:srgbClr val="333333"/>
            </a:solidFill>
            <a:prstDash val="solid"/>
          </a:ln>
        </p:spPr>
      </p:sp>
      <p:sp>
        <p:nvSpPr>
          <p:cNvPr id="12" name="Text 10"/>
          <p:cNvSpPr txBox="1"/>
          <p:nvPr/>
        </p:nvSpPr>
        <p:spPr>
          <a:xfrm>
            <a:off x="1371600" y="3383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2011680" y="3291840"/>
            <a:ext cx="3108960" cy="45720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Acceptance criteria</a:t>
            </a:r>
            <a:endParaRPr lang="en-US" sz="2100" dirty="0"/>
          </a:p>
        </p:txBody>
      </p:sp>
      <p:sp>
        <p:nvSpPr>
          <p:cNvPr id="14" name="Text 12"/>
          <p:cNvSpPr txBox="1"/>
          <p:nvPr/>
        </p:nvSpPr>
        <p:spPr>
          <a:xfrm>
            <a:off x="2011680" y="3749040"/>
            <a:ext cx="3108960" cy="594360"/>
          </a:xfrm>
          <a:prstGeom prst="rect">
            <a:avLst/>
          </a:prstGeom>
          <a:noFill/>
          <a:ln/>
        </p:spPr>
        <p:txBody>
          <a:bodyPr wrap="square" lIns="0" tIns="0" rIns="0" bIns="0" rtlCol="0" anchor="ctr"/>
          <a:lstStyle/>
          <a:p>
            <a:pPr indent="0" marL="0">
              <a:lnSpc>
                <a:spcPts val="1800"/>
              </a:lnSpc>
              <a:buNone/>
            </a:pPr>
            <a:r>
              <a:rPr lang="en-US" sz="1350" dirty="0">
                <a:solidFill>
                  <a:srgbClr val="5A5F63"/>
                </a:solidFill>
                <a:latin typeface="Calibri" pitchFamily="34" charset="0"/>
                <a:ea typeface="Calibri" pitchFamily="34" charset="-122"/>
                <a:cs typeface="Calibri" pitchFamily="34" charset="-120"/>
              </a:rPr>
              <a:t>How we would know it works. Checks that are yes or no.</a:t>
            </a:r>
            <a:endParaRPr lang="en-US" sz="1350" dirty="0"/>
          </a:p>
        </p:txBody>
      </p:sp>
      <p:sp>
        <p:nvSpPr>
          <p:cNvPr id="15" name="Text 13"/>
          <p:cNvSpPr txBox="1"/>
          <p:nvPr/>
        </p:nvSpPr>
        <p:spPr>
          <a:xfrm>
            <a:off x="5303520" y="3264408"/>
            <a:ext cx="5973775" cy="1060704"/>
          </a:xfrm>
          <a:prstGeom prst="rect">
            <a:avLst/>
          </a:prstGeom>
          <a:noFill/>
          <a:ln/>
        </p:spPr>
        <p:txBody>
          <a:bodyPr wrap="square" lIns="0" tIns="0" rIns="0" bIns="0" rtlCol="0" anchor="ctr"/>
          <a:lstStyle/>
          <a:p>
            <a:pPr indent="0" marL="0">
              <a:lnSpc>
                <a:spcPts val="2100"/>
              </a:lnSpc>
              <a:buNone/>
            </a:pPr>
            <a:r>
              <a:rPr lang="en-US" sz="1550" i="1" dirty="0">
                <a:solidFill>
                  <a:srgbClr val="1C1A19"/>
                </a:solidFill>
                <a:latin typeface="Calibri" pitchFamily="34" charset="0"/>
                <a:ea typeface="Calibri" pitchFamily="34" charset="-122"/>
                <a:cs typeface="Calibri" pitchFamily="34" charset="-120"/>
              </a:rPr>
              <a:t>The route shows the right room.  It says how many minutes it takes.</a:t>
            </a:r>
            <a:endParaRPr lang="en-US" sz="1550" dirty="0"/>
          </a:p>
        </p:txBody>
      </p:sp>
      <p:sp>
        <p:nvSpPr>
          <p:cNvPr id="16" name="Shape 14"/>
          <p:cNvSpPr/>
          <p:nvPr/>
        </p:nvSpPr>
        <p:spPr>
          <a:xfrm>
            <a:off x="1554480" y="4617720"/>
            <a:ext cx="9997135" cy="1280160"/>
          </a:xfrm>
          <a:prstGeom prst="roundRect">
            <a:avLst>
              <a:gd name="adj" fmla="val 6429"/>
            </a:avLst>
          </a:prstGeom>
          <a:solidFill>
            <a:srgbClr val="EAF4EE"/>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7" name="Shape 15"/>
          <p:cNvSpPr/>
          <p:nvPr/>
        </p:nvSpPr>
        <p:spPr>
          <a:xfrm>
            <a:off x="1828800" y="4846320"/>
            <a:ext cx="457200" cy="457200"/>
          </a:xfrm>
          <a:prstGeom prst="ellipse">
            <a:avLst/>
          </a:prstGeom>
          <a:solidFill>
            <a:srgbClr val="2E6B4A"/>
          </a:solidFill>
          <a:ln w="12700">
            <a:solidFill>
              <a:srgbClr val="333333"/>
            </a:solidFill>
            <a:prstDash val="solid"/>
          </a:ln>
        </p:spPr>
      </p:sp>
      <p:sp>
        <p:nvSpPr>
          <p:cNvPr id="18" name="Text 16"/>
          <p:cNvSpPr txBox="1"/>
          <p:nvPr/>
        </p:nvSpPr>
        <p:spPr>
          <a:xfrm>
            <a:off x="1828800" y="4846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2468880" y="4754880"/>
            <a:ext cx="3108960" cy="45720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Scenarios</a:t>
            </a:r>
            <a:endParaRPr lang="en-US" sz="2100" dirty="0"/>
          </a:p>
        </p:txBody>
      </p:sp>
      <p:sp>
        <p:nvSpPr>
          <p:cNvPr id="20" name="Text 18"/>
          <p:cNvSpPr txBox="1"/>
          <p:nvPr/>
        </p:nvSpPr>
        <p:spPr>
          <a:xfrm>
            <a:off x="2468880" y="5212080"/>
            <a:ext cx="3108960" cy="594360"/>
          </a:xfrm>
          <a:prstGeom prst="rect">
            <a:avLst/>
          </a:prstGeom>
          <a:noFill/>
          <a:ln/>
        </p:spPr>
        <p:txBody>
          <a:bodyPr wrap="square" lIns="0" tIns="0" rIns="0" bIns="0" rtlCol="0" anchor="ctr"/>
          <a:lstStyle/>
          <a:p>
            <a:pPr indent="0" marL="0">
              <a:lnSpc>
                <a:spcPts val="1800"/>
              </a:lnSpc>
              <a:buNone/>
            </a:pPr>
            <a:r>
              <a:rPr lang="en-US" sz="1350" dirty="0">
                <a:solidFill>
                  <a:srgbClr val="5A5F63"/>
                </a:solidFill>
                <a:latin typeface="Calibri" pitchFamily="34" charset="0"/>
                <a:ea typeface="Calibri" pitchFamily="34" charset="-122"/>
                <a:cs typeface="Calibri" pitchFamily="34" charset="-120"/>
              </a:rPr>
              <a:t>The exact situations: Given, When, Then.</a:t>
            </a:r>
            <a:endParaRPr lang="en-US" sz="1350" dirty="0"/>
          </a:p>
        </p:txBody>
      </p:sp>
      <p:sp>
        <p:nvSpPr>
          <p:cNvPr id="21" name="Text 19"/>
          <p:cNvSpPr txBox="1"/>
          <p:nvPr/>
        </p:nvSpPr>
        <p:spPr>
          <a:xfrm>
            <a:off x="5760720" y="4727448"/>
            <a:ext cx="5516575" cy="1060704"/>
          </a:xfrm>
          <a:prstGeom prst="rect">
            <a:avLst/>
          </a:prstGeom>
          <a:noFill/>
          <a:ln/>
        </p:spPr>
        <p:txBody>
          <a:bodyPr wrap="square" lIns="0" tIns="0" rIns="0" bIns="0" rtlCol="0" anchor="ctr"/>
          <a:lstStyle/>
          <a:p>
            <a:pPr indent="0" marL="0">
              <a:lnSpc>
                <a:spcPts val="2100"/>
              </a:lnSpc>
              <a:buNone/>
            </a:pPr>
            <a:r>
              <a:rPr lang="en-US" sz="1550" i="1" dirty="0">
                <a:solidFill>
                  <a:srgbClr val="1C1A19"/>
                </a:solidFill>
                <a:latin typeface="Calibri" pitchFamily="34" charset="0"/>
                <a:ea typeface="Calibri" pitchFamily="34" charset="-122"/>
                <a:cs typeface="Calibri" pitchFamily="34" charset="-120"/>
              </a:rPr>
              <a:t>Given I am at the front doors, When I tap Show me the way, Then a route draws to C101.</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HOW TO WRITE A SCENARIO</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Given, When, Then</a:t>
            </a:r>
            <a:endParaRPr lang="en-US" sz="3400" dirty="0"/>
          </a:p>
        </p:txBody>
      </p:sp>
      <p:sp>
        <p:nvSpPr>
          <p:cNvPr id="4" name="Shape 2"/>
          <p:cNvSpPr/>
          <p:nvPr/>
        </p:nvSpPr>
        <p:spPr>
          <a:xfrm>
            <a:off x="640080" y="1600200"/>
            <a:ext cx="3417722" cy="1691640"/>
          </a:xfrm>
          <a:prstGeom prst="roundRect">
            <a:avLst>
              <a:gd name="adj" fmla="val 486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914400" y="1737360"/>
            <a:ext cx="2869082" cy="502920"/>
          </a:xfrm>
          <a:prstGeom prst="rect">
            <a:avLst/>
          </a:prstGeom>
          <a:noFill/>
          <a:ln/>
        </p:spPr>
        <p:txBody>
          <a:bodyPr wrap="square" lIns="0" tIns="0" rIns="0" bIns="0" rtlCol="0" anchor="ctr"/>
          <a:lstStyle/>
          <a:p>
            <a:pPr indent="0" marL="0">
              <a:buNone/>
            </a:pPr>
            <a:r>
              <a:rPr lang="en-US" sz="2600" b="1" dirty="0">
                <a:solidFill>
                  <a:srgbClr val="1F6F78"/>
                </a:solidFill>
                <a:latin typeface="Cambria" pitchFamily="34" charset="0"/>
                <a:ea typeface="Cambria" pitchFamily="34" charset="-122"/>
                <a:cs typeface="Cambria" pitchFamily="34" charset="-120"/>
              </a:rPr>
              <a:t>Given</a:t>
            </a:r>
            <a:endParaRPr lang="en-US" sz="2600" dirty="0"/>
          </a:p>
        </p:txBody>
      </p:sp>
      <p:sp>
        <p:nvSpPr>
          <p:cNvPr id="6" name="Text 4"/>
          <p:cNvSpPr txBox="1"/>
          <p:nvPr/>
        </p:nvSpPr>
        <p:spPr>
          <a:xfrm>
            <a:off x="914400" y="2240280"/>
            <a:ext cx="2869082" cy="320040"/>
          </a:xfrm>
          <a:prstGeom prst="rect">
            <a:avLst/>
          </a:prstGeom>
          <a:noFill/>
          <a:ln/>
        </p:spPr>
        <p:txBody>
          <a:bodyPr wrap="square" lIns="0" tIns="0" rIns="0" bIns="0" rtlCol="0" anchor="ctr"/>
          <a:lstStyle/>
          <a:p>
            <a:pPr indent="0" marL="0">
              <a:buNone/>
            </a:pPr>
            <a:r>
              <a:rPr lang="en-US" sz="1400" b="1" dirty="0">
                <a:solidFill>
                  <a:srgbClr val="1C1A19"/>
                </a:solidFill>
                <a:latin typeface="Calibri" pitchFamily="34" charset="0"/>
                <a:ea typeface="Calibri" pitchFamily="34" charset="-122"/>
                <a:cs typeface="Calibri" pitchFamily="34" charset="-120"/>
              </a:rPr>
              <a:t>what is already true</a:t>
            </a:r>
            <a:endParaRPr lang="en-US" sz="1400" dirty="0"/>
          </a:p>
        </p:txBody>
      </p:sp>
      <p:sp>
        <p:nvSpPr>
          <p:cNvPr id="7" name="Text 5"/>
          <p:cNvSpPr txBox="1"/>
          <p:nvPr/>
        </p:nvSpPr>
        <p:spPr>
          <a:xfrm>
            <a:off x="914400" y="2578608"/>
            <a:ext cx="2869082" cy="640080"/>
          </a:xfrm>
          <a:prstGeom prst="rect">
            <a:avLst/>
          </a:prstGeom>
          <a:noFill/>
          <a:ln/>
        </p:spPr>
        <p:txBody>
          <a:bodyPr wrap="square" lIns="0" tIns="0" rIns="0" bIns="0" rtlCol="0" anchor="ctr"/>
          <a:lstStyle/>
          <a:p>
            <a:pPr indent="0" marL="0">
              <a:lnSpc>
                <a:spcPts val="1800"/>
              </a:lnSpc>
              <a:buNone/>
            </a:pPr>
            <a:r>
              <a:rPr lang="en-US" sz="1350" dirty="0">
                <a:solidFill>
                  <a:srgbClr val="5A5F63"/>
                </a:solidFill>
                <a:latin typeface="Calibri" pitchFamily="34" charset="0"/>
                <a:ea typeface="Calibri" pitchFamily="34" charset="-122"/>
                <a:cs typeface="Calibri" pitchFamily="34" charset="-120"/>
              </a:rPr>
              <a:t>Before anything happens. Where are you? What is going on?</a:t>
            </a:r>
            <a:endParaRPr lang="en-US" sz="1350" dirty="0"/>
          </a:p>
        </p:txBody>
      </p:sp>
      <p:sp>
        <p:nvSpPr>
          <p:cNvPr id="8" name="Shape 6"/>
          <p:cNvSpPr/>
          <p:nvPr/>
        </p:nvSpPr>
        <p:spPr>
          <a:xfrm>
            <a:off x="4386986" y="1600200"/>
            <a:ext cx="3417722" cy="1691640"/>
          </a:xfrm>
          <a:prstGeom prst="roundRect">
            <a:avLst>
              <a:gd name="adj" fmla="val 486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4661306" y="1737360"/>
            <a:ext cx="2869082" cy="502920"/>
          </a:xfrm>
          <a:prstGeom prst="rect">
            <a:avLst/>
          </a:prstGeom>
          <a:noFill/>
          <a:ln/>
        </p:spPr>
        <p:txBody>
          <a:bodyPr wrap="square" lIns="0" tIns="0" rIns="0" bIns="0" rtlCol="0" anchor="ctr"/>
          <a:lstStyle/>
          <a:p>
            <a:pPr indent="0" marL="0">
              <a:buNone/>
            </a:pPr>
            <a:r>
              <a:rPr lang="en-US" sz="2600" b="1" dirty="0">
                <a:solidFill>
                  <a:srgbClr val="CF4420"/>
                </a:solidFill>
                <a:latin typeface="Cambria" pitchFamily="34" charset="0"/>
                <a:ea typeface="Cambria" pitchFamily="34" charset="-122"/>
                <a:cs typeface="Cambria" pitchFamily="34" charset="-120"/>
              </a:rPr>
              <a:t>When</a:t>
            </a:r>
            <a:endParaRPr lang="en-US" sz="2600" dirty="0"/>
          </a:p>
        </p:txBody>
      </p:sp>
      <p:sp>
        <p:nvSpPr>
          <p:cNvPr id="10" name="Text 8"/>
          <p:cNvSpPr txBox="1"/>
          <p:nvPr/>
        </p:nvSpPr>
        <p:spPr>
          <a:xfrm>
            <a:off x="4661306" y="2240280"/>
            <a:ext cx="2869082" cy="320040"/>
          </a:xfrm>
          <a:prstGeom prst="rect">
            <a:avLst/>
          </a:prstGeom>
          <a:noFill/>
          <a:ln/>
        </p:spPr>
        <p:txBody>
          <a:bodyPr wrap="square" lIns="0" tIns="0" rIns="0" bIns="0" rtlCol="0" anchor="ctr"/>
          <a:lstStyle/>
          <a:p>
            <a:pPr indent="0" marL="0">
              <a:buNone/>
            </a:pPr>
            <a:r>
              <a:rPr lang="en-US" sz="1400" b="1" dirty="0">
                <a:solidFill>
                  <a:srgbClr val="1C1A19"/>
                </a:solidFill>
                <a:latin typeface="Calibri" pitchFamily="34" charset="0"/>
                <a:ea typeface="Calibri" pitchFamily="34" charset="-122"/>
                <a:cs typeface="Calibri" pitchFamily="34" charset="-120"/>
              </a:rPr>
              <a:t>what the user does</a:t>
            </a:r>
            <a:endParaRPr lang="en-US" sz="1400" dirty="0"/>
          </a:p>
        </p:txBody>
      </p:sp>
      <p:sp>
        <p:nvSpPr>
          <p:cNvPr id="11" name="Text 9"/>
          <p:cNvSpPr txBox="1"/>
          <p:nvPr/>
        </p:nvSpPr>
        <p:spPr>
          <a:xfrm>
            <a:off x="4661306" y="2578608"/>
            <a:ext cx="2869082" cy="640080"/>
          </a:xfrm>
          <a:prstGeom prst="rect">
            <a:avLst/>
          </a:prstGeom>
          <a:noFill/>
          <a:ln/>
        </p:spPr>
        <p:txBody>
          <a:bodyPr wrap="square" lIns="0" tIns="0" rIns="0" bIns="0" rtlCol="0" anchor="ctr"/>
          <a:lstStyle/>
          <a:p>
            <a:pPr indent="0" marL="0">
              <a:lnSpc>
                <a:spcPts val="1800"/>
              </a:lnSpc>
              <a:buNone/>
            </a:pPr>
            <a:r>
              <a:rPr lang="en-US" sz="1350" dirty="0">
                <a:solidFill>
                  <a:srgbClr val="5A5F63"/>
                </a:solidFill>
                <a:latin typeface="Calibri" pitchFamily="34" charset="0"/>
                <a:ea typeface="Calibri" pitchFamily="34" charset="-122"/>
                <a:cs typeface="Calibri" pitchFamily="34" charset="-120"/>
              </a:rPr>
              <a:t>One action: tap, type, pick, scan.</a:t>
            </a:r>
            <a:endParaRPr lang="en-US" sz="1350" dirty="0"/>
          </a:p>
        </p:txBody>
      </p:sp>
      <p:sp>
        <p:nvSpPr>
          <p:cNvPr id="12" name="Shape 10"/>
          <p:cNvSpPr/>
          <p:nvPr/>
        </p:nvSpPr>
        <p:spPr>
          <a:xfrm>
            <a:off x="8133893" y="1600200"/>
            <a:ext cx="3417722" cy="1691640"/>
          </a:xfrm>
          <a:prstGeom prst="roundRect">
            <a:avLst>
              <a:gd name="adj" fmla="val 486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3" name="Text 11"/>
          <p:cNvSpPr txBox="1"/>
          <p:nvPr/>
        </p:nvSpPr>
        <p:spPr>
          <a:xfrm>
            <a:off x="8408213" y="1737360"/>
            <a:ext cx="2869082" cy="502920"/>
          </a:xfrm>
          <a:prstGeom prst="rect">
            <a:avLst/>
          </a:prstGeom>
          <a:noFill/>
          <a:ln/>
        </p:spPr>
        <p:txBody>
          <a:bodyPr wrap="square" lIns="0" tIns="0" rIns="0" bIns="0" rtlCol="0" anchor="ctr"/>
          <a:lstStyle/>
          <a:p>
            <a:pPr indent="0" marL="0">
              <a:buNone/>
            </a:pPr>
            <a:r>
              <a:rPr lang="en-US" sz="2600" b="1" dirty="0">
                <a:solidFill>
                  <a:srgbClr val="2E6B4A"/>
                </a:solidFill>
                <a:latin typeface="Cambria" pitchFamily="34" charset="0"/>
                <a:ea typeface="Cambria" pitchFamily="34" charset="-122"/>
                <a:cs typeface="Cambria" pitchFamily="34" charset="-120"/>
              </a:rPr>
              <a:t>Then</a:t>
            </a:r>
            <a:endParaRPr lang="en-US" sz="2600" dirty="0"/>
          </a:p>
        </p:txBody>
      </p:sp>
      <p:sp>
        <p:nvSpPr>
          <p:cNvPr id="14" name="Text 12"/>
          <p:cNvSpPr txBox="1"/>
          <p:nvPr/>
        </p:nvSpPr>
        <p:spPr>
          <a:xfrm>
            <a:off x="8408213" y="2240280"/>
            <a:ext cx="2869082" cy="320040"/>
          </a:xfrm>
          <a:prstGeom prst="rect">
            <a:avLst/>
          </a:prstGeom>
          <a:noFill/>
          <a:ln/>
        </p:spPr>
        <p:txBody>
          <a:bodyPr wrap="square" lIns="0" tIns="0" rIns="0" bIns="0" rtlCol="0" anchor="ctr"/>
          <a:lstStyle/>
          <a:p>
            <a:pPr indent="0" marL="0">
              <a:buNone/>
            </a:pPr>
            <a:r>
              <a:rPr lang="en-US" sz="1400" b="1" dirty="0">
                <a:solidFill>
                  <a:srgbClr val="1C1A19"/>
                </a:solidFill>
                <a:latin typeface="Calibri" pitchFamily="34" charset="0"/>
                <a:ea typeface="Calibri" pitchFamily="34" charset="-122"/>
                <a:cs typeface="Calibri" pitchFamily="34" charset="-120"/>
              </a:rPr>
              <a:t>what the app does back</a:t>
            </a:r>
            <a:endParaRPr lang="en-US" sz="1400" dirty="0"/>
          </a:p>
        </p:txBody>
      </p:sp>
      <p:sp>
        <p:nvSpPr>
          <p:cNvPr id="15" name="Text 13"/>
          <p:cNvSpPr txBox="1"/>
          <p:nvPr/>
        </p:nvSpPr>
        <p:spPr>
          <a:xfrm>
            <a:off x="8408213" y="2578608"/>
            <a:ext cx="2869082" cy="640080"/>
          </a:xfrm>
          <a:prstGeom prst="rect">
            <a:avLst/>
          </a:prstGeom>
          <a:noFill/>
          <a:ln/>
        </p:spPr>
        <p:txBody>
          <a:bodyPr wrap="square" lIns="0" tIns="0" rIns="0" bIns="0" rtlCol="0" anchor="ctr"/>
          <a:lstStyle/>
          <a:p>
            <a:pPr indent="0" marL="0">
              <a:lnSpc>
                <a:spcPts val="1800"/>
              </a:lnSpc>
              <a:buNone/>
            </a:pPr>
            <a:r>
              <a:rPr lang="en-US" sz="1350" dirty="0">
                <a:solidFill>
                  <a:srgbClr val="5A5F63"/>
                </a:solidFill>
                <a:latin typeface="Calibri" pitchFamily="34" charset="0"/>
                <a:ea typeface="Calibri" pitchFamily="34" charset="-122"/>
                <a:cs typeface="Calibri" pitchFamily="34" charset="-120"/>
              </a:rPr>
              <a:t>What you see or what changes. This is the part you can check.</a:t>
            </a:r>
            <a:endParaRPr lang="en-US" sz="1350" dirty="0"/>
          </a:p>
        </p:txBody>
      </p:sp>
      <p:sp>
        <p:nvSpPr>
          <p:cNvPr id="16" name="Text 14"/>
          <p:cNvSpPr txBox="1"/>
          <p:nvPr/>
        </p:nvSpPr>
        <p:spPr>
          <a:xfrm>
            <a:off x="640080" y="3520440"/>
            <a:ext cx="10911535" cy="274320"/>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EXAMPLE FROM FIND YOUR WAY</a:t>
            </a:r>
            <a:endParaRPr lang="en-US" sz="1200" dirty="0"/>
          </a:p>
        </p:txBody>
      </p:sp>
      <p:sp>
        <p:nvSpPr>
          <p:cNvPr id="17" name="Shape 15"/>
          <p:cNvSpPr/>
          <p:nvPr/>
        </p:nvSpPr>
        <p:spPr>
          <a:xfrm>
            <a:off x="640080" y="3886200"/>
            <a:ext cx="10911535" cy="658368"/>
          </a:xfrm>
          <a:prstGeom prst="roundRect">
            <a:avLst>
              <a:gd name="adj" fmla="val 12500"/>
            </a:avLst>
          </a:prstGeom>
          <a:solidFill>
            <a:srgbClr val="EEF2F3"/>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8" name="Text 16"/>
          <p:cNvSpPr txBox="1"/>
          <p:nvPr/>
        </p:nvSpPr>
        <p:spPr>
          <a:xfrm>
            <a:off x="914400" y="3886200"/>
            <a:ext cx="1143000" cy="658368"/>
          </a:xfrm>
          <a:prstGeom prst="rect">
            <a:avLst/>
          </a:prstGeom>
          <a:noFill/>
          <a:ln/>
        </p:spPr>
        <p:txBody>
          <a:bodyPr wrap="square" lIns="0" tIns="0" rIns="0" bIns="0" rtlCol="0" anchor="ctr"/>
          <a:lstStyle/>
          <a:p>
            <a:pPr indent="0" marL="0">
              <a:buNone/>
            </a:pPr>
            <a:r>
              <a:rPr lang="en-US" sz="2400" b="1" dirty="0">
                <a:solidFill>
                  <a:srgbClr val="1F6F78"/>
                </a:solidFill>
                <a:latin typeface="Cambria" pitchFamily="34" charset="0"/>
                <a:ea typeface="Cambria" pitchFamily="34" charset="-122"/>
                <a:cs typeface="Cambria" pitchFamily="34" charset="-120"/>
              </a:rPr>
              <a:t>Given</a:t>
            </a:r>
            <a:endParaRPr lang="en-US" sz="2400" dirty="0"/>
          </a:p>
        </p:txBody>
      </p:sp>
      <p:sp>
        <p:nvSpPr>
          <p:cNvPr id="19" name="Text 17"/>
          <p:cNvSpPr txBox="1"/>
          <p:nvPr/>
        </p:nvSpPr>
        <p:spPr>
          <a:xfrm>
            <a:off x="2057400" y="3886200"/>
            <a:ext cx="9219895" cy="658368"/>
          </a:xfrm>
          <a:prstGeom prst="rect">
            <a:avLst/>
          </a:prstGeom>
          <a:noFill/>
          <a:ln/>
        </p:spPr>
        <p:txBody>
          <a:bodyPr wrap="square" lIns="0" tIns="0" rIns="0" bIns="0" rtlCol="0" anchor="ctr"/>
          <a:lstStyle/>
          <a:p>
            <a:pPr indent="0" marL="0">
              <a:buNone/>
            </a:pPr>
            <a:r>
              <a:rPr lang="en-US" sz="1900" dirty="0">
                <a:solidFill>
                  <a:srgbClr val="1C1A19"/>
                </a:solidFill>
                <a:latin typeface="Calibri" pitchFamily="34" charset="0"/>
                <a:ea typeface="Calibri" pitchFamily="34" charset="-122"/>
                <a:cs typeface="Calibri" pitchFamily="34" charset="-120"/>
              </a:rPr>
              <a:t>I am at the front doors and my next class is C101</a:t>
            </a:r>
            <a:endParaRPr lang="en-US" sz="1900" dirty="0"/>
          </a:p>
        </p:txBody>
      </p:sp>
      <p:sp>
        <p:nvSpPr>
          <p:cNvPr id="20" name="Shape 18"/>
          <p:cNvSpPr/>
          <p:nvPr/>
        </p:nvSpPr>
        <p:spPr>
          <a:xfrm>
            <a:off x="640080" y="4672584"/>
            <a:ext cx="10911535" cy="658368"/>
          </a:xfrm>
          <a:prstGeom prst="roundRect">
            <a:avLst>
              <a:gd name="adj" fmla="val 12500"/>
            </a:avLst>
          </a:prstGeom>
          <a:solidFill>
            <a:srgbClr val="FBEDE8"/>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1" name="Text 19"/>
          <p:cNvSpPr txBox="1"/>
          <p:nvPr/>
        </p:nvSpPr>
        <p:spPr>
          <a:xfrm>
            <a:off x="914400" y="4672584"/>
            <a:ext cx="1143000" cy="658368"/>
          </a:xfrm>
          <a:prstGeom prst="rect">
            <a:avLst/>
          </a:prstGeom>
          <a:noFill/>
          <a:ln/>
        </p:spPr>
        <p:txBody>
          <a:bodyPr wrap="square" lIns="0" tIns="0" rIns="0" bIns="0" rtlCol="0" anchor="ctr"/>
          <a:lstStyle/>
          <a:p>
            <a:pPr indent="0" marL="0">
              <a:buNone/>
            </a:pPr>
            <a:r>
              <a:rPr lang="en-US" sz="2400" b="1" dirty="0">
                <a:solidFill>
                  <a:srgbClr val="CF4420"/>
                </a:solidFill>
                <a:latin typeface="Cambria" pitchFamily="34" charset="0"/>
                <a:ea typeface="Cambria" pitchFamily="34" charset="-122"/>
                <a:cs typeface="Cambria" pitchFamily="34" charset="-120"/>
              </a:rPr>
              <a:t>When</a:t>
            </a:r>
            <a:endParaRPr lang="en-US" sz="2400" dirty="0"/>
          </a:p>
        </p:txBody>
      </p:sp>
      <p:sp>
        <p:nvSpPr>
          <p:cNvPr id="22" name="Text 20"/>
          <p:cNvSpPr txBox="1"/>
          <p:nvPr/>
        </p:nvSpPr>
        <p:spPr>
          <a:xfrm>
            <a:off x="2057400" y="4672584"/>
            <a:ext cx="9219895" cy="658368"/>
          </a:xfrm>
          <a:prstGeom prst="rect">
            <a:avLst/>
          </a:prstGeom>
          <a:noFill/>
          <a:ln/>
        </p:spPr>
        <p:txBody>
          <a:bodyPr wrap="square" lIns="0" tIns="0" rIns="0" bIns="0" rtlCol="0" anchor="ctr"/>
          <a:lstStyle/>
          <a:p>
            <a:pPr indent="0" marL="0">
              <a:buNone/>
            </a:pPr>
            <a:r>
              <a:rPr lang="en-US" sz="1900" dirty="0">
                <a:solidFill>
                  <a:srgbClr val="1C1A19"/>
                </a:solidFill>
                <a:latin typeface="Calibri" pitchFamily="34" charset="0"/>
                <a:ea typeface="Calibri" pitchFamily="34" charset="-122"/>
                <a:cs typeface="Calibri" pitchFamily="34" charset="-120"/>
              </a:rPr>
              <a:t>I tap Show me the way</a:t>
            </a:r>
            <a:endParaRPr lang="en-US" sz="1900" dirty="0"/>
          </a:p>
        </p:txBody>
      </p:sp>
      <p:sp>
        <p:nvSpPr>
          <p:cNvPr id="23" name="Shape 21"/>
          <p:cNvSpPr/>
          <p:nvPr/>
        </p:nvSpPr>
        <p:spPr>
          <a:xfrm>
            <a:off x="640080" y="5458968"/>
            <a:ext cx="10911535" cy="658368"/>
          </a:xfrm>
          <a:prstGeom prst="roundRect">
            <a:avLst>
              <a:gd name="adj" fmla="val 12500"/>
            </a:avLst>
          </a:prstGeom>
          <a:solidFill>
            <a:srgbClr val="EAF4EE"/>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4" name="Text 22"/>
          <p:cNvSpPr txBox="1"/>
          <p:nvPr/>
        </p:nvSpPr>
        <p:spPr>
          <a:xfrm>
            <a:off x="914400" y="5458968"/>
            <a:ext cx="1143000" cy="658368"/>
          </a:xfrm>
          <a:prstGeom prst="rect">
            <a:avLst/>
          </a:prstGeom>
          <a:noFill/>
          <a:ln/>
        </p:spPr>
        <p:txBody>
          <a:bodyPr wrap="square" lIns="0" tIns="0" rIns="0" bIns="0" rtlCol="0" anchor="ctr"/>
          <a:lstStyle/>
          <a:p>
            <a:pPr indent="0" marL="0">
              <a:buNone/>
            </a:pPr>
            <a:r>
              <a:rPr lang="en-US" sz="2400" b="1" dirty="0">
                <a:solidFill>
                  <a:srgbClr val="2E6B4A"/>
                </a:solidFill>
                <a:latin typeface="Cambria" pitchFamily="34" charset="0"/>
                <a:ea typeface="Cambria" pitchFamily="34" charset="-122"/>
                <a:cs typeface="Cambria" pitchFamily="34" charset="-120"/>
              </a:rPr>
              <a:t>Then</a:t>
            </a:r>
            <a:endParaRPr lang="en-US" sz="2400" dirty="0"/>
          </a:p>
        </p:txBody>
      </p:sp>
      <p:sp>
        <p:nvSpPr>
          <p:cNvPr id="25" name="Text 23"/>
          <p:cNvSpPr txBox="1"/>
          <p:nvPr/>
        </p:nvSpPr>
        <p:spPr>
          <a:xfrm>
            <a:off x="2057400" y="5458968"/>
            <a:ext cx="9219895" cy="658368"/>
          </a:xfrm>
          <a:prstGeom prst="rect">
            <a:avLst/>
          </a:prstGeom>
          <a:noFill/>
          <a:ln/>
        </p:spPr>
        <p:txBody>
          <a:bodyPr wrap="square" lIns="0" tIns="0" rIns="0" bIns="0" rtlCol="0" anchor="ctr"/>
          <a:lstStyle/>
          <a:p>
            <a:pPr indent="0" marL="0">
              <a:buNone/>
            </a:pPr>
            <a:r>
              <a:rPr lang="en-US" sz="1900" dirty="0">
                <a:solidFill>
                  <a:srgbClr val="1C1A19"/>
                </a:solidFill>
                <a:latin typeface="Calibri" pitchFamily="34" charset="0"/>
                <a:ea typeface="Calibri" pitchFamily="34" charset="-122"/>
                <a:cs typeface="Calibri" pitchFamily="34" charset="-120"/>
              </a:rPr>
              <a:t>a route draws to C101 and I see how many minutes it takes</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TWO SCENARIOS FOR EVERY STORY</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The happy path and the bad day</a:t>
            </a:r>
            <a:endParaRPr lang="en-US" sz="3400" dirty="0"/>
          </a:p>
        </p:txBody>
      </p:sp>
      <p:sp>
        <p:nvSpPr>
          <p:cNvPr id="4" name="Shape 2"/>
          <p:cNvSpPr/>
          <p:nvPr/>
        </p:nvSpPr>
        <p:spPr>
          <a:xfrm>
            <a:off x="640080" y="1600200"/>
            <a:ext cx="5272888" cy="3337560"/>
          </a:xfrm>
          <a:prstGeom prst="roundRect">
            <a:avLst>
              <a:gd name="adj" fmla="val 2466"/>
            </a:avLst>
          </a:prstGeom>
          <a:solidFill>
            <a:srgbClr val="EAF4EE"/>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960120" y="1783080"/>
            <a:ext cx="4632808" cy="365760"/>
          </a:xfrm>
          <a:prstGeom prst="rect">
            <a:avLst/>
          </a:prstGeom>
          <a:noFill/>
          <a:ln/>
        </p:spPr>
        <p:txBody>
          <a:bodyPr wrap="square" lIns="0" tIns="0" rIns="0" bIns="0" rtlCol="0" anchor="ctr"/>
          <a:lstStyle/>
          <a:p>
            <a:pPr indent="0" marL="0">
              <a:buNone/>
            </a:pPr>
            <a:r>
              <a:rPr lang="en-US" sz="1600" b="1" spc="200" kern="0" dirty="0">
                <a:solidFill>
                  <a:srgbClr val="2E6B4A"/>
                </a:solidFill>
                <a:latin typeface="Calibri" pitchFamily="34" charset="0"/>
                <a:ea typeface="Calibri" pitchFamily="34" charset="-122"/>
                <a:cs typeface="Calibri" pitchFamily="34" charset="-120"/>
              </a:rPr>
              <a:t>HAPPY PATH</a:t>
            </a:r>
            <a:endParaRPr lang="en-US" sz="1600" dirty="0"/>
          </a:p>
        </p:txBody>
      </p:sp>
      <p:sp>
        <p:nvSpPr>
          <p:cNvPr id="6" name="Text 4"/>
          <p:cNvSpPr txBox="1"/>
          <p:nvPr/>
        </p:nvSpPr>
        <p:spPr>
          <a:xfrm>
            <a:off x="960120" y="2148840"/>
            <a:ext cx="4632808" cy="411480"/>
          </a:xfrm>
          <a:prstGeom prst="rect">
            <a:avLst/>
          </a:prstGeom>
          <a:noFill/>
          <a:ln/>
        </p:spPr>
        <p:txBody>
          <a:bodyPr wrap="square" lIns="0" tIns="0" rIns="0" bIns="0" rtlCol="0" anchor="ctr"/>
          <a:lstStyle/>
          <a:p>
            <a:pPr indent="0" marL="0">
              <a:buNone/>
            </a:pPr>
            <a:r>
              <a:rPr lang="en-US" sz="1500" i="1" dirty="0">
                <a:solidFill>
                  <a:srgbClr val="5A5F63"/>
                </a:solidFill>
                <a:latin typeface="Calibri" pitchFamily="34" charset="0"/>
                <a:ea typeface="Calibri" pitchFamily="34" charset="-122"/>
                <a:cs typeface="Calibri" pitchFamily="34" charset="-120"/>
              </a:rPr>
              <a:t>Everything goes right.</a:t>
            </a:r>
            <a:endParaRPr lang="en-US" sz="1500" dirty="0"/>
          </a:p>
        </p:txBody>
      </p:sp>
      <p:sp>
        <p:nvSpPr>
          <p:cNvPr id="7" name="Text 5"/>
          <p:cNvSpPr txBox="1"/>
          <p:nvPr/>
        </p:nvSpPr>
        <p:spPr>
          <a:xfrm>
            <a:off x="960120" y="2697480"/>
            <a:ext cx="1051560" cy="566928"/>
          </a:xfrm>
          <a:prstGeom prst="rect">
            <a:avLst/>
          </a:prstGeom>
          <a:noFill/>
          <a:ln/>
        </p:spPr>
        <p:txBody>
          <a:bodyPr wrap="square" lIns="0" tIns="0" rIns="0" bIns="0" rtlCol="0" anchor="ctr"/>
          <a:lstStyle/>
          <a:p>
            <a:pPr indent="0" marL="0">
              <a:buNone/>
            </a:pPr>
            <a:r>
              <a:rPr lang="en-US" sz="2000" b="1" dirty="0">
                <a:solidFill>
                  <a:srgbClr val="2E6B4A"/>
                </a:solidFill>
                <a:latin typeface="Cambria" pitchFamily="34" charset="0"/>
                <a:ea typeface="Cambria" pitchFamily="34" charset="-122"/>
                <a:cs typeface="Cambria" pitchFamily="34" charset="-120"/>
              </a:rPr>
              <a:t>Given</a:t>
            </a:r>
            <a:endParaRPr lang="en-US" sz="2000" dirty="0"/>
          </a:p>
        </p:txBody>
      </p:sp>
      <p:sp>
        <p:nvSpPr>
          <p:cNvPr id="8" name="Text 6"/>
          <p:cNvSpPr txBox="1"/>
          <p:nvPr/>
        </p:nvSpPr>
        <p:spPr>
          <a:xfrm>
            <a:off x="2011680" y="2697480"/>
            <a:ext cx="3581248" cy="566928"/>
          </a:xfrm>
          <a:prstGeom prst="rect">
            <a:avLst/>
          </a:prstGeom>
          <a:noFill/>
          <a:ln/>
        </p:spPr>
        <p:txBody>
          <a:bodyPr wrap="square" lIns="0" tIns="0" rIns="0" bIns="0" rtlCol="0" anchor="ctr"/>
          <a:lstStyle/>
          <a:p>
            <a:pPr indent="0" marL="0">
              <a:buNone/>
            </a:pPr>
            <a:r>
              <a:rPr lang="en-US" sz="1700" dirty="0">
                <a:solidFill>
                  <a:srgbClr val="1C1A19"/>
                </a:solidFill>
                <a:latin typeface="Calibri" pitchFamily="34" charset="0"/>
                <a:ea typeface="Calibri" pitchFamily="34" charset="-122"/>
                <a:cs typeface="Calibri" pitchFamily="34" charset="-120"/>
              </a:rPr>
              <a:t>the halls are clear</a:t>
            </a:r>
            <a:endParaRPr lang="en-US" sz="1700" dirty="0"/>
          </a:p>
        </p:txBody>
      </p:sp>
      <p:sp>
        <p:nvSpPr>
          <p:cNvPr id="9" name="Text 7"/>
          <p:cNvSpPr txBox="1"/>
          <p:nvPr/>
        </p:nvSpPr>
        <p:spPr>
          <a:xfrm>
            <a:off x="960120" y="3410712"/>
            <a:ext cx="1051560" cy="566928"/>
          </a:xfrm>
          <a:prstGeom prst="rect">
            <a:avLst/>
          </a:prstGeom>
          <a:noFill/>
          <a:ln/>
        </p:spPr>
        <p:txBody>
          <a:bodyPr wrap="square" lIns="0" tIns="0" rIns="0" bIns="0" rtlCol="0" anchor="ctr"/>
          <a:lstStyle/>
          <a:p>
            <a:pPr indent="0" marL="0">
              <a:buNone/>
            </a:pPr>
            <a:r>
              <a:rPr lang="en-US" sz="2000" b="1" dirty="0">
                <a:solidFill>
                  <a:srgbClr val="2E6B4A"/>
                </a:solidFill>
                <a:latin typeface="Cambria" pitchFamily="34" charset="0"/>
                <a:ea typeface="Cambria" pitchFamily="34" charset="-122"/>
                <a:cs typeface="Cambria" pitchFamily="34" charset="-120"/>
              </a:rPr>
              <a:t>When</a:t>
            </a:r>
            <a:endParaRPr lang="en-US" sz="2000" dirty="0"/>
          </a:p>
        </p:txBody>
      </p:sp>
      <p:sp>
        <p:nvSpPr>
          <p:cNvPr id="10" name="Text 8"/>
          <p:cNvSpPr txBox="1"/>
          <p:nvPr/>
        </p:nvSpPr>
        <p:spPr>
          <a:xfrm>
            <a:off x="2011680" y="3410712"/>
            <a:ext cx="3581248" cy="566928"/>
          </a:xfrm>
          <a:prstGeom prst="rect">
            <a:avLst/>
          </a:prstGeom>
          <a:noFill/>
          <a:ln/>
        </p:spPr>
        <p:txBody>
          <a:bodyPr wrap="square" lIns="0" tIns="0" rIns="0" bIns="0" rtlCol="0" anchor="ctr"/>
          <a:lstStyle/>
          <a:p>
            <a:pPr indent="0" marL="0">
              <a:buNone/>
            </a:pPr>
            <a:r>
              <a:rPr lang="en-US" sz="1700" dirty="0">
                <a:solidFill>
                  <a:srgbClr val="1C1A19"/>
                </a:solidFill>
                <a:latin typeface="Calibri" pitchFamily="34" charset="0"/>
                <a:ea typeface="Calibri" pitchFamily="34" charset="-122"/>
                <a:cs typeface="Calibri" pitchFamily="34" charset="-120"/>
              </a:rPr>
              <a:t>I ask for directions to C101</a:t>
            </a:r>
            <a:endParaRPr lang="en-US" sz="1700" dirty="0"/>
          </a:p>
        </p:txBody>
      </p:sp>
      <p:sp>
        <p:nvSpPr>
          <p:cNvPr id="11" name="Text 9"/>
          <p:cNvSpPr txBox="1"/>
          <p:nvPr/>
        </p:nvSpPr>
        <p:spPr>
          <a:xfrm>
            <a:off x="960120" y="4123944"/>
            <a:ext cx="1051560" cy="566928"/>
          </a:xfrm>
          <a:prstGeom prst="rect">
            <a:avLst/>
          </a:prstGeom>
          <a:noFill/>
          <a:ln/>
        </p:spPr>
        <p:txBody>
          <a:bodyPr wrap="square" lIns="0" tIns="0" rIns="0" bIns="0" rtlCol="0" anchor="ctr"/>
          <a:lstStyle/>
          <a:p>
            <a:pPr indent="0" marL="0">
              <a:buNone/>
            </a:pPr>
            <a:r>
              <a:rPr lang="en-US" sz="2000" b="1" dirty="0">
                <a:solidFill>
                  <a:srgbClr val="2E6B4A"/>
                </a:solidFill>
                <a:latin typeface="Cambria" pitchFamily="34" charset="0"/>
                <a:ea typeface="Cambria" pitchFamily="34" charset="-122"/>
                <a:cs typeface="Cambria" pitchFamily="34" charset="-120"/>
              </a:rPr>
              <a:t>Then</a:t>
            </a:r>
            <a:endParaRPr lang="en-US" sz="2000" dirty="0"/>
          </a:p>
        </p:txBody>
      </p:sp>
      <p:sp>
        <p:nvSpPr>
          <p:cNvPr id="12" name="Text 10"/>
          <p:cNvSpPr txBox="1"/>
          <p:nvPr/>
        </p:nvSpPr>
        <p:spPr>
          <a:xfrm>
            <a:off x="2011680" y="4123944"/>
            <a:ext cx="3581248" cy="566928"/>
          </a:xfrm>
          <a:prstGeom prst="rect">
            <a:avLst/>
          </a:prstGeom>
          <a:noFill/>
          <a:ln/>
        </p:spPr>
        <p:txBody>
          <a:bodyPr wrap="square" lIns="0" tIns="0" rIns="0" bIns="0" rtlCol="0" anchor="ctr"/>
          <a:lstStyle/>
          <a:p>
            <a:pPr indent="0" marL="0">
              <a:buNone/>
            </a:pPr>
            <a:r>
              <a:rPr lang="en-US" sz="1700" dirty="0">
                <a:solidFill>
                  <a:srgbClr val="1C1A19"/>
                </a:solidFill>
                <a:latin typeface="Calibri" pitchFamily="34" charset="0"/>
                <a:ea typeface="Calibri" pitchFamily="34" charset="-122"/>
                <a:cs typeface="Calibri" pitchFamily="34" charset="-120"/>
              </a:rPr>
              <a:t>I get the shortest route</a:t>
            </a:r>
            <a:endParaRPr lang="en-US" sz="1700" dirty="0"/>
          </a:p>
        </p:txBody>
      </p:sp>
      <p:sp>
        <p:nvSpPr>
          <p:cNvPr id="13" name="Shape 11"/>
          <p:cNvSpPr/>
          <p:nvPr/>
        </p:nvSpPr>
        <p:spPr>
          <a:xfrm>
            <a:off x="6278728" y="1600200"/>
            <a:ext cx="5272888" cy="3337560"/>
          </a:xfrm>
          <a:prstGeom prst="roundRect">
            <a:avLst>
              <a:gd name="adj" fmla="val 2466"/>
            </a:avLst>
          </a:prstGeom>
          <a:solidFill>
            <a:srgbClr val="FBEDE8"/>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4" name="Text 12"/>
          <p:cNvSpPr txBox="1"/>
          <p:nvPr/>
        </p:nvSpPr>
        <p:spPr>
          <a:xfrm>
            <a:off x="6598768" y="1783080"/>
            <a:ext cx="4632808" cy="365760"/>
          </a:xfrm>
          <a:prstGeom prst="rect">
            <a:avLst/>
          </a:prstGeom>
          <a:noFill/>
          <a:ln/>
        </p:spPr>
        <p:txBody>
          <a:bodyPr wrap="square" lIns="0" tIns="0" rIns="0" bIns="0" rtlCol="0" anchor="ctr"/>
          <a:lstStyle/>
          <a:p>
            <a:pPr indent="0" marL="0">
              <a:buNone/>
            </a:pPr>
            <a:r>
              <a:rPr lang="en-US" sz="1600" b="1" spc="200" kern="0" dirty="0">
                <a:solidFill>
                  <a:srgbClr val="CF4420"/>
                </a:solidFill>
                <a:latin typeface="Calibri" pitchFamily="34" charset="0"/>
                <a:ea typeface="Calibri" pitchFamily="34" charset="-122"/>
                <a:cs typeface="Calibri" pitchFamily="34" charset="-120"/>
              </a:rPr>
              <a:t>BAD DAY</a:t>
            </a:r>
            <a:endParaRPr lang="en-US" sz="1600" dirty="0"/>
          </a:p>
        </p:txBody>
      </p:sp>
      <p:sp>
        <p:nvSpPr>
          <p:cNvPr id="15" name="Text 13"/>
          <p:cNvSpPr txBox="1"/>
          <p:nvPr/>
        </p:nvSpPr>
        <p:spPr>
          <a:xfrm>
            <a:off x="6598768" y="2148840"/>
            <a:ext cx="4632808" cy="411480"/>
          </a:xfrm>
          <a:prstGeom prst="rect">
            <a:avLst/>
          </a:prstGeom>
          <a:noFill/>
          <a:ln/>
        </p:spPr>
        <p:txBody>
          <a:bodyPr wrap="square" lIns="0" tIns="0" rIns="0" bIns="0" rtlCol="0" anchor="ctr"/>
          <a:lstStyle/>
          <a:p>
            <a:pPr indent="0" marL="0">
              <a:buNone/>
            </a:pPr>
            <a:r>
              <a:rPr lang="en-US" sz="1500" i="1" dirty="0">
                <a:solidFill>
                  <a:srgbClr val="5A5F63"/>
                </a:solidFill>
                <a:latin typeface="Calibri" pitchFamily="34" charset="0"/>
                <a:ea typeface="Calibri" pitchFamily="34" charset="-122"/>
                <a:cs typeface="Calibri" pitchFamily="34" charset="-120"/>
              </a:rPr>
              <a:t>Something goes wrong. What should the app do?</a:t>
            </a:r>
            <a:endParaRPr lang="en-US" sz="1500" dirty="0"/>
          </a:p>
        </p:txBody>
      </p:sp>
      <p:sp>
        <p:nvSpPr>
          <p:cNvPr id="16" name="Text 14"/>
          <p:cNvSpPr txBox="1"/>
          <p:nvPr/>
        </p:nvSpPr>
        <p:spPr>
          <a:xfrm>
            <a:off x="6598768" y="2697480"/>
            <a:ext cx="1051560" cy="566928"/>
          </a:xfrm>
          <a:prstGeom prst="rect">
            <a:avLst/>
          </a:prstGeom>
          <a:noFill/>
          <a:ln/>
        </p:spPr>
        <p:txBody>
          <a:bodyPr wrap="square" lIns="0" tIns="0" rIns="0" bIns="0" rtlCol="0" anchor="ctr"/>
          <a:lstStyle/>
          <a:p>
            <a:pPr indent="0" marL="0">
              <a:buNone/>
            </a:pPr>
            <a:r>
              <a:rPr lang="en-US" sz="2000" b="1" dirty="0">
                <a:solidFill>
                  <a:srgbClr val="CF4420"/>
                </a:solidFill>
                <a:latin typeface="Cambria" pitchFamily="34" charset="0"/>
                <a:ea typeface="Cambria" pitchFamily="34" charset="-122"/>
                <a:cs typeface="Cambria" pitchFamily="34" charset="-120"/>
              </a:rPr>
              <a:t>Given</a:t>
            </a:r>
            <a:endParaRPr lang="en-US" sz="2000" dirty="0"/>
          </a:p>
        </p:txBody>
      </p:sp>
      <p:sp>
        <p:nvSpPr>
          <p:cNvPr id="17" name="Text 15"/>
          <p:cNvSpPr txBox="1"/>
          <p:nvPr/>
        </p:nvSpPr>
        <p:spPr>
          <a:xfrm>
            <a:off x="7650328" y="2697480"/>
            <a:ext cx="3581248" cy="566928"/>
          </a:xfrm>
          <a:prstGeom prst="rect">
            <a:avLst/>
          </a:prstGeom>
          <a:noFill/>
          <a:ln/>
        </p:spPr>
        <p:txBody>
          <a:bodyPr wrap="square" lIns="0" tIns="0" rIns="0" bIns="0" rtlCol="0" anchor="ctr"/>
          <a:lstStyle/>
          <a:p>
            <a:pPr indent="0" marL="0">
              <a:buNone/>
            </a:pPr>
            <a:r>
              <a:rPr lang="en-US" sz="1700" dirty="0">
                <a:solidFill>
                  <a:srgbClr val="1C1A19"/>
                </a:solidFill>
                <a:latin typeface="Calibri" pitchFamily="34" charset="0"/>
                <a:ea typeface="Calibri" pitchFamily="34" charset="-122"/>
                <a:cs typeface="Calibri" pitchFamily="34" charset="-120"/>
              </a:rPr>
              <a:t>the main hall is packed</a:t>
            </a:r>
            <a:endParaRPr lang="en-US" sz="1700" dirty="0"/>
          </a:p>
        </p:txBody>
      </p:sp>
      <p:sp>
        <p:nvSpPr>
          <p:cNvPr id="18" name="Text 16"/>
          <p:cNvSpPr txBox="1"/>
          <p:nvPr/>
        </p:nvSpPr>
        <p:spPr>
          <a:xfrm>
            <a:off x="6598768" y="3410712"/>
            <a:ext cx="1051560" cy="566928"/>
          </a:xfrm>
          <a:prstGeom prst="rect">
            <a:avLst/>
          </a:prstGeom>
          <a:noFill/>
          <a:ln/>
        </p:spPr>
        <p:txBody>
          <a:bodyPr wrap="square" lIns="0" tIns="0" rIns="0" bIns="0" rtlCol="0" anchor="ctr"/>
          <a:lstStyle/>
          <a:p>
            <a:pPr indent="0" marL="0">
              <a:buNone/>
            </a:pPr>
            <a:r>
              <a:rPr lang="en-US" sz="2000" b="1" dirty="0">
                <a:solidFill>
                  <a:srgbClr val="CF4420"/>
                </a:solidFill>
                <a:latin typeface="Cambria" pitchFamily="34" charset="0"/>
                <a:ea typeface="Cambria" pitchFamily="34" charset="-122"/>
                <a:cs typeface="Cambria" pitchFamily="34" charset="-120"/>
              </a:rPr>
              <a:t>When</a:t>
            </a:r>
            <a:endParaRPr lang="en-US" sz="2000" dirty="0"/>
          </a:p>
        </p:txBody>
      </p:sp>
      <p:sp>
        <p:nvSpPr>
          <p:cNvPr id="19" name="Text 17"/>
          <p:cNvSpPr txBox="1"/>
          <p:nvPr/>
        </p:nvSpPr>
        <p:spPr>
          <a:xfrm>
            <a:off x="7650328" y="3410712"/>
            <a:ext cx="3581248" cy="566928"/>
          </a:xfrm>
          <a:prstGeom prst="rect">
            <a:avLst/>
          </a:prstGeom>
          <a:noFill/>
          <a:ln/>
        </p:spPr>
        <p:txBody>
          <a:bodyPr wrap="square" lIns="0" tIns="0" rIns="0" bIns="0" rtlCol="0" anchor="ctr"/>
          <a:lstStyle/>
          <a:p>
            <a:pPr indent="0" marL="0">
              <a:buNone/>
            </a:pPr>
            <a:r>
              <a:rPr lang="en-US" sz="1700" dirty="0">
                <a:solidFill>
                  <a:srgbClr val="1C1A19"/>
                </a:solidFill>
                <a:latin typeface="Calibri" pitchFamily="34" charset="0"/>
                <a:ea typeface="Calibri" pitchFamily="34" charset="-122"/>
                <a:cs typeface="Calibri" pitchFamily="34" charset="-120"/>
              </a:rPr>
              <a:t>I ask for directions</a:t>
            </a:r>
            <a:endParaRPr lang="en-US" sz="1700" dirty="0"/>
          </a:p>
        </p:txBody>
      </p:sp>
      <p:sp>
        <p:nvSpPr>
          <p:cNvPr id="20" name="Text 18"/>
          <p:cNvSpPr txBox="1"/>
          <p:nvPr/>
        </p:nvSpPr>
        <p:spPr>
          <a:xfrm>
            <a:off x="6598768" y="4123944"/>
            <a:ext cx="1051560" cy="566928"/>
          </a:xfrm>
          <a:prstGeom prst="rect">
            <a:avLst/>
          </a:prstGeom>
          <a:noFill/>
          <a:ln/>
        </p:spPr>
        <p:txBody>
          <a:bodyPr wrap="square" lIns="0" tIns="0" rIns="0" bIns="0" rtlCol="0" anchor="ctr"/>
          <a:lstStyle/>
          <a:p>
            <a:pPr indent="0" marL="0">
              <a:buNone/>
            </a:pPr>
            <a:r>
              <a:rPr lang="en-US" sz="2000" b="1" dirty="0">
                <a:solidFill>
                  <a:srgbClr val="CF4420"/>
                </a:solidFill>
                <a:latin typeface="Cambria" pitchFamily="34" charset="0"/>
                <a:ea typeface="Cambria" pitchFamily="34" charset="-122"/>
                <a:cs typeface="Cambria" pitchFamily="34" charset="-120"/>
              </a:rPr>
              <a:t>Then</a:t>
            </a:r>
            <a:endParaRPr lang="en-US" sz="2000" dirty="0"/>
          </a:p>
        </p:txBody>
      </p:sp>
      <p:sp>
        <p:nvSpPr>
          <p:cNvPr id="21" name="Text 19"/>
          <p:cNvSpPr txBox="1"/>
          <p:nvPr/>
        </p:nvSpPr>
        <p:spPr>
          <a:xfrm>
            <a:off x="7650328" y="4123944"/>
            <a:ext cx="3581248" cy="566928"/>
          </a:xfrm>
          <a:prstGeom prst="rect">
            <a:avLst/>
          </a:prstGeom>
          <a:noFill/>
          <a:ln/>
        </p:spPr>
        <p:txBody>
          <a:bodyPr wrap="square" lIns="0" tIns="0" rIns="0" bIns="0" rtlCol="0" anchor="ctr"/>
          <a:lstStyle/>
          <a:p>
            <a:pPr indent="0" marL="0">
              <a:buNone/>
            </a:pPr>
            <a:r>
              <a:rPr lang="en-US" sz="1700" dirty="0">
                <a:solidFill>
                  <a:srgbClr val="1C1A19"/>
                </a:solidFill>
                <a:latin typeface="Calibri" pitchFamily="34" charset="0"/>
                <a:ea typeface="Calibri" pitchFamily="34" charset="-122"/>
                <a:cs typeface="Calibri" pitchFamily="34" charset="-120"/>
              </a:rPr>
              <a:t>it routes me around the crowd</a:t>
            </a:r>
            <a:endParaRPr lang="en-US" sz="1700" dirty="0"/>
          </a:p>
        </p:txBody>
      </p:sp>
      <p:sp>
        <p:nvSpPr>
          <p:cNvPr id="22" name="Shape 20"/>
          <p:cNvSpPr/>
          <p:nvPr/>
        </p:nvSpPr>
        <p:spPr>
          <a:xfrm>
            <a:off x="640080" y="5212080"/>
            <a:ext cx="10911535" cy="914400"/>
          </a:xfrm>
          <a:prstGeom prst="roundRect">
            <a:avLst>
              <a:gd name="adj" fmla="val 9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3" name="Text 21"/>
          <p:cNvSpPr txBox="1"/>
          <p:nvPr/>
        </p:nvSpPr>
        <p:spPr>
          <a:xfrm>
            <a:off x="960120" y="5212080"/>
            <a:ext cx="10271455" cy="914400"/>
          </a:xfrm>
          <a:prstGeom prst="rect">
            <a:avLst/>
          </a:prstGeom>
          <a:noFill/>
          <a:ln/>
        </p:spPr>
        <p:txBody>
          <a:bodyPr wrap="square" lIns="0" tIns="0" rIns="0" bIns="0" rtlCol="0" anchor="ctr"/>
          <a:lstStyle/>
          <a:p>
            <a:pPr indent="0" marL="0">
              <a:lnSpc>
                <a:spcPts val="2200"/>
              </a:lnSpc>
              <a:buNone/>
            </a:pPr>
            <a:r>
              <a:rPr lang="en-US" sz="1600" b="1" dirty="0">
                <a:solidFill>
                  <a:srgbClr val="630031"/>
                </a:solidFill>
                <a:latin typeface="Calibri" pitchFamily="34" charset="0"/>
                <a:ea typeface="Calibri" pitchFamily="34" charset="-122"/>
                <a:cs typeface="Calibri" pitchFamily="34" charset="-120"/>
              </a:rPr>
              <a:t>Remember your QA reports? </a:t>
            </a:r>
            <a:pPr indent="0" marL="0">
              <a:lnSpc>
                <a:spcPts val="2200"/>
              </a:lnSpc>
              <a:buNone/>
            </a:pPr>
            <a:r>
              <a:rPr lang="en-US" sz="1600" dirty="0">
                <a:solidFill>
                  <a:srgbClr val="1C1A19"/>
                </a:solidFill>
                <a:latin typeface="Calibri" pitchFamily="34" charset="0"/>
                <a:ea typeface="Calibri" pitchFamily="34" charset="-122"/>
                <a:cs typeface="Calibri" pitchFamily="34" charset="-120"/>
              </a:rPr>
              <a:t>Every bug you found was a bad day that nobody wrote down. Write it as a scenario, and the team knows exactly what fixed looks like.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DEFINITION OF DONE</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When is a story done?</a:t>
            </a:r>
            <a:endParaRPr lang="en-US" sz="3400" dirty="0"/>
          </a:p>
        </p:txBody>
      </p:sp>
      <p:sp>
        <p:nvSpPr>
          <p:cNvPr id="4" name="Shape 2"/>
          <p:cNvSpPr/>
          <p:nvPr/>
        </p:nvSpPr>
        <p:spPr>
          <a:xfrm>
            <a:off x="640080" y="1691640"/>
            <a:ext cx="10911535" cy="786384"/>
          </a:xfrm>
          <a:prstGeom prst="roundRect">
            <a:avLst>
              <a:gd name="adj" fmla="val 1046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914400" y="1874520"/>
            <a:ext cx="420624" cy="420624"/>
          </a:xfrm>
          <a:prstGeom prst="roundRect">
            <a:avLst>
              <a:gd name="adj" fmla="val 13043"/>
            </a:avLst>
          </a:prstGeom>
          <a:solidFill>
            <a:srgbClr val="FFFFFF"/>
          </a:solidFill>
          <a:ln w="25400">
            <a:solidFill>
              <a:srgbClr val="2E6B4A"/>
            </a:solidFill>
            <a:prstDash val="solid"/>
          </a:ln>
        </p:spPr>
      </p:sp>
      <p:sp>
        <p:nvSpPr>
          <p:cNvPr id="6" name="Text 4"/>
          <p:cNvSpPr txBox="1"/>
          <p:nvPr/>
        </p:nvSpPr>
        <p:spPr>
          <a:xfrm>
            <a:off x="914400" y="1874520"/>
            <a:ext cx="420624" cy="420624"/>
          </a:xfrm>
          <a:prstGeom prst="rect">
            <a:avLst/>
          </a:prstGeom>
          <a:noFill/>
          <a:ln/>
        </p:spPr>
        <p:txBody>
          <a:bodyPr wrap="square" lIns="0" tIns="0" rIns="0" bIns="0" rtlCol="0" anchor="ctr"/>
          <a:lstStyle/>
          <a:p>
            <a:pPr algn="ctr" indent="0" marL="0">
              <a:buNone/>
            </a:pPr>
            <a:r>
              <a:rPr lang="en-US" sz="1800" b="1" dirty="0">
                <a:solidFill>
                  <a:srgbClr val="2E6B4A"/>
                </a:solidFill>
                <a:latin typeface="Calibri" pitchFamily="34" charset="0"/>
                <a:ea typeface="Calibri" pitchFamily="34" charset="-122"/>
                <a:cs typeface="Calibri" pitchFamily="34" charset="-120"/>
              </a:rPr>
              <a:t>✓</a:t>
            </a:r>
            <a:endParaRPr lang="en-US" sz="1800" dirty="0"/>
          </a:p>
        </p:txBody>
      </p:sp>
      <p:sp>
        <p:nvSpPr>
          <p:cNvPr id="7" name="Text 5"/>
          <p:cNvSpPr txBox="1"/>
          <p:nvPr/>
        </p:nvSpPr>
        <p:spPr>
          <a:xfrm>
            <a:off x="1554480" y="1691640"/>
            <a:ext cx="3108960" cy="786384"/>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Who, what and why</a:t>
            </a:r>
            <a:endParaRPr lang="en-US" sz="2000" dirty="0"/>
          </a:p>
        </p:txBody>
      </p:sp>
      <p:sp>
        <p:nvSpPr>
          <p:cNvPr id="8" name="Text 6"/>
          <p:cNvSpPr txBox="1"/>
          <p:nvPr/>
        </p:nvSpPr>
        <p:spPr>
          <a:xfrm>
            <a:off x="4754880" y="1691640"/>
            <a:ext cx="6522415" cy="786384"/>
          </a:xfrm>
          <a:prstGeom prst="rect">
            <a:avLst/>
          </a:prstGeom>
          <a:noFill/>
          <a:ln/>
        </p:spPr>
        <p:txBody>
          <a:bodyPr wrap="square" lIns="0" tIns="0" rIns="0" bIns="0" rtlCol="0" anchor="ctr"/>
          <a:lstStyle/>
          <a:p>
            <a:pPr indent="0" marL="0">
              <a:buNone/>
            </a:pPr>
            <a:r>
              <a:rPr lang="en-US" sz="1600" dirty="0">
                <a:solidFill>
                  <a:srgbClr val="1C1A19"/>
                </a:solidFill>
                <a:latin typeface="Calibri" pitchFamily="34" charset="0"/>
                <a:ea typeface="Calibri" pitchFamily="34" charset="-122"/>
                <a:cs typeface="Calibri" pitchFamily="34" charset="-120"/>
              </a:rPr>
              <a:t>The As a, I want to, so I can sentence is complete.</a:t>
            </a:r>
            <a:endParaRPr lang="en-US" sz="1600" dirty="0"/>
          </a:p>
        </p:txBody>
      </p:sp>
      <p:sp>
        <p:nvSpPr>
          <p:cNvPr id="9" name="Shape 7"/>
          <p:cNvSpPr/>
          <p:nvPr/>
        </p:nvSpPr>
        <p:spPr>
          <a:xfrm>
            <a:off x="640080" y="2624328"/>
            <a:ext cx="10911535" cy="786384"/>
          </a:xfrm>
          <a:prstGeom prst="roundRect">
            <a:avLst>
              <a:gd name="adj" fmla="val 1046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0" name="Shape 8"/>
          <p:cNvSpPr/>
          <p:nvPr/>
        </p:nvSpPr>
        <p:spPr>
          <a:xfrm>
            <a:off x="914400" y="2807208"/>
            <a:ext cx="420624" cy="420624"/>
          </a:xfrm>
          <a:prstGeom prst="roundRect">
            <a:avLst>
              <a:gd name="adj" fmla="val 13043"/>
            </a:avLst>
          </a:prstGeom>
          <a:solidFill>
            <a:srgbClr val="FFFFFF"/>
          </a:solidFill>
          <a:ln w="25400">
            <a:solidFill>
              <a:srgbClr val="2E6B4A"/>
            </a:solidFill>
            <a:prstDash val="solid"/>
          </a:ln>
        </p:spPr>
      </p:sp>
      <p:sp>
        <p:nvSpPr>
          <p:cNvPr id="11" name="Text 9"/>
          <p:cNvSpPr txBox="1"/>
          <p:nvPr/>
        </p:nvSpPr>
        <p:spPr>
          <a:xfrm>
            <a:off x="914400" y="2807208"/>
            <a:ext cx="420624" cy="420624"/>
          </a:xfrm>
          <a:prstGeom prst="rect">
            <a:avLst/>
          </a:prstGeom>
          <a:noFill/>
          <a:ln/>
        </p:spPr>
        <p:txBody>
          <a:bodyPr wrap="square" lIns="0" tIns="0" rIns="0" bIns="0" rtlCol="0" anchor="ctr"/>
          <a:lstStyle/>
          <a:p>
            <a:pPr algn="ctr" indent="0" marL="0">
              <a:buNone/>
            </a:pPr>
            <a:r>
              <a:rPr lang="en-US" sz="1800" b="1" dirty="0">
                <a:solidFill>
                  <a:srgbClr val="2E6B4A"/>
                </a:solidFill>
                <a:latin typeface="Calibri" pitchFamily="34" charset="0"/>
                <a:ea typeface="Calibri" pitchFamily="34" charset="-122"/>
                <a:cs typeface="Calibri" pitchFamily="34" charset="-120"/>
              </a:rPr>
              <a:t>✓</a:t>
            </a:r>
            <a:endParaRPr lang="en-US" sz="1800" dirty="0"/>
          </a:p>
        </p:txBody>
      </p:sp>
      <p:sp>
        <p:nvSpPr>
          <p:cNvPr id="12" name="Text 10"/>
          <p:cNvSpPr txBox="1"/>
          <p:nvPr/>
        </p:nvSpPr>
        <p:spPr>
          <a:xfrm>
            <a:off x="1554480" y="2624328"/>
            <a:ext cx="3108960" cy="786384"/>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At least 2 checks</a:t>
            </a:r>
            <a:endParaRPr lang="en-US" sz="2000" dirty="0"/>
          </a:p>
        </p:txBody>
      </p:sp>
      <p:sp>
        <p:nvSpPr>
          <p:cNvPr id="13" name="Text 11"/>
          <p:cNvSpPr txBox="1"/>
          <p:nvPr/>
        </p:nvSpPr>
        <p:spPr>
          <a:xfrm>
            <a:off x="4754880" y="2624328"/>
            <a:ext cx="6522415" cy="786384"/>
          </a:xfrm>
          <a:prstGeom prst="rect">
            <a:avLst/>
          </a:prstGeom>
          <a:noFill/>
          <a:ln/>
        </p:spPr>
        <p:txBody>
          <a:bodyPr wrap="square" lIns="0" tIns="0" rIns="0" bIns="0" rtlCol="0" anchor="ctr"/>
          <a:lstStyle/>
          <a:p>
            <a:pPr indent="0" marL="0">
              <a:buNone/>
            </a:pPr>
            <a:r>
              <a:rPr lang="en-US" sz="1600" dirty="0">
                <a:solidFill>
                  <a:srgbClr val="1C1A19"/>
                </a:solidFill>
                <a:latin typeface="Calibri" pitchFamily="34" charset="0"/>
                <a:ea typeface="Calibri" pitchFamily="34" charset="-122"/>
                <a:cs typeface="Calibri" pitchFamily="34" charset="-120"/>
              </a:rPr>
              <a:t>Acceptance criteria you could answer yes or no.</a:t>
            </a:r>
            <a:endParaRPr lang="en-US" sz="1600" dirty="0"/>
          </a:p>
        </p:txBody>
      </p:sp>
      <p:sp>
        <p:nvSpPr>
          <p:cNvPr id="14" name="Shape 12"/>
          <p:cNvSpPr/>
          <p:nvPr/>
        </p:nvSpPr>
        <p:spPr>
          <a:xfrm>
            <a:off x="640080" y="3557016"/>
            <a:ext cx="10911535" cy="786384"/>
          </a:xfrm>
          <a:prstGeom prst="roundRect">
            <a:avLst>
              <a:gd name="adj" fmla="val 1046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5" name="Shape 13"/>
          <p:cNvSpPr/>
          <p:nvPr/>
        </p:nvSpPr>
        <p:spPr>
          <a:xfrm>
            <a:off x="914400" y="3739896"/>
            <a:ext cx="420624" cy="420624"/>
          </a:xfrm>
          <a:prstGeom prst="roundRect">
            <a:avLst>
              <a:gd name="adj" fmla="val 13043"/>
            </a:avLst>
          </a:prstGeom>
          <a:solidFill>
            <a:srgbClr val="FFFFFF"/>
          </a:solidFill>
          <a:ln w="25400">
            <a:solidFill>
              <a:srgbClr val="2E6B4A"/>
            </a:solidFill>
            <a:prstDash val="solid"/>
          </a:ln>
        </p:spPr>
      </p:sp>
      <p:sp>
        <p:nvSpPr>
          <p:cNvPr id="16" name="Text 14"/>
          <p:cNvSpPr txBox="1"/>
          <p:nvPr/>
        </p:nvSpPr>
        <p:spPr>
          <a:xfrm>
            <a:off x="914400" y="3739896"/>
            <a:ext cx="420624" cy="420624"/>
          </a:xfrm>
          <a:prstGeom prst="rect">
            <a:avLst/>
          </a:prstGeom>
          <a:noFill/>
          <a:ln/>
        </p:spPr>
        <p:txBody>
          <a:bodyPr wrap="square" lIns="0" tIns="0" rIns="0" bIns="0" rtlCol="0" anchor="ctr"/>
          <a:lstStyle/>
          <a:p>
            <a:pPr algn="ctr" indent="0" marL="0">
              <a:buNone/>
            </a:pPr>
            <a:r>
              <a:rPr lang="en-US" sz="1800" b="1" dirty="0">
                <a:solidFill>
                  <a:srgbClr val="2E6B4A"/>
                </a:solidFill>
                <a:latin typeface="Calibri" pitchFamily="34" charset="0"/>
                <a:ea typeface="Calibri" pitchFamily="34" charset="-122"/>
                <a:cs typeface="Calibri" pitchFamily="34" charset="-120"/>
              </a:rPr>
              <a:t>✓</a:t>
            </a:r>
            <a:endParaRPr lang="en-US" sz="1800" dirty="0"/>
          </a:p>
        </p:txBody>
      </p:sp>
      <p:sp>
        <p:nvSpPr>
          <p:cNvPr id="17" name="Text 15"/>
          <p:cNvSpPr txBox="1"/>
          <p:nvPr/>
        </p:nvSpPr>
        <p:spPr>
          <a:xfrm>
            <a:off x="1554480" y="3557016"/>
            <a:ext cx="3108960" cy="786384"/>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A happy path</a:t>
            </a:r>
            <a:endParaRPr lang="en-US" sz="2000" dirty="0"/>
          </a:p>
        </p:txBody>
      </p:sp>
      <p:sp>
        <p:nvSpPr>
          <p:cNvPr id="18" name="Text 16"/>
          <p:cNvSpPr txBox="1"/>
          <p:nvPr/>
        </p:nvSpPr>
        <p:spPr>
          <a:xfrm>
            <a:off x="4754880" y="3557016"/>
            <a:ext cx="6522415" cy="786384"/>
          </a:xfrm>
          <a:prstGeom prst="rect">
            <a:avLst/>
          </a:prstGeom>
          <a:noFill/>
          <a:ln/>
        </p:spPr>
        <p:txBody>
          <a:bodyPr wrap="square" lIns="0" tIns="0" rIns="0" bIns="0" rtlCol="0" anchor="ctr"/>
          <a:lstStyle/>
          <a:p>
            <a:pPr indent="0" marL="0">
              <a:buNone/>
            </a:pPr>
            <a:r>
              <a:rPr lang="en-US" sz="1600" dirty="0">
                <a:solidFill>
                  <a:srgbClr val="1C1A19"/>
                </a:solidFill>
                <a:latin typeface="Calibri" pitchFamily="34" charset="0"/>
                <a:ea typeface="Calibri" pitchFamily="34" charset="-122"/>
                <a:cs typeface="Calibri" pitchFamily="34" charset="-120"/>
              </a:rPr>
              <a:t>One Given, When, Then where everything goes right.</a:t>
            </a:r>
            <a:endParaRPr lang="en-US" sz="1600" dirty="0"/>
          </a:p>
        </p:txBody>
      </p:sp>
      <p:sp>
        <p:nvSpPr>
          <p:cNvPr id="19" name="Shape 17"/>
          <p:cNvSpPr/>
          <p:nvPr/>
        </p:nvSpPr>
        <p:spPr>
          <a:xfrm>
            <a:off x="640080" y="4489704"/>
            <a:ext cx="10911535" cy="786384"/>
          </a:xfrm>
          <a:prstGeom prst="roundRect">
            <a:avLst>
              <a:gd name="adj" fmla="val 1046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0" name="Shape 18"/>
          <p:cNvSpPr/>
          <p:nvPr/>
        </p:nvSpPr>
        <p:spPr>
          <a:xfrm>
            <a:off x="914400" y="4672584"/>
            <a:ext cx="420624" cy="420624"/>
          </a:xfrm>
          <a:prstGeom prst="roundRect">
            <a:avLst>
              <a:gd name="adj" fmla="val 13043"/>
            </a:avLst>
          </a:prstGeom>
          <a:solidFill>
            <a:srgbClr val="FFFFFF"/>
          </a:solidFill>
          <a:ln w="25400">
            <a:solidFill>
              <a:srgbClr val="2E6B4A"/>
            </a:solidFill>
            <a:prstDash val="solid"/>
          </a:ln>
        </p:spPr>
      </p:sp>
      <p:sp>
        <p:nvSpPr>
          <p:cNvPr id="21" name="Text 19"/>
          <p:cNvSpPr txBox="1"/>
          <p:nvPr/>
        </p:nvSpPr>
        <p:spPr>
          <a:xfrm>
            <a:off x="914400" y="4672584"/>
            <a:ext cx="420624" cy="420624"/>
          </a:xfrm>
          <a:prstGeom prst="rect">
            <a:avLst/>
          </a:prstGeom>
          <a:noFill/>
          <a:ln/>
        </p:spPr>
        <p:txBody>
          <a:bodyPr wrap="square" lIns="0" tIns="0" rIns="0" bIns="0" rtlCol="0" anchor="ctr"/>
          <a:lstStyle/>
          <a:p>
            <a:pPr algn="ctr" indent="0" marL="0">
              <a:buNone/>
            </a:pPr>
            <a:r>
              <a:rPr lang="en-US" sz="1800" b="1" dirty="0">
                <a:solidFill>
                  <a:srgbClr val="2E6B4A"/>
                </a:solidFill>
                <a:latin typeface="Calibri" pitchFamily="34" charset="0"/>
                <a:ea typeface="Calibri" pitchFamily="34" charset="-122"/>
                <a:cs typeface="Calibri" pitchFamily="34" charset="-120"/>
              </a:rPr>
              <a:t>✓</a:t>
            </a:r>
            <a:endParaRPr lang="en-US" sz="1800" dirty="0"/>
          </a:p>
        </p:txBody>
      </p:sp>
      <p:sp>
        <p:nvSpPr>
          <p:cNvPr id="22" name="Text 20"/>
          <p:cNvSpPr txBox="1"/>
          <p:nvPr/>
        </p:nvSpPr>
        <p:spPr>
          <a:xfrm>
            <a:off x="1554480" y="4489704"/>
            <a:ext cx="3108960" cy="786384"/>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A bad day</a:t>
            </a:r>
            <a:endParaRPr lang="en-US" sz="2000" dirty="0"/>
          </a:p>
        </p:txBody>
      </p:sp>
      <p:sp>
        <p:nvSpPr>
          <p:cNvPr id="23" name="Text 21"/>
          <p:cNvSpPr txBox="1"/>
          <p:nvPr/>
        </p:nvSpPr>
        <p:spPr>
          <a:xfrm>
            <a:off x="4754880" y="4489704"/>
            <a:ext cx="6522415" cy="786384"/>
          </a:xfrm>
          <a:prstGeom prst="rect">
            <a:avLst/>
          </a:prstGeom>
          <a:noFill/>
          <a:ln/>
        </p:spPr>
        <p:txBody>
          <a:bodyPr wrap="square" lIns="0" tIns="0" rIns="0" bIns="0" rtlCol="0" anchor="ctr"/>
          <a:lstStyle/>
          <a:p>
            <a:pPr indent="0" marL="0">
              <a:buNone/>
            </a:pPr>
            <a:r>
              <a:rPr lang="en-US" sz="1600" dirty="0">
                <a:solidFill>
                  <a:srgbClr val="1C1A19"/>
                </a:solidFill>
                <a:latin typeface="Calibri" pitchFamily="34" charset="0"/>
                <a:ea typeface="Calibri" pitchFamily="34" charset="-122"/>
                <a:cs typeface="Calibri" pitchFamily="34" charset="-120"/>
              </a:rPr>
              <a:t>One Given, When, Then where something goes wrong, and what the app does about it.</a:t>
            </a:r>
            <a:endParaRPr lang="en-US" sz="1600" dirty="0"/>
          </a:p>
        </p:txBody>
      </p:sp>
      <p:sp>
        <p:nvSpPr>
          <p:cNvPr id="24" name="Text 22"/>
          <p:cNvSpPr txBox="1"/>
          <p:nvPr/>
        </p:nvSpPr>
        <p:spPr>
          <a:xfrm>
            <a:off x="640080" y="5532120"/>
            <a:ext cx="10911535" cy="548640"/>
          </a:xfrm>
          <a:prstGeom prst="rect">
            <a:avLst/>
          </a:prstGeom>
          <a:noFill/>
          <a:ln/>
        </p:spPr>
        <p:txBody>
          <a:bodyPr wrap="square" lIns="0" tIns="0" rIns="0" bIns="0" rtlCol="0" anchor="t"/>
          <a:lstStyle/>
          <a:p>
            <a:pPr indent="0" marL="0">
              <a:lnSpc>
                <a:spcPts val="2200"/>
              </a:lnSpc>
              <a:buNone/>
            </a:pPr>
            <a:r>
              <a:rPr lang="en-US" sz="1800" b="1" dirty="0">
                <a:solidFill>
                  <a:srgbClr val="CF4420"/>
                </a:solidFill>
                <a:latin typeface="Calibri" pitchFamily="34" charset="0"/>
                <a:ea typeface="Calibri" pitchFamily="34" charset="-122"/>
                <a:cs typeface="Calibri" pitchFamily="34" charset="-120"/>
              </a:rPr>
              <a:t>Launch Pad now shows this checklist on every story. A story with all four ticks is done.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C1A19"/>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310896"/>
          </a:xfrm>
          <a:prstGeom prst="rect">
            <a:avLst/>
          </a:prstGeom>
          <a:noFill/>
          <a:ln/>
        </p:spPr>
        <p:txBody>
          <a:bodyPr wrap="square" lIns="0" tIns="0" rIns="0" bIns="0" rtlCol="0" anchor="ctr"/>
          <a:lstStyle/>
          <a:p>
            <a:pPr indent="0" marL="0">
              <a:buNone/>
            </a:pPr>
            <a:r>
              <a:rPr lang="en-US" sz="1300" b="1" spc="300" kern="0" dirty="0">
                <a:solidFill>
                  <a:srgbClr val="CF4420"/>
                </a:solidFill>
                <a:latin typeface="Calibri" pitchFamily="34" charset="0"/>
                <a:ea typeface="Calibri" pitchFamily="34" charset="-122"/>
                <a:cs typeface="Calibri" pitchFamily="34" charset="-120"/>
              </a:rPr>
              <a:t>YOUR TURN  ·  ABOUT 25 MINUTES</a:t>
            </a:r>
            <a:endParaRPr lang="en-US" sz="1300" dirty="0"/>
          </a:p>
        </p:txBody>
      </p:sp>
      <p:sp>
        <p:nvSpPr>
          <p:cNvPr id="3" name="Text 1"/>
          <p:cNvSpPr txBox="1"/>
          <p:nvPr/>
        </p:nvSpPr>
        <p:spPr>
          <a:xfrm>
            <a:off x="640080" y="896112"/>
            <a:ext cx="10911535"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Get your stories to Done</a:t>
            </a:r>
            <a:endParaRPr lang="en-US" sz="3600" dirty="0"/>
          </a:p>
        </p:txBody>
      </p:sp>
      <p:sp>
        <p:nvSpPr>
          <p:cNvPr id="4" name="Shape 2"/>
          <p:cNvSpPr/>
          <p:nvPr/>
        </p:nvSpPr>
        <p:spPr>
          <a:xfrm>
            <a:off x="640080" y="1929384"/>
            <a:ext cx="457200" cy="457200"/>
          </a:xfrm>
          <a:prstGeom prst="ellipse">
            <a:avLst/>
          </a:prstGeom>
          <a:solidFill>
            <a:srgbClr val="CF4420"/>
          </a:solidFill>
          <a:ln w="12700">
            <a:solidFill>
              <a:srgbClr val="333333"/>
            </a:solidFill>
            <a:prstDash val="solid"/>
          </a:ln>
        </p:spPr>
      </p:sp>
      <p:sp>
        <p:nvSpPr>
          <p:cNvPr id="5" name="Text 3"/>
          <p:cNvSpPr txBox="1"/>
          <p:nvPr/>
        </p:nvSpPr>
        <p:spPr>
          <a:xfrm>
            <a:off x="640080" y="19293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325880" y="1874520"/>
            <a:ext cx="283464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Open Launch Pad</a:t>
            </a:r>
            <a:endParaRPr lang="en-US" sz="1900" dirty="0"/>
          </a:p>
        </p:txBody>
      </p:sp>
      <p:sp>
        <p:nvSpPr>
          <p:cNvPr id="7" name="Text 5"/>
          <p:cNvSpPr txBox="1"/>
          <p:nvPr/>
        </p:nvSpPr>
        <p:spPr>
          <a:xfrm>
            <a:off x="4160520" y="1874520"/>
            <a:ext cx="7391095" cy="566928"/>
          </a:xfrm>
          <a:prstGeom prst="rect">
            <a:avLst/>
          </a:prstGeom>
          <a:noFill/>
          <a:ln/>
        </p:spPr>
        <p:txBody>
          <a:bodyPr wrap="square" lIns="0" tIns="0" rIns="0" bIns="0" rtlCol="0" anchor="ctr"/>
          <a:lstStyle/>
          <a:p>
            <a:pPr indent="0" marL="0">
              <a:buNone/>
            </a:pPr>
            <a:r>
              <a:rPr lang="en-US" sz="1700" dirty="0">
                <a:solidFill>
                  <a:srgbClr val="D9D6D2"/>
                </a:solidFill>
                <a:latin typeface="Calibri" pitchFamily="34" charset="0"/>
                <a:ea typeface="Calibri" pitchFamily="34" charset="-122"/>
                <a:cs typeface="Calibri" pitchFamily="34" charset="-120"/>
              </a:rPr>
              <a:t>Find your team, then go to Stories.</a:t>
            </a:r>
            <a:endParaRPr lang="en-US" sz="1700" dirty="0"/>
          </a:p>
        </p:txBody>
      </p:sp>
      <p:sp>
        <p:nvSpPr>
          <p:cNvPr id="8" name="Shape 6"/>
          <p:cNvSpPr/>
          <p:nvPr/>
        </p:nvSpPr>
        <p:spPr>
          <a:xfrm>
            <a:off x="640080" y="2606040"/>
            <a:ext cx="457200" cy="457200"/>
          </a:xfrm>
          <a:prstGeom prst="ellipse">
            <a:avLst/>
          </a:prstGeom>
          <a:solidFill>
            <a:srgbClr val="CF4420"/>
          </a:solidFill>
          <a:ln w="12700">
            <a:solidFill>
              <a:srgbClr val="333333"/>
            </a:solidFill>
            <a:prstDash val="solid"/>
          </a:ln>
        </p:spPr>
      </p:sp>
      <p:sp>
        <p:nvSpPr>
          <p:cNvPr id="9" name="Text 7"/>
          <p:cNvSpPr txBox="1"/>
          <p:nvPr/>
        </p:nvSpPr>
        <p:spPr>
          <a:xfrm>
            <a:off x="640080" y="2606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325880" y="2551176"/>
            <a:ext cx="283464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Add 2 checks</a:t>
            </a:r>
            <a:endParaRPr lang="en-US" sz="1900" dirty="0"/>
          </a:p>
        </p:txBody>
      </p:sp>
      <p:sp>
        <p:nvSpPr>
          <p:cNvPr id="11" name="Text 9"/>
          <p:cNvSpPr txBox="1"/>
          <p:nvPr/>
        </p:nvSpPr>
        <p:spPr>
          <a:xfrm>
            <a:off x="4160520" y="2551176"/>
            <a:ext cx="7391095" cy="566928"/>
          </a:xfrm>
          <a:prstGeom prst="rect">
            <a:avLst/>
          </a:prstGeom>
          <a:noFill/>
          <a:ln/>
        </p:spPr>
        <p:txBody>
          <a:bodyPr wrap="square" lIns="0" tIns="0" rIns="0" bIns="0" rtlCol="0" anchor="ctr"/>
          <a:lstStyle/>
          <a:p>
            <a:pPr indent="0" marL="0">
              <a:buNone/>
            </a:pPr>
            <a:r>
              <a:rPr lang="en-US" sz="1700" dirty="0">
                <a:solidFill>
                  <a:srgbClr val="D9D6D2"/>
                </a:solidFill>
                <a:latin typeface="Calibri" pitchFamily="34" charset="0"/>
                <a:ea typeface="Calibri" pitchFamily="34" charset="-122"/>
                <a:cs typeface="Calibri" pitchFamily="34" charset="-120"/>
              </a:rPr>
              <a:t>Under each story: how would you know it works?</a:t>
            </a:r>
            <a:endParaRPr lang="en-US" sz="1700" dirty="0"/>
          </a:p>
        </p:txBody>
      </p:sp>
      <p:sp>
        <p:nvSpPr>
          <p:cNvPr id="12" name="Shape 10"/>
          <p:cNvSpPr/>
          <p:nvPr/>
        </p:nvSpPr>
        <p:spPr>
          <a:xfrm>
            <a:off x="640080" y="3282696"/>
            <a:ext cx="457200" cy="457200"/>
          </a:xfrm>
          <a:prstGeom prst="ellipse">
            <a:avLst/>
          </a:prstGeom>
          <a:solidFill>
            <a:srgbClr val="CF4420"/>
          </a:solidFill>
          <a:ln w="12700">
            <a:solidFill>
              <a:srgbClr val="333333"/>
            </a:solidFill>
            <a:prstDash val="solid"/>
          </a:ln>
        </p:spPr>
      </p:sp>
      <p:sp>
        <p:nvSpPr>
          <p:cNvPr id="13" name="Text 11"/>
          <p:cNvSpPr txBox="1"/>
          <p:nvPr/>
        </p:nvSpPr>
        <p:spPr>
          <a:xfrm>
            <a:off x="640080" y="32826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325880" y="3227832"/>
            <a:ext cx="283464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Write a happy path</a:t>
            </a:r>
            <a:endParaRPr lang="en-US" sz="1900" dirty="0"/>
          </a:p>
        </p:txBody>
      </p:sp>
      <p:sp>
        <p:nvSpPr>
          <p:cNvPr id="15" name="Text 13"/>
          <p:cNvSpPr txBox="1"/>
          <p:nvPr/>
        </p:nvSpPr>
        <p:spPr>
          <a:xfrm>
            <a:off x="4160520" y="3227832"/>
            <a:ext cx="7391095" cy="566928"/>
          </a:xfrm>
          <a:prstGeom prst="rect">
            <a:avLst/>
          </a:prstGeom>
          <a:noFill/>
          <a:ln/>
        </p:spPr>
        <p:txBody>
          <a:bodyPr wrap="square" lIns="0" tIns="0" rIns="0" bIns="0" rtlCol="0" anchor="ctr"/>
          <a:lstStyle/>
          <a:p>
            <a:pPr indent="0" marL="0">
              <a:buNone/>
            </a:pPr>
            <a:r>
              <a:rPr lang="en-US" sz="1700" dirty="0">
                <a:solidFill>
                  <a:srgbClr val="D9D6D2"/>
                </a:solidFill>
                <a:latin typeface="Calibri" pitchFamily="34" charset="0"/>
                <a:ea typeface="Calibri" pitchFamily="34" charset="-122"/>
                <a:cs typeface="Calibri" pitchFamily="34" charset="-120"/>
              </a:rPr>
              <a:t>In the Scenarios section: Given, When, Then.</a:t>
            </a:r>
            <a:endParaRPr lang="en-US" sz="1700" dirty="0"/>
          </a:p>
        </p:txBody>
      </p:sp>
      <p:sp>
        <p:nvSpPr>
          <p:cNvPr id="16" name="Shape 14"/>
          <p:cNvSpPr/>
          <p:nvPr/>
        </p:nvSpPr>
        <p:spPr>
          <a:xfrm>
            <a:off x="640080" y="3959352"/>
            <a:ext cx="457200" cy="457200"/>
          </a:xfrm>
          <a:prstGeom prst="ellipse">
            <a:avLst/>
          </a:prstGeom>
          <a:solidFill>
            <a:srgbClr val="CF4420"/>
          </a:solidFill>
          <a:ln w="12700">
            <a:solidFill>
              <a:srgbClr val="333333"/>
            </a:solidFill>
            <a:prstDash val="solid"/>
          </a:ln>
        </p:spPr>
      </p:sp>
      <p:sp>
        <p:nvSpPr>
          <p:cNvPr id="17" name="Text 15"/>
          <p:cNvSpPr txBox="1"/>
          <p:nvPr/>
        </p:nvSpPr>
        <p:spPr>
          <a:xfrm>
            <a:off x="640080" y="39593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325880" y="3904488"/>
            <a:ext cx="283464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Write a bad day</a:t>
            </a:r>
            <a:endParaRPr lang="en-US" sz="1900" dirty="0"/>
          </a:p>
        </p:txBody>
      </p:sp>
      <p:sp>
        <p:nvSpPr>
          <p:cNvPr id="19" name="Text 17"/>
          <p:cNvSpPr txBox="1"/>
          <p:nvPr/>
        </p:nvSpPr>
        <p:spPr>
          <a:xfrm>
            <a:off x="4160520" y="3904488"/>
            <a:ext cx="7391095" cy="566928"/>
          </a:xfrm>
          <a:prstGeom prst="rect">
            <a:avLst/>
          </a:prstGeom>
          <a:noFill/>
          <a:ln/>
        </p:spPr>
        <p:txBody>
          <a:bodyPr wrap="square" lIns="0" tIns="0" rIns="0" bIns="0" rtlCol="0" anchor="ctr"/>
          <a:lstStyle/>
          <a:p>
            <a:pPr indent="0" marL="0">
              <a:buNone/>
            </a:pPr>
            <a:r>
              <a:rPr lang="en-US" sz="1700" dirty="0">
                <a:solidFill>
                  <a:srgbClr val="D9D6D2"/>
                </a:solidFill>
                <a:latin typeface="Calibri" pitchFamily="34" charset="0"/>
                <a:ea typeface="Calibri" pitchFamily="34" charset="-122"/>
                <a:cs typeface="Calibri" pitchFamily="34" charset="-120"/>
              </a:rPr>
              <a:t>What goes wrong, and what should the app do?</a:t>
            </a:r>
            <a:endParaRPr lang="en-US" sz="1700" dirty="0"/>
          </a:p>
        </p:txBody>
      </p:sp>
      <p:sp>
        <p:nvSpPr>
          <p:cNvPr id="20" name="Shape 18"/>
          <p:cNvSpPr/>
          <p:nvPr/>
        </p:nvSpPr>
        <p:spPr>
          <a:xfrm>
            <a:off x="640080" y="4636008"/>
            <a:ext cx="457200" cy="457200"/>
          </a:xfrm>
          <a:prstGeom prst="ellipse">
            <a:avLst/>
          </a:prstGeom>
          <a:solidFill>
            <a:srgbClr val="CF4420"/>
          </a:solidFill>
          <a:ln w="12700">
            <a:solidFill>
              <a:srgbClr val="333333"/>
            </a:solidFill>
            <a:prstDash val="solid"/>
          </a:ln>
        </p:spPr>
      </p:sp>
      <p:sp>
        <p:nvSpPr>
          <p:cNvPr id="21" name="Text 19"/>
          <p:cNvSpPr txBox="1"/>
          <p:nvPr/>
        </p:nvSpPr>
        <p:spPr>
          <a:xfrm>
            <a:off x="640080" y="46360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1325880" y="4581144"/>
            <a:ext cx="283464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Finished early?</a:t>
            </a:r>
            <a:endParaRPr lang="en-US" sz="1900" dirty="0"/>
          </a:p>
        </p:txBody>
      </p:sp>
      <p:sp>
        <p:nvSpPr>
          <p:cNvPr id="23" name="Text 21"/>
          <p:cNvSpPr txBox="1"/>
          <p:nvPr/>
        </p:nvSpPr>
        <p:spPr>
          <a:xfrm>
            <a:off x="4160520" y="4581144"/>
            <a:ext cx="7391095" cy="566928"/>
          </a:xfrm>
          <a:prstGeom prst="rect">
            <a:avLst/>
          </a:prstGeom>
          <a:noFill/>
          <a:ln/>
        </p:spPr>
        <p:txBody>
          <a:bodyPr wrap="square" lIns="0" tIns="0" rIns="0" bIns="0" rtlCol="0" anchor="ctr"/>
          <a:lstStyle/>
          <a:p>
            <a:pPr indent="0" marL="0">
              <a:buNone/>
            </a:pPr>
            <a:r>
              <a:rPr lang="en-US" sz="1700" dirty="0">
                <a:solidFill>
                  <a:srgbClr val="D9D6D2"/>
                </a:solidFill>
                <a:latin typeface="Calibri" pitchFamily="34" charset="0"/>
                <a:ea typeface="Calibri" pitchFamily="34" charset="-122"/>
                <a:cs typeface="Calibri" pitchFamily="34" charset="-120"/>
              </a:rPr>
              <a:t>Open /play, find a bug about your app, press Turn into a bad day.</a:t>
            </a:r>
            <a:endParaRPr lang="en-US" sz="1700" dirty="0"/>
          </a:p>
        </p:txBody>
      </p:sp>
      <p:sp>
        <p:nvSpPr>
          <p:cNvPr id="24" name="Shape 22"/>
          <p:cNvSpPr/>
          <p:nvPr/>
        </p:nvSpPr>
        <p:spPr>
          <a:xfrm>
            <a:off x="640080" y="5532120"/>
            <a:ext cx="10911535" cy="822960"/>
          </a:xfrm>
          <a:prstGeom prst="roundRect">
            <a:avLst>
              <a:gd name="adj" fmla="val 10000"/>
            </a:avLst>
          </a:prstGeom>
          <a:solidFill>
            <a:srgbClr val="CF4420"/>
          </a:solidFill>
          <a:ln w="12700">
            <a:solidFill>
              <a:srgbClr val="333333"/>
            </a:solidFill>
            <a:prstDash val="solid"/>
          </a:ln>
        </p:spPr>
      </p:sp>
      <p:sp>
        <p:nvSpPr>
          <p:cNvPr id="25" name="Text 23"/>
          <p:cNvSpPr txBox="1"/>
          <p:nvPr/>
        </p:nvSpPr>
        <p:spPr>
          <a:xfrm>
            <a:off x="960120" y="5532120"/>
            <a:ext cx="10271455" cy="8229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Open:  </a:t>
            </a:r>
            <a:pPr indent="0" marL="0">
              <a:buNone/>
            </a:pPr>
            <a:r>
              <a:rPr lang="en-US" sz="2200" b="1" dirty="0">
                <a:solidFill>
                  <a:srgbClr val="FFFFFF"/>
                </a:solidFill>
                <a:latin typeface="Consolas" pitchFamily="34" charset="0"/>
                <a:ea typeface="Consolas" pitchFamily="34" charset="-122"/>
                <a:cs typeface="Consolas" pitchFamily="34" charset="-120"/>
              </a:rPr>
              <a:t>doubleblaze.solutions/trail-crew/launch</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630031"/>
        </a:solidFill>
      </p:bgPr>
    </p:bg>
    <p:spTree>
      <p:nvGrpSpPr>
        <p:cNvPr id="1" name=""/>
        <p:cNvGrpSpPr/>
        <p:nvPr/>
      </p:nvGrpSpPr>
      <p:grpSpPr>
        <a:xfrm>
          <a:off x="0" y="0"/>
          <a:ext cx="0" cy="0"/>
          <a:chOff x="0" y="0"/>
          <a:chExt cx="0" cy="0"/>
        </a:xfrm>
      </p:grpSpPr>
      <p:sp>
        <p:nvSpPr>
          <p:cNvPr id="2" name="Shape 0"/>
          <p:cNvSpPr/>
          <p:nvPr/>
        </p:nvSpPr>
        <p:spPr>
          <a:xfrm>
            <a:off x="8778240" y="2377440"/>
            <a:ext cx="5669280" cy="5669280"/>
          </a:xfrm>
          <a:prstGeom prst="ellipse">
            <a:avLst/>
          </a:prstGeom>
          <a:solidFill>
            <a:srgbClr val="4A0025"/>
          </a:solidFill>
          <a:ln w="12700">
            <a:solidFill>
              <a:srgbClr val="333333"/>
            </a:solidFill>
            <a:prstDash val="solid"/>
          </a:ln>
        </p:spPr>
      </p:sp>
      <p:sp>
        <p:nvSpPr>
          <p:cNvPr id="3" name="Text 1"/>
          <p:cNvSpPr txBox="1"/>
          <p:nvPr/>
        </p:nvSpPr>
        <p:spPr>
          <a:xfrm>
            <a:off x="640080" y="914400"/>
            <a:ext cx="7680960" cy="310896"/>
          </a:xfrm>
          <a:prstGeom prst="rect">
            <a:avLst/>
          </a:prstGeom>
          <a:noFill/>
          <a:ln/>
        </p:spPr>
        <p:txBody>
          <a:bodyPr wrap="square" lIns="0" tIns="0" rIns="0" bIns="0" rtlCol="0" anchor="ctr"/>
          <a:lstStyle/>
          <a:p>
            <a:pPr indent="0" marL="0">
              <a:buNone/>
            </a:pPr>
            <a:r>
              <a:rPr lang="en-US" sz="1300" b="1" spc="300" kern="0" dirty="0">
                <a:solidFill>
                  <a:srgbClr val="E9C9D6"/>
                </a:solidFill>
                <a:latin typeface="Calibri" pitchFamily="34" charset="0"/>
                <a:ea typeface="Calibri" pitchFamily="34" charset="-122"/>
                <a:cs typeface="Calibri" pitchFamily="34" charset="-120"/>
              </a:rPr>
              <a:t>THE RESULTS</a:t>
            </a:r>
            <a:endParaRPr lang="en-US" sz="1300" dirty="0"/>
          </a:p>
        </p:txBody>
      </p:sp>
      <p:sp>
        <p:nvSpPr>
          <p:cNvPr id="4" name="Text 2"/>
          <p:cNvSpPr txBox="1"/>
          <p:nvPr/>
        </p:nvSpPr>
        <p:spPr>
          <a:xfrm>
            <a:off x="640080" y="1325880"/>
            <a:ext cx="7863840" cy="109728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You decided.</a:t>
            </a:r>
            <a:endParaRPr lang="en-US" sz="5600" dirty="0"/>
          </a:p>
        </p:txBody>
      </p:sp>
      <p:sp>
        <p:nvSpPr>
          <p:cNvPr id="5" name="Text 3"/>
          <p:cNvSpPr txBox="1"/>
          <p:nvPr/>
        </p:nvSpPr>
        <p:spPr>
          <a:xfrm>
            <a:off x="640080" y="2606040"/>
            <a:ext cx="7498080" cy="731520"/>
          </a:xfrm>
          <a:prstGeom prst="rect">
            <a:avLst/>
          </a:prstGeom>
          <a:noFill/>
          <a:ln/>
        </p:spPr>
        <p:txBody>
          <a:bodyPr wrap="square" lIns="0" tIns="0" rIns="0" bIns="0" rtlCol="0" anchor="t"/>
          <a:lstStyle/>
          <a:p>
            <a:pPr indent="0" marL="0">
              <a:lnSpc>
                <a:spcPts val="2800"/>
              </a:lnSpc>
              <a:buNone/>
            </a:pPr>
            <a:r>
              <a:rPr lang="en-US" sz="2100" dirty="0">
                <a:solidFill>
                  <a:srgbClr val="F3E3EA"/>
                </a:solidFill>
                <a:latin typeface="Calibri" pitchFamily="34" charset="0"/>
                <a:ea typeface="Calibri" pitchFamily="34" charset="-122"/>
                <a:cs typeface="Calibri" pitchFamily="34" charset="-120"/>
              </a:rPr>
              <a:t>Let's see what this class chose to build next, and why.</a:t>
            </a:r>
            <a:endParaRPr lang="en-US" sz="2100" dirty="0"/>
          </a:p>
        </p:txBody>
      </p:sp>
      <p:sp>
        <p:nvSpPr>
          <p:cNvPr id="6" name="Shape 4"/>
          <p:cNvSpPr/>
          <p:nvPr/>
        </p:nvSpPr>
        <p:spPr>
          <a:xfrm>
            <a:off x="640080" y="3657600"/>
            <a:ext cx="7589520" cy="822960"/>
          </a:xfrm>
          <a:prstGeom prst="roundRect">
            <a:avLst>
              <a:gd name="adj" fmla="val 10000"/>
            </a:avLst>
          </a:prstGeom>
          <a:solidFill>
            <a:srgbClr val="CF4420"/>
          </a:solidFill>
          <a:ln w="12700">
            <a:solidFill>
              <a:srgbClr val="333333"/>
            </a:solidFill>
            <a:prstDash val="solid"/>
          </a:ln>
        </p:spPr>
      </p:sp>
      <p:sp>
        <p:nvSpPr>
          <p:cNvPr id="7" name="Text 5"/>
          <p:cNvSpPr txBox="1"/>
          <p:nvPr/>
        </p:nvSpPr>
        <p:spPr>
          <a:xfrm>
            <a:off x="960120" y="3657600"/>
            <a:ext cx="7132320" cy="8229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Results:  </a:t>
            </a:r>
            <a:pPr indent="0" marL="0">
              <a:buNone/>
            </a:pPr>
            <a:r>
              <a:rPr lang="en-US" sz="2000" b="1" dirty="0">
                <a:solidFill>
                  <a:srgbClr val="FFFFFF"/>
                </a:solidFill>
                <a:latin typeface="Consolas" pitchFamily="34" charset="0"/>
                <a:ea typeface="Consolas" pitchFamily="34" charset="-122"/>
                <a:cs typeface="Consolas" pitchFamily="34" charset="-120"/>
              </a:rPr>
              <a:t>doubleblaze.solutions/vote/results</a:t>
            </a:r>
            <a:endParaRPr lang="en-US" sz="2000" dirty="0"/>
          </a:p>
        </p:txBody>
      </p:sp>
      <p:sp>
        <p:nvSpPr>
          <p:cNvPr id="8" name="Text 6"/>
          <p:cNvSpPr txBox="1"/>
          <p:nvPr/>
        </p:nvSpPr>
        <p:spPr>
          <a:xfrm>
            <a:off x="640080" y="4937760"/>
            <a:ext cx="7863840" cy="7315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Whatever won: your scenarios from today come with you.</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Launch Pad: what next? You decide.</dc:title>
  <dc:subject>PptxGenJS Presentation</dc:subject>
  <dc:creator>Double Blaze</dc:creator>
  <cp:lastModifiedBy>Double Blaze</cp:lastModifiedBy>
  <cp:revision>1</cp:revision>
  <dcterms:created xsi:type="dcterms:W3CDTF">2026-10-28T12:01:00Z</dcterms:created>
  <dcterms:modified xsi:type="dcterms:W3CDTF">2026-10-28T12:01:00Z</dcterms:modified>
</cp:coreProperties>
</file>