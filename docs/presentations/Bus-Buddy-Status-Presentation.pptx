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Sample Team and this is Bus Buddy, a phone app that shows where the school buses are and when they will arrive. We are going to show you where we have got to, what works, what is in the way, and what we need from you. About eight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shape of the next eight minutes. One minute on the problem and the four kinds of people who have it. Two on the five features and where each one stands. Three on the demo, which is the clickable prototype. Then a minute on what went well and what we learned, a minute on what is in the way and what we need, and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us has stood outside in the rain not knowing whether the bus had already gone. Parents ring the front office and the office does not know either. Bus Buddy tells everybody the same thing at the same time. That is the whole idea, and everything we have built comes from that one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kinds of people, and they want different things. Students want the countdown. Parents want to know the kid got on. Drivers want to say it once. The front office wants every route on one screen. Three of our six stories are the student's, and the front office has one, which comes back later as something we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features. Four have stories and are in the prototype, which is what we will demo. Ride history has no story, so its screen is empty and it cannot go any further until somebody writes one. Nothing is built in Anvil yet. We are at the build cards step,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done, stories done. We are at build cards, and nothing after that has started. Our gap guide names one next thing: we have stories but no cards, and the fix is a session with the teacher turning each story into a card. That is also our first ask, later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features. Six stories, every one with acceptance criteria, which is why the prototype has eight screens you can click through rather than pictures. Zero build cards out of six. That zero is the number we expect to be asked about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going to walk through the prototype as four different people. First morning as a student, setting up. The countdown. Then as the driver, reporting a delay, and back to the student to see it land. Then the route board, and finally Ride history, which is empty, on purpose, because it has no story. Watch for the sentence at the bottom of every screen: it is the story that screen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while we switch to the browser. If the internet is down, the same file is on the thumb drive and opens with no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went well: writing four users, not just the student, gave us two features we would never have thought of. Every story has Given, When, Then, which is why the prototype clicks. And the purpose is one paragraph everyone can say.
What we learned: a feature with no story is an empty screen. A story with no so that cannot be tested. And the front office is the user we understand least, which is where our third ask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in the order the gap guide puts them. Ride history has no story, so it is stuck: we need a decision on it. The route board story has no so that, so we are rewriting it this week. And there are no build cards, which is the one the gap guide says to do first, because everything after it reads the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The card session first, this week, with the whole team and the teacher. Before that, we rewrite the route board story with a so that. And once Ride history is decided, we either write its story or take it out of the plan. Three steps, three dates, three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three things. Twenty minutes with the teacher for the card session, which unblocks everything after it. A decision on Ride history: keep it and write the story, or cut it, and we recommend cutting it because none of our four users asked for it. And ten minutes with someone from the front office, so the route board story has a so that from the person who actually answers the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Bus Buddy. Every link on this slide is live.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30031"/>
        </a:solidFill>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4A0025"/>
          </a:solidFill>
          <a:ln w="12700">
            <a:solidFill>
              <a:srgbClr val="333333"/>
            </a:solidFill>
            <a:prstDash val="solid"/>
          </a:ln>
        </p:spPr>
      </p:sp>
      <p:sp>
        <p:nvSpPr>
          <p:cNvPr id="3" name="Shape 1"/>
          <p:cNvSpPr/>
          <p:nvPr/>
        </p:nvSpPr>
        <p:spPr>
          <a:xfrm>
            <a:off x="10424160" y="3931920"/>
            <a:ext cx="3108960" cy="3108960"/>
          </a:xfrm>
          <a:prstGeom prst="ellipse">
            <a:avLst/>
          </a:prstGeom>
          <a:solidFill>
            <a:srgbClr val="CF4420"/>
          </a:solidFill>
          <a:ln w="12700">
            <a:solidFill>
              <a:srgbClr val="333333"/>
            </a:solidFill>
            <a:prstDash val="solid"/>
          </a:ln>
        </p:spPr>
      </p:sp>
      <p:sp>
        <p:nvSpPr>
          <p:cNvPr id="4" name="Text 2"/>
          <p:cNvSpPr txBox="1"/>
          <p:nvPr/>
        </p:nvSpPr>
        <p:spPr>
          <a:xfrm>
            <a:off x="640080" y="1554480"/>
            <a:ext cx="7680960" cy="310896"/>
          </a:xfrm>
          <a:prstGeom prst="rect">
            <a:avLst/>
          </a:prstGeom>
          <a:noFill/>
          <a:ln/>
        </p:spPr>
        <p:txBody>
          <a:bodyPr wrap="square" lIns="0" tIns="0" rIns="0" bIns="0" rtlCol="0" anchor="ctr"/>
          <a:lstStyle/>
          <a:p>
            <a:pPr indent="0" marL="0">
              <a:buNone/>
            </a:pPr>
            <a:r>
              <a:rPr lang="en-US" sz="1300" b="1" spc="300" kern="0" dirty="0">
                <a:solidFill>
                  <a:srgbClr val="E9C9D6"/>
                </a:solidFill>
                <a:latin typeface="Calibri" pitchFamily="34" charset="0"/>
                <a:ea typeface="Calibri" pitchFamily="34" charset="-122"/>
                <a:cs typeface="Calibri" pitchFamily="34" charset="-120"/>
              </a:rPr>
              <a:t>TRAIL CREW  ·  PROJECT STATUS</a:t>
            </a:r>
            <a:endParaRPr lang="en-US" sz="1300" dirty="0"/>
          </a:p>
        </p:txBody>
      </p:sp>
      <p:sp>
        <p:nvSpPr>
          <p:cNvPr id="5" name="Text 3"/>
          <p:cNvSpPr txBox="1"/>
          <p:nvPr/>
        </p:nvSpPr>
        <p:spPr>
          <a:xfrm>
            <a:off x="640080" y="1920240"/>
            <a:ext cx="8046720" cy="12801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Bus Buddy</a:t>
            </a:r>
            <a:endParaRPr lang="en-US" sz="5400" dirty="0"/>
          </a:p>
        </p:txBody>
      </p:sp>
      <p:sp>
        <p:nvSpPr>
          <p:cNvPr id="6" name="Text 4"/>
          <p:cNvSpPr txBox="1"/>
          <p:nvPr/>
        </p:nvSpPr>
        <p:spPr>
          <a:xfrm>
            <a:off x="640080" y="3246120"/>
            <a:ext cx="7498080" cy="1005840"/>
          </a:xfrm>
          <a:prstGeom prst="rect">
            <a:avLst/>
          </a:prstGeom>
          <a:noFill/>
          <a:ln/>
        </p:spPr>
        <p:txBody>
          <a:bodyPr wrap="square" lIns="0" tIns="0" rIns="0" bIns="0" rtlCol="0" anchor="t"/>
          <a:lstStyle/>
          <a:p>
            <a:pPr indent="0" marL="0">
              <a:lnSpc>
                <a:spcPts val="2500"/>
              </a:lnSpc>
              <a:buNone/>
            </a:pPr>
            <a:r>
              <a:rPr lang="en-US" sz="1700" dirty="0">
                <a:solidFill>
                  <a:srgbClr val="EBD9E1"/>
                </a:solidFill>
                <a:latin typeface="Calibri" pitchFamily="34" charset="0"/>
                <a:ea typeface="Calibri" pitchFamily="34" charset="-122"/>
                <a:cs typeface="Calibri" pitchFamily="34" charset="-120"/>
              </a:rPr>
              <a:t>A phone app that shows students, parents, drivers and the front office where the school buses are and when they will arrive.</a:t>
            </a:r>
            <a:endParaRPr lang="en-US" sz="1700" dirty="0"/>
          </a:p>
        </p:txBody>
      </p:sp>
      <p:sp>
        <p:nvSpPr>
          <p:cNvPr id="7" name="Text 5"/>
          <p:cNvSpPr txBox="1"/>
          <p:nvPr/>
        </p:nvSpPr>
        <p:spPr>
          <a:xfrm>
            <a:off x="640080" y="4572000"/>
            <a:ext cx="768096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Sample Team  ·  Demo team  ·  22 September 2026</a:t>
            </a:r>
            <a:endParaRPr lang="en-US" sz="1400" dirty="0"/>
          </a:p>
        </p:txBody>
      </p:sp>
      <p:sp>
        <p:nvSpPr>
          <p:cNvPr id="8" name="Text 6"/>
          <p:cNvSpPr txBox="1"/>
          <p:nvPr/>
        </p:nvSpPr>
        <p:spPr>
          <a:xfrm>
            <a:off x="640080" y="4983480"/>
            <a:ext cx="7680960" cy="365760"/>
          </a:xfrm>
          <a:prstGeom prst="rect">
            <a:avLst/>
          </a:prstGeom>
          <a:noFill/>
          <a:ln/>
        </p:spPr>
        <p:txBody>
          <a:bodyPr wrap="square" lIns="0" tIns="0" rIns="0" bIns="0" rtlCol="0" anchor="ctr"/>
          <a:lstStyle/>
          <a:p>
            <a:pPr indent="0" marL="0">
              <a:buNone/>
            </a:pPr>
            <a:r>
              <a:rPr lang="en-US" sz="1250" dirty="0">
                <a:solidFill>
                  <a:srgbClr val="E9C9D6"/>
                </a:solidFill>
                <a:latin typeface="Calibri" pitchFamily="34" charset="0"/>
                <a:ea typeface="Calibri" pitchFamily="34" charset="-122"/>
                <a:cs typeface="Calibri" pitchFamily="34" charset="-120"/>
              </a:rPr>
              <a:t>Status update for management. About eight minutes, with a demo.</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EIGHT MINUTES</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What we will cover</a:t>
            </a:r>
            <a:endParaRPr lang="en-US" sz="3400" dirty="0"/>
          </a:p>
        </p:txBody>
      </p:sp>
      <p:sp>
        <p:nvSpPr>
          <p:cNvPr id="4" name="Shape 2"/>
          <p:cNvSpPr/>
          <p:nvPr/>
        </p:nvSpPr>
        <p:spPr>
          <a:xfrm>
            <a:off x="640080" y="1783080"/>
            <a:ext cx="5272888" cy="868680"/>
          </a:xfrm>
          <a:prstGeom prst="roundRect">
            <a:avLst>
              <a:gd name="adj" fmla="val 9474"/>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Shape 3"/>
          <p:cNvSpPr/>
          <p:nvPr/>
        </p:nvSpPr>
        <p:spPr>
          <a:xfrm>
            <a:off x="896112" y="2007108"/>
            <a:ext cx="420624" cy="420624"/>
          </a:xfrm>
          <a:prstGeom prst="ellipse">
            <a:avLst/>
          </a:prstGeom>
          <a:solidFill>
            <a:srgbClr val="CF4420"/>
          </a:solidFill>
          <a:ln w="12700">
            <a:solidFill>
              <a:srgbClr val="333333"/>
            </a:solidFill>
            <a:prstDash val="solid"/>
          </a:ln>
        </p:spPr>
      </p:sp>
      <p:sp>
        <p:nvSpPr>
          <p:cNvPr id="6" name="Text 4"/>
          <p:cNvSpPr txBox="1"/>
          <p:nvPr/>
        </p:nvSpPr>
        <p:spPr>
          <a:xfrm>
            <a:off x="896112" y="20071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508760" y="1783080"/>
            <a:ext cx="3261208" cy="868680"/>
          </a:xfrm>
          <a:prstGeom prst="rect">
            <a:avLst/>
          </a:prstGeom>
          <a:noFill/>
          <a:ln/>
        </p:spPr>
        <p:txBody>
          <a:bodyPr wrap="square" lIns="0" tIns="0" rIns="0" bIns="0" rtlCol="0" anchor="ctr"/>
          <a:lstStyle/>
          <a:p>
            <a:pPr indent="0" marL="0">
              <a:buNone/>
            </a:pPr>
            <a:r>
              <a:rPr lang="en-US" sz="1550" b="1" dirty="0">
                <a:solidFill>
                  <a:srgbClr val="1C1A19"/>
                </a:solidFill>
                <a:latin typeface="Calibri" pitchFamily="34" charset="0"/>
                <a:ea typeface="Calibri" pitchFamily="34" charset="-122"/>
                <a:cs typeface="Calibri" pitchFamily="34" charset="-120"/>
              </a:rPr>
              <a:t>The problem, and who has it</a:t>
            </a:r>
            <a:endParaRPr lang="en-US" sz="1550" dirty="0"/>
          </a:p>
        </p:txBody>
      </p:sp>
      <p:sp>
        <p:nvSpPr>
          <p:cNvPr id="8" name="Text 6"/>
          <p:cNvSpPr txBox="1"/>
          <p:nvPr/>
        </p:nvSpPr>
        <p:spPr>
          <a:xfrm>
            <a:off x="4815688" y="1783080"/>
            <a:ext cx="868680" cy="868680"/>
          </a:xfrm>
          <a:prstGeom prst="rect">
            <a:avLst/>
          </a:prstGeom>
          <a:noFill/>
          <a:ln/>
        </p:spPr>
        <p:txBody>
          <a:bodyPr wrap="square" lIns="0" tIns="0" rIns="0" bIns="0" rtlCol="0" anchor="ctr"/>
          <a:lstStyle/>
          <a:p>
            <a:pPr algn="r" indent="0" marL="0">
              <a:buNone/>
            </a:pPr>
            <a:r>
              <a:rPr lang="en-US" sz="1500" b="1" dirty="0">
                <a:solidFill>
                  <a:srgbClr val="CF4420"/>
                </a:solidFill>
                <a:latin typeface="Cambria" pitchFamily="34" charset="0"/>
                <a:ea typeface="Cambria" pitchFamily="34" charset="-122"/>
                <a:cs typeface="Cambria" pitchFamily="34" charset="-120"/>
              </a:rPr>
              <a:t>1 min</a:t>
            </a:r>
            <a:endParaRPr lang="en-US" sz="1500" dirty="0"/>
          </a:p>
        </p:txBody>
      </p:sp>
      <p:sp>
        <p:nvSpPr>
          <p:cNvPr id="9" name="Shape 7"/>
          <p:cNvSpPr/>
          <p:nvPr/>
        </p:nvSpPr>
        <p:spPr>
          <a:xfrm>
            <a:off x="6278728" y="1783080"/>
            <a:ext cx="5272888" cy="868680"/>
          </a:xfrm>
          <a:prstGeom prst="roundRect">
            <a:avLst>
              <a:gd name="adj" fmla="val 9474"/>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0" name="Shape 8"/>
          <p:cNvSpPr/>
          <p:nvPr/>
        </p:nvSpPr>
        <p:spPr>
          <a:xfrm>
            <a:off x="6534760" y="2007108"/>
            <a:ext cx="420624" cy="420624"/>
          </a:xfrm>
          <a:prstGeom prst="ellipse">
            <a:avLst/>
          </a:prstGeom>
          <a:solidFill>
            <a:srgbClr val="CF4420"/>
          </a:solidFill>
          <a:ln w="12700">
            <a:solidFill>
              <a:srgbClr val="333333"/>
            </a:solidFill>
            <a:prstDash val="solid"/>
          </a:ln>
        </p:spPr>
      </p:sp>
      <p:sp>
        <p:nvSpPr>
          <p:cNvPr id="11" name="Text 9"/>
          <p:cNvSpPr txBox="1"/>
          <p:nvPr/>
        </p:nvSpPr>
        <p:spPr>
          <a:xfrm>
            <a:off x="6534760" y="20071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7147408" y="1783080"/>
            <a:ext cx="3261208" cy="868680"/>
          </a:xfrm>
          <a:prstGeom prst="rect">
            <a:avLst/>
          </a:prstGeom>
          <a:noFill/>
          <a:ln/>
        </p:spPr>
        <p:txBody>
          <a:bodyPr wrap="square" lIns="0" tIns="0" rIns="0" bIns="0" rtlCol="0" anchor="ctr"/>
          <a:lstStyle/>
          <a:p>
            <a:pPr indent="0" marL="0">
              <a:buNone/>
            </a:pPr>
            <a:r>
              <a:rPr lang="en-US" sz="1550" b="1" dirty="0">
                <a:solidFill>
                  <a:srgbClr val="1C1A19"/>
                </a:solidFill>
                <a:latin typeface="Calibri" pitchFamily="34" charset="0"/>
                <a:ea typeface="Calibri" pitchFamily="34" charset="-122"/>
                <a:cs typeface="Calibri" pitchFamily="34" charset="-120"/>
              </a:rPr>
              <a:t>What we are building, and where it stands</a:t>
            </a:r>
            <a:endParaRPr lang="en-US" sz="1550" dirty="0"/>
          </a:p>
        </p:txBody>
      </p:sp>
      <p:sp>
        <p:nvSpPr>
          <p:cNvPr id="13" name="Text 11"/>
          <p:cNvSpPr txBox="1"/>
          <p:nvPr/>
        </p:nvSpPr>
        <p:spPr>
          <a:xfrm>
            <a:off x="10454335" y="1783080"/>
            <a:ext cx="868680" cy="868680"/>
          </a:xfrm>
          <a:prstGeom prst="rect">
            <a:avLst/>
          </a:prstGeom>
          <a:noFill/>
          <a:ln/>
        </p:spPr>
        <p:txBody>
          <a:bodyPr wrap="square" lIns="0" tIns="0" rIns="0" bIns="0" rtlCol="0" anchor="ctr"/>
          <a:lstStyle/>
          <a:p>
            <a:pPr algn="r" indent="0" marL="0">
              <a:buNone/>
            </a:pPr>
            <a:r>
              <a:rPr lang="en-US" sz="1500" b="1" dirty="0">
                <a:solidFill>
                  <a:srgbClr val="CF4420"/>
                </a:solidFill>
                <a:latin typeface="Cambria" pitchFamily="34" charset="0"/>
                <a:ea typeface="Cambria" pitchFamily="34" charset="-122"/>
                <a:cs typeface="Cambria" pitchFamily="34" charset="-120"/>
              </a:rPr>
              <a:t>2 min</a:t>
            </a:r>
            <a:endParaRPr lang="en-US" sz="1500" dirty="0"/>
          </a:p>
        </p:txBody>
      </p:sp>
      <p:sp>
        <p:nvSpPr>
          <p:cNvPr id="14" name="Shape 12"/>
          <p:cNvSpPr/>
          <p:nvPr/>
        </p:nvSpPr>
        <p:spPr>
          <a:xfrm>
            <a:off x="640080" y="2834640"/>
            <a:ext cx="5272888" cy="868680"/>
          </a:xfrm>
          <a:prstGeom prst="roundRect">
            <a:avLst>
              <a:gd name="adj" fmla="val 9474"/>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5" name="Shape 13"/>
          <p:cNvSpPr/>
          <p:nvPr/>
        </p:nvSpPr>
        <p:spPr>
          <a:xfrm>
            <a:off x="896112" y="3058668"/>
            <a:ext cx="420624" cy="420624"/>
          </a:xfrm>
          <a:prstGeom prst="ellipse">
            <a:avLst/>
          </a:prstGeom>
          <a:solidFill>
            <a:srgbClr val="CF4420"/>
          </a:solidFill>
          <a:ln w="12700">
            <a:solidFill>
              <a:srgbClr val="333333"/>
            </a:solidFill>
            <a:prstDash val="solid"/>
          </a:ln>
        </p:spPr>
      </p:sp>
      <p:sp>
        <p:nvSpPr>
          <p:cNvPr id="16" name="Text 14"/>
          <p:cNvSpPr txBox="1"/>
          <p:nvPr/>
        </p:nvSpPr>
        <p:spPr>
          <a:xfrm>
            <a:off x="896112" y="305866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508760" y="2834640"/>
            <a:ext cx="3261208" cy="868680"/>
          </a:xfrm>
          <a:prstGeom prst="rect">
            <a:avLst/>
          </a:prstGeom>
          <a:noFill/>
          <a:ln/>
        </p:spPr>
        <p:txBody>
          <a:bodyPr wrap="square" lIns="0" tIns="0" rIns="0" bIns="0" rtlCol="0" anchor="ctr"/>
          <a:lstStyle/>
          <a:p>
            <a:pPr indent="0" marL="0">
              <a:buNone/>
            </a:pPr>
            <a:r>
              <a:rPr lang="en-US" sz="1550" b="1" dirty="0">
                <a:solidFill>
                  <a:srgbClr val="1C1A19"/>
                </a:solidFill>
                <a:latin typeface="Calibri" pitchFamily="34" charset="0"/>
                <a:ea typeface="Calibri" pitchFamily="34" charset="-122"/>
                <a:cs typeface="Calibri" pitchFamily="34" charset="-120"/>
              </a:rPr>
              <a:t>Demo</a:t>
            </a:r>
            <a:endParaRPr lang="en-US" sz="1550" dirty="0"/>
          </a:p>
        </p:txBody>
      </p:sp>
      <p:sp>
        <p:nvSpPr>
          <p:cNvPr id="18" name="Text 16"/>
          <p:cNvSpPr txBox="1"/>
          <p:nvPr/>
        </p:nvSpPr>
        <p:spPr>
          <a:xfrm>
            <a:off x="4815688" y="2834640"/>
            <a:ext cx="868680" cy="868680"/>
          </a:xfrm>
          <a:prstGeom prst="rect">
            <a:avLst/>
          </a:prstGeom>
          <a:noFill/>
          <a:ln/>
        </p:spPr>
        <p:txBody>
          <a:bodyPr wrap="square" lIns="0" tIns="0" rIns="0" bIns="0" rtlCol="0" anchor="ctr"/>
          <a:lstStyle/>
          <a:p>
            <a:pPr algn="r" indent="0" marL="0">
              <a:buNone/>
            </a:pPr>
            <a:r>
              <a:rPr lang="en-US" sz="1500" b="1" dirty="0">
                <a:solidFill>
                  <a:srgbClr val="CF4420"/>
                </a:solidFill>
                <a:latin typeface="Cambria" pitchFamily="34" charset="0"/>
                <a:ea typeface="Cambria" pitchFamily="34" charset="-122"/>
                <a:cs typeface="Cambria" pitchFamily="34" charset="-120"/>
              </a:rPr>
              <a:t>3 min</a:t>
            </a:r>
            <a:endParaRPr lang="en-US" sz="1500" dirty="0"/>
          </a:p>
        </p:txBody>
      </p:sp>
      <p:sp>
        <p:nvSpPr>
          <p:cNvPr id="19" name="Shape 17"/>
          <p:cNvSpPr/>
          <p:nvPr/>
        </p:nvSpPr>
        <p:spPr>
          <a:xfrm>
            <a:off x="6278728" y="2834640"/>
            <a:ext cx="5272888" cy="868680"/>
          </a:xfrm>
          <a:prstGeom prst="roundRect">
            <a:avLst>
              <a:gd name="adj" fmla="val 9474"/>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0" name="Shape 18"/>
          <p:cNvSpPr/>
          <p:nvPr/>
        </p:nvSpPr>
        <p:spPr>
          <a:xfrm>
            <a:off x="6534760" y="3058668"/>
            <a:ext cx="420624" cy="420624"/>
          </a:xfrm>
          <a:prstGeom prst="ellipse">
            <a:avLst/>
          </a:prstGeom>
          <a:solidFill>
            <a:srgbClr val="CF4420"/>
          </a:solidFill>
          <a:ln w="12700">
            <a:solidFill>
              <a:srgbClr val="333333"/>
            </a:solidFill>
            <a:prstDash val="solid"/>
          </a:ln>
        </p:spPr>
      </p:sp>
      <p:sp>
        <p:nvSpPr>
          <p:cNvPr id="21" name="Text 19"/>
          <p:cNvSpPr txBox="1"/>
          <p:nvPr/>
        </p:nvSpPr>
        <p:spPr>
          <a:xfrm>
            <a:off x="6534760" y="305866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7147408" y="2834640"/>
            <a:ext cx="3261208" cy="868680"/>
          </a:xfrm>
          <a:prstGeom prst="rect">
            <a:avLst/>
          </a:prstGeom>
          <a:noFill/>
          <a:ln/>
        </p:spPr>
        <p:txBody>
          <a:bodyPr wrap="square" lIns="0" tIns="0" rIns="0" bIns="0" rtlCol="0" anchor="ctr"/>
          <a:lstStyle/>
          <a:p>
            <a:pPr indent="0" marL="0">
              <a:buNone/>
            </a:pPr>
            <a:r>
              <a:rPr lang="en-US" sz="1550" b="1" dirty="0">
                <a:solidFill>
                  <a:srgbClr val="1C1A19"/>
                </a:solidFill>
                <a:latin typeface="Calibri" pitchFamily="34" charset="0"/>
                <a:ea typeface="Calibri" pitchFamily="34" charset="-122"/>
                <a:cs typeface="Calibri" pitchFamily="34" charset="-120"/>
              </a:rPr>
              <a:t>What went well, what we learned</a:t>
            </a:r>
            <a:endParaRPr lang="en-US" sz="1550" dirty="0"/>
          </a:p>
        </p:txBody>
      </p:sp>
      <p:sp>
        <p:nvSpPr>
          <p:cNvPr id="23" name="Text 21"/>
          <p:cNvSpPr txBox="1"/>
          <p:nvPr/>
        </p:nvSpPr>
        <p:spPr>
          <a:xfrm>
            <a:off x="10454335" y="2834640"/>
            <a:ext cx="868680" cy="868680"/>
          </a:xfrm>
          <a:prstGeom prst="rect">
            <a:avLst/>
          </a:prstGeom>
          <a:noFill/>
          <a:ln/>
        </p:spPr>
        <p:txBody>
          <a:bodyPr wrap="square" lIns="0" tIns="0" rIns="0" bIns="0" rtlCol="0" anchor="ctr"/>
          <a:lstStyle/>
          <a:p>
            <a:pPr algn="r" indent="0" marL="0">
              <a:buNone/>
            </a:pPr>
            <a:r>
              <a:rPr lang="en-US" sz="1500" b="1" dirty="0">
                <a:solidFill>
                  <a:srgbClr val="CF4420"/>
                </a:solidFill>
                <a:latin typeface="Cambria" pitchFamily="34" charset="0"/>
                <a:ea typeface="Cambria" pitchFamily="34" charset="-122"/>
                <a:cs typeface="Cambria" pitchFamily="34" charset="-120"/>
              </a:rPr>
              <a:t>1 min</a:t>
            </a:r>
            <a:endParaRPr lang="en-US" sz="1500" dirty="0"/>
          </a:p>
        </p:txBody>
      </p:sp>
      <p:sp>
        <p:nvSpPr>
          <p:cNvPr id="24" name="Shape 22"/>
          <p:cNvSpPr/>
          <p:nvPr/>
        </p:nvSpPr>
        <p:spPr>
          <a:xfrm>
            <a:off x="640080" y="3886200"/>
            <a:ext cx="5272888" cy="868680"/>
          </a:xfrm>
          <a:prstGeom prst="roundRect">
            <a:avLst>
              <a:gd name="adj" fmla="val 9474"/>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5" name="Shape 23"/>
          <p:cNvSpPr/>
          <p:nvPr/>
        </p:nvSpPr>
        <p:spPr>
          <a:xfrm>
            <a:off x="896112" y="4110228"/>
            <a:ext cx="420624" cy="420624"/>
          </a:xfrm>
          <a:prstGeom prst="ellipse">
            <a:avLst/>
          </a:prstGeom>
          <a:solidFill>
            <a:srgbClr val="CF4420"/>
          </a:solidFill>
          <a:ln w="12700">
            <a:solidFill>
              <a:srgbClr val="333333"/>
            </a:solidFill>
            <a:prstDash val="solid"/>
          </a:ln>
        </p:spPr>
      </p:sp>
      <p:sp>
        <p:nvSpPr>
          <p:cNvPr id="26" name="Text 24"/>
          <p:cNvSpPr txBox="1"/>
          <p:nvPr/>
        </p:nvSpPr>
        <p:spPr>
          <a:xfrm>
            <a:off x="896112" y="41102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txBox="1"/>
          <p:nvPr/>
        </p:nvSpPr>
        <p:spPr>
          <a:xfrm>
            <a:off x="1508760" y="3886200"/>
            <a:ext cx="3261208" cy="868680"/>
          </a:xfrm>
          <a:prstGeom prst="rect">
            <a:avLst/>
          </a:prstGeom>
          <a:noFill/>
          <a:ln/>
        </p:spPr>
        <p:txBody>
          <a:bodyPr wrap="square" lIns="0" tIns="0" rIns="0" bIns="0" rtlCol="0" anchor="ctr"/>
          <a:lstStyle/>
          <a:p>
            <a:pPr indent="0" marL="0">
              <a:buNone/>
            </a:pPr>
            <a:r>
              <a:rPr lang="en-US" sz="1550" b="1" dirty="0">
                <a:solidFill>
                  <a:srgbClr val="1C1A19"/>
                </a:solidFill>
                <a:latin typeface="Calibri" pitchFamily="34" charset="0"/>
                <a:ea typeface="Calibri" pitchFamily="34" charset="-122"/>
                <a:cs typeface="Calibri" pitchFamily="34" charset="-120"/>
              </a:rPr>
              <a:t>What is in the way, what is next, what we need</a:t>
            </a:r>
            <a:endParaRPr lang="en-US" sz="1550" dirty="0"/>
          </a:p>
        </p:txBody>
      </p:sp>
      <p:sp>
        <p:nvSpPr>
          <p:cNvPr id="28" name="Text 26"/>
          <p:cNvSpPr txBox="1"/>
          <p:nvPr/>
        </p:nvSpPr>
        <p:spPr>
          <a:xfrm>
            <a:off x="4815688" y="3886200"/>
            <a:ext cx="868680" cy="868680"/>
          </a:xfrm>
          <a:prstGeom prst="rect">
            <a:avLst/>
          </a:prstGeom>
          <a:noFill/>
          <a:ln/>
        </p:spPr>
        <p:txBody>
          <a:bodyPr wrap="square" lIns="0" tIns="0" rIns="0" bIns="0" rtlCol="0" anchor="ctr"/>
          <a:lstStyle/>
          <a:p>
            <a:pPr algn="r" indent="0" marL="0">
              <a:buNone/>
            </a:pPr>
            <a:r>
              <a:rPr lang="en-US" sz="1500" b="1" dirty="0">
                <a:solidFill>
                  <a:srgbClr val="CF4420"/>
                </a:solidFill>
                <a:latin typeface="Cambria" pitchFamily="34" charset="0"/>
                <a:ea typeface="Cambria" pitchFamily="34" charset="-122"/>
                <a:cs typeface="Cambria" pitchFamily="34" charset="-120"/>
              </a:rPr>
              <a:t>1 min</a:t>
            </a:r>
            <a:endParaRPr lang="en-US" sz="1500" dirty="0"/>
          </a:p>
        </p:txBody>
      </p:sp>
      <p:sp>
        <p:nvSpPr>
          <p:cNvPr id="29" name="Shape 27"/>
          <p:cNvSpPr/>
          <p:nvPr/>
        </p:nvSpPr>
        <p:spPr>
          <a:xfrm>
            <a:off x="6278728" y="3886200"/>
            <a:ext cx="5272888" cy="868680"/>
          </a:xfrm>
          <a:prstGeom prst="roundRect">
            <a:avLst>
              <a:gd name="adj" fmla="val 9474"/>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30" name="Shape 28"/>
          <p:cNvSpPr/>
          <p:nvPr/>
        </p:nvSpPr>
        <p:spPr>
          <a:xfrm>
            <a:off x="6534760" y="4110228"/>
            <a:ext cx="420624" cy="420624"/>
          </a:xfrm>
          <a:prstGeom prst="ellipse">
            <a:avLst/>
          </a:prstGeom>
          <a:solidFill>
            <a:srgbClr val="CF4420"/>
          </a:solidFill>
          <a:ln w="12700">
            <a:solidFill>
              <a:srgbClr val="333333"/>
            </a:solidFill>
            <a:prstDash val="solid"/>
          </a:ln>
        </p:spPr>
      </p:sp>
      <p:sp>
        <p:nvSpPr>
          <p:cNvPr id="31" name="Text 29"/>
          <p:cNvSpPr txBox="1"/>
          <p:nvPr/>
        </p:nvSpPr>
        <p:spPr>
          <a:xfrm>
            <a:off x="6534760" y="41102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2" name="Text 30"/>
          <p:cNvSpPr txBox="1"/>
          <p:nvPr/>
        </p:nvSpPr>
        <p:spPr>
          <a:xfrm>
            <a:off x="7147408" y="3886200"/>
            <a:ext cx="3261208" cy="868680"/>
          </a:xfrm>
          <a:prstGeom prst="rect">
            <a:avLst/>
          </a:prstGeom>
          <a:noFill/>
          <a:ln/>
        </p:spPr>
        <p:txBody>
          <a:bodyPr wrap="square" lIns="0" tIns="0" rIns="0" bIns="0" rtlCol="0" anchor="ctr"/>
          <a:lstStyle/>
          <a:p>
            <a:pPr indent="0" marL="0">
              <a:buNone/>
            </a:pPr>
            <a:r>
              <a:rPr lang="en-US" sz="1550" b="1" dirty="0">
                <a:solidFill>
                  <a:srgbClr val="1C1A19"/>
                </a:solidFill>
                <a:latin typeface="Calibri" pitchFamily="34" charset="0"/>
                <a:ea typeface="Calibri" pitchFamily="34" charset="-122"/>
                <a:cs typeface="Calibri" pitchFamily="34" charset="-120"/>
              </a:rPr>
              <a:t>Your questions</a:t>
            </a:r>
            <a:endParaRPr lang="en-US" sz="1550" dirty="0"/>
          </a:p>
        </p:txBody>
      </p:sp>
      <p:sp>
        <p:nvSpPr>
          <p:cNvPr id="33" name="Text 31"/>
          <p:cNvSpPr txBox="1"/>
          <p:nvPr/>
        </p:nvSpPr>
        <p:spPr>
          <a:xfrm>
            <a:off x="10454335" y="3886200"/>
            <a:ext cx="868680" cy="868680"/>
          </a:xfrm>
          <a:prstGeom prst="rect">
            <a:avLst/>
          </a:prstGeom>
          <a:noFill/>
          <a:ln/>
        </p:spPr>
        <p:txBody>
          <a:bodyPr wrap="square" lIns="0" tIns="0" rIns="0" bIns="0" rtlCol="0" anchor="ctr"/>
          <a:lstStyle/>
          <a:p>
            <a:pPr algn="r" indent="0" marL="0">
              <a:buNone/>
            </a:pPr>
            <a:r>
              <a:rPr lang="en-US" sz="1500" b="1" dirty="0">
                <a:solidFill>
                  <a:srgbClr val="CF4420"/>
                </a:solidFill>
                <a:latin typeface="Cambria" pitchFamily="34" charset="0"/>
                <a:ea typeface="Cambria" pitchFamily="34" charset="-122"/>
                <a:cs typeface="Cambria" pitchFamily="34" charset="-120"/>
              </a:rPr>
              <a:t>open</a:t>
            </a:r>
            <a:endParaRPr lang="en-US" sz="1500" dirty="0"/>
          </a:p>
        </p:txBody>
      </p:sp>
      <p:sp>
        <p:nvSpPr>
          <p:cNvPr id="34" name="Text 32"/>
          <p:cNvSpPr txBox="1"/>
          <p:nvPr/>
        </p:nvSpPr>
        <p:spPr>
          <a:xfrm>
            <a:off x="640080" y="5120640"/>
            <a:ext cx="10911535" cy="548640"/>
          </a:xfrm>
          <a:prstGeom prst="rect">
            <a:avLst/>
          </a:prstGeom>
          <a:noFill/>
          <a:ln/>
        </p:spPr>
        <p:txBody>
          <a:bodyPr wrap="square" lIns="0" tIns="0" rIns="0" bIns="0" rtlCol="0" anchor="t"/>
          <a:lstStyle/>
          <a:p>
            <a:pPr indent="0" marL="0">
              <a:lnSpc>
                <a:spcPts val="2200"/>
              </a:lnSpc>
              <a:buNone/>
            </a:pPr>
            <a:r>
              <a:rPr lang="en-US" sz="1500" dirty="0">
                <a:solidFill>
                  <a:srgbClr val="75787B"/>
                </a:solidFill>
                <a:latin typeface="Calibri" pitchFamily="34" charset="0"/>
                <a:ea typeface="Calibri" pitchFamily="34" charset="-122"/>
                <a:cs typeface="Calibri" pitchFamily="34" charset="-120"/>
              </a:rPr>
              <a:t>The demo is the middle of the presentation, not the end, so there is time to talk about what it showed.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WHY THIS EXISTS</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The problem</a:t>
            </a:r>
            <a:endParaRPr lang="en-US" sz="3400" dirty="0"/>
          </a:p>
        </p:txBody>
      </p:sp>
      <p:sp>
        <p:nvSpPr>
          <p:cNvPr id="4" name="Text 2"/>
          <p:cNvSpPr txBox="1"/>
          <p:nvPr/>
        </p:nvSpPr>
        <p:spPr>
          <a:xfrm>
            <a:off x="640080" y="1783080"/>
            <a:ext cx="6400800" cy="2377440"/>
          </a:xfrm>
          <a:prstGeom prst="rect">
            <a:avLst/>
          </a:prstGeom>
          <a:noFill/>
          <a:ln/>
        </p:spPr>
        <p:txBody>
          <a:bodyPr wrap="square" lIns="0" tIns="0" rIns="0" bIns="0" rtlCol="0" anchor="t"/>
          <a:lstStyle/>
          <a:p>
            <a:pPr indent="0" marL="0">
              <a:lnSpc>
                <a:spcPts val="3200"/>
              </a:lnSpc>
              <a:buNone/>
            </a:pPr>
            <a:r>
              <a:rPr lang="en-US" sz="2200" dirty="0">
                <a:solidFill>
                  <a:srgbClr val="1C1A19"/>
                </a:solidFill>
                <a:latin typeface="Cambria" pitchFamily="34" charset="0"/>
                <a:ea typeface="Cambria" pitchFamily="34" charset="-122"/>
                <a:cs typeface="Cambria" pitchFamily="34" charset="-120"/>
              </a:rPr>
              <a:t>Students at our school wait outside for buses that are late, early, or already gone, and nobody tells them which. Parents call the front office to ask where the bus is, and the office cannot answer either.</a:t>
            </a:r>
            <a:endParaRPr lang="en-US" sz="2200" dirty="0"/>
          </a:p>
        </p:txBody>
      </p:sp>
      <p:sp>
        <p:nvSpPr>
          <p:cNvPr id="5" name="Shape 3"/>
          <p:cNvSpPr/>
          <p:nvPr/>
        </p:nvSpPr>
        <p:spPr>
          <a:xfrm>
            <a:off x="7498080" y="1783080"/>
            <a:ext cx="4053535" cy="2743200"/>
          </a:xfrm>
          <a:prstGeom prst="roundRect">
            <a:avLst>
              <a:gd name="adj" fmla="val 3000"/>
            </a:avLst>
          </a:prstGeom>
          <a:solidFill>
            <a:srgbClr val="630031"/>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6" name="Text 4"/>
          <p:cNvSpPr txBox="1"/>
          <p:nvPr/>
        </p:nvSpPr>
        <p:spPr>
          <a:xfrm>
            <a:off x="7863840" y="2057400"/>
            <a:ext cx="3322015" cy="274320"/>
          </a:xfrm>
          <a:prstGeom prst="rect">
            <a:avLst/>
          </a:prstGeom>
          <a:noFill/>
          <a:ln/>
        </p:spPr>
        <p:txBody>
          <a:bodyPr wrap="square" lIns="0" tIns="0" rIns="0" bIns="0" rtlCol="0" anchor="ctr"/>
          <a:lstStyle/>
          <a:p>
            <a:pPr indent="0" marL="0">
              <a:buNone/>
            </a:pPr>
            <a:r>
              <a:rPr lang="en-US" sz="1100" b="1" spc="200" kern="0" dirty="0">
                <a:solidFill>
                  <a:srgbClr val="E9C9D6"/>
                </a:solidFill>
                <a:latin typeface="Calibri" pitchFamily="34" charset="0"/>
                <a:ea typeface="Calibri" pitchFamily="34" charset="-122"/>
                <a:cs typeface="Calibri" pitchFamily="34" charset="-120"/>
              </a:rPr>
              <a:t>IN ONE SENTENCE</a:t>
            </a:r>
            <a:endParaRPr lang="en-US" sz="1100" dirty="0"/>
          </a:p>
        </p:txBody>
      </p:sp>
      <p:sp>
        <p:nvSpPr>
          <p:cNvPr id="7" name="Text 5"/>
          <p:cNvSpPr txBox="1"/>
          <p:nvPr/>
        </p:nvSpPr>
        <p:spPr>
          <a:xfrm>
            <a:off x="7863840" y="2423160"/>
            <a:ext cx="3322015" cy="1920240"/>
          </a:xfrm>
          <a:prstGeom prst="rect">
            <a:avLst/>
          </a:prstGeom>
          <a:noFill/>
          <a:ln/>
        </p:spPr>
        <p:txBody>
          <a:bodyPr wrap="square" lIns="0" tIns="0" rIns="0" bIns="0" rtlCol="0" anchor="t"/>
          <a:lstStyle/>
          <a:p>
            <a:pPr indent="0" marL="0">
              <a:lnSpc>
                <a:spcPts val="2600"/>
              </a:lnSpc>
              <a:buNone/>
            </a:pPr>
            <a:r>
              <a:rPr lang="en-US" sz="1800" b="1" dirty="0">
                <a:solidFill>
                  <a:srgbClr val="FFFFFF"/>
                </a:solidFill>
                <a:latin typeface="Cambria" pitchFamily="34" charset="0"/>
                <a:ea typeface="Cambria" pitchFamily="34" charset="-122"/>
                <a:cs typeface="Cambria" pitchFamily="34" charset="-120"/>
              </a:rPr>
              <a:t>Bus Buddy tells everybody the same thing at the same time so nobody is standing in the rain guessing.</a:t>
            </a:r>
            <a:endParaRPr lang="en-US" sz="1800" dirty="0"/>
          </a:p>
        </p:txBody>
      </p:sp>
      <p:sp>
        <p:nvSpPr>
          <p:cNvPr id="8" name="Text 6"/>
          <p:cNvSpPr txBox="1"/>
          <p:nvPr/>
        </p:nvSpPr>
        <p:spPr>
          <a:xfrm>
            <a:off x="640080" y="4846320"/>
            <a:ext cx="10911535" cy="731520"/>
          </a:xfrm>
          <a:prstGeom prst="rect">
            <a:avLst/>
          </a:prstGeom>
          <a:noFill/>
          <a:ln/>
        </p:spPr>
        <p:txBody>
          <a:bodyPr wrap="square" lIns="0" tIns="0" rIns="0" bIns="0" rtlCol="0" anchor="t"/>
          <a:lstStyle/>
          <a:p>
            <a:pPr indent="0" marL="0">
              <a:lnSpc>
                <a:spcPts val="2200"/>
              </a:lnSpc>
              <a:buNone/>
            </a:pPr>
            <a:r>
              <a:rPr lang="en-US" sz="1400" dirty="0">
                <a:solidFill>
                  <a:srgbClr val="75787B"/>
                </a:solidFill>
                <a:latin typeface="Calibri" pitchFamily="34" charset="0"/>
                <a:ea typeface="Calibri" pitchFamily="34" charset="-122"/>
                <a:cs typeface="Calibri" pitchFamily="34" charset="-120"/>
              </a:rPr>
              <a:t>This is the Purpose paragraph from our product plan. It has not changed since we wrote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THE USERS</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Who it is for</a:t>
            </a:r>
            <a:endParaRPr lang="en-US" sz="3400" dirty="0"/>
          </a:p>
        </p:txBody>
      </p:sp>
      <p:sp>
        <p:nvSpPr>
          <p:cNvPr id="4" name="Shape 2"/>
          <p:cNvSpPr/>
          <p:nvPr/>
        </p:nvSpPr>
        <p:spPr>
          <a:xfrm>
            <a:off x="640080" y="1783080"/>
            <a:ext cx="2522144" cy="3383280"/>
          </a:xfrm>
          <a:prstGeom prst="roundRect">
            <a:avLst>
              <a:gd name="adj" fmla="val 326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Shape 3"/>
          <p:cNvSpPr/>
          <p:nvPr/>
        </p:nvSpPr>
        <p:spPr>
          <a:xfrm>
            <a:off x="914400" y="2029968"/>
            <a:ext cx="420624" cy="420624"/>
          </a:xfrm>
          <a:prstGeom prst="ellipse">
            <a:avLst/>
          </a:prstGeom>
          <a:solidFill>
            <a:srgbClr val="630031"/>
          </a:solidFill>
          <a:ln w="12700">
            <a:solidFill>
              <a:srgbClr val="333333"/>
            </a:solidFill>
            <a:prstDash val="solid"/>
          </a:ln>
        </p:spPr>
      </p:sp>
      <p:sp>
        <p:nvSpPr>
          <p:cNvPr id="6" name="Text 4"/>
          <p:cNvSpPr txBox="1"/>
          <p:nvPr/>
        </p:nvSpPr>
        <p:spPr>
          <a:xfrm>
            <a:off x="914400" y="202996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914400" y="2606040"/>
            <a:ext cx="1973504" cy="384048"/>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Students</a:t>
            </a:r>
            <a:endParaRPr lang="en-US" sz="1900" dirty="0"/>
          </a:p>
        </p:txBody>
      </p:sp>
      <p:sp>
        <p:nvSpPr>
          <p:cNvPr id="8" name="Text 6"/>
          <p:cNvSpPr txBox="1"/>
          <p:nvPr/>
        </p:nvSpPr>
        <p:spPr>
          <a:xfrm>
            <a:off x="914400" y="3017520"/>
            <a:ext cx="1973504" cy="1554480"/>
          </a:xfrm>
          <a:prstGeom prst="rect">
            <a:avLst/>
          </a:prstGeom>
          <a:noFill/>
          <a:ln/>
        </p:spPr>
        <p:txBody>
          <a:bodyPr wrap="square" lIns="0" tIns="0" rIns="0" bIns="0" rtlCol="0" anchor="t"/>
          <a:lstStyle/>
          <a:p>
            <a:pPr indent="0" marL="0">
              <a:lnSpc>
                <a:spcPts val="1700"/>
              </a:lnSpc>
              <a:buNone/>
            </a:pPr>
            <a:r>
              <a:rPr lang="en-US" sz="1250" dirty="0">
                <a:solidFill>
                  <a:srgbClr val="1C1A19"/>
                </a:solidFill>
                <a:latin typeface="Calibri" pitchFamily="34" charset="0"/>
                <a:ea typeface="Calibri" pitchFamily="34" charset="-122"/>
                <a:cs typeface="Calibri" pitchFamily="34" charset="-120"/>
              </a:rPr>
              <a:t>How many minutes until my bus, and is it worth leaving class early. On a phone, in a hurry, will not read anything long.</a:t>
            </a:r>
            <a:endParaRPr lang="en-US" sz="1250" dirty="0"/>
          </a:p>
        </p:txBody>
      </p:sp>
      <p:sp>
        <p:nvSpPr>
          <p:cNvPr id="9" name="Text 7"/>
          <p:cNvSpPr txBox="1"/>
          <p:nvPr/>
        </p:nvSpPr>
        <p:spPr>
          <a:xfrm>
            <a:off x="914400" y="4663440"/>
            <a:ext cx="1973504" cy="320040"/>
          </a:xfrm>
          <a:prstGeom prst="rect">
            <a:avLst/>
          </a:prstGeom>
          <a:noFill/>
          <a:ln/>
        </p:spPr>
        <p:txBody>
          <a:bodyPr wrap="square" lIns="0" tIns="0" rIns="0" bIns="0" rtlCol="0" anchor="ctr"/>
          <a:lstStyle/>
          <a:p>
            <a:pPr indent="0" marL="0">
              <a:buNone/>
            </a:pPr>
            <a:r>
              <a:rPr lang="en-US" sz="1200" i="1" dirty="0">
                <a:solidFill>
                  <a:srgbClr val="CF4420"/>
                </a:solidFill>
                <a:latin typeface="Calibri" pitchFamily="34" charset="0"/>
                <a:ea typeface="Calibri" pitchFamily="34" charset="-122"/>
                <a:cs typeface="Calibri" pitchFamily="34" charset="-120"/>
              </a:rPr>
              <a:t>3 stories</a:t>
            </a:r>
            <a:endParaRPr lang="en-US" sz="1200" dirty="0"/>
          </a:p>
        </p:txBody>
      </p:sp>
      <p:sp>
        <p:nvSpPr>
          <p:cNvPr id="10" name="Shape 8"/>
          <p:cNvSpPr/>
          <p:nvPr/>
        </p:nvSpPr>
        <p:spPr>
          <a:xfrm>
            <a:off x="3436544" y="1783080"/>
            <a:ext cx="2522144" cy="3383280"/>
          </a:xfrm>
          <a:prstGeom prst="roundRect">
            <a:avLst>
              <a:gd name="adj" fmla="val 326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1" name="Shape 9"/>
          <p:cNvSpPr/>
          <p:nvPr/>
        </p:nvSpPr>
        <p:spPr>
          <a:xfrm>
            <a:off x="3710864" y="2029968"/>
            <a:ext cx="420624" cy="420624"/>
          </a:xfrm>
          <a:prstGeom prst="ellipse">
            <a:avLst/>
          </a:prstGeom>
          <a:solidFill>
            <a:srgbClr val="630031"/>
          </a:solidFill>
          <a:ln w="12700">
            <a:solidFill>
              <a:srgbClr val="333333"/>
            </a:solidFill>
            <a:prstDash val="solid"/>
          </a:ln>
        </p:spPr>
      </p:sp>
      <p:sp>
        <p:nvSpPr>
          <p:cNvPr id="12" name="Text 10"/>
          <p:cNvSpPr txBox="1"/>
          <p:nvPr/>
        </p:nvSpPr>
        <p:spPr>
          <a:xfrm>
            <a:off x="3710864" y="202996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3710864" y="2606040"/>
            <a:ext cx="1973504" cy="384048"/>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Parents</a:t>
            </a:r>
            <a:endParaRPr lang="en-US" sz="1900" dirty="0"/>
          </a:p>
        </p:txBody>
      </p:sp>
      <p:sp>
        <p:nvSpPr>
          <p:cNvPr id="14" name="Text 12"/>
          <p:cNvSpPr txBox="1"/>
          <p:nvPr/>
        </p:nvSpPr>
        <p:spPr>
          <a:xfrm>
            <a:off x="3710864" y="3017520"/>
            <a:ext cx="1973504" cy="1554480"/>
          </a:xfrm>
          <a:prstGeom prst="rect">
            <a:avLst/>
          </a:prstGeom>
          <a:noFill/>
          <a:ln/>
        </p:spPr>
        <p:txBody>
          <a:bodyPr wrap="square" lIns="0" tIns="0" rIns="0" bIns="0" rtlCol="0" anchor="t"/>
          <a:lstStyle/>
          <a:p>
            <a:pPr indent="0" marL="0">
              <a:lnSpc>
                <a:spcPts val="1700"/>
              </a:lnSpc>
              <a:buNone/>
            </a:pPr>
            <a:r>
              <a:rPr lang="en-US" sz="1250" dirty="0">
                <a:solidFill>
                  <a:srgbClr val="1C1A19"/>
                </a:solidFill>
                <a:latin typeface="Calibri" pitchFamily="34" charset="0"/>
                <a:ea typeface="Calibri" pitchFamily="34" charset="-122"/>
                <a:cs typeface="Calibri" pitchFamily="34" charset="-120"/>
              </a:rPr>
              <a:t>Did my kid get on the bus, and when will it reach our neighborhood. Mostly they want to stop calling the school.</a:t>
            </a:r>
            <a:endParaRPr lang="en-US" sz="1250" dirty="0"/>
          </a:p>
        </p:txBody>
      </p:sp>
      <p:sp>
        <p:nvSpPr>
          <p:cNvPr id="15" name="Text 13"/>
          <p:cNvSpPr txBox="1"/>
          <p:nvPr/>
        </p:nvSpPr>
        <p:spPr>
          <a:xfrm>
            <a:off x="3710864" y="4663440"/>
            <a:ext cx="1973504" cy="320040"/>
          </a:xfrm>
          <a:prstGeom prst="rect">
            <a:avLst/>
          </a:prstGeom>
          <a:noFill/>
          <a:ln/>
        </p:spPr>
        <p:txBody>
          <a:bodyPr wrap="square" lIns="0" tIns="0" rIns="0" bIns="0" rtlCol="0" anchor="ctr"/>
          <a:lstStyle/>
          <a:p>
            <a:pPr indent="0" marL="0">
              <a:buNone/>
            </a:pPr>
            <a:r>
              <a:rPr lang="en-US" sz="1200" i="1" dirty="0">
                <a:solidFill>
                  <a:srgbClr val="CF4420"/>
                </a:solidFill>
                <a:latin typeface="Calibri" pitchFamily="34" charset="0"/>
                <a:ea typeface="Calibri" pitchFamily="34" charset="-122"/>
                <a:cs typeface="Calibri" pitchFamily="34" charset="-120"/>
              </a:rPr>
              <a:t>1 story</a:t>
            </a:r>
            <a:endParaRPr lang="en-US" sz="1200" dirty="0"/>
          </a:p>
        </p:txBody>
      </p:sp>
      <p:sp>
        <p:nvSpPr>
          <p:cNvPr id="16" name="Shape 14"/>
          <p:cNvSpPr/>
          <p:nvPr/>
        </p:nvSpPr>
        <p:spPr>
          <a:xfrm>
            <a:off x="6233008" y="1783080"/>
            <a:ext cx="2522144" cy="3383280"/>
          </a:xfrm>
          <a:prstGeom prst="roundRect">
            <a:avLst>
              <a:gd name="adj" fmla="val 326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7" name="Shape 15"/>
          <p:cNvSpPr/>
          <p:nvPr/>
        </p:nvSpPr>
        <p:spPr>
          <a:xfrm>
            <a:off x="6507328" y="2029968"/>
            <a:ext cx="420624" cy="420624"/>
          </a:xfrm>
          <a:prstGeom prst="ellipse">
            <a:avLst/>
          </a:prstGeom>
          <a:solidFill>
            <a:srgbClr val="630031"/>
          </a:solidFill>
          <a:ln w="12700">
            <a:solidFill>
              <a:srgbClr val="333333"/>
            </a:solidFill>
            <a:prstDash val="solid"/>
          </a:ln>
        </p:spPr>
      </p:sp>
      <p:sp>
        <p:nvSpPr>
          <p:cNvPr id="18" name="Text 16"/>
          <p:cNvSpPr txBox="1"/>
          <p:nvPr/>
        </p:nvSpPr>
        <p:spPr>
          <a:xfrm>
            <a:off x="6507328" y="202996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6507328" y="2606040"/>
            <a:ext cx="1973504" cy="384048"/>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Bus drivers</a:t>
            </a:r>
            <a:endParaRPr lang="en-US" sz="1900" dirty="0"/>
          </a:p>
        </p:txBody>
      </p:sp>
      <p:sp>
        <p:nvSpPr>
          <p:cNvPr id="20" name="Text 18"/>
          <p:cNvSpPr txBox="1"/>
          <p:nvPr/>
        </p:nvSpPr>
        <p:spPr>
          <a:xfrm>
            <a:off x="6507328" y="3017520"/>
            <a:ext cx="1973504" cy="1554480"/>
          </a:xfrm>
          <a:prstGeom prst="rect">
            <a:avLst/>
          </a:prstGeom>
          <a:noFill/>
          <a:ln/>
        </p:spPr>
        <p:txBody>
          <a:bodyPr wrap="square" lIns="0" tIns="0" rIns="0" bIns="0" rtlCol="0" anchor="t"/>
          <a:lstStyle/>
          <a:p>
            <a:pPr indent="0" marL="0">
              <a:lnSpc>
                <a:spcPts val="1700"/>
              </a:lnSpc>
              <a:buNone/>
            </a:pPr>
            <a:r>
              <a:rPr lang="en-US" sz="1250" dirty="0">
                <a:solidFill>
                  <a:srgbClr val="1C1A19"/>
                </a:solidFill>
                <a:latin typeface="Calibri" pitchFamily="34" charset="0"/>
                <a:ea typeface="Calibri" pitchFamily="34" charset="-122"/>
                <a:cs typeface="Calibri" pitchFamily="34" charset="-120"/>
              </a:rPr>
              <a:t>Report a delay once and have it reach everyone, instead of answering the same question forty times.</a:t>
            </a:r>
            <a:endParaRPr lang="en-US" sz="1250" dirty="0"/>
          </a:p>
        </p:txBody>
      </p:sp>
      <p:sp>
        <p:nvSpPr>
          <p:cNvPr id="21" name="Text 19"/>
          <p:cNvSpPr txBox="1"/>
          <p:nvPr/>
        </p:nvSpPr>
        <p:spPr>
          <a:xfrm>
            <a:off x="6507328" y="4663440"/>
            <a:ext cx="1973504" cy="320040"/>
          </a:xfrm>
          <a:prstGeom prst="rect">
            <a:avLst/>
          </a:prstGeom>
          <a:noFill/>
          <a:ln/>
        </p:spPr>
        <p:txBody>
          <a:bodyPr wrap="square" lIns="0" tIns="0" rIns="0" bIns="0" rtlCol="0" anchor="ctr"/>
          <a:lstStyle/>
          <a:p>
            <a:pPr indent="0" marL="0">
              <a:buNone/>
            </a:pPr>
            <a:r>
              <a:rPr lang="en-US" sz="1200" i="1" dirty="0">
                <a:solidFill>
                  <a:srgbClr val="CF4420"/>
                </a:solidFill>
                <a:latin typeface="Calibri" pitchFamily="34" charset="0"/>
                <a:ea typeface="Calibri" pitchFamily="34" charset="-122"/>
                <a:cs typeface="Calibri" pitchFamily="34" charset="-120"/>
              </a:rPr>
              <a:t>1 story</a:t>
            </a:r>
            <a:endParaRPr lang="en-US" sz="1200" dirty="0"/>
          </a:p>
        </p:txBody>
      </p:sp>
      <p:sp>
        <p:nvSpPr>
          <p:cNvPr id="22" name="Shape 20"/>
          <p:cNvSpPr/>
          <p:nvPr/>
        </p:nvSpPr>
        <p:spPr>
          <a:xfrm>
            <a:off x="9029471" y="1783080"/>
            <a:ext cx="2522144" cy="3383280"/>
          </a:xfrm>
          <a:prstGeom prst="roundRect">
            <a:avLst>
              <a:gd name="adj" fmla="val 326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3" name="Shape 21"/>
          <p:cNvSpPr/>
          <p:nvPr/>
        </p:nvSpPr>
        <p:spPr>
          <a:xfrm>
            <a:off x="9303791" y="2029968"/>
            <a:ext cx="420624" cy="420624"/>
          </a:xfrm>
          <a:prstGeom prst="ellipse">
            <a:avLst/>
          </a:prstGeom>
          <a:solidFill>
            <a:srgbClr val="630031"/>
          </a:solidFill>
          <a:ln w="12700">
            <a:solidFill>
              <a:srgbClr val="333333"/>
            </a:solidFill>
            <a:prstDash val="solid"/>
          </a:ln>
        </p:spPr>
      </p:sp>
      <p:sp>
        <p:nvSpPr>
          <p:cNvPr id="24" name="Text 22"/>
          <p:cNvSpPr txBox="1"/>
          <p:nvPr/>
        </p:nvSpPr>
        <p:spPr>
          <a:xfrm>
            <a:off x="9303791" y="202996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txBox="1"/>
          <p:nvPr/>
        </p:nvSpPr>
        <p:spPr>
          <a:xfrm>
            <a:off x="9303791" y="2606040"/>
            <a:ext cx="1973504" cy="384048"/>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Front office</a:t>
            </a:r>
            <a:endParaRPr lang="en-US" sz="1900" dirty="0"/>
          </a:p>
        </p:txBody>
      </p:sp>
      <p:sp>
        <p:nvSpPr>
          <p:cNvPr id="26" name="Text 24"/>
          <p:cNvSpPr txBox="1"/>
          <p:nvPr/>
        </p:nvSpPr>
        <p:spPr>
          <a:xfrm>
            <a:off x="9303791" y="3017520"/>
            <a:ext cx="1973504" cy="1554480"/>
          </a:xfrm>
          <a:prstGeom prst="rect">
            <a:avLst/>
          </a:prstGeom>
          <a:noFill/>
          <a:ln/>
        </p:spPr>
        <p:txBody>
          <a:bodyPr wrap="square" lIns="0" tIns="0" rIns="0" bIns="0" rtlCol="0" anchor="t"/>
          <a:lstStyle/>
          <a:p>
            <a:pPr indent="0" marL="0">
              <a:lnSpc>
                <a:spcPts val="1700"/>
              </a:lnSpc>
              <a:buNone/>
            </a:pPr>
            <a:r>
              <a:rPr lang="en-US" sz="1250" dirty="0">
                <a:solidFill>
                  <a:srgbClr val="1C1A19"/>
                </a:solidFill>
                <a:latin typeface="Calibri" pitchFamily="34" charset="0"/>
                <a:ea typeface="Calibri" pitchFamily="34" charset="-122"/>
                <a:cs typeface="Calibri" pitchFamily="34" charset="-120"/>
              </a:rPr>
              <a:t>See every route at once, so a phone call takes ten seconds instead of ten minutes.</a:t>
            </a:r>
            <a:endParaRPr lang="en-US" sz="1250" dirty="0"/>
          </a:p>
        </p:txBody>
      </p:sp>
      <p:sp>
        <p:nvSpPr>
          <p:cNvPr id="27" name="Text 25"/>
          <p:cNvSpPr txBox="1"/>
          <p:nvPr/>
        </p:nvSpPr>
        <p:spPr>
          <a:xfrm>
            <a:off x="9303791" y="4663440"/>
            <a:ext cx="1973504" cy="320040"/>
          </a:xfrm>
          <a:prstGeom prst="rect">
            <a:avLst/>
          </a:prstGeom>
          <a:noFill/>
          <a:ln/>
        </p:spPr>
        <p:txBody>
          <a:bodyPr wrap="square" lIns="0" tIns="0" rIns="0" bIns="0" rtlCol="0" anchor="ctr"/>
          <a:lstStyle/>
          <a:p>
            <a:pPr indent="0" marL="0">
              <a:buNone/>
            </a:pPr>
            <a:r>
              <a:rPr lang="en-US" sz="1200" i="1" dirty="0">
                <a:solidFill>
                  <a:srgbClr val="CF4420"/>
                </a:solidFill>
                <a:latin typeface="Calibri" pitchFamily="34" charset="0"/>
                <a:ea typeface="Calibri" pitchFamily="34" charset="-122"/>
                <a:cs typeface="Calibri" pitchFamily="34" charset="-120"/>
              </a:rPr>
              <a:t>1 story</a:t>
            </a:r>
            <a:endParaRPr lang="en-US" sz="1200" dirty="0"/>
          </a:p>
        </p:txBody>
      </p:sp>
      <p:sp>
        <p:nvSpPr>
          <p:cNvPr id="28" name="Text 26"/>
          <p:cNvSpPr txBox="1"/>
          <p:nvPr/>
        </p:nvSpPr>
        <p:spPr>
          <a:xfrm>
            <a:off x="640080" y="5440680"/>
            <a:ext cx="10911535" cy="640080"/>
          </a:xfrm>
          <a:prstGeom prst="rect">
            <a:avLst/>
          </a:prstGeom>
          <a:noFill/>
          <a:ln/>
        </p:spPr>
        <p:txBody>
          <a:bodyPr wrap="square" lIns="0" tIns="0" rIns="0" bIns="0" rtlCol="0" anchor="t"/>
          <a:lstStyle/>
          <a:p>
            <a:pPr indent="0" marL="0">
              <a:lnSpc>
                <a:spcPts val="2200"/>
              </a:lnSpc>
              <a:buNone/>
            </a:pPr>
            <a:r>
              <a:rPr lang="en-US" sz="1400" dirty="0">
                <a:solidFill>
                  <a:srgbClr val="75787B"/>
                </a:solidFill>
                <a:latin typeface="Calibri" pitchFamily="34" charset="0"/>
                <a:ea typeface="Calibri" pitchFamily="34" charset="-122"/>
                <a:cs typeface="Calibri" pitchFamily="34" charset="-120"/>
              </a:rPr>
              <a:t>From our plan's Who are the users section. Three of the six stories are the student's. The other three users have one each.</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THE FEATURES, AND WHERE EACH ONE STANDS</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What we are building</a:t>
            </a:r>
            <a:endParaRPr lang="en-US" sz="3400" dirty="0"/>
          </a:p>
        </p:txBody>
      </p:sp>
      <p:sp>
        <p:nvSpPr>
          <p:cNvPr id="4" name="Text 2"/>
          <p:cNvSpPr txBox="1"/>
          <p:nvPr/>
        </p:nvSpPr>
        <p:spPr>
          <a:xfrm>
            <a:off x="640080" y="1783080"/>
            <a:ext cx="2377440" cy="274320"/>
          </a:xfrm>
          <a:prstGeom prst="rect">
            <a:avLst/>
          </a:prstGeom>
          <a:noFill/>
          <a:ln/>
        </p:spPr>
        <p:txBody>
          <a:bodyPr wrap="square" lIns="0" tIns="0" rIns="0" bIns="0" rtlCol="0" anchor="ctr"/>
          <a:lstStyle/>
          <a:p>
            <a:pPr indent="0" marL="0">
              <a:buNone/>
            </a:pPr>
            <a:r>
              <a:rPr lang="en-US" sz="1050" b="1" spc="150" kern="0" dirty="0">
                <a:solidFill>
                  <a:srgbClr val="75787B"/>
                </a:solidFill>
                <a:latin typeface="Calibri" pitchFamily="34" charset="0"/>
                <a:ea typeface="Calibri" pitchFamily="34" charset="-122"/>
                <a:cs typeface="Calibri" pitchFamily="34" charset="-120"/>
              </a:rPr>
              <a:t>FEATURE</a:t>
            </a:r>
            <a:endParaRPr lang="en-US" sz="1050" dirty="0"/>
          </a:p>
        </p:txBody>
      </p:sp>
      <p:sp>
        <p:nvSpPr>
          <p:cNvPr id="5" name="Text 3"/>
          <p:cNvSpPr txBox="1"/>
          <p:nvPr/>
        </p:nvSpPr>
        <p:spPr>
          <a:xfrm>
            <a:off x="3154680" y="1783080"/>
            <a:ext cx="5669280" cy="274320"/>
          </a:xfrm>
          <a:prstGeom prst="rect">
            <a:avLst/>
          </a:prstGeom>
          <a:noFill/>
          <a:ln/>
        </p:spPr>
        <p:txBody>
          <a:bodyPr wrap="square" lIns="0" tIns="0" rIns="0" bIns="0" rtlCol="0" anchor="ctr"/>
          <a:lstStyle/>
          <a:p>
            <a:pPr indent="0" marL="0">
              <a:buNone/>
            </a:pPr>
            <a:r>
              <a:rPr lang="en-US" sz="1050" b="1" spc="150" kern="0" dirty="0">
                <a:solidFill>
                  <a:srgbClr val="75787B"/>
                </a:solidFill>
                <a:latin typeface="Calibri" pitchFamily="34" charset="0"/>
                <a:ea typeface="Calibri" pitchFamily="34" charset="-122"/>
                <a:cs typeface="Calibri" pitchFamily="34" charset="-120"/>
              </a:rPr>
              <a:t>WHAT IT DOES</a:t>
            </a:r>
            <a:endParaRPr lang="en-US" sz="1050" dirty="0"/>
          </a:p>
        </p:txBody>
      </p:sp>
      <p:sp>
        <p:nvSpPr>
          <p:cNvPr id="6" name="Text 4"/>
          <p:cNvSpPr txBox="1"/>
          <p:nvPr/>
        </p:nvSpPr>
        <p:spPr>
          <a:xfrm>
            <a:off x="9006840" y="1783080"/>
            <a:ext cx="822960" cy="274320"/>
          </a:xfrm>
          <a:prstGeom prst="rect">
            <a:avLst/>
          </a:prstGeom>
          <a:noFill/>
          <a:ln/>
        </p:spPr>
        <p:txBody>
          <a:bodyPr wrap="square" lIns="0" tIns="0" rIns="0" bIns="0" rtlCol="0" anchor="ctr"/>
          <a:lstStyle/>
          <a:p>
            <a:pPr indent="0" marL="0">
              <a:buNone/>
            </a:pPr>
            <a:r>
              <a:rPr lang="en-US" sz="1050" b="1" spc="150" kern="0" dirty="0">
                <a:solidFill>
                  <a:srgbClr val="75787B"/>
                </a:solidFill>
                <a:latin typeface="Calibri" pitchFamily="34" charset="0"/>
                <a:ea typeface="Calibri" pitchFamily="34" charset="-122"/>
                <a:cs typeface="Calibri" pitchFamily="34" charset="-120"/>
              </a:rPr>
              <a:t>STORIES</a:t>
            </a:r>
            <a:endParaRPr lang="en-US" sz="1050" dirty="0"/>
          </a:p>
        </p:txBody>
      </p:sp>
      <p:sp>
        <p:nvSpPr>
          <p:cNvPr id="7" name="Text 5"/>
          <p:cNvSpPr txBox="1"/>
          <p:nvPr/>
        </p:nvSpPr>
        <p:spPr>
          <a:xfrm>
            <a:off x="9966960" y="1783080"/>
            <a:ext cx="1554480" cy="274320"/>
          </a:xfrm>
          <a:prstGeom prst="rect">
            <a:avLst/>
          </a:prstGeom>
          <a:noFill/>
          <a:ln/>
        </p:spPr>
        <p:txBody>
          <a:bodyPr wrap="square" lIns="0" tIns="0" rIns="0" bIns="0" rtlCol="0" anchor="ctr"/>
          <a:lstStyle/>
          <a:p>
            <a:pPr indent="0" marL="0">
              <a:buNone/>
            </a:pPr>
            <a:r>
              <a:rPr lang="en-US" sz="1050" b="1" spc="150" kern="0" dirty="0">
                <a:solidFill>
                  <a:srgbClr val="75787B"/>
                </a:solidFill>
                <a:latin typeface="Calibri" pitchFamily="34" charset="0"/>
                <a:ea typeface="Calibri" pitchFamily="34" charset="-122"/>
                <a:cs typeface="Calibri" pitchFamily="34" charset="-120"/>
              </a:rPr>
              <a:t>STAGE</a:t>
            </a:r>
            <a:endParaRPr lang="en-US" sz="1050" dirty="0"/>
          </a:p>
        </p:txBody>
      </p:sp>
      <p:sp>
        <p:nvSpPr>
          <p:cNvPr id="8" name="Shape 6"/>
          <p:cNvSpPr/>
          <p:nvPr/>
        </p:nvSpPr>
        <p:spPr>
          <a:xfrm>
            <a:off x="640080" y="2148840"/>
            <a:ext cx="10911535" cy="658368"/>
          </a:xfrm>
          <a:prstGeom prst="roundRect">
            <a:avLst>
              <a:gd name="adj" fmla="val 125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868680" y="2148840"/>
            <a:ext cx="2194560" cy="658368"/>
          </a:xfrm>
          <a:prstGeom prst="rect">
            <a:avLst/>
          </a:prstGeom>
          <a:noFill/>
          <a:ln/>
        </p:spPr>
        <p:txBody>
          <a:bodyPr wrap="square" lIns="0" tIns="0" rIns="0" bIns="0" rtlCol="0" anchor="ctr"/>
          <a:lstStyle/>
          <a:p>
            <a:pPr indent="0" marL="0">
              <a:buNone/>
            </a:pPr>
            <a:r>
              <a:rPr lang="en-US" sz="1500" b="1" dirty="0">
                <a:solidFill>
                  <a:srgbClr val="630031"/>
                </a:solidFill>
                <a:latin typeface="Cambria" pitchFamily="34" charset="0"/>
                <a:ea typeface="Cambria" pitchFamily="34" charset="-122"/>
                <a:cs typeface="Cambria" pitchFamily="34" charset="-120"/>
              </a:rPr>
              <a:t>Bus tracker</a:t>
            </a:r>
            <a:endParaRPr lang="en-US" sz="1500" dirty="0"/>
          </a:p>
        </p:txBody>
      </p:sp>
      <p:sp>
        <p:nvSpPr>
          <p:cNvPr id="10" name="Text 8"/>
          <p:cNvSpPr txBox="1"/>
          <p:nvPr/>
        </p:nvSpPr>
        <p:spPr>
          <a:xfrm>
            <a:off x="3154680" y="2148840"/>
            <a:ext cx="5669280" cy="658368"/>
          </a:xfrm>
          <a:prstGeom prst="rect">
            <a:avLst/>
          </a:prstGeom>
          <a:noFill/>
          <a:ln/>
        </p:spPr>
        <p:txBody>
          <a:bodyPr wrap="square" lIns="0" tIns="0" rIns="0" bIns="0" rtlCol="0" anchor="ctr"/>
          <a:lstStyle/>
          <a:p>
            <a:pPr indent="0" marL="0">
              <a:buNone/>
            </a:pPr>
            <a:r>
              <a:rPr lang="en-US" sz="1250" dirty="0">
                <a:solidFill>
                  <a:srgbClr val="1C1A19"/>
                </a:solidFill>
                <a:latin typeface="Calibri" pitchFamily="34" charset="0"/>
                <a:ea typeface="Calibri" pitchFamily="34" charset="-122"/>
                <a:cs typeface="Calibri" pitchFamily="34" charset="-120"/>
              </a:rPr>
              <a:t>Countdown to your stop, and where the bus is right now</a:t>
            </a:r>
            <a:endParaRPr lang="en-US" sz="1250" dirty="0"/>
          </a:p>
        </p:txBody>
      </p:sp>
      <p:sp>
        <p:nvSpPr>
          <p:cNvPr id="11" name="Text 9"/>
          <p:cNvSpPr txBox="1"/>
          <p:nvPr/>
        </p:nvSpPr>
        <p:spPr>
          <a:xfrm>
            <a:off x="9006840" y="2148840"/>
            <a:ext cx="822960" cy="658368"/>
          </a:xfrm>
          <a:prstGeom prst="rect">
            <a:avLst/>
          </a:prstGeom>
          <a:noFill/>
          <a:ln/>
        </p:spPr>
        <p:txBody>
          <a:bodyPr wrap="square" lIns="0" tIns="0" rIns="0" bIns="0" rtlCol="0" anchor="ctr"/>
          <a:lstStyle/>
          <a:p>
            <a:pPr algn="ctr" indent="0" marL="0">
              <a:buNone/>
            </a:pPr>
            <a:r>
              <a:rPr lang="en-US" sz="1700" b="1" dirty="0">
                <a:solidFill>
                  <a:srgbClr val="1C1A19"/>
                </a:solidFill>
                <a:latin typeface="Cambria" pitchFamily="34" charset="0"/>
                <a:ea typeface="Cambria" pitchFamily="34" charset="-122"/>
                <a:cs typeface="Cambria" pitchFamily="34" charset="-120"/>
              </a:rPr>
              <a:t>2</a:t>
            </a:r>
            <a:endParaRPr lang="en-US" sz="1700" dirty="0"/>
          </a:p>
        </p:txBody>
      </p:sp>
      <p:sp>
        <p:nvSpPr>
          <p:cNvPr id="12" name="Shape 10"/>
          <p:cNvSpPr/>
          <p:nvPr/>
        </p:nvSpPr>
        <p:spPr>
          <a:xfrm>
            <a:off x="9966960" y="2322576"/>
            <a:ext cx="1371600" cy="310896"/>
          </a:xfrm>
          <a:prstGeom prst="roundRect">
            <a:avLst>
              <a:gd name="adj" fmla="val 50000"/>
            </a:avLst>
          </a:prstGeom>
          <a:solidFill>
            <a:srgbClr val="630031"/>
          </a:solidFill>
          <a:ln w="12700">
            <a:solidFill>
              <a:srgbClr val="333333"/>
            </a:solidFill>
            <a:prstDash val="solid"/>
          </a:ln>
        </p:spPr>
      </p:sp>
      <p:sp>
        <p:nvSpPr>
          <p:cNvPr id="13" name="Text 11"/>
          <p:cNvSpPr txBox="1"/>
          <p:nvPr/>
        </p:nvSpPr>
        <p:spPr>
          <a:xfrm>
            <a:off x="9966960" y="2322576"/>
            <a:ext cx="137160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Prototyped</a:t>
            </a:r>
            <a:endParaRPr lang="en-US" sz="1150" dirty="0"/>
          </a:p>
        </p:txBody>
      </p:sp>
      <p:sp>
        <p:nvSpPr>
          <p:cNvPr id="14" name="Shape 12"/>
          <p:cNvSpPr/>
          <p:nvPr/>
        </p:nvSpPr>
        <p:spPr>
          <a:xfrm>
            <a:off x="640080" y="2898648"/>
            <a:ext cx="10911535" cy="658368"/>
          </a:xfrm>
          <a:prstGeom prst="roundRect">
            <a:avLst>
              <a:gd name="adj" fmla="val 125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5" name="Text 13"/>
          <p:cNvSpPr txBox="1"/>
          <p:nvPr/>
        </p:nvSpPr>
        <p:spPr>
          <a:xfrm>
            <a:off x="868680" y="2898648"/>
            <a:ext cx="2194560" cy="658368"/>
          </a:xfrm>
          <a:prstGeom prst="rect">
            <a:avLst/>
          </a:prstGeom>
          <a:noFill/>
          <a:ln/>
        </p:spPr>
        <p:txBody>
          <a:bodyPr wrap="square" lIns="0" tIns="0" rIns="0" bIns="0" rtlCol="0" anchor="ctr"/>
          <a:lstStyle/>
          <a:p>
            <a:pPr indent="0" marL="0">
              <a:buNone/>
            </a:pPr>
            <a:r>
              <a:rPr lang="en-US" sz="1500" b="1" dirty="0">
                <a:solidFill>
                  <a:srgbClr val="630031"/>
                </a:solidFill>
                <a:latin typeface="Cambria" pitchFamily="34" charset="0"/>
                <a:ea typeface="Cambria" pitchFamily="34" charset="-122"/>
                <a:cs typeface="Cambria" pitchFamily="34" charset="-120"/>
              </a:rPr>
              <a:t>Delay alerts</a:t>
            </a:r>
            <a:endParaRPr lang="en-US" sz="1500" dirty="0"/>
          </a:p>
        </p:txBody>
      </p:sp>
      <p:sp>
        <p:nvSpPr>
          <p:cNvPr id="16" name="Text 14"/>
          <p:cNvSpPr txBox="1"/>
          <p:nvPr/>
        </p:nvSpPr>
        <p:spPr>
          <a:xfrm>
            <a:off x="3154680" y="2898648"/>
            <a:ext cx="5669280" cy="658368"/>
          </a:xfrm>
          <a:prstGeom prst="rect">
            <a:avLst/>
          </a:prstGeom>
          <a:noFill/>
          <a:ln/>
        </p:spPr>
        <p:txBody>
          <a:bodyPr wrap="square" lIns="0" tIns="0" rIns="0" bIns="0" rtlCol="0" anchor="ctr"/>
          <a:lstStyle/>
          <a:p>
            <a:pPr indent="0" marL="0">
              <a:buNone/>
            </a:pPr>
            <a:r>
              <a:rPr lang="en-US" sz="1250" dirty="0">
                <a:solidFill>
                  <a:srgbClr val="1C1A19"/>
                </a:solidFill>
                <a:latin typeface="Calibri" pitchFamily="34" charset="0"/>
                <a:ea typeface="Calibri" pitchFamily="34" charset="-122"/>
                <a:cs typeface="Calibri" pitchFamily="34" charset="-120"/>
              </a:rPr>
              <a:t>Driver reports a delay; every rider on the route sees the reason and new time</a:t>
            </a:r>
            <a:endParaRPr lang="en-US" sz="1250" dirty="0"/>
          </a:p>
        </p:txBody>
      </p:sp>
      <p:sp>
        <p:nvSpPr>
          <p:cNvPr id="17" name="Text 15"/>
          <p:cNvSpPr txBox="1"/>
          <p:nvPr/>
        </p:nvSpPr>
        <p:spPr>
          <a:xfrm>
            <a:off x="9006840" y="2898648"/>
            <a:ext cx="822960" cy="658368"/>
          </a:xfrm>
          <a:prstGeom prst="rect">
            <a:avLst/>
          </a:prstGeom>
          <a:noFill/>
          <a:ln/>
        </p:spPr>
        <p:txBody>
          <a:bodyPr wrap="square" lIns="0" tIns="0" rIns="0" bIns="0" rtlCol="0" anchor="ctr"/>
          <a:lstStyle/>
          <a:p>
            <a:pPr algn="ctr" indent="0" marL="0">
              <a:buNone/>
            </a:pPr>
            <a:r>
              <a:rPr lang="en-US" sz="1700" b="1" dirty="0">
                <a:solidFill>
                  <a:srgbClr val="1C1A19"/>
                </a:solidFill>
                <a:latin typeface="Cambria" pitchFamily="34" charset="0"/>
                <a:ea typeface="Cambria" pitchFamily="34" charset="-122"/>
                <a:cs typeface="Cambria" pitchFamily="34" charset="-120"/>
              </a:rPr>
              <a:t>2</a:t>
            </a:r>
            <a:endParaRPr lang="en-US" sz="1700" dirty="0"/>
          </a:p>
        </p:txBody>
      </p:sp>
      <p:sp>
        <p:nvSpPr>
          <p:cNvPr id="18" name="Shape 16"/>
          <p:cNvSpPr/>
          <p:nvPr/>
        </p:nvSpPr>
        <p:spPr>
          <a:xfrm>
            <a:off x="9966960" y="3072384"/>
            <a:ext cx="1371600" cy="310896"/>
          </a:xfrm>
          <a:prstGeom prst="roundRect">
            <a:avLst>
              <a:gd name="adj" fmla="val 50000"/>
            </a:avLst>
          </a:prstGeom>
          <a:solidFill>
            <a:srgbClr val="630031"/>
          </a:solidFill>
          <a:ln w="12700">
            <a:solidFill>
              <a:srgbClr val="333333"/>
            </a:solidFill>
            <a:prstDash val="solid"/>
          </a:ln>
        </p:spPr>
      </p:sp>
      <p:sp>
        <p:nvSpPr>
          <p:cNvPr id="19" name="Text 17"/>
          <p:cNvSpPr txBox="1"/>
          <p:nvPr/>
        </p:nvSpPr>
        <p:spPr>
          <a:xfrm>
            <a:off x="9966960" y="3072384"/>
            <a:ext cx="137160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Prototyped</a:t>
            </a:r>
            <a:endParaRPr lang="en-US" sz="1150" dirty="0"/>
          </a:p>
        </p:txBody>
      </p:sp>
      <p:sp>
        <p:nvSpPr>
          <p:cNvPr id="20" name="Shape 18"/>
          <p:cNvSpPr/>
          <p:nvPr/>
        </p:nvSpPr>
        <p:spPr>
          <a:xfrm>
            <a:off x="640080" y="3648456"/>
            <a:ext cx="10911535" cy="658368"/>
          </a:xfrm>
          <a:prstGeom prst="roundRect">
            <a:avLst>
              <a:gd name="adj" fmla="val 125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1" name="Text 19"/>
          <p:cNvSpPr txBox="1"/>
          <p:nvPr/>
        </p:nvSpPr>
        <p:spPr>
          <a:xfrm>
            <a:off x="868680" y="3648456"/>
            <a:ext cx="2194560" cy="658368"/>
          </a:xfrm>
          <a:prstGeom prst="rect">
            <a:avLst/>
          </a:prstGeom>
          <a:noFill/>
          <a:ln/>
        </p:spPr>
        <p:txBody>
          <a:bodyPr wrap="square" lIns="0" tIns="0" rIns="0" bIns="0" rtlCol="0" anchor="ctr"/>
          <a:lstStyle/>
          <a:p>
            <a:pPr indent="0" marL="0">
              <a:buNone/>
            </a:pPr>
            <a:r>
              <a:rPr lang="en-US" sz="1500" b="1" dirty="0">
                <a:solidFill>
                  <a:srgbClr val="630031"/>
                </a:solidFill>
                <a:latin typeface="Cambria" pitchFamily="34" charset="0"/>
                <a:ea typeface="Cambria" pitchFamily="34" charset="-122"/>
                <a:cs typeface="Cambria" pitchFamily="34" charset="-120"/>
              </a:rPr>
              <a:t>My stop setup</a:t>
            </a:r>
            <a:endParaRPr lang="en-US" sz="1500" dirty="0"/>
          </a:p>
        </p:txBody>
      </p:sp>
      <p:sp>
        <p:nvSpPr>
          <p:cNvPr id="22" name="Text 20"/>
          <p:cNvSpPr txBox="1"/>
          <p:nvPr/>
        </p:nvSpPr>
        <p:spPr>
          <a:xfrm>
            <a:off x="3154680" y="3648456"/>
            <a:ext cx="5669280" cy="658368"/>
          </a:xfrm>
          <a:prstGeom prst="rect">
            <a:avLst/>
          </a:prstGeom>
          <a:noFill/>
          <a:ln/>
        </p:spPr>
        <p:txBody>
          <a:bodyPr wrap="square" lIns="0" tIns="0" rIns="0" bIns="0" rtlCol="0" anchor="ctr"/>
          <a:lstStyle/>
          <a:p>
            <a:pPr indent="0" marL="0">
              <a:buNone/>
            </a:pPr>
            <a:r>
              <a:rPr lang="en-US" sz="1250" dirty="0">
                <a:solidFill>
                  <a:srgbClr val="1C1A19"/>
                </a:solidFill>
                <a:latin typeface="Calibri" pitchFamily="34" charset="0"/>
                <a:ea typeface="Calibri" pitchFamily="34" charset="-122"/>
                <a:cs typeface="Calibri" pitchFamily="34" charset="-120"/>
              </a:rPr>
              <a:t>Pick your bus number and stop once; the app remembers</a:t>
            </a:r>
            <a:endParaRPr lang="en-US" sz="1250" dirty="0"/>
          </a:p>
        </p:txBody>
      </p:sp>
      <p:sp>
        <p:nvSpPr>
          <p:cNvPr id="23" name="Text 21"/>
          <p:cNvSpPr txBox="1"/>
          <p:nvPr/>
        </p:nvSpPr>
        <p:spPr>
          <a:xfrm>
            <a:off x="9006840" y="3648456"/>
            <a:ext cx="822960" cy="658368"/>
          </a:xfrm>
          <a:prstGeom prst="rect">
            <a:avLst/>
          </a:prstGeom>
          <a:noFill/>
          <a:ln/>
        </p:spPr>
        <p:txBody>
          <a:bodyPr wrap="square" lIns="0" tIns="0" rIns="0" bIns="0" rtlCol="0" anchor="ctr"/>
          <a:lstStyle/>
          <a:p>
            <a:pPr algn="ctr" indent="0" marL="0">
              <a:buNone/>
            </a:pPr>
            <a:r>
              <a:rPr lang="en-US" sz="1700" b="1" dirty="0">
                <a:solidFill>
                  <a:srgbClr val="1C1A19"/>
                </a:solidFill>
                <a:latin typeface="Cambria" pitchFamily="34" charset="0"/>
                <a:ea typeface="Cambria" pitchFamily="34" charset="-122"/>
                <a:cs typeface="Cambria" pitchFamily="34" charset="-120"/>
              </a:rPr>
              <a:t>1</a:t>
            </a:r>
            <a:endParaRPr lang="en-US" sz="1700" dirty="0"/>
          </a:p>
        </p:txBody>
      </p:sp>
      <p:sp>
        <p:nvSpPr>
          <p:cNvPr id="24" name="Shape 22"/>
          <p:cNvSpPr/>
          <p:nvPr/>
        </p:nvSpPr>
        <p:spPr>
          <a:xfrm>
            <a:off x="9966960" y="3822192"/>
            <a:ext cx="1371600" cy="310896"/>
          </a:xfrm>
          <a:prstGeom prst="roundRect">
            <a:avLst>
              <a:gd name="adj" fmla="val 50000"/>
            </a:avLst>
          </a:prstGeom>
          <a:solidFill>
            <a:srgbClr val="630031"/>
          </a:solidFill>
          <a:ln w="12700">
            <a:solidFill>
              <a:srgbClr val="333333"/>
            </a:solidFill>
            <a:prstDash val="solid"/>
          </a:ln>
        </p:spPr>
      </p:sp>
      <p:sp>
        <p:nvSpPr>
          <p:cNvPr id="25" name="Text 23"/>
          <p:cNvSpPr txBox="1"/>
          <p:nvPr/>
        </p:nvSpPr>
        <p:spPr>
          <a:xfrm>
            <a:off x="9966960" y="3822192"/>
            <a:ext cx="137160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Prototyped</a:t>
            </a:r>
            <a:endParaRPr lang="en-US" sz="1150" dirty="0"/>
          </a:p>
        </p:txBody>
      </p:sp>
      <p:sp>
        <p:nvSpPr>
          <p:cNvPr id="26" name="Shape 24"/>
          <p:cNvSpPr/>
          <p:nvPr/>
        </p:nvSpPr>
        <p:spPr>
          <a:xfrm>
            <a:off x="640080" y="4398264"/>
            <a:ext cx="10911535" cy="658368"/>
          </a:xfrm>
          <a:prstGeom prst="roundRect">
            <a:avLst>
              <a:gd name="adj" fmla="val 125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7" name="Text 25"/>
          <p:cNvSpPr txBox="1"/>
          <p:nvPr/>
        </p:nvSpPr>
        <p:spPr>
          <a:xfrm>
            <a:off x="868680" y="4398264"/>
            <a:ext cx="2194560" cy="658368"/>
          </a:xfrm>
          <a:prstGeom prst="rect">
            <a:avLst/>
          </a:prstGeom>
          <a:noFill/>
          <a:ln/>
        </p:spPr>
        <p:txBody>
          <a:bodyPr wrap="square" lIns="0" tIns="0" rIns="0" bIns="0" rtlCol="0" anchor="ctr"/>
          <a:lstStyle/>
          <a:p>
            <a:pPr indent="0" marL="0">
              <a:buNone/>
            </a:pPr>
            <a:r>
              <a:rPr lang="en-US" sz="1500" b="1" dirty="0">
                <a:solidFill>
                  <a:srgbClr val="630031"/>
                </a:solidFill>
                <a:latin typeface="Cambria" pitchFamily="34" charset="0"/>
                <a:ea typeface="Cambria" pitchFamily="34" charset="-122"/>
                <a:cs typeface="Cambria" pitchFamily="34" charset="-120"/>
              </a:rPr>
              <a:t>Route board</a:t>
            </a:r>
            <a:endParaRPr lang="en-US" sz="1500" dirty="0"/>
          </a:p>
        </p:txBody>
      </p:sp>
      <p:sp>
        <p:nvSpPr>
          <p:cNvPr id="28" name="Text 26"/>
          <p:cNvSpPr txBox="1"/>
          <p:nvPr/>
        </p:nvSpPr>
        <p:spPr>
          <a:xfrm>
            <a:off x="3154680" y="4398264"/>
            <a:ext cx="5669280" cy="658368"/>
          </a:xfrm>
          <a:prstGeom prst="rect">
            <a:avLst/>
          </a:prstGeom>
          <a:noFill/>
          <a:ln/>
        </p:spPr>
        <p:txBody>
          <a:bodyPr wrap="square" lIns="0" tIns="0" rIns="0" bIns="0" rtlCol="0" anchor="ctr"/>
          <a:lstStyle/>
          <a:p>
            <a:pPr indent="0" marL="0">
              <a:buNone/>
            </a:pPr>
            <a:r>
              <a:rPr lang="en-US" sz="1250" dirty="0">
                <a:solidFill>
                  <a:srgbClr val="1C1A19"/>
                </a:solidFill>
                <a:latin typeface="Calibri" pitchFamily="34" charset="0"/>
                <a:ea typeface="Calibri" pitchFamily="34" charset="-122"/>
                <a:cs typeface="Calibri" pitchFamily="34" charset="-120"/>
              </a:rPr>
              <a:t>One screen for the front office with every route and its status</a:t>
            </a:r>
            <a:endParaRPr lang="en-US" sz="1250" dirty="0"/>
          </a:p>
        </p:txBody>
      </p:sp>
      <p:sp>
        <p:nvSpPr>
          <p:cNvPr id="29" name="Text 27"/>
          <p:cNvSpPr txBox="1"/>
          <p:nvPr/>
        </p:nvSpPr>
        <p:spPr>
          <a:xfrm>
            <a:off x="9006840" y="4398264"/>
            <a:ext cx="822960" cy="658368"/>
          </a:xfrm>
          <a:prstGeom prst="rect">
            <a:avLst/>
          </a:prstGeom>
          <a:noFill/>
          <a:ln/>
        </p:spPr>
        <p:txBody>
          <a:bodyPr wrap="square" lIns="0" tIns="0" rIns="0" bIns="0" rtlCol="0" anchor="ctr"/>
          <a:lstStyle/>
          <a:p>
            <a:pPr algn="ctr" indent="0" marL="0">
              <a:buNone/>
            </a:pPr>
            <a:r>
              <a:rPr lang="en-US" sz="1700" b="1" dirty="0">
                <a:solidFill>
                  <a:srgbClr val="1C1A19"/>
                </a:solidFill>
                <a:latin typeface="Cambria" pitchFamily="34" charset="0"/>
                <a:ea typeface="Cambria" pitchFamily="34" charset="-122"/>
                <a:cs typeface="Cambria" pitchFamily="34" charset="-120"/>
              </a:rPr>
              <a:t>1</a:t>
            </a:r>
            <a:endParaRPr lang="en-US" sz="1700" dirty="0"/>
          </a:p>
        </p:txBody>
      </p:sp>
      <p:sp>
        <p:nvSpPr>
          <p:cNvPr id="30" name="Shape 28"/>
          <p:cNvSpPr/>
          <p:nvPr/>
        </p:nvSpPr>
        <p:spPr>
          <a:xfrm>
            <a:off x="9966960" y="4572000"/>
            <a:ext cx="1371600" cy="310896"/>
          </a:xfrm>
          <a:prstGeom prst="roundRect">
            <a:avLst>
              <a:gd name="adj" fmla="val 50000"/>
            </a:avLst>
          </a:prstGeom>
          <a:solidFill>
            <a:srgbClr val="630031"/>
          </a:solidFill>
          <a:ln w="12700">
            <a:solidFill>
              <a:srgbClr val="333333"/>
            </a:solidFill>
            <a:prstDash val="solid"/>
          </a:ln>
        </p:spPr>
      </p:sp>
      <p:sp>
        <p:nvSpPr>
          <p:cNvPr id="31" name="Text 29"/>
          <p:cNvSpPr txBox="1"/>
          <p:nvPr/>
        </p:nvSpPr>
        <p:spPr>
          <a:xfrm>
            <a:off x="9966960" y="4572000"/>
            <a:ext cx="137160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Prototyped</a:t>
            </a:r>
            <a:endParaRPr lang="en-US" sz="1150" dirty="0"/>
          </a:p>
        </p:txBody>
      </p:sp>
      <p:sp>
        <p:nvSpPr>
          <p:cNvPr id="32" name="Shape 30"/>
          <p:cNvSpPr/>
          <p:nvPr/>
        </p:nvSpPr>
        <p:spPr>
          <a:xfrm>
            <a:off x="640080" y="5148072"/>
            <a:ext cx="10911535" cy="658368"/>
          </a:xfrm>
          <a:prstGeom prst="roundRect">
            <a:avLst>
              <a:gd name="adj" fmla="val 125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33" name="Text 31"/>
          <p:cNvSpPr txBox="1"/>
          <p:nvPr/>
        </p:nvSpPr>
        <p:spPr>
          <a:xfrm>
            <a:off x="868680" y="5148072"/>
            <a:ext cx="2194560" cy="658368"/>
          </a:xfrm>
          <a:prstGeom prst="rect">
            <a:avLst/>
          </a:prstGeom>
          <a:noFill/>
          <a:ln/>
        </p:spPr>
        <p:txBody>
          <a:bodyPr wrap="square" lIns="0" tIns="0" rIns="0" bIns="0" rtlCol="0" anchor="ctr"/>
          <a:lstStyle/>
          <a:p>
            <a:pPr indent="0" marL="0">
              <a:buNone/>
            </a:pPr>
            <a:r>
              <a:rPr lang="en-US" sz="1500" b="1" dirty="0">
                <a:solidFill>
                  <a:srgbClr val="630031"/>
                </a:solidFill>
                <a:latin typeface="Cambria" pitchFamily="34" charset="0"/>
                <a:ea typeface="Cambria" pitchFamily="34" charset="-122"/>
                <a:cs typeface="Cambria" pitchFamily="34" charset="-120"/>
              </a:rPr>
              <a:t>Ride history</a:t>
            </a:r>
            <a:endParaRPr lang="en-US" sz="1500" dirty="0"/>
          </a:p>
        </p:txBody>
      </p:sp>
      <p:sp>
        <p:nvSpPr>
          <p:cNvPr id="34" name="Text 32"/>
          <p:cNvSpPr txBox="1"/>
          <p:nvPr/>
        </p:nvSpPr>
        <p:spPr>
          <a:xfrm>
            <a:off x="3154680" y="5148072"/>
            <a:ext cx="5669280" cy="658368"/>
          </a:xfrm>
          <a:prstGeom prst="rect">
            <a:avLst/>
          </a:prstGeom>
          <a:noFill/>
          <a:ln/>
        </p:spPr>
        <p:txBody>
          <a:bodyPr wrap="square" lIns="0" tIns="0" rIns="0" bIns="0" rtlCol="0" anchor="ctr"/>
          <a:lstStyle/>
          <a:p>
            <a:pPr indent="0" marL="0">
              <a:buNone/>
            </a:pPr>
            <a:r>
              <a:rPr lang="en-US" sz="1250" dirty="0">
                <a:solidFill>
                  <a:srgbClr val="1C1A19"/>
                </a:solidFill>
                <a:latin typeface="Calibri" pitchFamily="34" charset="0"/>
                <a:ea typeface="Calibri" pitchFamily="34" charset="-122"/>
                <a:cs typeface="Calibri" pitchFamily="34" charset="-120"/>
              </a:rPr>
              <a:t>Which buses a student rode and when</a:t>
            </a:r>
            <a:endParaRPr lang="en-US" sz="1250" dirty="0"/>
          </a:p>
        </p:txBody>
      </p:sp>
      <p:sp>
        <p:nvSpPr>
          <p:cNvPr id="35" name="Text 33"/>
          <p:cNvSpPr txBox="1"/>
          <p:nvPr/>
        </p:nvSpPr>
        <p:spPr>
          <a:xfrm>
            <a:off x="9006840" y="5148072"/>
            <a:ext cx="822960" cy="658368"/>
          </a:xfrm>
          <a:prstGeom prst="rect">
            <a:avLst/>
          </a:prstGeom>
          <a:noFill/>
          <a:ln/>
        </p:spPr>
        <p:txBody>
          <a:bodyPr wrap="square" lIns="0" tIns="0" rIns="0" bIns="0" rtlCol="0" anchor="ctr"/>
          <a:lstStyle/>
          <a:p>
            <a:pPr algn="ctr" indent="0" marL="0">
              <a:buNone/>
            </a:pPr>
            <a:r>
              <a:rPr lang="en-US" sz="1700" b="1" dirty="0">
                <a:solidFill>
                  <a:srgbClr val="1C1A19"/>
                </a:solidFill>
                <a:latin typeface="Cambria" pitchFamily="34" charset="0"/>
                <a:ea typeface="Cambria" pitchFamily="34" charset="-122"/>
                <a:cs typeface="Cambria" pitchFamily="34" charset="-120"/>
              </a:rPr>
              <a:t>0</a:t>
            </a:r>
            <a:endParaRPr lang="en-US" sz="1700" dirty="0"/>
          </a:p>
        </p:txBody>
      </p:sp>
      <p:sp>
        <p:nvSpPr>
          <p:cNvPr id="36" name="Shape 34"/>
          <p:cNvSpPr/>
          <p:nvPr/>
        </p:nvSpPr>
        <p:spPr>
          <a:xfrm>
            <a:off x="9966960" y="5321808"/>
            <a:ext cx="1371600" cy="310896"/>
          </a:xfrm>
          <a:prstGeom prst="roundRect">
            <a:avLst>
              <a:gd name="adj" fmla="val 50000"/>
            </a:avLst>
          </a:prstGeom>
          <a:solidFill>
            <a:srgbClr val="9A3B24"/>
          </a:solidFill>
          <a:ln w="12700">
            <a:solidFill>
              <a:srgbClr val="333333"/>
            </a:solidFill>
            <a:prstDash val="solid"/>
          </a:ln>
        </p:spPr>
      </p:sp>
      <p:sp>
        <p:nvSpPr>
          <p:cNvPr id="37" name="Text 35"/>
          <p:cNvSpPr txBox="1"/>
          <p:nvPr/>
        </p:nvSpPr>
        <p:spPr>
          <a:xfrm>
            <a:off x="9966960" y="5321808"/>
            <a:ext cx="137160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No story yet</a:t>
            </a:r>
            <a:endParaRPr lang="en-US" sz="1150" dirty="0"/>
          </a:p>
        </p:txBody>
      </p:sp>
      <p:sp>
        <p:nvSpPr>
          <p:cNvPr id="38" name="Text 36"/>
          <p:cNvSpPr txBox="1"/>
          <p:nvPr/>
        </p:nvSpPr>
        <p:spPr>
          <a:xfrm>
            <a:off x="640080" y="6035040"/>
            <a:ext cx="10911535" cy="731520"/>
          </a:xfrm>
          <a:prstGeom prst="rect">
            <a:avLst/>
          </a:prstGeom>
          <a:noFill/>
          <a:ln/>
        </p:spPr>
        <p:txBody>
          <a:bodyPr wrap="square" lIns="0" tIns="0" rIns="0" bIns="0" rtlCol="0" anchor="t"/>
          <a:lstStyle/>
          <a:p>
            <a:pPr indent="0" marL="0">
              <a:lnSpc>
                <a:spcPts val="2200"/>
              </a:lnSpc>
              <a:buNone/>
            </a:pPr>
            <a:r>
              <a:rPr lang="en-US" sz="1300" dirty="0">
                <a:solidFill>
                  <a:srgbClr val="75787B"/>
                </a:solidFill>
                <a:latin typeface="Calibri" pitchFamily="34" charset="0"/>
                <a:ea typeface="Calibri" pitchFamily="34" charset="-122"/>
                <a:cs typeface="Calibri" pitchFamily="34" charset="-120"/>
              </a:rPr>
              <a:t>Prototyped means the screen exists in the generated prototype and can be clicked. Nothing is built in Anvil yet. Ride history has an empty screen because nobody has written its story.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30031"/>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Where we are</a:t>
            </a:r>
            <a:endParaRPr lang="en-US" sz="3400" dirty="0"/>
          </a:p>
        </p:txBody>
      </p:sp>
      <p:sp>
        <p:nvSpPr>
          <p:cNvPr id="3" name="Text 1"/>
          <p:cNvSpPr txBox="1"/>
          <p:nvPr/>
        </p:nvSpPr>
        <p:spPr>
          <a:xfrm>
            <a:off x="640080" y="1371600"/>
            <a:ext cx="10911535" cy="457200"/>
          </a:xfrm>
          <a:prstGeom prst="rect">
            <a:avLst/>
          </a:prstGeom>
          <a:noFill/>
          <a:ln/>
        </p:spPr>
        <p:txBody>
          <a:bodyPr wrap="square" lIns="0" tIns="0" rIns="0" bIns="0" rtlCol="0" anchor="ctr"/>
          <a:lstStyle/>
          <a:p>
            <a:pPr indent="0" marL="0">
              <a:buNone/>
            </a:pPr>
            <a:r>
              <a:rPr lang="en-US" sz="1500" dirty="0">
                <a:solidFill>
                  <a:srgbClr val="E9C9D6"/>
                </a:solidFill>
                <a:latin typeface="Calibri" pitchFamily="34" charset="0"/>
                <a:ea typeface="Calibri" pitchFamily="34" charset="-122"/>
                <a:cs typeface="Calibri" pitchFamily="34" charset="-120"/>
              </a:rPr>
              <a:t>Each step reads the one before it. Skipping one does not save time; it moves the work somewhere harder.</a:t>
            </a:r>
            <a:endParaRPr lang="en-US" sz="1500" dirty="0"/>
          </a:p>
        </p:txBody>
      </p:sp>
      <p:sp>
        <p:nvSpPr>
          <p:cNvPr id="4" name="Shape 2"/>
          <p:cNvSpPr/>
          <p:nvPr/>
        </p:nvSpPr>
        <p:spPr>
          <a:xfrm>
            <a:off x="640080" y="2286000"/>
            <a:ext cx="1620469" cy="960120"/>
          </a:xfrm>
          <a:prstGeom prst="roundRect">
            <a:avLst>
              <a:gd name="adj" fmla="val 9524"/>
            </a:avLst>
          </a:prstGeom>
          <a:solidFill>
            <a:srgbClr val="2E4A3B"/>
          </a:solidFill>
          <a:ln w="12700">
            <a:solidFill>
              <a:srgbClr val="2E4A3B"/>
            </a:solidFill>
            <a:prstDash val="solid"/>
          </a:ln>
        </p:spPr>
      </p:sp>
      <p:sp>
        <p:nvSpPr>
          <p:cNvPr id="5" name="Text 3"/>
          <p:cNvSpPr txBox="1"/>
          <p:nvPr/>
        </p:nvSpPr>
        <p:spPr>
          <a:xfrm>
            <a:off x="640080" y="2286000"/>
            <a:ext cx="1620469" cy="9601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Product plan</a:t>
            </a:r>
            <a:endParaRPr lang="en-US" sz="1400" dirty="0"/>
          </a:p>
        </p:txBody>
      </p:sp>
      <p:sp>
        <p:nvSpPr>
          <p:cNvPr id="6" name="Text 4"/>
          <p:cNvSpPr txBox="1"/>
          <p:nvPr/>
        </p:nvSpPr>
        <p:spPr>
          <a:xfrm>
            <a:off x="640080" y="3310128"/>
            <a:ext cx="1620469" cy="274320"/>
          </a:xfrm>
          <a:prstGeom prst="rect">
            <a:avLst/>
          </a:prstGeom>
          <a:noFill/>
          <a:ln/>
        </p:spPr>
        <p:txBody>
          <a:bodyPr wrap="square" lIns="0" tIns="0" rIns="0" bIns="0" rtlCol="0" anchor="ctr"/>
          <a:lstStyle/>
          <a:p>
            <a:pPr algn="ctr" indent="0" marL="0">
              <a:buNone/>
            </a:pPr>
            <a:r>
              <a:rPr lang="en-US" sz="1150" i="1" dirty="0">
                <a:solidFill>
                  <a:srgbClr val="E9C9D6"/>
                </a:solidFill>
                <a:latin typeface="Calibri" pitchFamily="34" charset="0"/>
                <a:ea typeface="Calibri" pitchFamily="34" charset="-122"/>
                <a:cs typeface="Calibri" pitchFamily="34" charset="-120"/>
              </a:rPr>
              <a:t>done</a:t>
            </a:r>
            <a:endParaRPr lang="en-US" sz="1150" dirty="0"/>
          </a:p>
        </p:txBody>
      </p:sp>
      <p:sp>
        <p:nvSpPr>
          <p:cNvPr id="7" name="Text 5"/>
          <p:cNvSpPr txBox="1"/>
          <p:nvPr/>
        </p:nvSpPr>
        <p:spPr>
          <a:xfrm>
            <a:off x="2260549" y="2286000"/>
            <a:ext cx="237744" cy="960120"/>
          </a:xfrm>
          <a:prstGeom prst="rect">
            <a:avLst/>
          </a:prstGeom>
          <a:noFill/>
          <a:ln/>
        </p:spPr>
        <p:txBody>
          <a:bodyPr wrap="square" lIns="0" tIns="0" rIns="0" bIns="0" rtlCol="0" anchor="ctr"/>
          <a:lstStyle/>
          <a:p>
            <a:pPr algn="ctr" indent="0" marL="0">
              <a:buNone/>
            </a:pPr>
            <a:r>
              <a:rPr lang="en-US" sz="1400" dirty="0">
                <a:solidFill>
                  <a:srgbClr val="C79AAF"/>
                </a:solidFill>
                <a:latin typeface="Calibri" pitchFamily="34" charset="0"/>
                <a:ea typeface="Calibri" pitchFamily="34" charset="-122"/>
                <a:cs typeface="Calibri" pitchFamily="34" charset="-120"/>
              </a:rPr>
              <a:t>→</a:t>
            </a:r>
            <a:endParaRPr lang="en-US" sz="1400" dirty="0"/>
          </a:p>
        </p:txBody>
      </p:sp>
      <p:sp>
        <p:nvSpPr>
          <p:cNvPr id="8" name="Shape 6"/>
          <p:cNvSpPr/>
          <p:nvPr/>
        </p:nvSpPr>
        <p:spPr>
          <a:xfrm>
            <a:off x="2498293" y="2286000"/>
            <a:ext cx="1620469" cy="960120"/>
          </a:xfrm>
          <a:prstGeom prst="roundRect">
            <a:avLst>
              <a:gd name="adj" fmla="val 9524"/>
            </a:avLst>
          </a:prstGeom>
          <a:solidFill>
            <a:srgbClr val="2E4A3B"/>
          </a:solidFill>
          <a:ln w="12700">
            <a:solidFill>
              <a:srgbClr val="2E4A3B"/>
            </a:solidFill>
            <a:prstDash val="solid"/>
          </a:ln>
        </p:spPr>
      </p:sp>
      <p:sp>
        <p:nvSpPr>
          <p:cNvPr id="9" name="Text 7"/>
          <p:cNvSpPr txBox="1"/>
          <p:nvPr/>
        </p:nvSpPr>
        <p:spPr>
          <a:xfrm>
            <a:off x="2498293" y="2286000"/>
            <a:ext cx="1620469" cy="9601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User stories</a:t>
            </a:r>
            <a:endParaRPr lang="en-US" sz="1400" dirty="0"/>
          </a:p>
        </p:txBody>
      </p:sp>
      <p:sp>
        <p:nvSpPr>
          <p:cNvPr id="10" name="Text 8"/>
          <p:cNvSpPr txBox="1"/>
          <p:nvPr/>
        </p:nvSpPr>
        <p:spPr>
          <a:xfrm>
            <a:off x="2498293" y="3310128"/>
            <a:ext cx="1620469" cy="274320"/>
          </a:xfrm>
          <a:prstGeom prst="rect">
            <a:avLst/>
          </a:prstGeom>
          <a:noFill/>
          <a:ln/>
        </p:spPr>
        <p:txBody>
          <a:bodyPr wrap="square" lIns="0" tIns="0" rIns="0" bIns="0" rtlCol="0" anchor="ctr"/>
          <a:lstStyle/>
          <a:p>
            <a:pPr algn="ctr" indent="0" marL="0">
              <a:buNone/>
            </a:pPr>
            <a:r>
              <a:rPr lang="en-US" sz="1150" i="1" dirty="0">
                <a:solidFill>
                  <a:srgbClr val="E9C9D6"/>
                </a:solidFill>
                <a:latin typeface="Calibri" pitchFamily="34" charset="0"/>
                <a:ea typeface="Calibri" pitchFamily="34" charset="-122"/>
                <a:cs typeface="Calibri" pitchFamily="34" charset="-120"/>
              </a:rPr>
              <a:t>done</a:t>
            </a:r>
            <a:endParaRPr lang="en-US" sz="1150" dirty="0"/>
          </a:p>
        </p:txBody>
      </p:sp>
      <p:sp>
        <p:nvSpPr>
          <p:cNvPr id="11" name="Text 9"/>
          <p:cNvSpPr txBox="1"/>
          <p:nvPr/>
        </p:nvSpPr>
        <p:spPr>
          <a:xfrm>
            <a:off x="4118762" y="2286000"/>
            <a:ext cx="237744" cy="960120"/>
          </a:xfrm>
          <a:prstGeom prst="rect">
            <a:avLst/>
          </a:prstGeom>
          <a:noFill/>
          <a:ln/>
        </p:spPr>
        <p:txBody>
          <a:bodyPr wrap="square" lIns="0" tIns="0" rIns="0" bIns="0" rtlCol="0" anchor="ctr"/>
          <a:lstStyle/>
          <a:p>
            <a:pPr algn="ctr" indent="0" marL="0">
              <a:buNone/>
            </a:pPr>
            <a:r>
              <a:rPr lang="en-US" sz="1400" dirty="0">
                <a:solidFill>
                  <a:srgbClr val="C79AAF"/>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4356506" y="2286000"/>
            <a:ext cx="1620469" cy="960120"/>
          </a:xfrm>
          <a:prstGeom prst="roundRect">
            <a:avLst>
              <a:gd name="adj" fmla="val 9524"/>
            </a:avLst>
          </a:prstGeom>
          <a:solidFill>
            <a:srgbClr val="CF4420"/>
          </a:solidFill>
          <a:ln w="12700">
            <a:solidFill>
              <a:srgbClr val="CF4420"/>
            </a:solidFill>
            <a:prstDash val="solid"/>
          </a:ln>
        </p:spPr>
      </p:sp>
      <p:sp>
        <p:nvSpPr>
          <p:cNvPr id="13" name="Text 11"/>
          <p:cNvSpPr txBox="1"/>
          <p:nvPr/>
        </p:nvSpPr>
        <p:spPr>
          <a:xfrm>
            <a:off x="4356506" y="2286000"/>
            <a:ext cx="1620469" cy="9601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Build cards</a:t>
            </a:r>
            <a:endParaRPr lang="en-US" sz="1400" dirty="0"/>
          </a:p>
        </p:txBody>
      </p:sp>
      <p:sp>
        <p:nvSpPr>
          <p:cNvPr id="14" name="Text 12"/>
          <p:cNvSpPr txBox="1"/>
          <p:nvPr/>
        </p:nvSpPr>
        <p:spPr>
          <a:xfrm>
            <a:off x="4356506" y="3310128"/>
            <a:ext cx="1620469" cy="274320"/>
          </a:xfrm>
          <a:prstGeom prst="rect">
            <a:avLst/>
          </a:prstGeom>
          <a:noFill/>
          <a:ln/>
        </p:spPr>
        <p:txBody>
          <a:bodyPr wrap="square" lIns="0" tIns="0" rIns="0" bIns="0" rtlCol="0" anchor="ctr"/>
          <a:lstStyle/>
          <a:p>
            <a:pPr algn="ctr" indent="0" marL="0">
              <a:buNone/>
            </a:pPr>
            <a:r>
              <a:rPr lang="en-US" sz="1150" i="1" dirty="0">
                <a:solidFill>
                  <a:srgbClr val="CF4420"/>
                </a:solidFill>
                <a:latin typeface="Calibri" pitchFamily="34" charset="0"/>
                <a:ea typeface="Calibri" pitchFamily="34" charset="-122"/>
                <a:cs typeface="Calibri" pitchFamily="34" charset="-120"/>
              </a:rPr>
              <a:t>you are here</a:t>
            </a:r>
            <a:endParaRPr lang="en-US" sz="1150" dirty="0"/>
          </a:p>
        </p:txBody>
      </p:sp>
      <p:sp>
        <p:nvSpPr>
          <p:cNvPr id="15" name="Text 13"/>
          <p:cNvSpPr txBox="1"/>
          <p:nvPr/>
        </p:nvSpPr>
        <p:spPr>
          <a:xfrm>
            <a:off x="5976976" y="2286000"/>
            <a:ext cx="237744" cy="960120"/>
          </a:xfrm>
          <a:prstGeom prst="rect">
            <a:avLst/>
          </a:prstGeom>
          <a:noFill/>
          <a:ln/>
        </p:spPr>
        <p:txBody>
          <a:bodyPr wrap="square" lIns="0" tIns="0" rIns="0" bIns="0" rtlCol="0" anchor="ctr"/>
          <a:lstStyle/>
          <a:p>
            <a:pPr algn="ctr" indent="0" marL="0">
              <a:buNone/>
            </a:pPr>
            <a:r>
              <a:rPr lang="en-US" sz="1400" dirty="0">
                <a:solidFill>
                  <a:srgbClr val="C79AAF"/>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6214720" y="2286000"/>
            <a:ext cx="1620469" cy="960120"/>
          </a:xfrm>
          <a:prstGeom prst="roundRect">
            <a:avLst>
              <a:gd name="adj" fmla="val 9524"/>
            </a:avLst>
          </a:prstGeom>
          <a:solidFill>
            <a:srgbClr val="4A0025"/>
          </a:solidFill>
          <a:ln w="12700">
            <a:solidFill>
              <a:srgbClr val="7A2049"/>
            </a:solidFill>
            <a:prstDash val="solid"/>
          </a:ln>
        </p:spPr>
      </p:sp>
      <p:sp>
        <p:nvSpPr>
          <p:cNvPr id="17" name="Text 15"/>
          <p:cNvSpPr txBox="1"/>
          <p:nvPr/>
        </p:nvSpPr>
        <p:spPr>
          <a:xfrm>
            <a:off x="6214720" y="2286000"/>
            <a:ext cx="1620469" cy="9601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Architecture</a:t>
            </a:r>
            <a:endParaRPr lang="en-US" sz="1400" dirty="0"/>
          </a:p>
        </p:txBody>
      </p:sp>
      <p:sp>
        <p:nvSpPr>
          <p:cNvPr id="18" name="Text 16"/>
          <p:cNvSpPr txBox="1"/>
          <p:nvPr/>
        </p:nvSpPr>
        <p:spPr>
          <a:xfrm>
            <a:off x="6214720" y="3310128"/>
            <a:ext cx="1620469" cy="274320"/>
          </a:xfrm>
          <a:prstGeom prst="rect">
            <a:avLst/>
          </a:prstGeom>
          <a:noFill/>
          <a:ln/>
        </p:spPr>
        <p:txBody>
          <a:bodyPr wrap="square" lIns="0" tIns="0" rIns="0" bIns="0" rtlCol="0" anchor="ctr"/>
          <a:lstStyle/>
          <a:p>
            <a:pPr algn="ctr" indent="0" marL="0">
              <a:buNone/>
            </a:pPr>
            <a:r>
              <a:rPr lang="en-US" sz="1150" i="1" dirty="0">
                <a:solidFill>
                  <a:srgbClr val="E9C9D6"/>
                </a:solidFill>
                <a:latin typeface="Calibri" pitchFamily="34" charset="0"/>
                <a:ea typeface="Calibri" pitchFamily="34" charset="-122"/>
                <a:cs typeface="Calibri" pitchFamily="34" charset="-120"/>
              </a:rPr>
              <a:t>not yet</a:t>
            </a:r>
            <a:endParaRPr lang="en-US" sz="1150" dirty="0"/>
          </a:p>
        </p:txBody>
      </p:sp>
      <p:sp>
        <p:nvSpPr>
          <p:cNvPr id="19" name="Text 17"/>
          <p:cNvSpPr txBox="1"/>
          <p:nvPr/>
        </p:nvSpPr>
        <p:spPr>
          <a:xfrm>
            <a:off x="7835189" y="2286000"/>
            <a:ext cx="237744" cy="960120"/>
          </a:xfrm>
          <a:prstGeom prst="rect">
            <a:avLst/>
          </a:prstGeom>
          <a:noFill/>
          <a:ln/>
        </p:spPr>
        <p:txBody>
          <a:bodyPr wrap="square" lIns="0" tIns="0" rIns="0" bIns="0" rtlCol="0" anchor="ctr"/>
          <a:lstStyle/>
          <a:p>
            <a:pPr algn="ctr" indent="0" marL="0">
              <a:buNone/>
            </a:pPr>
            <a:r>
              <a:rPr lang="en-US" sz="1400" dirty="0">
                <a:solidFill>
                  <a:srgbClr val="C79AAF"/>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8072933" y="2286000"/>
            <a:ext cx="1620469" cy="960120"/>
          </a:xfrm>
          <a:prstGeom prst="roundRect">
            <a:avLst>
              <a:gd name="adj" fmla="val 9524"/>
            </a:avLst>
          </a:prstGeom>
          <a:solidFill>
            <a:srgbClr val="4A0025"/>
          </a:solidFill>
          <a:ln w="12700">
            <a:solidFill>
              <a:srgbClr val="7A2049"/>
            </a:solidFill>
            <a:prstDash val="solid"/>
          </a:ln>
        </p:spPr>
      </p:sp>
      <p:sp>
        <p:nvSpPr>
          <p:cNvPr id="21" name="Text 19"/>
          <p:cNvSpPr txBox="1"/>
          <p:nvPr/>
        </p:nvSpPr>
        <p:spPr>
          <a:xfrm>
            <a:off x="8072933" y="2286000"/>
            <a:ext cx="1620469" cy="9601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Design</a:t>
            </a:r>
            <a:endParaRPr lang="en-US" sz="1400" dirty="0"/>
          </a:p>
        </p:txBody>
      </p:sp>
      <p:sp>
        <p:nvSpPr>
          <p:cNvPr id="22" name="Text 20"/>
          <p:cNvSpPr txBox="1"/>
          <p:nvPr/>
        </p:nvSpPr>
        <p:spPr>
          <a:xfrm>
            <a:off x="8072933" y="3310128"/>
            <a:ext cx="1620469" cy="274320"/>
          </a:xfrm>
          <a:prstGeom prst="rect">
            <a:avLst/>
          </a:prstGeom>
          <a:noFill/>
          <a:ln/>
        </p:spPr>
        <p:txBody>
          <a:bodyPr wrap="square" lIns="0" tIns="0" rIns="0" bIns="0" rtlCol="0" anchor="ctr"/>
          <a:lstStyle/>
          <a:p>
            <a:pPr algn="ctr" indent="0" marL="0">
              <a:buNone/>
            </a:pPr>
            <a:r>
              <a:rPr lang="en-US" sz="1150" i="1" dirty="0">
                <a:solidFill>
                  <a:srgbClr val="E9C9D6"/>
                </a:solidFill>
                <a:latin typeface="Calibri" pitchFamily="34" charset="0"/>
                <a:ea typeface="Calibri" pitchFamily="34" charset="-122"/>
                <a:cs typeface="Calibri" pitchFamily="34" charset="-120"/>
              </a:rPr>
              <a:t>not yet</a:t>
            </a:r>
            <a:endParaRPr lang="en-US" sz="1150" dirty="0"/>
          </a:p>
        </p:txBody>
      </p:sp>
      <p:sp>
        <p:nvSpPr>
          <p:cNvPr id="23" name="Text 21"/>
          <p:cNvSpPr txBox="1"/>
          <p:nvPr/>
        </p:nvSpPr>
        <p:spPr>
          <a:xfrm>
            <a:off x="9693402" y="2286000"/>
            <a:ext cx="237744" cy="960120"/>
          </a:xfrm>
          <a:prstGeom prst="rect">
            <a:avLst/>
          </a:prstGeom>
          <a:noFill/>
          <a:ln/>
        </p:spPr>
        <p:txBody>
          <a:bodyPr wrap="square" lIns="0" tIns="0" rIns="0" bIns="0" rtlCol="0" anchor="ctr"/>
          <a:lstStyle/>
          <a:p>
            <a:pPr algn="ctr" indent="0" marL="0">
              <a:buNone/>
            </a:pPr>
            <a:r>
              <a:rPr lang="en-US" sz="1400" dirty="0">
                <a:solidFill>
                  <a:srgbClr val="C79AAF"/>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9931146" y="2286000"/>
            <a:ext cx="1620469" cy="960120"/>
          </a:xfrm>
          <a:prstGeom prst="roundRect">
            <a:avLst>
              <a:gd name="adj" fmla="val 9524"/>
            </a:avLst>
          </a:prstGeom>
          <a:solidFill>
            <a:srgbClr val="4A0025"/>
          </a:solidFill>
          <a:ln w="12700">
            <a:solidFill>
              <a:srgbClr val="7A2049"/>
            </a:solidFill>
            <a:prstDash val="solid"/>
          </a:ln>
        </p:spPr>
      </p:sp>
      <p:sp>
        <p:nvSpPr>
          <p:cNvPr id="25" name="Text 23"/>
          <p:cNvSpPr txBox="1"/>
          <p:nvPr/>
        </p:nvSpPr>
        <p:spPr>
          <a:xfrm>
            <a:off x="9931146" y="2286000"/>
            <a:ext cx="1620469" cy="9601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Build</a:t>
            </a:r>
            <a:endParaRPr lang="en-US" sz="1400" dirty="0"/>
          </a:p>
        </p:txBody>
      </p:sp>
      <p:sp>
        <p:nvSpPr>
          <p:cNvPr id="26" name="Text 24"/>
          <p:cNvSpPr txBox="1"/>
          <p:nvPr/>
        </p:nvSpPr>
        <p:spPr>
          <a:xfrm>
            <a:off x="9931146" y="3310128"/>
            <a:ext cx="1620469" cy="274320"/>
          </a:xfrm>
          <a:prstGeom prst="rect">
            <a:avLst/>
          </a:prstGeom>
          <a:noFill/>
          <a:ln/>
        </p:spPr>
        <p:txBody>
          <a:bodyPr wrap="square" lIns="0" tIns="0" rIns="0" bIns="0" rtlCol="0" anchor="ctr"/>
          <a:lstStyle/>
          <a:p>
            <a:pPr algn="ctr" indent="0" marL="0">
              <a:buNone/>
            </a:pPr>
            <a:r>
              <a:rPr lang="en-US" sz="1150" i="1" dirty="0">
                <a:solidFill>
                  <a:srgbClr val="E9C9D6"/>
                </a:solidFill>
                <a:latin typeface="Calibri" pitchFamily="34" charset="0"/>
                <a:ea typeface="Calibri" pitchFamily="34" charset="-122"/>
                <a:cs typeface="Calibri" pitchFamily="34" charset="-120"/>
              </a:rPr>
              <a:t>not yet</a:t>
            </a:r>
            <a:endParaRPr lang="en-US" sz="1150" dirty="0"/>
          </a:p>
        </p:txBody>
      </p:sp>
      <p:sp>
        <p:nvSpPr>
          <p:cNvPr id="27" name="Shape 25"/>
          <p:cNvSpPr/>
          <p:nvPr/>
        </p:nvSpPr>
        <p:spPr>
          <a:xfrm>
            <a:off x="640080" y="3977640"/>
            <a:ext cx="10911535" cy="1371600"/>
          </a:xfrm>
          <a:prstGeom prst="roundRect">
            <a:avLst>
              <a:gd name="adj" fmla="val 6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8" name="Text 26"/>
          <p:cNvSpPr txBox="1"/>
          <p:nvPr/>
        </p:nvSpPr>
        <p:spPr>
          <a:xfrm>
            <a:off x="1005840" y="4160520"/>
            <a:ext cx="3657600" cy="274320"/>
          </a:xfrm>
          <a:prstGeom prst="rect">
            <a:avLst/>
          </a:prstGeom>
          <a:noFill/>
          <a:ln/>
        </p:spPr>
        <p:txBody>
          <a:bodyPr wrap="square" lIns="0" tIns="0" rIns="0" bIns="0" rtlCol="0" anchor="ctr"/>
          <a:lstStyle/>
          <a:p>
            <a:pPr indent="0" marL="0">
              <a:buNone/>
            </a:pPr>
            <a:r>
              <a:rPr lang="en-US" sz="1100" b="1" spc="200" kern="0" dirty="0">
                <a:solidFill>
                  <a:srgbClr val="CF4420"/>
                </a:solidFill>
                <a:latin typeface="Calibri" pitchFamily="34" charset="0"/>
                <a:ea typeface="Calibri" pitchFamily="34" charset="-122"/>
                <a:cs typeface="Calibri" pitchFamily="34" charset="-120"/>
              </a:rPr>
              <a:t>THE NEXT THING</a:t>
            </a:r>
            <a:endParaRPr lang="en-US" sz="1100" dirty="0"/>
          </a:p>
        </p:txBody>
      </p:sp>
      <p:sp>
        <p:nvSpPr>
          <p:cNvPr id="29" name="Text 27"/>
          <p:cNvSpPr txBox="1"/>
          <p:nvPr/>
        </p:nvSpPr>
        <p:spPr>
          <a:xfrm>
            <a:off x="1005840" y="4462272"/>
            <a:ext cx="10180015" cy="777240"/>
          </a:xfrm>
          <a:prstGeom prst="rect">
            <a:avLst/>
          </a:prstGeom>
          <a:noFill/>
          <a:ln/>
        </p:spPr>
        <p:txBody>
          <a:bodyPr wrap="square" lIns="0" tIns="0" rIns="0" bIns="0" rtlCol="0" anchor="t"/>
          <a:lstStyle/>
          <a:p>
            <a:pPr indent="0" marL="0">
              <a:lnSpc>
                <a:spcPts val="2400"/>
              </a:lnSpc>
              <a:buNone/>
            </a:pPr>
            <a:r>
              <a:rPr lang="en-US" sz="1800" b="1" dirty="0">
                <a:solidFill>
                  <a:srgbClr val="630031"/>
                </a:solidFill>
                <a:latin typeface="Cambria" pitchFamily="34" charset="0"/>
                <a:ea typeface="Cambria" pitchFamily="34" charset="-122"/>
                <a:cs typeface="Cambria" pitchFamily="34" charset="-120"/>
              </a:rPr>
              <a:t>You have stories but no build cards. Sit down with your teacher and turn each story into a card.</a:t>
            </a:r>
            <a:endParaRPr lang="en-US" sz="1800" dirty="0"/>
          </a:p>
        </p:txBody>
      </p:sp>
      <p:sp>
        <p:nvSpPr>
          <p:cNvPr id="30" name="Text 28"/>
          <p:cNvSpPr txBox="1"/>
          <p:nvPr/>
        </p:nvSpPr>
        <p:spPr>
          <a:xfrm>
            <a:off x="640080" y="5577840"/>
            <a:ext cx="10911535" cy="640080"/>
          </a:xfrm>
          <a:prstGeom prst="rect">
            <a:avLst/>
          </a:prstGeom>
          <a:noFill/>
          <a:ln/>
        </p:spPr>
        <p:txBody>
          <a:bodyPr wrap="square" lIns="0" tIns="0" rIns="0" bIns="0" rtlCol="0" anchor="ctr"/>
          <a:lstStyle/>
          <a:p>
            <a:pPr indent="0" marL="0">
              <a:lnSpc>
                <a:spcPts val="1700"/>
              </a:lnSpc>
              <a:buNone/>
            </a:pPr>
            <a:r>
              <a:rPr lang="en-US" sz="1250" dirty="0">
                <a:solidFill>
                  <a:srgbClr val="E9C9D6"/>
                </a:solidFill>
                <a:latin typeface="Calibri" pitchFamily="34" charset="0"/>
                <a:ea typeface="Calibri" pitchFamily="34" charset="-122"/>
                <a:cs typeface="Calibri" pitchFamily="34" charset="-120"/>
              </a:rPr>
              <a:t>Copied from our gap guide. Each step reads the one before it, which is why we cannot start the architecture until the cards exist.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COUNTED, NOT ESTIMATED</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By the numbers</a:t>
            </a:r>
            <a:endParaRPr lang="en-US" sz="3400" dirty="0"/>
          </a:p>
        </p:txBody>
      </p:sp>
      <p:sp>
        <p:nvSpPr>
          <p:cNvPr id="4" name="Shape 2"/>
          <p:cNvSpPr/>
          <p:nvPr/>
        </p:nvSpPr>
        <p:spPr>
          <a:xfrm>
            <a:off x="640080" y="1920240"/>
            <a:ext cx="2487854" cy="2468880"/>
          </a:xfrm>
          <a:prstGeom prst="roundRect">
            <a:avLst>
              <a:gd name="adj" fmla="val 333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Text 3"/>
          <p:cNvSpPr txBox="1"/>
          <p:nvPr/>
        </p:nvSpPr>
        <p:spPr>
          <a:xfrm>
            <a:off x="640080" y="2103120"/>
            <a:ext cx="2487854" cy="1051560"/>
          </a:xfrm>
          <a:prstGeom prst="rect">
            <a:avLst/>
          </a:prstGeom>
          <a:noFill/>
          <a:ln/>
        </p:spPr>
        <p:txBody>
          <a:bodyPr wrap="square" lIns="0" tIns="0" rIns="0" bIns="0" rtlCol="0" anchor="ctr"/>
          <a:lstStyle/>
          <a:p>
            <a:pPr algn="ctr" indent="0" marL="0">
              <a:buNone/>
            </a:pPr>
            <a:r>
              <a:rPr lang="en-US" sz="6000" b="1" dirty="0">
                <a:solidFill>
                  <a:srgbClr val="630031"/>
                </a:solidFill>
                <a:latin typeface="Cambria" pitchFamily="34" charset="0"/>
                <a:ea typeface="Cambria" pitchFamily="34" charset="-122"/>
                <a:cs typeface="Cambria" pitchFamily="34" charset="-120"/>
              </a:rPr>
              <a:t>5</a:t>
            </a:r>
            <a:endParaRPr lang="en-US" sz="6000" dirty="0"/>
          </a:p>
        </p:txBody>
      </p:sp>
      <p:sp>
        <p:nvSpPr>
          <p:cNvPr id="6" name="Text 4"/>
          <p:cNvSpPr txBox="1"/>
          <p:nvPr/>
        </p:nvSpPr>
        <p:spPr>
          <a:xfrm>
            <a:off x="640080" y="3246120"/>
            <a:ext cx="2487854" cy="292608"/>
          </a:xfrm>
          <a:prstGeom prst="rect">
            <a:avLst/>
          </a:prstGeom>
          <a:noFill/>
          <a:ln/>
        </p:spPr>
        <p:txBody>
          <a:bodyPr wrap="square" lIns="0" tIns="0" rIns="0" bIns="0" rtlCol="0" anchor="ctr"/>
          <a:lstStyle/>
          <a:p>
            <a:pPr algn="ctr" indent="0" marL="0">
              <a:buNone/>
            </a:pPr>
            <a:r>
              <a:rPr lang="en-US" sz="1500" b="1" dirty="0">
                <a:solidFill>
                  <a:srgbClr val="1C1A19"/>
                </a:solidFill>
                <a:latin typeface="Calibri" pitchFamily="34" charset="0"/>
                <a:ea typeface="Calibri" pitchFamily="34" charset="-122"/>
                <a:cs typeface="Calibri" pitchFamily="34" charset="-120"/>
              </a:rPr>
              <a:t>features</a:t>
            </a:r>
            <a:endParaRPr lang="en-US" sz="1500" dirty="0"/>
          </a:p>
        </p:txBody>
      </p:sp>
      <p:sp>
        <p:nvSpPr>
          <p:cNvPr id="7" name="Text 5"/>
          <p:cNvSpPr txBox="1"/>
          <p:nvPr/>
        </p:nvSpPr>
        <p:spPr>
          <a:xfrm>
            <a:off x="804672" y="3584448"/>
            <a:ext cx="2158670" cy="685800"/>
          </a:xfrm>
          <a:prstGeom prst="rect">
            <a:avLst/>
          </a:prstGeom>
          <a:noFill/>
          <a:ln/>
        </p:spPr>
        <p:txBody>
          <a:bodyPr wrap="square" lIns="0" tIns="0" rIns="0" bIns="0" rtlCol="0" anchor="ctr"/>
          <a:lstStyle/>
          <a:p>
            <a:pPr algn="ctr" indent="0" marL="0">
              <a:lnSpc>
                <a:spcPts val="1600"/>
              </a:lnSpc>
              <a:buNone/>
            </a:pPr>
            <a:r>
              <a:rPr lang="en-US" sz="1200" dirty="0">
                <a:solidFill>
                  <a:srgbClr val="5A5F63"/>
                </a:solidFill>
                <a:latin typeface="Calibri" pitchFamily="34" charset="0"/>
                <a:ea typeface="Calibri" pitchFamily="34" charset="-122"/>
                <a:cs typeface="Calibri" pitchFamily="34" charset="-120"/>
              </a:rPr>
              <a:t>in the plan</a:t>
            </a:r>
            <a:endParaRPr lang="en-US" sz="1200" dirty="0"/>
          </a:p>
        </p:txBody>
      </p:sp>
      <p:sp>
        <p:nvSpPr>
          <p:cNvPr id="8" name="Shape 6"/>
          <p:cNvSpPr/>
          <p:nvPr/>
        </p:nvSpPr>
        <p:spPr>
          <a:xfrm>
            <a:off x="3447974" y="1920240"/>
            <a:ext cx="2487854" cy="2468880"/>
          </a:xfrm>
          <a:prstGeom prst="roundRect">
            <a:avLst>
              <a:gd name="adj" fmla="val 333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3447974" y="2103120"/>
            <a:ext cx="2487854" cy="1051560"/>
          </a:xfrm>
          <a:prstGeom prst="rect">
            <a:avLst/>
          </a:prstGeom>
          <a:noFill/>
          <a:ln/>
        </p:spPr>
        <p:txBody>
          <a:bodyPr wrap="square" lIns="0" tIns="0" rIns="0" bIns="0" rtlCol="0" anchor="ctr"/>
          <a:lstStyle/>
          <a:p>
            <a:pPr algn="ctr" indent="0" marL="0">
              <a:buNone/>
            </a:pPr>
            <a:r>
              <a:rPr lang="en-US" sz="6000" b="1" dirty="0">
                <a:solidFill>
                  <a:srgbClr val="630031"/>
                </a:solidFill>
                <a:latin typeface="Cambria" pitchFamily="34" charset="0"/>
                <a:ea typeface="Cambria" pitchFamily="34" charset="-122"/>
                <a:cs typeface="Cambria" pitchFamily="34" charset="-120"/>
              </a:rPr>
              <a:t>6</a:t>
            </a:r>
            <a:endParaRPr lang="en-US" sz="6000" dirty="0"/>
          </a:p>
        </p:txBody>
      </p:sp>
      <p:sp>
        <p:nvSpPr>
          <p:cNvPr id="10" name="Text 8"/>
          <p:cNvSpPr txBox="1"/>
          <p:nvPr/>
        </p:nvSpPr>
        <p:spPr>
          <a:xfrm>
            <a:off x="3447974" y="3246120"/>
            <a:ext cx="2487854" cy="292608"/>
          </a:xfrm>
          <a:prstGeom prst="rect">
            <a:avLst/>
          </a:prstGeom>
          <a:noFill/>
          <a:ln/>
        </p:spPr>
        <p:txBody>
          <a:bodyPr wrap="square" lIns="0" tIns="0" rIns="0" bIns="0" rtlCol="0" anchor="ctr"/>
          <a:lstStyle/>
          <a:p>
            <a:pPr algn="ctr" indent="0" marL="0">
              <a:buNone/>
            </a:pPr>
            <a:r>
              <a:rPr lang="en-US" sz="1500" b="1" dirty="0">
                <a:solidFill>
                  <a:srgbClr val="1C1A19"/>
                </a:solidFill>
                <a:latin typeface="Calibri" pitchFamily="34" charset="0"/>
                <a:ea typeface="Calibri" pitchFamily="34" charset="-122"/>
                <a:cs typeface="Calibri" pitchFamily="34" charset="-120"/>
              </a:rPr>
              <a:t>user stories</a:t>
            </a:r>
            <a:endParaRPr lang="en-US" sz="1500" dirty="0"/>
          </a:p>
        </p:txBody>
      </p:sp>
      <p:sp>
        <p:nvSpPr>
          <p:cNvPr id="11" name="Text 9"/>
          <p:cNvSpPr txBox="1"/>
          <p:nvPr/>
        </p:nvSpPr>
        <p:spPr>
          <a:xfrm>
            <a:off x="3612566" y="3584448"/>
            <a:ext cx="2158670" cy="685800"/>
          </a:xfrm>
          <a:prstGeom prst="rect">
            <a:avLst/>
          </a:prstGeom>
          <a:noFill/>
          <a:ln/>
        </p:spPr>
        <p:txBody>
          <a:bodyPr wrap="square" lIns="0" tIns="0" rIns="0" bIns="0" rtlCol="0" anchor="ctr"/>
          <a:lstStyle/>
          <a:p>
            <a:pPr algn="ctr" indent="0" marL="0">
              <a:lnSpc>
                <a:spcPts val="1600"/>
              </a:lnSpc>
              <a:buNone/>
            </a:pPr>
            <a:r>
              <a:rPr lang="en-US" sz="1200" dirty="0">
                <a:solidFill>
                  <a:srgbClr val="5A5F63"/>
                </a:solidFill>
                <a:latin typeface="Calibri" pitchFamily="34" charset="0"/>
                <a:ea typeface="Calibri" pitchFamily="34" charset="-122"/>
                <a:cs typeface="Calibri" pitchFamily="34" charset="-120"/>
              </a:rPr>
              <a:t>all with acceptance criteria</a:t>
            </a:r>
            <a:endParaRPr lang="en-US" sz="1200" dirty="0"/>
          </a:p>
        </p:txBody>
      </p:sp>
      <p:sp>
        <p:nvSpPr>
          <p:cNvPr id="12" name="Shape 10"/>
          <p:cNvSpPr/>
          <p:nvPr/>
        </p:nvSpPr>
        <p:spPr>
          <a:xfrm>
            <a:off x="6255868" y="1920240"/>
            <a:ext cx="2487854" cy="2468880"/>
          </a:xfrm>
          <a:prstGeom prst="roundRect">
            <a:avLst>
              <a:gd name="adj" fmla="val 333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3" name="Text 11"/>
          <p:cNvSpPr txBox="1"/>
          <p:nvPr/>
        </p:nvSpPr>
        <p:spPr>
          <a:xfrm>
            <a:off x="6255868" y="2103120"/>
            <a:ext cx="2487854" cy="1051560"/>
          </a:xfrm>
          <a:prstGeom prst="rect">
            <a:avLst/>
          </a:prstGeom>
          <a:noFill/>
          <a:ln/>
        </p:spPr>
        <p:txBody>
          <a:bodyPr wrap="square" lIns="0" tIns="0" rIns="0" bIns="0" rtlCol="0" anchor="ctr"/>
          <a:lstStyle/>
          <a:p>
            <a:pPr algn="ctr" indent="0" marL="0">
              <a:buNone/>
            </a:pPr>
            <a:r>
              <a:rPr lang="en-US" sz="6000" b="1" dirty="0">
                <a:solidFill>
                  <a:srgbClr val="630031"/>
                </a:solidFill>
                <a:latin typeface="Cambria" pitchFamily="34" charset="0"/>
                <a:ea typeface="Cambria" pitchFamily="34" charset="-122"/>
                <a:cs typeface="Cambria" pitchFamily="34" charset="-120"/>
              </a:rPr>
              <a:t>8</a:t>
            </a:r>
            <a:endParaRPr lang="en-US" sz="6000" dirty="0"/>
          </a:p>
        </p:txBody>
      </p:sp>
      <p:sp>
        <p:nvSpPr>
          <p:cNvPr id="14" name="Text 12"/>
          <p:cNvSpPr txBox="1"/>
          <p:nvPr/>
        </p:nvSpPr>
        <p:spPr>
          <a:xfrm>
            <a:off x="6255868" y="3246120"/>
            <a:ext cx="2487854" cy="292608"/>
          </a:xfrm>
          <a:prstGeom prst="rect">
            <a:avLst/>
          </a:prstGeom>
          <a:noFill/>
          <a:ln/>
        </p:spPr>
        <p:txBody>
          <a:bodyPr wrap="square" lIns="0" tIns="0" rIns="0" bIns="0" rtlCol="0" anchor="ctr"/>
          <a:lstStyle/>
          <a:p>
            <a:pPr algn="ctr" indent="0" marL="0">
              <a:buNone/>
            </a:pPr>
            <a:r>
              <a:rPr lang="en-US" sz="1500" b="1" dirty="0">
                <a:solidFill>
                  <a:srgbClr val="1C1A19"/>
                </a:solidFill>
                <a:latin typeface="Calibri" pitchFamily="34" charset="0"/>
                <a:ea typeface="Calibri" pitchFamily="34" charset="-122"/>
                <a:cs typeface="Calibri" pitchFamily="34" charset="-120"/>
              </a:rPr>
              <a:t>screens</a:t>
            </a:r>
            <a:endParaRPr lang="en-US" sz="1500" dirty="0"/>
          </a:p>
        </p:txBody>
      </p:sp>
      <p:sp>
        <p:nvSpPr>
          <p:cNvPr id="15" name="Text 13"/>
          <p:cNvSpPr txBox="1"/>
          <p:nvPr/>
        </p:nvSpPr>
        <p:spPr>
          <a:xfrm>
            <a:off x="6420460" y="3584448"/>
            <a:ext cx="2158670" cy="685800"/>
          </a:xfrm>
          <a:prstGeom prst="rect">
            <a:avLst/>
          </a:prstGeom>
          <a:noFill/>
          <a:ln/>
        </p:spPr>
        <p:txBody>
          <a:bodyPr wrap="square" lIns="0" tIns="0" rIns="0" bIns="0" rtlCol="0" anchor="ctr"/>
          <a:lstStyle/>
          <a:p>
            <a:pPr algn="ctr" indent="0" marL="0">
              <a:lnSpc>
                <a:spcPts val="1600"/>
              </a:lnSpc>
              <a:buNone/>
            </a:pPr>
            <a:r>
              <a:rPr lang="en-US" sz="1200" dirty="0">
                <a:solidFill>
                  <a:srgbClr val="5A5F63"/>
                </a:solidFill>
                <a:latin typeface="Calibri" pitchFamily="34" charset="0"/>
                <a:ea typeface="Calibri" pitchFamily="34" charset="-122"/>
                <a:cs typeface="Calibri" pitchFamily="34" charset="-120"/>
              </a:rPr>
              <a:t>in the prototype, from 7 scenarios</a:t>
            </a:r>
            <a:endParaRPr lang="en-US" sz="1200" dirty="0"/>
          </a:p>
        </p:txBody>
      </p:sp>
      <p:sp>
        <p:nvSpPr>
          <p:cNvPr id="16" name="Shape 14"/>
          <p:cNvSpPr/>
          <p:nvPr/>
        </p:nvSpPr>
        <p:spPr>
          <a:xfrm>
            <a:off x="9063761" y="1920240"/>
            <a:ext cx="2487854" cy="2468880"/>
          </a:xfrm>
          <a:prstGeom prst="roundRect">
            <a:avLst>
              <a:gd name="adj" fmla="val 333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7" name="Text 15"/>
          <p:cNvSpPr txBox="1"/>
          <p:nvPr/>
        </p:nvSpPr>
        <p:spPr>
          <a:xfrm>
            <a:off x="9063761" y="2103120"/>
            <a:ext cx="2487854" cy="1051560"/>
          </a:xfrm>
          <a:prstGeom prst="rect">
            <a:avLst/>
          </a:prstGeom>
          <a:noFill/>
          <a:ln/>
        </p:spPr>
        <p:txBody>
          <a:bodyPr wrap="square" lIns="0" tIns="0" rIns="0" bIns="0" rtlCol="0" anchor="ctr"/>
          <a:lstStyle/>
          <a:p>
            <a:pPr algn="ctr" indent="0" marL="0">
              <a:buNone/>
            </a:pPr>
            <a:r>
              <a:rPr lang="en-US" sz="4000" b="1" dirty="0">
                <a:solidFill>
                  <a:srgbClr val="630031"/>
                </a:solidFill>
                <a:latin typeface="Cambria" pitchFamily="34" charset="0"/>
                <a:ea typeface="Cambria" pitchFamily="34" charset="-122"/>
                <a:cs typeface="Cambria" pitchFamily="34" charset="-120"/>
              </a:rPr>
              <a:t>0 of 6</a:t>
            </a:r>
            <a:endParaRPr lang="en-US" sz="4000" dirty="0"/>
          </a:p>
        </p:txBody>
      </p:sp>
      <p:sp>
        <p:nvSpPr>
          <p:cNvPr id="18" name="Text 16"/>
          <p:cNvSpPr txBox="1"/>
          <p:nvPr/>
        </p:nvSpPr>
        <p:spPr>
          <a:xfrm>
            <a:off x="9063761" y="3246120"/>
            <a:ext cx="2487854" cy="292608"/>
          </a:xfrm>
          <a:prstGeom prst="rect">
            <a:avLst/>
          </a:prstGeom>
          <a:noFill/>
          <a:ln/>
        </p:spPr>
        <p:txBody>
          <a:bodyPr wrap="square" lIns="0" tIns="0" rIns="0" bIns="0" rtlCol="0" anchor="ctr"/>
          <a:lstStyle/>
          <a:p>
            <a:pPr algn="ctr" indent="0" marL="0">
              <a:buNone/>
            </a:pPr>
            <a:r>
              <a:rPr lang="en-US" sz="1500" b="1" dirty="0">
                <a:solidFill>
                  <a:srgbClr val="1C1A19"/>
                </a:solidFill>
                <a:latin typeface="Calibri" pitchFamily="34" charset="0"/>
                <a:ea typeface="Calibri" pitchFamily="34" charset="-122"/>
                <a:cs typeface="Calibri" pitchFamily="34" charset="-120"/>
              </a:rPr>
              <a:t>build cards</a:t>
            </a:r>
            <a:endParaRPr lang="en-US" sz="1500" dirty="0"/>
          </a:p>
        </p:txBody>
      </p:sp>
      <p:sp>
        <p:nvSpPr>
          <p:cNvPr id="19" name="Text 17"/>
          <p:cNvSpPr txBox="1"/>
          <p:nvPr/>
        </p:nvSpPr>
        <p:spPr>
          <a:xfrm>
            <a:off x="9228353" y="3584448"/>
            <a:ext cx="2158670" cy="685800"/>
          </a:xfrm>
          <a:prstGeom prst="rect">
            <a:avLst/>
          </a:prstGeom>
          <a:noFill/>
          <a:ln/>
        </p:spPr>
        <p:txBody>
          <a:bodyPr wrap="square" lIns="0" tIns="0" rIns="0" bIns="0" rtlCol="0" anchor="ctr"/>
          <a:lstStyle/>
          <a:p>
            <a:pPr algn="ctr" indent="0" marL="0">
              <a:lnSpc>
                <a:spcPts val="1600"/>
              </a:lnSpc>
              <a:buNone/>
            </a:pPr>
            <a:r>
              <a:rPr lang="en-US" sz="1200" dirty="0">
                <a:solidFill>
                  <a:srgbClr val="5A5F63"/>
                </a:solidFill>
                <a:latin typeface="Calibri" pitchFamily="34" charset="0"/>
                <a:ea typeface="Calibri" pitchFamily="34" charset="-122"/>
                <a:cs typeface="Calibri" pitchFamily="34" charset="-120"/>
              </a:rPr>
              <a:t>written so far</a:t>
            </a:r>
            <a:endParaRPr lang="en-US" sz="1200" dirty="0"/>
          </a:p>
        </p:txBody>
      </p:sp>
      <p:sp>
        <p:nvSpPr>
          <p:cNvPr id="20" name="Text 18"/>
          <p:cNvSpPr txBox="1"/>
          <p:nvPr/>
        </p:nvSpPr>
        <p:spPr>
          <a:xfrm>
            <a:off x="640080" y="4800600"/>
            <a:ext cx="10911535" cy="822960"/>
          </a:xfrm>
          <a:prstGeom prst="rect">
            <a:avLst/>
          </a:prstGeom>
          <a:noFill/>
          <a:ln/>
        </p:spPr>
        <p:txBody>
          <a:bodyPr wrap="square" lIns="0" tIns="0" rIns="0" bIns="0" rtlCol="0" anchor="t"/>
          <a:lstStyle/>
          <a:p>
            <a:pPr indent="0" marL="0">
              <a:lnSpc>
                <a:spcPts val="2200"/>
              </a:lnSpc>
              <a:buNone/>
            </a:pPr>
            <a:r>
              <a:rPr lang="en-US" sz="1500" dirty="0">
                <a:solidFill>
                  <a:srgbClr val="75787B"/>
                </a:solidFill>
                <a:latin typeface="Calibri" pitchFamily="34" charset="0"/>
                <a:ea typeface="Calibri" pitchFamily="34" charset="-122"/>
                <a:cs typeface="Calibri" pitchFamily="34" charset="-120"/>
              </a:rPr>
              <a:t>From the How this was made screen in the prototype and the gap guide. Six stories with criteria is why every screen in the demo is clickable.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DEMO</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What you are about to see</a:t>
            </a:r>
            <a:endParaRPr lang="en-US" sz="3400" dirty="0"/>
          </a:p>
        </p:txBody>
      </p:sp>
      <p:sp>
        <p:nvSpPr>
          <p:cNvPr id="4" name="Shape 2"/>
          <p:cNvSpPr/>
          <p:nvPr/>
        </p:nvSpPr>
        <p:spPr>
          <a:xfrm>
            <a:off x="640080" y="1828800"/>
            <a:ext cx="384048" cy="384048"/>
          </a:xfrm>
          <a:prstGeom prst="ellipse">
            <a:avLst/>
          </a:prstGeom>
          <a:solidFill>
            <a:srgbClr val="CF4420"/>
          </a:solidFill>
          <a:ln w="12700">
            <a:solidFill>
              <a:srgbClr val="333333"/>
            </a:solidFill>
            <a:prstDash val="solid"/>
          </a:ln>
        </p:spPr>
      </p:sp>
      <p:sp>
        <p:nvSpPr>
          <p:cNvPr id="5" name="Text 3"/>
          <p:cNvSpPr txBox="1"/>
          <p:nvPr/>
        </p:nvSpPr>
        <p:spPr>
          <a:xfrm>
            <a:off x="640080" y="1828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234440" y="1783080"/>
            <a:ext cx="5715000" cy="320040"/>
          </a:xfrm>
          <a:prstGeom prst="rect">
            <a:avLst/>
          </a:prstGeom>
          <a:noFill/>
          <a:ln/>
        </p:spPr>
        <p:txBody>
          <a:bodyPr wrap="square" lIns="0" tIns="0" rIns="0" bIns="0" rtlCol="0" anchor="ctr"/>
          <a:lstStyle/>
          <a:p>
            <a:pPr indent="0" marL="0">
              <a:buNone/>
            </a:pPr>
            <a:r>
              <a:rPr lang="en-US" sz="1600" b="1" dirty="0">
                <a:solidFill>
                  <a:srgbClr val="630031"/>
                </a:solidFill>
                <a:latin typeface="Cambria" pitchFamily="34" charset="0"/>
                <a:ea typeface="Cambria" pitchFamily="34" charset="-122"/>
                <a:cs typeface="Cambria" pitchFamily="34" charset="-120"/>
              </a:rPr>
              <a:t>First morning</a:t>
            </a:r>
            <a:endParaRPr lang="en-US" sz="1600" dirty="0"/>
          </a:p>
        </p:txBody>
      </p:sp>
      <p:sp>
        <p:nvSpPr>
          <p:cNvPr id="7" name="Text 5"/>
          <p:cNvSpPr txBox="1"/>
          <p:nvPr/>
        </p:nvSpPr>
        <p:spPr>
          <a:xfrm>
            <a:off x="1234440" y="2112264"/>
            <a:ext cx="5715000" cy="621792"/>
          </a:xfrm>
          <a:prstGeom prst="rect">
            <a:avLst/>
          </a:prstGeom>
          <a:noFill/>
          <a:ln/>
        </p:spPr>
        <p:txBody>
          <a:bodyPr wrap="square" lIns="0" tIns="0" rIns="0" bIns="0" rtlCol="0" anchor="t"/>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Open the prototype as a student. My stop setup: enter a bus number, pick a stop from the list. The app remembers it and goes to the tracker.</a:t>
            </a:r>
            <a:endParaRPr lang="en-US" sz="1200" dirty="0"/>
          </a:p>
        </p:txBody>
      </p:sp>
      <p:sp>
        <p:nvSpPr>
          <p:cNvPr id="8" name="Shape 6"/>
          <p:cNvSpPr/>
          <p:nvPr/>
        </p:nvSpPr>
        <p:spPr>
          <a:xfrm>
            <a:off x="640080" y="2788920"/>
            <a:ext cx="384048" cy="384048"/>
          </a:xfrm>
          <a:prstGeom prst="ellipse">
            <a:avLst/>
          </a:prstGeom>
          <a:solidFill>
            <a:srgbClr val="CF4420"/>
          </a:solidFill>
          <a:ln w="12700">
            <a:solidFill>
              <a:srgbClr val="333333"/>
            </a:solidFill>
            <a:prstDash val="solid"/>
          </a:ln>
        </p:spPr>
      </p:sp>
      <p:sp>
        <p:nvSpPr>
          <p:cNvPr id="9" name="Text 7"/>
          <p:cNvSpPr txBox="1"/>
          <p:nvPr/>
        </p:nvSpPr>
        <p:spPr>
          <a:xfrm>
            <a:off x="640080" y="2788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234440" y="2743200"/>
            <a:ext cx="5715000" cy="320040"/>
          </a:xfrm>
          <a:prstGeom prst="rect">
            <a:avLst/>
          </a:prstGeom>
          <a:noFill/>
          <a:ln/>
        </p:spPr>
        <p:txBody>
          <a:bodyPr wrap="square" lIns="0" tIns="0" rIns="0" bIns="0" rtlCol="0" anchor="ctr"/>
          <a:lstStyle/>
          <a:p>
            <a:pPr indent="0" marL="0">
              <a:buNone/>
            </a:pPr>
            <a:r>
              <a:rPr lang="en-US" sz="1600" b="1" dirty="0">
                <a:solidFill>
                  <a:srgbClr val="630031"/>
                </a:solidFill>
                <a:latin typeface="Cambria" pitchFamily="34" charset="0"/>
                <a:ea typeface="Cambria" pitchFamily="34" charset="-122"/>
                <a:cs typeface="Cambria" pitchFamily="34" charset="-120"/>
              </a:rPr>
              <a:t>The countdown</a:t>
            </a:r>
            <a:endParaRPr lang="en-US" sz="1600" dirty="0"/>
          </a:p>
        </p:txBody>
      </p:sp>
      <p:sp>
        <p:nvSpPr>
          <p:cNvPr id="11" name="Text 9"/>
          <p:cNvSpPr txBox="1"/>
          <p:nvPr/>
        </p:nvSpPr>
        <p:spPr>
          <a:xfrm>
            <a:off x="1234440" y="3072384"/>
            <a:ext cx="5715000" cy="621792"/>
          </a:xfrm>
          <a:prstGeom prst="rect">
            <a:avLst/>
          </a:prstGeom>
          <a:noFill/>
          <a:ln/>
        </p:spPr>
        <p:txBody>
          <a:bodyPr wrap="square" lIns="0" tIns="0" rIns="0" bIns="0" rtlCol="0" anchor="t"/>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Bus tracker shows minutes until the bus reaches our stop, and where it is on the route. This is story S1, the first one we wrote.</a:t>
            </a:r>
            <a:endParaRPr lang="en-US" sz="1200" dirty="0"/>
          </a:p>
        </p:txBody>
      </p:sp>
      <p:sp>
        <p:nvSpPr>
          <p:cNvPr id="12" name="Shape 10"/>
          <p:cNvSpPr/>
          <p:nvPr/>
        </p:nvSpPr>
        <p:spPr>
          <a:xfrm>
            <a:off x="640080" y="3749040"/>
            <a:ext cx="384048" cy="384048"/>
          </a:xfrm>
          <a:prstGeom prst="ellipse">
            <a:avLst/>
          </a:prstGeom>
          <a:solidFill>
            <a:srgbClr val="CF4420"/>
          </a:solidFill>
          <a:ln w="12700">
            <a:solidFill>
              <a:srgbClr val="333333"/>
            </a:solidFill>
            <a:prstDash val="solid"/>
          </a:ln>
        </p:spPr>
      </p:sp>
      <p:sp>
        <p:nvSpPr>
          <p:cNvPr id="13" name="Text 11"/>
          <p:cNvSpPr txBox="1"/>
          <p:nvPr/>
        </p:nvSpPr>
        <p:spPr>
          <a:xfrm>
            <a:off x="640080" y="37490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234440" y="3703320"/>
            <a:ext cx="5715000" cy="320040"/>
          </a:xfrm>
          <a:prstGeom prst="rect">
            <a:avLst/>
          </a:prstGeom>
          <a:noFill/>
          <a:ln/>
        </p:spPr>
        <p:txBody>
          <a:bodyPr wrap="square" lIns="0" tIns="0" rIns="0" bIns="0" rtlCol="0" anchor="ctr"/>
          <a:lstStyle/>
          <a:p>
            <a:pPr indent="0" marL="0">
              <a:buNone/>
            </a:pPr>
            <a:r>
              <a:rPr lang="en-US" sz="1600" b="1" dirty="0">
                <a:solidFill>
                  <a:srgbClr val="630031"/>
                </a:solidFill>
                <a:latin typeface="Cambria" pitchFamily="34" charset="0"/>
                <a:ea typeface="Cambria" pitchFamily="34" charset="-122"/>
                <a:cs typeface="Cambria" pitchFamily="34" charset="-120"/>
              </a:rPr>
              <a:t>A delay</a:t>
            </a:r>
            <a:endParaRPr lang="en-US" sz="1600" dirty="0"/>
          </a:p>
        </p:txBody>
      </p:sp>
      <p:sp>
        <p:nvSpPr>
          <p:cNvPr id="15" name="Text 13"/>
          <p:cNvSpPr txBox="1"/>
          <p:nvPr/>
        </p:nvSpPr>
        <p:spPr>
          <a:xfrm>
            <a:off x="1234440" y="4032504"/>
            <a:ext cx="5715000" cy="621792"/>
          </a:xfrm>
          <a:prstGeom prst="rect">
            <a:avLst/>
          </a:prstGeom>
          <a:noFill/>
          <a:ln/>
        </p:spPr>
        <p:txBody>
          <a:bodyPr wrap="square" lIns="0" tIns="0" rIns="0" bIns="0" rtlCol="0" anchor="t"/>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Switch to the bus driver. Report a delay, choose a reason. Switch back to the student: the new time and the reason are on the home screen.</a:t>
            </a:r>
            <a:endParaRPr lang="en-US" sz="1200" dirty="0"/>
          </a:p>
        </p:txBody>
      </p:sp>
      <p:sp>
        <p:nvSpPr>
          <p:cNvPr id="16" name="Shape 14"/>
          <p:cNvSpPr/>
          <p:nvPr/>
        </p:nvSpPr>
        <p:spPr>
          <a:xfrm>
            <a:off x="640080" y="4709160"/>
            <a:ext cx="384048" cy="384048"/>
          </a:xfrm>
          <a:prstGeom prst="ellipse">
            <a:avLst/>
          </a:prstGeom>
          <a:solidFill>
            <a:srgbClr val="CF4420"/>
          </a:solidFill>
          <a:ln w="12700">
            <a:solidFill>
              <a:srgbClr val="333333"/>
            </a:solidFill>
            <a:prstDash val="solid"/>
          </a:ln>
        </p:spPr>
      </p:sp>
      <p:sp>
        <p:nvSpPr>
          <p:cNvPr id="17" name="Text 15"/>
          <p:cNvSpPr txBox="1"/>
          <p:nvPr/>
        </p:nvSpPr>
        <p:spPr>
          <a:xfrm>
            <a:off x="640080" y="47091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1234440" y="4663440"/>
            <a:ext cx="5715000" cy="320040"/>
          </a:xfrm>
          <a:prstGeom prst="rect">
            <a:avLst/>
          </a:prstGeom>
          <a:noFill/>
          <a:ln/>
        </p:spPr>
        <p:txBody>
          <a:bodyPr wrap="square" lIns="0" tIns="0" rIns="0" bIns="0" rtlCol="0" anchor="ctr"/>
          <a:lstStyle/>
          <a:p>
            <a:pPr indent="0" marL="0">
              <a:buNone/>
            </a:pPr>
            <a:r>
              <a:rPr lang="en-US" sz="1600" b="1" dirty="0">
                <a:solidFill>
                  <a:srgbClr val="630031"/>
                </a:solidFill>
                <a:latin typeface="Cambria" pitchFamily="34" charset="0"/>
                <a:ea typeface="Cambria" pitchFamily="34" charset="-122"/>
                <a:cs typeface="Cambria" pitchFamily="34" charset="-120"/>
              </a:rPr>
              <a:t>Where it stops</a:t>
            </a:r>
            <a:endParaRPr lang="en-US" sz="1600" dirty="0"/>
          </a:p>
        </p:txBody>
      </p:sp>
      <p:sp>
        <p:nvSpPr>
          <p:cNvPr id="19" name="Text 17"/>
          <p:cNvSpPr txBox="1"/>
          <p:nvPr/>
        </p:nvSpPr>
        <p:spPr>
          <a:xfrm>
            <a:off x="1234440" y="4992624"/>
            <a:ext cx="5715000" cy="621792"/>
          </a:xfrm>
          <a:prstGeom prst="rect">
            <a:avLst/>
          </a:prstGeom>
          <a:noFill/>
          <a:ln/>
        </p:spPr>
        <p:txBody>
          <a:bodyPr wrap="square" lIns="0" tIns="0" rIns="0" bIns="0" rtlCol="0" anchor="t"/>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Route board, as front office. Then Ride history: an empty screen that says it is waiting on a user story. That is true, and it is our next gap.</a:t>
            </a:r>
            <a:endParaRPr lang="en-US" sz="1200" dirty="0"/>
          </a:p>
        </p:txBody>
      </p:sp>
      <p:sp>
        <p:nvSpPr>
          <p:cNvPr id="20" name="Shape 18"/>
          <p:cNvSpPr/>
          <p:nvPr/>
        </p:nvSpPr>
        <p:spPr>
          <a:xfrm>
            <a:off x="7406640" y="1783080"/>
            <a:ext cx="4144975" cy="2788920"/>
          </a:xfrm>
          <a:prstGeom prst="roundRect">
            <a:avLst>
              <a:gd name="adj" fmla="val 295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1" name="Text 19"/>
          <p:cNvSpPr txBox="1"/>
          <p:nvPr/>
        </p:nvSpPr>
        <p:spPr>
          <a:xfrm>
            <a:off x="7726680" y="2011680"/>
            <a:ext cx="3504895" cy="274320"/>
          </a:xfrm>
          <a:prstGeom prst="rect">
            <a:avLst/>
          </a:prstGeom>
          <a:noFill/>
          <a:ln/>
        </p:spPr>
        <p:txBody>
          <a:bodyPr wrap="square" lIns="0" tIns="0" rIns="0" bIns="0" rtlCol="0" anchor="ctr"/>
          <a:lstStyle/>
          <a:p>
            <a:pPr indent="0" marL="0">
              <a:buNone/>
            </a:pPr>
            <a:r>
              <a:rPr lang="en-US" sz="1100" b="1" spc="200" kern="0" dirty="0">
                <a:solidFill>
                  <a:srgbClr val="CF4420"/>
                </a:solidFill>
                <a:latin typeface="Calibri" pitchFamily="34" charset="0"/>
                <a:ea typeface="Calibri" pitchFamily="34" charset="-122"/>
                <a:cs typeface="Calibri" pitchFamily="34" charset="-120"/>
              </a:rPr>
              <a:t>LOOK FOR</a:t>
            </a:r>
            <a:endParaRPr lang="en-US" sz="1100" dirty="0"/>
          </a:p>
        </p:txBody>
      </p:sp>
      <p:sp>
        <p:nvSpPr>
          <p:cNvPr id="22" name="Text 20"/>
          <p:cNvSpPr txBox="1"/>
          <p:nvPr/>
        </p:nvSpPr>
        <p:spPr>
          <a:xfrm>
            <a:off x="7726680" y="2331720"/>
            <a:ext cx="3504895" cy="2148840"/>
          </a:xfrm>
          <a:prstGeom prst="rect">
            <a:avLst/>
          </a:prstGeom>
          <a:noFill/>
          <a:ln/>
        </p:spPr>
        <p:txBody>
          <a:bodyPr wrap="square" lIns="0" tIns="0" rIns="0" bIns="0" rtlCol="0" anchor="t"/>
          <a:lstStyle/>
          <a:p>
            <a:pPr marL="342900" indent="-342900">
              <a:lnSpc>
                <a:spcPts val="1800"/>
              </a:lnSpc>
              <a:spcAft>
                <a:spcPts val="800"/>
              </a:spcAft>
              <a:buSzPct val="100000"/>
              <a:buChar char="•"/>
            </a:pPr>
            <a:r>
              <a:rPr lang="en-US" sz="1300" dirty="0">
                <a:solidFill>
                  <a:srgbClr val="1C1A19"/>
                </a:solidFill>
                <a:latin typeface="Calibri" pitchFamily="34" charset="0"/>
                <a:ea typeface="Calibri" pitchFamily="34" charset="-122"/>
                <a:cs typeface="Calibri" pitchFamily="34" charset="-120"/>
              </a:rPr>
              <a:t>Every screen names the sentence it came from</a:t>
            </a:r>
            <a:endParaRPr lang="en-US" sz="1300" dirty="0"/>
          </a:p>
          <a:p>
            <a:pPr marL="342900" indent="-342900">
              <a:lnSpc>
                <a:spcPts val="1800"/>
              </a:lnSpc>
              <a:spcAft>
                <a:spcPts val="800"/>
              </a:spcAft>
              <a:buSzPct val="100000"/>
              <a:buChar char="•"/>
            </a:pPr>
            <a:r>
              <a:rPr lang="en-US" sz="1300" dirty="0">
                <a:solidFill>
                  <a:srgbClr val="1C1A19"/>
                </a:solidFill>
                <a:latin typeface="Calibri" pitchFamily="34" charset="0"/>
                <a:ea typeface="Calibri" pitchFamily="34" charset="-122"/>
                <a:cs typeface="Calibri" pitchFamily="34" charset="-120"/>
              </a:rPr>
              <a:t>The driver's two taps reach the student without the driver doing anything else</a:t>
            </a:r>
            <a:endParaRPr lang="en-US" sz="1300" dirty="0"/>
          </a:p>
          <a:p>
            <a:pPr marL="342900" indent="-342900">
              <a:lnSpc>
                <a:spcPts val="1800"/>
              </a:lnSpc>
              <a:spcAft>
                <a:spcPts val="800"/>
              </a:spcAft>
              <a:buSzPct val="100000"/>
              <a:buChar char="•"/>
            </a:pPr>
            <a:r>
              <a:rPr lang="en-US" sz="1300" dirty="0">
                <a:solidFill>
                  <a:srgbClr val="1C1A19"/>
                </a:solidFill>
                <a:latin typeface="Calibri" pitchFamily="34" charset="0"/>
                <a:ea typeface="Calibri" pitchFamily="34" charset="-122"/>
                <a:cs typeface="Calibri" pitchFamily="34" charset="-120"/>
              </a:rPr>
              <a:t>The Ride history screen is empty on purpose, not by accident</a:t>
            </a:r>
            <a:endParaRPr lang="en-US" sz="1300" dirty="0"/>
          </a:p>
        </p:txBody>
      </p:sp>
      <p:sp>
        <p:nvSpPr>
          <p:cNvPr id="23" name="Shape 21"/>
          <p:cNvSpPr/>
          <p:nvPr/>
        </p:nvSpPr>
        <p:spPr>
          <a:xfrm>
            <a:off x="7406640" y="4709160"/>
            <a:ext cx="4144975" cy="1280160"/>
          </a:xfrm>
          <a:prstGeom prst="roundRect">
            <a:avLst>
              <a:gd name="adj" fmla="val 6429"/>
            </a:avLst>
          </a:prstGeom>
          <a:solidFill>
            <a:srgbClr val="630031"/>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4" name="Text 22"/>
          <p:cNvSpPr txBox="1"/>
          <p:nvPr/>
        </p:nvSpPr>
        <p:spPr>
          <a:xfrm>
            <a:off x="7726680" y="4818888"/>
            <a:ext cx="3504895" cy="548640"/>
          </a:xfrm>
          <a:prstGeom prst="rect">
            <a:avLst/>
          </a:prstGeom>
          <a:noFill/>
          <a:ln/>
        </p:spPr>
        <p:txBody>
          <a:bodyPr wrap="square" lIns="0" tIns="0" rIns="0" bIns="0" rtlCol="0" anchor="t"/>
          <a:lstStyle/>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doubleblaze.solutions/prototypes/sample-bus-buddy/</a:t>
            </a:r>
            <a:endParaRPr lang="en-US" sz="1150" dirty="0"/>
          </a:p>
        </p:txBody>
      </p:sp>
      <p:sp>
        <p:nvSpPr>
          <p:cNvPr id="25" name="Text 23"/>
          <p:cNvSpPr txBox="1"/>
          <p:nvPr/>
        </p:nvSpPr>
        <p:spPr>
          <a:xfrm>
            <a:off x="7726680" y="5413248"/>
            <a:ext cx="3504895" cy="502920"/>
          </a:xfrm>
          <a:prstGeom prst="rect">
            <a:avLst/>
          </a:prstGeom>
          <a:noFill/>
          <a:ln/>
        </p:spPr>
        <p:txBody>
          <a:bodyPr wrap="square" lIns="0" tIns="0" rIns="0" bIns="0" rtlCol="0" anchor="t"/>
          <a:lstStyle/>
          <a:p>
            <a:pPr indent="0" marL="0">
              <a:lnSpc>
                <a:spcPts val="1300"/>
              </a:lnSpc>
              <a:buNone/>
            </a:pPr>
            <a:r>
              <a:rPr lang="en-US" sz="1000" dirty="0">
                <a:solidFill>
                  <a:srgbClr val="E9C9D6"/>
                </a:solidFill>
                <a:latin typeface="Calibri" pitchFamily="34" charset="0"/>
                <a:ea typeface="Calibri" pitchFamily="34" charset="-122"/>
                <a:cs typeface="Calibri" pitchFamily="34" charset="-120"/>
              </a:rPr>
              <a:t>Backup: the same prototype opens from a thumb drive with no internet</a:t>
            </a:r>
            <a:endParaRPr lang="en-US" sz="1000" dirty="0"/>
          </a:p>
        </p:txBody>
      </p:sp>
      <p:sp>
        <p:nvSpPr>
          <p:cNvPr id="26" name="Text 24"/>
          <p:cNvSpPr txBox="1"/>
          <p:nvPr/>
        </p:nvSpPr>
        <p:spPr>
          <a:xfrm>
            <a:off x="640080" y="6263640"/>
            <a:ext cx="10911535" cy="274320"/>
          </a:xfrm>
          <a:prstGeom prst="rect">
            <a:avLst/>
          </a:prstGeom>
          <a:noFill/>
          <a:ln/>
        </p:spPr>
        <p:txBody>
          <a:bodyPr wrap="square" lIns="0" tIns="0" rIns="0" bIns="0" rtlCol="0" anchor="ctr"/>
          <a:lstStyle/>
          <a:p>
            <a:pPr indent="0" marL="0">
              <a:buNone/>
            </a:pPr>
            <a:r>
              <a:rPr lang="en-US" sz="1100" dirty="0">
                <a:solidFill>
                  <a:srgbClr val="75787B"/>
                </a:solidFill>
                <a:latin typeface="Calibri" pitchFamily="34" charset="0"/>
                <a:ea typeface="Calibri" pitchFamily="34" charset="-122"/>
                <a:cs typeface="Calibri" pitchFamily="34" charset="-120"/>
              </a:rPr>
              <a:t>Four steps, three minutes. One of us drives, one of us talks.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4A0025"/>
        </a:solidFill>
      </p:bgPr>
    </p:bg>
    <p:spTree>
      <p:nvGrpSpPr>
        <p:cNvPr id="1" name=""/>
        <p:cNvGrpSpPr/>
        <p:nvPr/>
      </p:nvGrpSpPr>
      <p:grpSpPr>
        <a:xfrm>
          <a:off x="0" y="0"/>
          <a:ext cx="0" cy="0"/>
          <a:chOff x="0" y="0"/>
          <a:chExt cx="0" cy="0"/>
        </a:xfrm>
      </p:grpSpPr>
      <p:sp>
        <p:nvSpPr>
          <p:cNvPr id="2" name="Shape 0"/>
          <p:cNvSpPr/>
          <p:nvPr/>
        </p:nvSpPr>
        <p:spPr>
          <a:xfrm>
            <a:off x="-2011680" y="3291840"/>
            <a:ext cx="5486400" cy="5486400"/>
          </a:xfrm>
          <a:prstGeom prst="ellipse">
            <a:avLst/>
          </a:prstGeom>
          <a:solidFill>
            <a:srgbClr val="630031"/>
          </a:solidFill>
          <a:ln w="12700">
            <a:solidFill>
              <a:srgbClr val="333333"/>
            </a:solidFill>
            <a:prstDash val="solid"/>
          </a:ln>
        </p:spPr>
      </p:sp>
      <p:sp>
        <p:nvSpPr>
          <p:cNvPr id="3" name="Text 1"/>
          <p:cNvSpPr txBox="1"/>
          <p:nvPr/>
        </p:nvSpPr>
        <p:spPr>
          <a:xfrm>
            <a:off x="640080" y="1737360"/>
            <a:ext cx="10911535" cy="1463040"/>
          </a:xfrm>
          <a:prstGeom prst="rect">
            <a:avLst/>
          </a:prstGeom>
          <a:noFill/>
          <a:ln/>
        </p:spPr>
        <p:txBody>
          <a:bodyPr wrap="square" lIns="0" tIns="0" rIns="0" bIns="0" rtlCol="0" anchor="ctr"/>
          <a:lstStyle/>
          <a:p>
            <a:pPr indent="0" marL="0">
              <a:buNone/>
            </a:pPr>
            <a:r>
              <a:rPr lang="en-US" sz="8000" b="1" dirty="0">
                <a:solidFill>
                  <a:srgbClr val="FFFFFF"/>
                </a:solidFill>
                <a:latin typeface="Cambria" pitchFamily="34" charset="0"/>
                <a:ea typeface="Cambria" pitchFamily="34" charset="-122"/>
                <a:cs typeface="Cambria" pitchFamily="34" charset="-120"/>
              </a:rPr>
              <a:t>Demo</a:t>
            </a:r>
            <a:endParaRPr lang="en-US" sz="8000" dirty="0"/>
          </a:p>
        </p:txBody>
      </p:sp>
      <p:sp>
        <p:nvSpPr>
          <p:cNvPr id="4" name="Text 2"/>
          <p:cNvSpPr txBox="1"/>
          <p:nvPr/>
        </p:nvSpPr>
        <p:spPr>
          <a:xfrm>
            <a:off x="640080" y="3291840"/>
            <a:ext cx="10911535" cy="457200"/>
          </a:xfrm>
          <a:prstGeom prst="rect">
            <a:avLst/>
          </a:prstGeom>
          <a:noFill/>
          <a:ln/>
        </p:spPr>
        <p:txBody>
          <a:bodyPr wrap="square" lIns="0" tIns="0" rIns="0" bIns="0" rtlCol="0" anchor="ctr"/>
          <a:lstStyle/>
          <a:p>
            <a:pPr indent="0" marL="0">
              <a:buNone/>
            </a:pPr>
            <a:r>
              <a:rPr lang="en-US" sz="1800" b="1" dirty="0">
                <a:solidFill>
                  <a:srgbClr val="E9C9D6"/>
                </a:solidFill>
                <a:latin typeface="Calibri" pitchFamily="34" charset="0"/>
                <a:ea typeface="Calibri" pitchFamily="34" charset="-122"/>
                <a:cs typeface="Calibri" pitchFamily="34" charset="-120"/>
              </a:rPr>
              <a:t>doubleblaze.solutions/prototypes/sample-bus-buddy/</a:t>
            </a:r>
            <a:endParaRPr lang="en-US" sz="1800" dirty="0"/>
          </a:p>
        </p:txBody>
      </p:sp>
      <p:sp>
        <p:nvSpPr>
          <p:cNvPr id="5" name="Text 3"/>
          <p:cNvSpPr txBox="1"/>
          <p:nvPr/>
        </p:nvSpPr>
        <p:spPr>
          <a:xfrm>
            <a:off x="640080" y="3840480"/>
            <a:ext cx="8229600" cy="457200"/>
          </a:xfrm>
          <a:prstGeom prst="rect">
            <a:avLst/>
          </a:prstGeom>
          <a:noFill/>
          <a:ln/>
        </p:spPr>
        <p:txBody>
          <a:bodyPr wrap="square" lIns="0" tIns="0" rIns="0" bIns="0" rtlCol="0" anchor="ctr"/>
          <a:lstStyle/>
          <a:p>
            <a:pPr indent="0" marL="0">
              <a:buNone/>
            </a:pPr>
            <a:r>
              <a:rPr lang="en-US" sz="1400" dirty="0">
                <a:solidFill>
                  <a:srgbClr val="C79AAF"/>
                </a:solidFill>
                <a:latin typeface="Calibri" pitchFamily="34" charset="0"/>
                <a:ea typeface="Calibri" pitchFamily="34" charset="-122"/>
                <a:cs typeface="Calibri" pitchFamily="34" charset="-120"/>
              </a:rPr>
              <a:t>Switching to the prototype now. Back to the slides in three minutes.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LOOKING BACK</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What went well, and what we learned</a:t>
            </a:r>
            <a:endParaRPr lang="en-US" sz="3400" dirty="0"/>
          </a:p>
        </p:txBody>
      </p:sp>
      <p:sp>
        <p:nvSpPr>
          <p:cNvPr id="4" name="Text 2"/>
          <p:cNvSpPr txBox="1"/>
          <p:nvPr/>
        </p:nvSpPr>
        <p:spPr>
          <a:xfrm>
            <a:off x="640080" y="1783080"/>
            <a:ext cx="5227168" cy="274320"/>
          </a:xfrm>
          <a:prstGeom prst="rect">
            <a:avLst/>
          </a:prstGeom>
          <a:noFill/>
          <a:ln/>
        </p:spPr>
        <p:txBody>
          <a:bodyPr wrap="square" lIns="0" tIns="0" rIns="0" bIns="0" rtlCol="0" anchor="ctr"/>
          <a:lstStyle/>
          <a:p>
            <a:pPr indent="0" marL="0">
              <a:buNone/>
            </a:pPr>
            <a:r>
              <a:rPr lang="en-US" sz="1100" b="1" spc="200" kern="0" dirty="0">
                <a:solidFill>
                  <a:srgbClr val="CF4420"/>
                </a:solidFill>
                <a:latin typeface="Calibri" pitchFamily="34" charset="0"/>
                <a:ea typeface="Calibri" pitchFamily="34" charset="-122"/>
                <a:cs typeface="Calibri" pitchFamily="34" charset="-120"/>
              </a:rPr>
              <a:t>WHAT WENT WELL</a:t>
            </a:r>
            <a:endParaRPr lang="en-US" sz="1100" dirty="0"/>
          </a:p>
        </p:txBody>
      </p:sp>
      <p:sp>
        <p:nvSpPr>
          <p:cNvPr id="5" name="Shape 3"/>
          <p:cNvSpPr/>
          <p:nvPr/>
        </p:nvSpPr>
        <p:spPr>
          <a:xfrm>
            <a:off x="640080" y="2148840"/>
            <a:ext cx="5227168" cy="1234440"/>
          </a:xfrm>
          <a:prstGeom prst="roundRect">
            <a:avLst>
              <a:gd name="adj" fmla="val 666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6" name="Shape 4"/>
          <p:cNvSpPr/>
          <p:nvPr/>
        </p:nvSpPr>
        <p:spPr>
          <a:xfrm>
            <a:off x="868680" y="2350008"/>
            <a:ext cx="347472" cy="347472"/>
          </a:xfrm>
          <a:prstGeom prst="ellipse">
            <a:avLst/>
          </a:prstGeom>
          <a:solidFill>
            <a:srgbClr val="2E4A3B"/>
          </a:solidFill>
          <a:ln w="12700">
            <a:solidFill>
              <a:srgbClr val="333333"/>
            </a:solidFill>
            <a:prstDash val="solid"/>
          </a:ln>
        </p:spPr>
      </p:sp>
      <p:sp>
        <p:nvSpPr>
          <p:cNvPr id="7" name="Text 5"/>
          <p:cNvSpPr txBox="1"/>
          <p:nvPr/>
        </p:nvSpPr>
        <p:spPr>
          <a:xfrm>
            <a:off x="868680" y="2350008"/>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371600" y="2286000"/>
            <a:ext cx="4267048" cy="530352"/>
          </a:xfrm>
          <a:prstGeom prst="rect">
            <a:avLst/>
          </a:prstGeom>
          <a:noFill/>
          <a:ln/>
        </p:spPr>
        <p:txBody>
          <a:bodyPr wrap="square" lIns="0" tIns="0" rIns="0" bIns="0" rtlCol="0" anchor="t"/>
          <a:lstStyle/>
          <a:p>
            <a:pPr indent="0" marL="0">
              <a:lnSpc>
                <a:spcPts val="1700"/>
              </a:lnSpc>
              <a:buNone/>
            </a:pPr>
            <a:r>
              <a:rPr lang="en-US" sz="1400" b="1" dirty="0">
                <a:solidFill>
                  <a:srgbClr val="630031"/>
                </a:solidFill>
                <a:latin typeface="Cambria" pitchFamily="34" charset="0"/>
                <a:ea typeface="Cambria" pitchFamily="34" charset="-122"/>
                <a:cs typeface="Cambria" pitchFamily="34" charset="-120"/>
              </a:rPr>
              <a:t>Four users, not one</a:t>
            </a:r>
            <a:endParaRPr lang="en-US" sz="1400" dirty="0"/>
          </a:p>
        </p:txBody>
      </p:sp>
      <p:sp>
        <p:nvSpPr>
          <p:cNvPr id="9" name="Text 7"/>
          <p:cNvSpPr txBox="1"/>
          <p:nvPr/>
        </p:nvSpPr>
        <p:spPr>
          <a:xfrm>
            <a:off x="1371600" y="2825496"/>
            <a:ext cx="4267048" cy="530352"/>
          </a:xfrm>
          <a:prstGeom prst="rect">
            <a:avLst/>
          </a:prstGeom>
          <a:noFill/>
          <a:ln/>
        </p:spPr>
        <p:txBody>
          <a:bodyPr wrap="square" lIns="0" tIns="0" rIns="0" bIns="0" rtlCol="0" anchor="t"/>
          <a:lstStyle/>
          <a:p>
            <a:pPr indent="0" marL="0">
              <a:lnSpc>
                <a:spcPts val="1450"/>
              </a:lnSpc>
              <a:buNone/>
            </a:pPr>
            <a:r>
              <a:rPr lang="en-US" sz="1100" dirty="0">
                <a:solidFill>
                  <a:srgbClr val="1C1A19"/>
                </a:solidFill>
                <a:latin typeface="Calibri" pitchFamily="34" charset="0"/>
                <a:ea typeface="Calibri" pitchFamily="34" charset="-122"/>
                <a:cs typeface="Calibri" pitchFamily="34" charset="-120"/>
              </a:rPr>
              <a:t>Writing the driver and the front office as users gave us two features we would not have thought of from the student's side.</a:t>
            </a:r>
            <a:endParaRPr lang="en-US" sz="1100" dirty="0"/>
          </a:p>
        </p:txBody>
      </p:sp>
      <p:sp>
        <p:nvSpPr>
          <p:cNvPr id="10" name="Shape 8"/>
          <p:cNvSpPr/>
          <p:nvPr/>
        </p:nvSpPr>
        <p:spPr>
          <a:xfrm>
            <a:off x="640080" y="3520440"/>
            <a:ext cx="5227168" cy="1234440"/>
          </a:xfrm>
          <a:prstGeom prst="roundRect">
            <a:avLst>
              <a:gd name="adj" fmla="val 666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1" name="Shape 9"/>
          <p:cNvSpPr/>
          <p:nvPr/>
        </p:nvSpPr>
        <p:spPr>
          <a:xfrm>
            <a:off x="868680" y="3721608"/>
            <a:ext cx="347472" cy="347472"/>
          </a:xfrm>
          <a:prstGeom prst="ellipse">
            <a:avLst/>
          </a:prstGeom>
          <a:solidFill>
            <a:srgbClr val="2E4A3B"/>
          </a:solidFill>
          <a:ln w="12700">
            <a:solidFill>
              <a:srgbClr val="333333"/>
            </a:solidFill>
            <a:prstDash val="solid"/>
          </a:ln>
        </p:spPr>
      </p:sp>
      <p:sp>
        <p:nvSpPr>
          <p:cNvPr id="12" name="Text 10"/>
          <p:cNvSpPr txBox="1"/>
          <p:nvPr/>
        </p:nvSpPr>
        <p:spPr>
          <a:xfrm>
            <a:off x="868680" y="3721608"/>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371600" y="3657600"/>
            <a:ext cx="4267048" cy="530352"/>
          </a:xfrm>
          <a:prstGeom prst="rect">
            <a:avLst/>
          </a:prstGeom>
          <a:noFill/>
          <a:ln/>
        </p:spPr>
        <p:txBody>
          <a:bodyPr wrap="square" lIns="0" tIns="0" rIns="0" bIns="0" rtlCol="0" anchor="t"/>
          <a:lstStyle/>
          <a:p>
            <a:pPr indent="0" marL="0">
              <a:lnSpc>
                <a:spcPts val="1700"/>
              </a:lnSpc>
              <a:buNone/>
            </a:pPr>
            <a:r>
              <a:rPr lang="en-US" sz="1400" b="1" dirty="0">
                <a:solidFill>
                  <a:srgbClr val="630031"/>
                </a:solidFill>
                <a:latin typeface="Cambria" pitchFamily="34" charset="0"/>
                <a:ea typeface="Cambria" pitchFamily="34" charset="-122"/>
                <a:cs typeface="Cambria" pitchFamily="34" charset="-120"/>
              </a:rPr>
              <a:t>Given, When, Then on every story</a:t>
            </a:r>
            <a:endParaRPr lang="en-US" sz="1400" dirty="0"/>
          </a:p>
        </p:txBody>
      </p:sp>
      <p:sp>
        <p:nvSpPr>
          <p:cNvPr id="14" name="Text 12"/>
          <p:cNvSpPr txBox="1"/>
          <p:nvPr/>
        </p:nvSpPr>
        <p:spPr>
          <a:xfrm>
            <a:off x="1371600" y="4197096"/>
            <a:ext cx="4267048" cy="530352"/>
          </a:xfrm>
          <a:prstGeom prst="rect">
            <a:avLst/>
          </a:prstGeom>
          <a:noFill/>
          <a:ln/>
        </p:spPr>
        <p:txBody>
          <a:bodyPr wrap="square" lIns="0" tIns="0" rIns="0" bIns="0" rtlCol="0" anchor="t"/>
          <a:lstStyle/>
          <a:p>
            <a:pPr indent="0" marL="0">
              <a:lnSpc>
                <a:spcPts val="1450"/>
              </a:lnSpc>
              <a:buNone/>
            </a:pPr>
            <a:r>
              <a:rPr lang="en-US" sz="1100" dirty="0">
                <a:solidFill>
                  <a:srgbClr val="1C1A19"/>
                </a:solidFill>
                <a:latin typeface="Calibri" pitchFamily="34" charset="0"/>
                <a:ea typeface="Calibri" pitchFamily="34" charset="-122"/>
                <a:cs typeface="Calibri" pitchFamily="34" charset="-120"/>
              </a:rPr>
              <a:t>Seven scenarios, so the generator had something to click on for every feature that has a story.</a:t>
            </a:r>
            <a:endParaRPr lang="en-US" sz="1100" dirty="0"/>
          </a:p>
        </p:txBody>
      </p:sp>
      <p:sp>
        <p:nvSpPr>
          <p:cNvPr id="15" name="Shape 13"/>
          <p:cNvSpPr/>
          <p:nvPr/>
        </p:nvSpPr>
        <p:spPr>
          <a:xfrm>
            <a:off x="640080" y="4892040"/>
            <a:ext cx="5227168" cy="1234440"/>
          </a:xfrm>
          <a:prstGeom prst="roundRect">
            <a:avLst>
              <a:gd name="adj" fmla="val 666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6" name="Shape 14"/>
          <p:cNvSpPr/>
          <p:nvPr/>
        </p:nvSpPr>
        <p:spPr>
          <a:xfrm>
            <a:off x="868680" y="5093208"/>
            <a:ext cx="347472" cy="347472"/>
          </a:xfrm>
          <a:prstGeom prst="ellipse">
            <a:avLst/>
          </a:prstGeom>
          <a:solidFill>
            <a:srgbClr val="2E4A3B"/>
          </a:solidFill>
          <a:ln w="12700">
            <a:solidFill>
              <a:srgbClr val="333333"/>
            </a:solidFill>
            <a:prstDash val="solid"/>
          </a:ln>
        </p:spPr>
      </p:sp>
      <p:sp>
        <p:nvSpPr>
          <p:cNvPr id="17" name="Text 15"/>
          <p:cNvSpPr txBox="1"/>
          <p:nvPr/>
        </p:nvSpPr>
        <p:spPr>
          <a:xfrm>
            <a:off x="868680" y="5093208"/>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1371600" y="5029200"/>
            <a:ext cx="4267048" cy="530352"/>
          </a:xfrm>
          <a:prstGeom prst="rect">
            <a:avLst/>
          </a:prstGeom>
          <a:noFill/>
          <a:ln/>
        </p:spPr>
        <p:txBody>
          <a:bodyPr wrap="square" lIns="0" tIns="0" rIns="0" bIns="0" rtlCol="0" anchor="t"/>
          <a:lstStyle/>
          <a:p>
            <a:pPr indent="0" marL="0">
              <a:lnSpc>
                <a:spcPts val="1700"/>
              </a:lnSpc>
              <a:buNone/>
            </a:pPr>
            <a:r>
              <a:rPr lang="en-US" sz="1400" b="1" dirty="0">
                <a:solidFill>
                  <a:srgbClr val="630031"/>
                </a:solidFill>
                <a:latin typeface="Cambria" pitchFamily="34" charset="0"/>
                <a:ea typeface="Cambria" pitchFamily="34" charset="-122"/>
                <a:cs typeface="Cambria" pitchFamily="34" charset="-120"/>
              </a:rPr>
              <a:t>The purpose is one paragraph</a:t>
            </a:r>
            <a:endParaRPr lang="en-US" sz="1400" dirty="0"/>
          </a:p>
        </p:txBody>
      </p:sp>
      <p:sp>
        <p:nvSpPr>
          <p:cNvPr id="19" name="Text 17"/>
          <p:cNvSpPr txBox="1"/>
          <p:nvPr/>
        </p:nvSpPr>
        <p:spPr>
          <a:xfrm>
            <a:off x="1371600" y="5568696"/>
            <a:ext cx="4267048" cy="530352"/>
          </a:xfrm>
          <a:prstGeom prst="rect">
            <a:avLst/>
          </a:prstGeom>
          <a:noFill/>
          <a:ln/>
        </p:spPr>
        <p:txBody>
          <a:bodyPr wrap="square" lIns="0" tIns="0" rIns="0" bIns="0" rtlCol="0" anchor="t"/>
          <a:lstStyle/>
          <a:p>
            <a:pPr indent="0" marL="0">
              <a:lnSpc>
                <a:spcPts val="1450"/>
              </a:lnSpc>
              <a:buNone/>
            </a:pPr>
            <a:r>
              <a:rPr lang="en-US" sz="1100" dirty="0">
                <a:solidFill>
                  <a:srgbClr val="1C1A19"/>
                </a:solidFill>
                <a:latin typeface="Calibri" pitchFamily="34" charset="0"/>
                <a:ea typeface="Calibri" pitchFamily="34" charset="-122"/>
                <a:cs typeface="Calibri" pitchFamily="34" charset="-120"/>
              </a:rPr>
              <a:t>Everyone on the team can say what the app is for without looking. That has stopped three arguments already.</a:t>
            </a:r>
            <a:endParaRPr lang="en-US" sz="1100" dirty="0"/>
          </a:p>
        </p:txBody>
      </p:sp>
      <p:sp>
        <p:nvSpPr>
          <p:cNvPr id="20" name="Text 18"/>
          <p:cNvSpPr txBox="1"/>
          <p:nvPr/>
        </p:nvSpPr>
        <p:spPr>
          <a:xfrm>
            <a:off x="6324448" y="1783080"/>
            <a:ext cx="5227168" cy="274320"/>
          </a:xfrm>
          <a:prstGeom prst="rect">
            <a:avLst/>
          </a:prstGeom>
          <a:noFill/>
          <a:ln/>
        </p:spPr>
        <p:txBody>
          <a:bodyPr wrap="square" lIns="0" tIns="0" rIns="0" bIns="0" rtlCol="0" anchor="ctr"/>
          <a:lstStyle/>
          <a:p>
            <a:pPr indent="0" marL="0">
              <a:buNone/>
            </a:pPr>
            <a:r>
              <a:rPr lang="en-US" sz="1100" b="1" spc="200" kern="0" dirty="0">
                <a:solidFill>
                  <a:srgbClr val="CF4420"/>
                </a:solidFill>
                <a:latin typeface="Calibri" pitchFamily="34" charset="0"/>
                <a:ea typeface="Calibri" pitchFamily="34" charset="-122"/>
                <a:cs typeface="Calibri" pitchFamily="34" charset="-120"/>
              </a:rPr>
              <a:t>WHAT WE LEARNED</a:t>
            </a:r>
            <a:endParaRPr lang="en-US" sz="1100" dirty="0"/>
          </a:p>
        </p:txBody>
      </p:sp>
      <p:sp>
        <p:nvSpPr>
          <p:cNvPr id="21" name="Shape 19"/>
          <p:cNvSpPr/>
          <p:nvPr/>
        </p:nvSpPr>
        <p:spPr>
          <a:xfrm>
            <a:off x="6324448" y="2148840"/>
            <a:ext cx="5227168" cy="1234440"/>
          </a:xfrm>
          <a:prstGeom prst="roundRect">
            <a:avLst>
              <a:gd name="adj" fmla="val 666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2" name="Shape 20"/>
          <p:cNvSpPr/>
          <p:nvPr/>
        </p:nvSpPr>
        <p:spPr>
          <a:xfrm>
            <a:off x="6553048" y="2350008"/>
            <a:ext cx="347472" cy="347472"/>
          </a:xfrm>
          <a:prstGeom prst="ellipse">
            <a:avLst/>
          </a:prstGeom>
          <a:solidFill>
            <a:srgbClr val="CF4420"/>
          </a:solidFill>
          <a:ln w="12700">
            <a:solidFill>
              <a:srgbClr val="333333"/>
            </a:solidFill>
            <a:prstDash val="solid"/>
          </a:ln>
        </p:spPr>
      </p:sp>
      <p:sp>
        <p:nvSpPr>
          <p:cNvPr id="23" name="Text 21"/>
          <p:cNvSpPr txBox="1"/>
          <p:nvPr/>
        </p:nvSpPr>
        <p:spPr>
          <a:xfrm>
            <a:off x="6553048" y="2350008"/>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4" name="Text 22"/>
          <p:cNvSpPr txBox="1"/>
          <p:nvPr/>
        </p:nvSpPr>
        <p:spPr>
          <a:xfrm>
            <a:off x="7055968" y="2286000"/>
            <a:ext cx="4267048" cy="530352"/>
          </a:xfrm>
          <a:prstGeom prst="rect">
            <a:avLst/>
          </a:prstGeom>
          <a:noFill/>
          <a:ln/>
        </p:spPr>
        <p:txBody>
          <a:bodyPr wrap="square" lIns="0" tIns="0" rIns="0" bIns="0" rtlCol="0" anchor="t"/>
          <a:lstStyle/>
          <a:p>
            <a:pPr indent="0" marL="0">
              <a:lnSpc>
                <a:spcPts val="1700"/>
              </a:lnSpc>
              <a:buNone/>
            </a:pPr>
            <a:r>
              <a:rPr lang="en-US" sz="1400" b="1" dirty="0">
                <a:solidFill>
                  <a:srgbClr val="630031"/>
                </a:solidFill>
                <a:latin typeface="Cambria" pitchFamily="34" charset="0"/>
                <a:ea typeface="Cambria" pitchFamily="34" charset="-122"/>
                <a:cs typeface="Cambria" pitchFamily="34" charset="-120"/>
              </a:rPr>
              <a:t>No story means an empty screen</a:t>
            </a:r>
            <a:endParaRPr lang="en-US" sz="1400" dirty="0"/>
          </a:p>
        </p:txBody>
      </p:sp>
      <p:sp>
        <p:nvSpPr>
          <p:cNvPr id="25" name="Text 23"/>
          <p:cNvSpPr txBox="1"/>
          <p:nvPr/>
        </p:nvSpPr>
        <p:spPr>
          <a:xfrm>
            <a:off x="7055968" y="2825496"/>
            <a:ext cx="4267048" cy="530352"/>
          </a:xfrm>
          <a:prstGeom prst="rect">
            <a:avLst/>
          </a:prstGeom>
          <a:noFill/>
          <a:ln/>
        </p:spPr>
        <p:txBody>
          <a:bodyPr wrap="square" lIns="0" tIns="0" rIns="0" bIns="0" rtlCol="0" anchor="t"/>
          <a:lstStyle/>
          <a:p>
            <a:pPr indent="0" marL="0">
              <a:lnSpc>
                <a:spcPts val="1450"/>
              </a:lnSpc>
              <a:buNone/>
            </a:pPr>
            <a:r>
              <a:rPr lang="en-US" sz="1100" dirty="0">
                <a:solidFill>
                  <a:srgbClr val="1C1A19"/>
                </a:solidFill>
                <a:latin typeface="Calibri" pitchFamily="34" charset="0"/>
                <a:ea typeface="Calibri" pitchFamily="34" charset="-122"/>
                <a:cs typeface="Calibri" pitchFamily="34" charset="-120"/>
              </a:rPr>
              <a:t>Ride history looked finished in the plan. In the prototype it is a blank page that names what is missing.</a:t>
            </a:r>
            <a:endParaRPr lang="en-US" sz="1100" dirty="0"/>
          </a:p>
        </p:txBody>
      </p:sp>
      <p:sp>
        <p:nvSpPr>
          <p:cNvPr id="26" name="Shape 24"/>
          <p:cNvSpPr/>
          <p:nvPr/>
        </p:nvSpPr>
        <p:spPr>
          <a:xfrm>
            <a:off x="6324448" y="3520440"/>
            <a:ext cx="5227168" cy="1234440"/>
          </a:xfrm>
          <a:prstGeom prst="roundRect">
            <a:avLst>
              <a:gd name="adj" fmla="val 666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7" name="Shape 25"/>
          <p:cNvSpPr/>
          <p:nvPr/>
        </p:nvSpPr>
        <p:spPr>
          <a:xfrm>
            <a:off x="6553048" y="3721608"/>
            <a:ext cx="347472" cy="347472"/>
          </a:xfrm>
          <a:prstGeom prst="ellipse">
            <a:avLst/>
          </a:prstGeom>
          <a:solidFill>
            <a:srgbClr val="CF4420"/>
          </a:solidFill>
          <a:ln w="12700">
            <a:solidFill>
              <a:srgbClr val="333333"/>
            </a:solidFill>
            <a:prstDash val="solid"/>
          </a:ln>
        </p:spPr>
      </p:sp>
      <p:sp>
        <p:nvSpPr>
          <p:cNvPr id="28" name="Text 26"/>
          <p:cNvSpPr txBox="1"/>
          <p:nvPr/>
        </p:nvSpPr>
        <p:spPr>
          <a:xfrm>
            <a:off x="6553048" y="3721608"/>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9" name="Text 27"/>
          <p:cNvSpPr txBox="1"/>
          <p:nvPr/>
        </p:nvSpPr>
        <p:spPr>
          <a:xfrm>
            <a:off x="7055968" y="3657600"/>
            <a:ext cx="4267048" cy="530352"/>
          </a:xfrm>
          <a:prstGeom prst="rect">
            <a:avLst/>
          </a:prstGeom>
          <a:noFill/>
          <a:ln/>
        </p:spPr>
        <p:txBody>
          <a:bodyPr wrap="square" lIns="0" tIns="0" rIns="0" bIns="0" rtlCol="0" anchor="t"/>
          <a:lstStyle/>
          <a:p>
            <a:pPr indent="0" marL="0">
              <a:lnSpc>
                <a:spcPts val="1700"/>
              </a:lnSpc>
              <a:buNone/>
            </a:pPr>
            <a:r>
              <a:rPr lang="en-US" sz="1400" b="1" dirty="0">
                <a:solidFill>
                  <a:srgbClr val="630031"/>
                </a:solidFill>
                <a:latin typeface="Cambria" pitchFamily="34" charset="0"/>
                <a:ea typeface="Cambria" pitchFamily="34" charset="-122"/>
                <a:cs typeface="Cambria" pitchFamily="34" charset="-120"/>
              </a:rPr>
              <a:t>A story needs its so that</a:t>
            </a:r>
            <a:endParaRPr lang="en-US" sz="1400" dirty="0"/>
          </a:p>
        </p:txBody>
      </p:sp>
      <p:sp>
        <p:nvSpPr>
          <p:cNvPr id="30" name="Text 28"/>
          <p:cNvSpPr txBox="1"/>
          <p:nvPr/>
        </p:nvSpPr>
        <p:spPr>
          <a:xfrm>
            <a:off x="7055968" y="4197096"/>
            <a:ext cx="4267048" cy="530352"/>
          </a:xfrm>
          <a:prstGeom prst="rect">
            <a:avLst/>
          </a:prstGeom>
          <a:noFill/>
          <a:ln/>
        </p:spPr>
        <p:txBody>
          <a:bodyPr wrap="square" lIns="0" tIns="0" rIns="0" bIns="0" rtlCol="0" anchor="t"/>
          <a:lstStyle/>
          <a:p>
            <a:pPr indent="0" marL="0">
              <a:lnSpc>
                <a:spcPts val="1450"/>
              </a:lnSpc>
              <a:buNone/>
            </a:pPr>
            <a:r>
              <a:rPr lang="en-US" sz="1100" dirty="0">
                <a:solidFill>
                  <a:srgbClr val="1C1A19"/>
                </a:solidFill>
                <a:latin typeface="Calibri" pitchFamily="34" charset="0"/>
                <a:ea typeface="Calibri" pitchFamily="34" charset="-122"/>
                <a:cs typeface="Calibri" pitchFamily="34" charset="-120"/>
              </a:rPr>
              <a:t>The route board story has no so that. The screen works, but nobody can say why it matters or test whether it does.</a:t>
            </a:r>
            <a:endParaRPr lang="en-US" sz="1100" dirty="0"/>
          </a:p>
        </p:txBody>
      </p:sp>
      <p:sp>
        <p:nvSpPr>
          <p:cNvPr id="31" name="Shape 29"/>
          <p:cNvSpPr/>
          <p:nvPr/>
        </p:nvSpPr>
        <p:spPr>
          <a:xfrm>
            <a:off x="6324448" y="4892040"/>
            <a:ext cx="5227168" cy="1234440"/>
          </a:xfrm>
          <a:prstGeom prst="roundRect">
            <a:avLst>
              <a:gd name="adj" fmla="val 666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32" name="Shape 30"/>
          <p:cNvSpPr/>
          <p:nvPr/>
        </p:nvSpPr>
        <p:spPr>
          <a:xfrm>
            <a:off x="6553048" y="5093208"/>
            <a:ext cx="347472" cy="347472"/>
          </a:xfrm>
          <a:prstGeom prst="ellipse">
            <a:avLst/>
          </a:prstGeom>
          <a:solidFill>
            <a:srgbClr val="CF4420"/>
          </a:solidFill>
          <a:ln w="12700">
            <a:solidFill>
              <a:srgbClr val="333333"/>
            </a:solidFill>
            <a:prstDash val="solid"/>
          </a:ln>
        </p:spPr>
      </p:sp>
      <p:sp>
        <p:nvSpPr>
          <p:cNvPr id="33" name="Text 31"/>
          <p:cNvSpPr txBox="1"/>
          <p:nvPr/>
        </p:nvSpPr>
        <p:spPr>
          <a:xfrm>
            <a:off x="6553048" y="5093208"/>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4" name="Text 32"/>
          <p:cNvSpPr txBox="1"/>
          <p:nvPr/>
        </p:nvSpPr>
        <p:spPr>
          <a:xfrm>
            <a:off x="7055968" y="5029200"/>
            <a:ext cx="4267048" cy="530352"/>
          </a:xfrm>
          <a:prstGeom prst="rect">
            <a:avLst/>
          </a:prstGeom>
          <a:noFill/>
          <a:ln/>
        </p:spPr>
        <p:txBody>
          <a:bodyPr wrap="square" lIns="0" tIns="0" rIns="0" bIns="0" rtlCol="0" anchor="t"/>
          <a:lstStyle/>
          <a:p>
            <a:pPr indent="0" marL="0">
              <a:lnSpc>
                <a:spcPts val="1700"/>
              </a:lnSpc>
              <a:buNone/>
            </a:pPr>
            <a:r>
              <a:rPr lang="en-US" sz="1400" b="1" dirty="0">
                <a:solidFill>
                  <a:srgbClr val="630031"/>
                </a:solidFill>
                <a:latin typeface="Cambria" pitchFamily="34" charset="0"/>
                <a:ea typeface="Cambria" pitchFamily="34" charset="-122"/>
                <a:cs typeface="Cambria" pitchFamily="34" charset="-120"/>
              </a:rPr>
              <a:t>We know the front office least</a:t>
            </a:r>
            <a:endParaRPr lang="en-US" sz="1400" dirty="0"/>
          </a:p>
        </p:txBody>
      </p:sp>
      <p:sp>
        <p:nvSpPr>
          <p:cNvPr id="35" name="Text 33"/>
          <p:cNvSpPr txBox="1"/>
          <p:nvPr/>
        </p:nvSpPr>
        <p:spPr>
          <a:xfrm>
            <a:off x="7055968" y="5568696"/>
            <a:ext cx="4267048" cy="530352"/>
          </a:xfrm>
          <a:prstGeom prst="rect">
            <a:avLst/>
          </a:prstGeom>
          <a:noFill/>
          <a:ln/>
        </p:spPr>
        <p:txBody>
          <a:bodyPr wrap="square" lIns="0" tIns="0" rIns="0" bIns="0" rtlCol="0" anchor="t"/>
          <a:lstStyle/>
          <a:p>
            <a:pPr indent="0" marL="0">
              <a:lnSpc>
                <a:spcPts val="1450"/>
              </a:lnSpc>
              <a:buNone/>
            </a:pPr>
            <a:r>
              <a:rPr lang="en-US" sz="1100" dirty="0">
                <a:solidFill>
                  <a:srgbClr val="1C1A19"/>
                </a:solidFill>
                <a:latin typeface="Calibri" pitchFamily="34" charset="0"/>
                <a:ea typeface="Calibri" pitchFamily="34" charset="-122"/>
                <a:cs typeface="Calibri" pitchFamily="34" charset="-120"/>
              </a:rPr>
              <a:t>One story, no so that. We should ask the front office what a phone call actually sounds like.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BLOCKERS, IN THE ORDER THEY HAVE TO BE FIXED</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What is in the way</a:t>
            </a:r>
            <a:endParaRPr lang="en-US" sz="3400" dirty="0"/>
          </a:p>
        </p:txBody>
      </p:sp>
      <p:sp>
        <p:nvSpPr>
          <p:cNvPr id="4" name="Text 2"/>
          <p:cNvSpPr txBox="1"/>
          <p:nvPr/>
        </p:nvSpPr>
        <p:spPr>
          <a:xfrm>
            <a:off x="640080" y="1783080"/>
            <a:ext cx="3200400" cy="274320"/>
          </a:xfrm>
          <a:prstGeom prst="rect">
            <a:avLst/>
          </a:prstGeom>
          <a:noFill/>
          <a:ln/>
        </p:spPr>
        <p:txBody>
          <a:bodyPr wrap="square" lIns="0" tIns="0" rIns="0" bIns="0" rtlCol="0" anchor="ctr"/>
          <a:lstStyle/>
          <a:p>
            <a:pPr indent="0" marL="0">
              <a:buNone/>
            </a:pPr>
            <a:r>
              <a:rPr lang="en-US" sz="1050" b="1" spc="150" kern="0" dirty="0">
                <a:solidFill>
                  <a:srgbClr val="75787B"/>
                </a:solidFill>
                <a:latin typeface="Calibri" pitchFamily="34" charset="0"/>
                <a:ea typeface="Calibri" pitchFamily="34" charset="-122"/>
                <a:cs typeface="Calibri" pitchFamily="34" charset="-120"/>
              </a:rPr>
              <a:t>WHAT IS IN THE WAY</a:t>
            </a:r>
            <a:endParaRPr lang="en-US" sz="1050" dirty="0"/>
          </a:p>
        </p:txBody>
      </p:sp>
      <p:sp>
        <p:nvSpPr>
          <p:cNvPr id="5" name="Text 3"/>
          <p:cNvSpPr txBox="1"/>
          <p:nvPr/>
        </p:nvSpPr>
        <p:spPr>
          <a:xfrm>
            <a:off x="4023360" y="1783080"/>
            <a:ext cx="3383280" cy="274320"/>
          </a:xfrm>
          <a:prstGeom prst="rect">
            <a:avLst/>
          </a:prstGeom>
          <a:noFill/>
          <a:ln/>
        </p:spPr>
        <p:txBody>
          <a:bodyPr wrap="square" lIns="0" tIns="0" rIns="0" bIns="0" rtlCol="0" anchor="ctr"/>
          <a:lstStyle/>
          <a:p>
            <a:pPr indent="0" marL="0">
              <a:buNone/>
            </a:pPr>
            <a:r>
              <a:rPr lang="en-US" sz="1050" b="1" spc="150" kern="0" dirty="0">
                <a:solidFill>
                  <a:srgbClr val="75787B"/>
                </a:solidFill>
                <a:latin typeface="Calibri" pitchFamily="34" charset="0"/>
                <a:ea typeface="Calibri" pitchFamily="34" charset="-122"/>
                <a:cs typeface="Calibri" pitchFamily="34" charset="-120"/>
              </a:rPr>
              <a:t>WHY IT MATTERS</a:t>
            </a:r>
            <a:endParaRPr lang="en-US" sz="1050" dirty="0"/>
          </a:p>
        </p:txBody>
      </p:sp>
      <p:sp>
        <p:nvSpPr>
          <p:cNvPr id="6" name="Text 4"/>
          <p:cNvSpPr txBox="1"/>
          <p:nvPr/>
        </p:nvSpPr>
        <p:spPr>
          <a:xfrm>
            <a:off x="7589520" y="1783080"/>
            <a:ext cx="3962095" cy="274320"/>
          </a:xfrm>
          <a:prstGeom prst="rect">
            <a:avLst/>
          </a:prstGeom>
          <a:noFill/>
          <a:ln/>
        </p:spPr>
        <p:txBody>
          <a:bodyPr wrap="square" lIns="0" tIns="0" rIns="0" bIns="0" rtlCol="0" anchor="ctr"/>
          <a:lstStyle/>
          <a:p>
            <a:pPr indent="0" marL="0">
              <a:buNone/>
            </a:pPr>
            <a:r>
              <a:rPr lang="en-US" sz="1050" b="1" spc="150" kern="0" dirty="0">
                <a:solidFill>
                  <a:srgbClr val="75787B"/>
                </a:solidFill>
                <a:latin typeface="Calibri" pitchFamily="34" charset="0"/>
                <a:ea typeface="Calibri" pitchFamily="34" charset="-122"/>
                <a:cs typeface="Calibri" pitchFamily="34" charset="-120"/>
              </a:rPr>
              <a:t>WHAT WE ARE DOING ABOUT IT</a:t>
            </a:r>
            <a:endParaRPr lang="en-US" sz="1050" dirty="0"/>
          </a:p>
        </p:txBody>
      </p:sp>
      <p:sp>
        <p:nvSpPr>
          <p:cNvPr id="7" name="Shape 5"/>
          <p:cNvSpPr/>
          <p:nvPr/>
        </p:nvSpPr>
        <p:spPr>
          <a:xfrm>
            <a:off x="640080" y="2148840"/>
            <a:ext cx="10911535" cy="960120"/>
          </a:xfrm>
          <a:prstGeom prst="roundRect">
            <a:avLst>
              <a:gd name="adj" fmla="val 857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8" name="Shape 6"/>
          <p:cNvSpPr/>
          <p:nvPr/>
        </p:nvSpPr>
        <p:spPr>
          <a:xfrm>
            <a:off x="841248" y="2455164"/>
            <a:ext cx="347472" cy="347472"/>
          </a:xfrm>
          <a:prstGeom prst="ellipse">
            <a:avLst/>
          </a:prstGeom>
          <a:solidFill>
            <a:srgbClr val="CF4420"/>
          </a:solidFill>
          <a:ln w="12700">
            <a:solidFill>
              <a:srgbClr val="333333"/>
            </a:solidFill>
            <a:prstDash val="solid"/>
          </a:ln>
        </p:spPr>
      </p:sp>
      <p:sp>
        <p:nvSpPr>
          <p:cNvPr id="9" name="Text 7"/>
          <p:cNvSpPr txBox="1"/>
          <p:nvPr/>
        </p:nvSpPr>
        <p:spPr>
          <a:xfrm>
            <a:off x="841248" y="2455164"/>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txBox="1"/>
          <p:nvPr/>
        </p:nvSpPr>
        <p:spPr>
          <a:xfrm>
            <a:off x="1325880" y="2148840"/>
            <a:ext cx="2606040" cy="960120"/>
          </a:xfrm>
          <a:prstGeom prst="rect">
            <a:avLst/>
          </a:prstGeom>
          <a:noFill/>
          <a:ln/>
        </p:spPr>
        <p:txBody>
          <a:bodyPr wrap="square" lIns="0" tIns="0" rIns="0" bIns="0" rtlCol="0" anchor="ctr"/>
          <a:lstStyle/>
          <a:p>
            <a:pPr indent="0" marL="0">
              <a:lnSpc>
                <a:spcPts val="1800"/>
              </a:lnSpc>
              <a:buNone/>
            </a:pPr>
            <a:r>
              <a:rPr lang="en-US" sz="1400" b="1" dirty="0">
                <a:solidFill>
                  <a:srgbClr val="630031"/>
                </a:solidFill>
                <a:latin typeface="Cambria" pitchFamily="34" charset="0"/>
                <a:ea typeface="Cambria" pitchFamily="34" charset="-122"/>
                <a:cs typeface="Cambria" pitchFamily="34" charset="-120"/>
              </a:rPr>
              <a:t>Ride history has no user story</a:t>
            </a:r>
            <a:endParaRPr lang="en-US" sz="1400" dirty="0"/>
          </a:p>
        </p:txBody>
      </p:sp>
      <p:sp>
        <p:nvSpPr>
          <p:cNvPr id="11" name="Text 9"/>
          <p:cNvSpPr txBox="1"/>
          <p:nvPr/>
        </p:nvSpPr>
        <p:spPr>
          <a:xfrm>
            <a:off x="4023360" y="2148840"/>
            <a:ext cx="3383280" cy="960120"/>
          </a:xfrm>
          <a:prstGeom prst="rect">
            <a:avLst/>
          </a:prstGeom>
          <a:noFill/>
          <a:ln/>
        </p:spPr>
        <p:txBody>
          <a:bodyPr wrap="square" lIns="0" tIns="0" rIns="0" bIns="0" rtlCol="0" anchor="ctr"/>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Its screen is empty and it cannot get a build card</a:t>
            </a:r>
            <a:endParaRPr lang="en-US" sz="1200" dirty="0"/>
          </a:p>
        </p:txBody>
      </p:sp>
      <p:sp>
        <p:nvSpPr>
          <p:cNvPr id="12" name="Text 10"/>
          <p:cNvSpPr txBox="1"/>
          <p:nvPr/>
        </p:nvSpPr>
        <p:spPr>
          <a:xfrm>
            <a:off x="7589520" y="2148840"/>
            <a:ext cx="3733495" cy="960120"/>
          </a:xfrm>
          <a:prstGeom prst="rect">
            <a:avLst/>
          </a:prstGeom>
          <a:noFill/>
          <a:ln/>
        </p:spPr>
        <p:txBody>
          <a:bodyPr wrap="square" lIns="0" tIns="0" rIns="0" bIns="0" rtlCol="0" anchor="ctr"/>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Decide: write the story, or cut the feature. See the ask.</a:t>
            </a:r>
            <a:endParaRPr lang="en-US" sz="1200" dirty="0"/>
          </a:p>
        </p:txBody>
      </p:sp>
      <p:sp>
        <p:nvSpPr>
          <p:cNvPr id="13" name="Shape 11"/>
          <p:cNvSpPr/>
          <p:nvPr/>
        </p:nvSpPr>
        <p:spPr>
          <a:xfrm>
            <a:off x="640080" y="3246120"/>
            <a:ext cx="10911535" cy="960120"/>
          </a:xfrm>
          <a:prstGeom prst="roundRect">
            <a:avLst>
              <a:gd name="adj" fmla="val 857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4" name="Shape 12"/>
          <p:cNvSpPr/>
          <p:nvPr/>
        </p:nvSpPr>
        <p:spPr>
          <a:xfrm>
            <a:off x="841248" y="3552444"/>
            <a:ext cx="347472" cy="347472"/>
          </a:xfrm>
          <a:prstGeom prst="ellipse">
            <a:avLst/>
          </a:prstGeom>
          <a:solidFill>
            <a:srgbClr val="630031"/>
          </a:solidFill>
          <a:ln w="12700">
            <a:solidFill>
              <a:srgbClr val="333333"/>
            </a:solidFill>
            <a:prstDash val="solid"/>
          </a:ln>
        </p:spPr>
      </p:sp>
      <p:sp>
        <p:nvSpPr>
          <p:cNvPr id="15" name="Text 13"/>
          <p:cNvSpPr txBox="1"/>
          <p:nvPr/>
        </p:nvSpPr>
        <p:spPr>
          <a:xfrm>
            <a:off x="841248" y="3552444"/>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txBox="1"/>
          <p:nvPr/>
        </p:nvSpPr>
        <p:spPr>
          <a:xfrm>
            <a:off x="1325880" y="3246120"/>
            <a:ext cx="2606040" cy="960120"/>
          </a:xfrm>
          <a:prstGeom prst="rect">
            <a:avLst/>
          </a:prstGeom>
          <a:noFill/>
          <a:ln/>
        </p:spPr>
        <p:txBody>
          <a:bodyPr wrap="square" lIns="0" tIns="0" rIns="0" bIns="0" rtlCol="0" anchor="ctr"/>
          <a:lstStyle/>
          <a:p>
            <a:pPr indent="0" marL="0">
              <a:lnSpc>
                <a:spcPts val="1800"/>
              </a:lnSpc>
              <a:buNone/>
            </a:pPr>
            <a:r>
              <a:rPr lang="en-US" sz="1400" b="1" dirty="0">
                <a:solidFill>
                  <a:srgbClr val="630031"/>
                </a:solidFill>
                <a:latin typeface="Cambria" pitchFamily="34" charset="0"/>
                <a:ea typeface="Cambria" pitchFamily="34" charset="-122"/>
                <a:cs typeface="Cambria" pitchFamily="34" charset="-120"/>
              </a:rPr>
              <a:t>Route board story has no so that</a:t>
            </a:r>
            <a:endParaRPr lang="en-US" sz="1400" dirty="0"/>
          </a:p>
        </p:txBody>
      </p:sp>
      <p:sp>
        <p:nvSpPr>
          <p:cNvPr id="17" name="Text 15"/>
          <p:cNvSpPr txBox="1"/>
          <p:nvPr/>
        </p:nvSpPr>
        <p:spPr>
          <a:xfrm>
            <a:off x="4023360" y="3246120"/>
            <a:ext cx="3383280" cy="960120"/>
          </a:xfrm>
          <a:prstGeom prst="rect">
            <a:avLst/>
          </a:prstGeom>
          <a:noFill/>
          <a:ln/>
        </p:spPr>
        <p:txBody>
          <a:bodyPr wrap="square" lIns="0" tIns="0" rIns="0" bIns="0" rtlCol="0" anchor="ctr"/>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Nobody can test whether the board does its job</a:t>
            </a:r>
            <a:endParaRPr lang="en-US" sz="1200" dirty="0"/>
          </a:p>
        </p:txBody>
      </p:sp>
      <p:sp>
        <p:nvSpPr>
          <p:cNvPr id="18" name="Text 16"/>
          <p:cNvSpPr txBox="1"/>
          <p:nvPr/>
        </p:nvSpPr>
        <p:spPr>
          <a:xfrm>
            <a:off x="7589520" y="3246120"/>
            <a:ext cx="3733495" cy="960120"/>
          </a:xfrm>
          <a:prstGeom prst="rect">
            <a:avLst/>
          </a:prstGeom>
          <a:noFill/>
          <a:ln/>
        </p:spPr>
        <p:txBody>
          <a:bodyPr wrap="square" lIns="0" tIns="0" rIns="0" bIns="0" rtlCol="0" anchor="ctr"/>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Rewrite it in the story studio this week. Owner: Sample Team.</a:t>
            </a:r>
            <a:endParaRPr lang="en-US" sz="1200" dirty="0"/>
          </a:p>
        </p:txBody>
      </p:sp>
      <p:sp>
        <p:nvSpPr>
          <p:cNvPr id="19" name="Shape 17"/>
          <p:cNvSpPr/>
          <p:nvPr/>
        </p:nvSpPr>
        <p:spPr>
          <a:xfrm>
            <a:off x="640080" y="4343400"/>
            <a:ext cx="10911535" cy="960120"/>
          </a:xfrm>
          <a:prstGeom prst="roundRect">
            <a:avLst>
              <a:gd name="adj" fmla="val 857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0" name="Shape 18"/>
          <p:cNvSpPr/>
          <p:nvPr/>
        </p:nvSpPr>
        <p:spPr>
          <a:xfrm>
            <a:off x="841248" y="4649724"/>
            <a:ext cx="347472" cy="347472"/>
          </a:xfrm>
          <a:prstGeom prst="ellipse">
            <a:avLst/>
          </a:prstGeom>
          <a:solidFill>
            <a:srgbClr val="630031"/>
          </a:solidFill>
          <a:ln w="12700">
            <a:solidFill>
              <a:srgbClr val="333333"/>
            </a:solidFill>
            <a:prstDash val="solid"/>
          </a:ln>
        </p:spPr>
      </p:sp>
      <p:sp>
        <p:nvSpPr>
          <p:cNvPr id="21" name="Text 19"/>
          <p:cNvSpPr txBox="1"/>
          <p:nvPr/>
        </p:nvSpPr>
        <p:spPr>
          <a:xfrm>
            <a:off x="841248" y="4649724"/>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2" name="Text 20"/>
          <p:cNvSpPr txBox="1"/>
          <p:nvPr/>
        </p:nvSpPr>
        <p:spPr>
          <a:xfrm>
            <a:off x="1325880" y="4343400"/>
            <a:ext cx="2606040" cy="960120"/>
          </a:xfrm>
          <a:prstGeom prst="rect">
            <a:avLst/>
          </a:prstGeom>
          <a:noFill/>
          <a:ln/>
        </p:spPr>
        <p:txBody>
          <a:bodyPr wrap="square" lIns="0" tIns="0" rIns="0" bIns="0" rtlCol="0" anchor="ctr"/>
          <a:lstStyle/>
          <a:p>
            <a:pPr indent="0" marL="0">
              <a:lnSpc>
                <a:spcPts val="1800"/>
              </a:lnSpc>
              <a:buNone/>
            </a:pPr>
            <a:r>
              <a:rPr lang="en-US" sz="1400" b="1" dirty="0">
                <a:solidFill>
                  <a:srgbClr val="630031"/>
                </a:solidFill>
                <a:latin typeface="Cambria" pitchFamily="34" charset="0"/>
                <a:ea typeface="Cambria" pitchFamily="34" charset="-122"/>
                <a:cs typeface="Cambria" pitchFamily="34" charset="-120"/>
              </a:rPr>
              <a:t>No build cards yet</a:t>
            </a:r>
            <a:endParaRPr lang="en-US" sz="1400" dirty="0"/>
          </a:p>
        </p:txBody>
      </p:sp>
      <p:sp>
        <p:nvSpPr>
          <p:cNvPr id="23" name="Text 21"/>
          <p:cNvSpPr txBox="1"/>
          <p:nvPr/>
        </p:nvSpPr>
        <p:spPr>
          <a:xfrm>
            <a:off x="4023360" y="4343400"/>
            <a:ext cx="3383280" cy="960120"/>
          </a:xfrm>
          <a:prstGeom prst="rect">
            <a:avLst/>
          </a:prstGeom>
          <a:noFill/>
          <a:ln/>
        </p:spPr>
        <p:txBody>
          <a:bodyPr wrap="square" lIns="0" tIns="0" rIns="0" bIns="0" rtlCol="0" anchor="ctr"/>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Architecture, design and build all read the cards</a:t>
            </a:r>
            <a:endParaRPr lang="en-US" sz="1200" dirty="0"/>
          </a:p>
        </p:txBody>
      </p:sp>
      <p:sp>
        <p:nvSpPr>
          <p:cNvPr id="24" name="Text 22"/>
          <p:cNvSpPr txBox="1"/>
          <p:nvPr/>
        </p:nvSpPr>
        <p:spPr>
          <a:xfrm>
            <a:off x="7589520" y="4343400"/>
            <a:ext cx="3733495" cy="960120"/>
          </a:xfrm>
          <a:prstGeom prst="rect">
            <a:avLst/>
          </a:prstGeom>
          <a:noFill/>
          <a:ln/>
        </p:spPr>
        <p:txBody>
          <a:bodyPr wrap="square" lIns="0" tIns="0" rIns="0" bIns="0" rtlCol="0" anchor="ctr"/>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Card session with the teacher. Needs 20 minutes and all four of us.</a:t>
            </a:r>
            <a:endParaRPr lang="en-US" sz="1200" dirty="0"/>
          </a:p>
        </p:txBody>
      </p:sp>
      <p:sp>
        <p:nvSpPr>
          <p:cNvPr id="25" name="Text 23"/>
          <p:cNvSpPr txBox="1"/>
          <p:nvPr/>
        </p:nvSpPr>
        <p:spPr>
          <a:xfrm>
            <a:off x="640080" y="5532120"/>
            <a:ext cx="10911535" cy="731520"/>
          </a:xfrm>
          <a:prstGeom prst="rect">
            <a:avLst/>
          </a:prstGeom>
          <a:noFill/>
          <a:ln/>
        </p:spPr>
        <p:txBody>
          <a:bodyPr wrap="square" lIns="0" tIns="0" rIns="0" bIns="0" rtlCol="0" anchor="t"/>
          <a:lstStyle/>
          <a:p>
            <a:pPr indent="0" marL="0">
              <a:lnSpc>
                <a:spcPts val="2200"/>
              </a:lnSpc>
              <a:buNone/>
            </a:pPr>
            <a:r>
              <a:rPr lang="en-US" sz="1300" dirty="0">
                <a:solidFill>
                  <a:srgbClr val="75787B"/>
                </a:solidFill>
                <a:latin typeface="Calibri" pitchFamily="34" charset="0"/>
                <a:ea typeface="Calibri" pitchFamily="34" charset="-122"/>
                <a:cs typeface="Calibri" pitchFamily="34" charset="-120"/>
              </a:rPr>
              <a:t>The first three lines are our gap guide, in its order. It says to fix one at a time, and that some of the others disappear when the first is fixed.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THE NEXT THREE THINGS, IN ORDER</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What happens next</a:t>
            </a:r>
            <a:endParaRPr lang="en-US" sz="3400" dirty="0"/>
          </a:p>
        </p:txBody>
      </p:sp>
      <p:sp>
        <p:nvSpPr>
          <p:cNvPr id="4" name="Text 2"/>
          <p:cNvSpPr txBox="1"/>
          <p:nvPr/>
        </p:nvSpPr>
        <p:spPr>
          <a:xfrm>
            <a:off x="1325880" y="1783080"/>
            <a:ext cx="6035040" cy="274320"/>
          </a:xfrm>
          <a:prstGeom prst="rect">
            <a:avLst/>
          </a:prstGeom>
          <a:noFill/>
          <a:ln/>
        </p:spPr>
        <p:txBody>
          <a:bodyPr wrap="square" lIns="0" tIns="0" rIns="0" bIns="0" rtlCol="0" anchor="ctr"/>
          <a:lstStyle/>
          <a:p>
            <a:pPr indent="0" marL="0">
              <a:buNone/>
            </a:pPr>
            <a:r>
              <a:rPr lang="en-US" sz="1050" b="1" spc="150" kern="0" dirty="0">
                <a:solidFill>
                  <a:srgbClr val="75787B"/>
                </a:solidFill>
                <a:latin typeface="Calibri" pitchFamily="34" charset="0"/>
                <a:ea typeface="Calibri" pitchFamily="34" charset="-122"/>
                <a:cs typeface="Calibri" pitchFamily="34" charset="-120"/>
              </a:rPr>
              <a:t>STEP</a:t>
            </a:r>
            <a:endParaRPr lang="en-US" sz="1050" dirty="0"/>
          </a:p>
        </p:txBody>
      </p:sp>
      <p:sp>
        <p:nvSpPr>
          <p:cNvPr id="5" name="Text 3"/>
          <p:cNvSpPr txBox="1"/>
          <p:nvPr/>
        </p:nvSpPr>
        <p:spPr>
          <a:xfrm>
            <a:off x="7589520" y="1783080"/>
            <a:ext cx="2377440" cy="274320"/>
          </a:xfrm>
          <a:prstGeom prst="rect">
            <a:avLst/>
          </a:prstGeom>
          <a:noFill/>
          <a:ln/>
        </p:spPr>
        <p:txBody>
          <a:bodyPr wrap="square" lIns="0" tIns="0" rIns="0" bIns="0" rtlCol="0" anchor="ctr"/>
          <a:lstStyle/>
          <a:p>
            <a:pPr indent="0" marL="0">
              <a:buNone/>
            </a:pPr>
            <a:r>
              <a:rPr lang="en-US" sz="1050" b="1" spc="150" kern="0" dirty="0">
                <a:solidFill>
                  <a:srgbClr val="75787B"/>
                </a:solidFill>
                <a:latin typeface="Calibri" pitchFamily="34" charset="0"/>
                <a:ea typeface="Calibri" pitchFamily="34" charset="-122"/>
                <a:cs typeface="Calibri" pitchFamily="34" charset="-120"/>
              </a:rPr>
              <a:t>WHO</a:t>
            </a:r>
            <a:endParaRPr lang="en-US" sz="1050" dirty="0"/>
          </a:p>
        </p:txBody>
      </p:sp>
      <p:sp>
        <p:nvSpPr>
          <p:cNvPr id="6" name="Text 4"/>
          <p:cNvSpPr txBox="1"/>
          <p:nvPr/>
        </p:nvSpPr>
        <p:spPr>
          <a:xfrm>
            <a:off x="10149840" y="1783080"/>
            <a:ext cx="1401775" cy="274320"/>
          </a:xfrm>
          <a:prstGeom prst="rect">
            <a:avLst/>
          </a:prstGeom>
          <a:noFill/>
          <a:ln/>
        </p:spPr>
        <p:txBody>
          <a:bodyPr wrap="square" lIns="0" tIns="0" rIns="0" bIns="0" rtlCol="0" anchor="ctr"/>
          <a:lstStyle/>
          <a:p>
            <a:pPr indent="0" marL="0">
              <a:buNone/>
            </a:pPr>
            <a:r>
              <a:rPr lang="en-US" sz="1050" b="1" spc="150" kern="0" dirty="0">
                <a:solidFill>
                  <a:srgbClr val="75787B"/>
                </a:solidFill>
                <a:latin typeface="Calibri" pitchFamily="34" charset="0"/>
                <a:ea typeface="Calibri" pitchFamily="34" charset="-122"/>
                <a:cs typeface="Calibri" pitchFamily="34" charset="-120"/>
              </a:rPr>
              <a:t>BY WHEN</a:t>
            </a:r>
            <a:endParaRPr lang="en-US" sz="1050" dirty="0"/>
          </a:p>
        </p:txBody>
      </p:sp>
      <p:sp>
        <p:nvSpPr>
          <p:cNvPr id="7" name="Shape 5"/>
          <p:cNvSpPr/>
          <p:nvPr/>
        </p:nvSpPr>
        <p:spPr>
          <a:xfrm>
            <a:off x="640080" y="2148840"/>
            <a:ext cx="10911535" cy="914400"/>
          </a:xfrm>
          <a:prstGeom prst="roundRect">
            <a:avLst>
              <a:gd name="adj" fmla="val 9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8" name="Shape 6"/>
          <p:cNvSpPr/>
          <p:nvPr/>
        </p:nvSpPr>
        <p:spPr>
          <a:xfrm>
            <a:off x="841248" y="2432304"/>
            <a:ext cx="347472" cy="347472"/>
          </a:xfrm>
          <a:prstGeom prst="ellipse">
            <a:avLst/>
          </a:prstGeom>
          <a:solidFill>
            <a:srgbClr val="CF4420"/>
          </a:solidFill>
          <a:ln w="12700">
            <a:solidFill>
              <a:srgbClr val="333333"/>
            </a:solidFill>
            <a:prstDash val="solid"/>
          </a:ln>
        </p:spPr>
      </p:sp>
      <p:sp>
        <p:nvSpPr>
          <p:cNvPr id="9" name="Text 7"/>
          <p:cNvSpPr txBox="1"/>
          <p:nvPr/>
        </p:nvSpPr>
        <p:spPr>
          <a:xfrm>
            <a:off x="841248" y="2432304"/>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txBox="1"/>
          <p:nvPr/>
        </p:nvSpPr>
        <p:spPr>
          <a:xfrm>
            <a:off x="1325880" y="2148840"/>
            <a:ext cx="6035040" cy="914400"/>
          </a:xfrm>
          <a:prstGeom prst="rect">
            <a:avLst/>
          </a:prstGeom>
          <a:noFill/>
          <a:ln/>
        </p:spPr>
        <p:txBody>
          <a:bodyPr wrap="square" lIns="0" tIns="0" rIns="0" bIns="0" rtlCol="0" anchor="ctr"/>
          <a:lstStyle/>
          <a:p>
            <a:pPr indent="0" marL="0">
              <a:lnSpc>
                <a:spcPts val="1900"/>
              </a:lnSpc>
              <a:buNone/>
            </a:pPr>
            <a:r>
              <a:rPr lang="en-US" sz="1500" b="1" dirty="0">
                <a:solidFill>
                  <a:srgbClr val="630031"/>
                </a:solidFill>
                <a:latin typeface="Cambria" pitchFamily="34" charset="0"/>
                <a:ea typeface="Cambria" pitchFamily="34" charset="-122"/>
                <a:cs typeface="Cambria" pitchFamily="34" charset="-120"/>
              </a:rPr>
              <a:t>Card session: turn the six stories into build cards</a:t>
            </a:r>
            <a:endParaRPr lang="en-US" sz="1500" dirty="0"/>
          </a:p>
        </p:txBody>
      </p:sp>
      <p:sp>
        <p:nvSpPr>
          <p:cNvPr id="11" name="Text 9"/>
          <p:cNvSpPr txBox="1"/>
          <p:nvPr/>
        </p:nvSpPr>
        <p:spPr>
          <a:xfrm>
            <a:off x="7589520" y="2148840"/>
            <a:ext cx="2377440" cy="914400"/>
          </a:xfrm>
          <a:prstGeom prst="rect">
            <a:avLst/>
          </a:prstGeom>
          <a:noFill/>
          <a:ln/>
        </p:spPr>
        <p:txBody>
          <a:bodyPr wrap="square" lIns="0" tIns="0" rIns="0" bIns="0" rtlCol="0" anchor="ctr"/>
          <a:lstStyle/>
          <a:p>
            <a:pPr indent="0" marL="0">
              <a:lnSpc>
                <a:spcPts val="1600"/>
              </a:lnSpc>
              <a:buNone/>
            </a:pPr>
            <a:r>
              <a:rPr lang="en-US" sz="1250" dirty="0">
                <a:solidFill>
                  <a:srgbClr val="1C1A19"/>
                </a:solidFill>
                <a:latin typeface="Calibri" pitchFamily="34" charset="0"/>
                <a:ea typeface="Calibri" pitchFamily="34" charset="-122"/>
                <a:cs typeface="Calibri" pitchFamily="34" charset="-120"/>
              </a:rPr>
              <a:t>Whole team, with the teacher</a:t>
            </a:r>
            <a:endParaRPr lang="en-US" sz="1250" dirty="0"/>
          </a:p>
        </p:txBody>
      </p:sp>
      <p:sp>
        <p:nvSpPr>
          <p:cNvPr id="12" name="Text 10"/>
          <p:cNvSpPr txBox="1"/>
          <p:nvPr/>
        </p:nvSpPr>
        <p:spPr>
          <a:xfrm>
            <a:off x="10149840" y="2148840"/>
            <a:ext cx="1218895" cy="914400"/>
          </a:xfrm>
          <a:prstGeom prst="rect">
            <a:avLst/>
          </a:prstGeom>
          <a:noFill/>
          <a:ln/>
        </p:spPr>
        <p:txBody>
          <a:bodyPr wrap="square" lIns="0" tIns="0" rIns="0" bIns="0" rtlCol="0" anchor="ctr"/>
          <a:lstStyle/>
          <a:p>
            <a:pPr indent="0" marL="0">
              <a:buNone/>
            </a:pPr>
            <a:r>
              <a:rPr lang="en-US" sz="1250" b="1" dirty="0">
                <a:solidFill>
                  <a:srgbClr val="CF4420"/>
                </a:solidFill>
                <a:latin typeface="Calibri" pitchFamily="34" charset="0"/>
                <a:ea typeface="Calibri" pitchFamily="34" charset="-122"/>
                <a:cs typeface="Calibri" pitchFamily="34" charset="-120"/>
              </a:rPr>
              <a:t>This week</a:t>
            </a:r>
            <a:endParaRPr lang="en-US" sz="1250" dirty="0"/>
          </a:p>
        </p:txBody>
      </p:sp>
      <p:sp>
        <p:nvSpPr>
          <p:cNvPr id="13" name="Shape 11"/>
          <p:cNvSpPr/>
          <p:nvPr/>
        </p:nvSpPr>
        <p:spPr>
          <a:xfrm>
            <a:off x="640080" y="3200400"/>
            <a:ext cx="10911535" cy="914400"/>
          </a:xfrm>
          <a:prstGeom prst="roundRect">
            <a:avLst>
              <a:gd name="adj" fmla="val 9000"/>
            </a:avLst>
          </a:prstGeom>
          <a:solidFill>
            <a:srgbClr val="F6F4F1"/>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4" name="Shape 12"/>
          <p:cNvSpPr/>
          <p:nvPr/>
        </p:nvSpPr>
        <p:spPr>
          <a:xfrm>
            <a:off x="841248" y="3483864"/>
            <a:ext cx="347472" cy="347472"/>
          </a:xfrm>
          <a:prstGeom prst="ellipse">
            <a:avLst/>
          </a:prstGeom>
          <a:solidFill>
            <a:srgbClr val="630031"/>
          </a:solidFill>
          <a:ln w="12700">
            <a:solidFill>
              <a:srgbClr val="333333"/>
            </a:solidFill>
            <a:prstDash val="solid"/>
          </a:ln>
        </p:spPr>
      </p:sp>
      <p:sp>
        <p:nvSpPr>
          <p:cNvPr id="15" name="Text 13"/>
          <p:cNvSpPr txBox="1"/>
          <p:nvPr/>
        </p:nvSpPr>
        <p:spPr>
          <a:xfrm>
            <a:off x="841248" y="3483864"/>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txBox="1"/>
          <p:nvPr/>
        </p:nvSpPr>
        <p:spPr>
          <a:xfrm>
            <a:off x="1325880" y="3200400"/>
            <a:ext cx="6035040" cy="914400"/>
          </a:xfrm>
          <a:prstGeom prst="rect">
            <a:avLst/>
          </a:prstGeom>
          <a:noFill/>
          <a:ln/>
        </p:spPr>
        <p:txBody>
          <a:bodyPr wrap="square" lIns="0" tIns="0" rIns="0" bIns="0" rtlCol="0" anchor="ctr"/>
          <a:lstStyle/>
          <a:p>
            <a:pPr indent="0" marL="0">
              <a:lnSpc>
                <a:spcPts val="1900"/>
              </a:lnSpc>
              <a:buNone/>
            </a:pPr>
            <a:r>
              <a:rPr lang="en-US" sz="1500" dirty="0">
                <a:solidFill>
                  <a:srgbClr val="1C1A19"/>
                </a:solidFill>
                <a:latin typeface="Cambria" pitchFamily="34" charset="0"/>
                <a:ea typeface="Cambria" pitchFamily="34" charset="-122"/>
                <a:cs typeface="Cambria" pitchFamily="34" charset="-120"/>
              </a:rPr>
              <a:t>Rewrite the route board story with a so that, in the story studio</a:t>
            </a:r>
            <a:endParaRPr lang="en-US" sz="1500" dirty="0"/>
          </a:p>
        </p:txBody>
      </p:sp>
      <p:sp>
        <p:nvSpPr>
          <p:cNvPr id="17" name="Text 15"/>
          <p:cNvSpPr txBox="1"/>
          <p:nvPr/>
        </p:nvSpPr>
        <p:spPr>
          <a:xfrm>
            <a:off x="7589520" y="3200400"/>
            <a:ext cx="2377440" cy="914400"/>
          </a:xfrm>
          <a:prstGeom prst="rect">
            <a:avLst/>
          </a:prstGeom>
          <a:noFill/>
          <a:ln/>
        </p:spPr>
        <p:txBody>
          <a:bodyPr wrap="square" lIns="0" tIns="0" rIns="0" bIns="0" rtlCol="0" anchor="ctr"/>
          <a:lstStyle/>
          <a:p>
            <a:pPr indent="0" marL="0">
              <a:lnSpc>
                <a:spcPts val="1600"/>
              </a:lnSpc>
              <a:buNone/>
            </a:pPr>
            <a:r>
              <a:rPr lang="en-US" sz="1250" dirty="0">
                <a:solidFill>
                  <a:srgbClr val="1C1A19"/>
                </a:solidFill>
                <a:latin typeface="Calibri" pitchFamily="34" charset="0"/>
                <a:ea typeface="Calibri" pitchFamily="34" charset="-122"/>
                <a:cs typeface="Calibri" pitchFamily="34" charset="-120"/>
              </a:rPr>
              <a:t>Sample Team</a:t>
            </a:r>
            <a:endParaRPr lang="en-US" sz="1250" dirty="0"/>
          </a:p>
        </p:txBody>
      </p:sp>
      <p:sp>
        <p:nvSpPr>
          <p:cNvPr id="18" name="Text 16"/>
          <p:cNvSpPr txBox="1"/>
          <p:nvPr/>
        </p:nvSpPr>
        <p:spPr>
          <a:xfrm>
            <a:off x="10149840" y="3200400"/>
            <a:ext cx="1218895" cy="914400"/>
          </a:xfrm>
          <a:prstGeom prst="rect">
            <a:avLst/>
          </a:prstGeom>
          <a:noFill/>
          <a:ln/>
        </p:spPr>
        <p:txBody>
          <a:bodyPr wrap="square" lIns="0" tIns="0" rIns="0" bIns="0" rtlCol="0" anchor="ctr"/>
          <a:lstStyle/>
          <a:p>
            <a:pPr indent="0" marL="0">
              <a:buNone/>
            </a:pPr>
            <a:r>
              <a:rPr lang="en-US" sz="1250" b="1" dirty="0">
                <a:solidFill>
                  <a:srgbClr val="CF4420"/>
                </a:solidFill>
                <a:latin typeface="Calibri" pitchFamily="34" charset="0"/>
                <a:ea typeface="Calibri" pitchFamily="34" charset="-122"/>
                <a:cs typeface="Calibri" pitchFamily="34" charset="-120"/>
              </a:rPr>
              <a:t>Before the card session</a:t>
            </a:r>
            <a:endParaRPr lang="en-US" sz="1250" dirty="0"/>
          </a:p>
        </p:txBody>
      </p:sp>
      <p:sp>
        <p:nvSpPr>
          <p:cNvPr id="19" name="Shape 17"/>
          <p:cNvSpPr/>
          <p:nvPr/>
        </p:nvSpPr>
        <p:spPr>
          <a:xfrm>
            <a:off x="640080" y="4251960"/>
            <a:ext cx="10911535" cy="914400"/>
          </a:xfrm>
          <a:prstGeom prst="roundRect">
            <a:avLst>
              <a:gd name="adj" fmla="val 9000"/>
            </a:avLst>
          </a:prstGeom>
          <a:solidFill>
            <a:srgbClr val="F6F4F1"/>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0" name="Shape 18"/>
          <p:cNvSpPr/>
          <p:nvPr/>
        </p:nvSpPr>
        <p:spPr>
          <a:xfrm>
            <a:off x="841248" y="4535424"/>
            <a:ext cx="347472" cy="347472"/>
          </a:xfrm>
          <a:prstGeom prst="ellipse">
            <a:avLst/>
          </a:prstGeom>
          <a:solidFill>
            <a:srgbClr val="630031"/>
          </a:solidFill>
          <a:ln w="12700">
            <a:solidFill>
              <a:srgbClr val="333333"/>
            </a:solidFill>
            <a:prstDash val="solid"/>
          </a:ln>
        </p:spPr>
      </p:sp>
      <p:sp>
        <p:nvSpPr>
          <p:cNvPr id="21" name="Text 19"/>
          <p:cNvSpPr txBox="1"/>
          <p:nvPr/>
        </p:nvSpPr>
        <p:spPr>
          <a:xfrm>
            <a:off x="841248" y="4535424"/>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2" name="Text 20"/>
          <p:cNvSpPr txBox="1"/>
          <p:nvPr/>
        </p:nvSpPr>
        <p:spPr>
          <a:xfrm>
            <a:off x="1325880" y="4251960"/>
            <a:ext cx="6035040" cy="914400"/>
          </a:xfrm>
          <a:prstGeom prst="rect">
            <a:avLst/>
          </a:prstGeom>
          <a:noFill/>
          <a:ln/>
        </p:spPr>
        <p:txBody>
          <a:bodyPr wrap="square" lIns="0" tIns="0" rIns="0" bIns="0" rtlCol="0" anchor="ctr"/>
          <a:lstStyle/>
          <a:p>
            <a:pPr indent="0" marL="0">
              <a:lnSpc>
                <a:spcPts val="1900"/>
              </a:lnSpc>
              <a:buNone/>
            </a:pPr>
            <a:r>
              <a:rPr lang="en-US" sz="1500" dirty="0">
                <a:solidFill>
                  <a:srgbClr val="1C1A19"/>
                </a:solidFill>
                <a:latin typeface="Cambria" pitchFamily="34" charset="0"/>
                <a:ea typeface="Cambria" pitchFamily="34" charset="-122"/>
                <a:cs typeface="Cambria" pitchFamily="34" charset="-120"/>
              </a:rPr>
              <a:t>Ride history: write its story or take it out of the plan</a:t>
            </a:r>
            <a:endParaRPr lang="en-US" sz="1500" dirty="0"/>
          </a:p>
        </p:txBody>
      </p:sp>
      <p:sp>
        <p:nvSpPr>
          <p:cNvPr id="23" name="Text 21"/>
          <p:cNvSpPr txBox="1"/>
          <p:nvPr/>
        </p:nvSpPr>
        <p:spPr>
          <a:xfrm>
            <a:off x="7589520" y="4251960"/>
            <a:ext cx="2377440" cy="914400"/>
          </a:xfrm>
          <a:prstGeom prst="rect">
            <a:avLst/>
          </a:prstGeom>
          <a:noFill/>
          <a:ln/>
        </p:spPr>
        <p:txBody>
          <a:bodyPr wrap="square" lIns="0" tIns="0" rIns="0" bIns="0" rtlCol="0" anchor="ctr"/>
          <a:lstStyle/>
          <a:p>
            <a:pPr indent="0" marL="0">
              <a:lnSpc>
                <a:spcPts val="1600"/>
              </a:lnSpc>
              <a:buNone/>
            </a:pPr>
            <a:r>
              <a:rPr lang="en-US" sz="1250" dirty="0">
                <a:solidFill>
                  <a:srgbClr val="1C1A19"/>
                </a:solidFill>
                <a:latin typeface="Calibri" pitchFamily="34" charset="0"/>
                <a:ea typeface="Calibri" pitchFamily="34" charset="-122"/>
                <a:cs typeface="Calibri" pitchFamily="34" charset="-120"/>
              </a:rPr>
              <a:t>Sample Team, after the decision</a:t>
            </a:r>
            <a:endParaRPr lang="en-US" sz="1250" dirty="0"/>
          </a:p>
        </p:txBody>
      </p:sp>
      <p:sp>
        <p:nvSpPr>
          <p:cNvPr id="24" name="Text 22"/>
          <p:cNvSpPr txBox="1"/>
          <p:nvPr/>
        </p:nvSpPr>
        <p:spPr>
          <a:xfrm>
            <a:off x="10149840" y="4251960"/>
            <a:ext cx="1218895" cy="914400"/>
          </a:xfrm>
          <a:prstGeom prst="rect">
            <a:avLst/>
          </a:prstGeom>
          <a:noFill/>
          <a:ln/>
        </p:spPr>
        <p:txBody>
          <a:bodyPr wrap="square" lIns="0" tIns="0" rIns="0" bIns="0" rtlCol="0" anchor="ctr"/>
          <a:lstStyle/>
          <a:p>
            <a:pPr indent="0" marL="0">
              <a:buNone/>
            </a:pPr>
            <a:r>
              <a:rPr lang="en-US" sz="1250" b="1" dirty="0">
                <a:solidFill>
                  <a:srgbClr val="CF4420"/>
                </a:solidFill>
                <a:latin typeface="Calibri" pitchFamily="34" charset="0"/>
                <a:ea typeface="Calibri" pitchFamily="34" charset="-122"/>
                <a:cs typeface="Calibri" pitchFamily="34" charset="-120"/>
              </a:rPr>
              <a:t>Next week</a:t>
            </a:r>
            <a:endParaRPr lang="en-US" sz="1250" dirty="0"/>
          </a:p>
        </p:txBody>
      </p:sp>
      <p:sp>
        <p:nvSpPr>
          <p:cNvPr id="25" name="Text 23"/>
          <p:cNvSpPr txBox="1"/>
          <p:nvPr/>
        </p:nvSpPr>
        <p:spPr>
          <a:xfrm>
            <a:off x="640080" y="5440680"/>
            <a:ext cx="10911535" cy="640080"/>
          </a:xfrm>
          <a:prstGeom prst="rect">
            <a:avLst/>
          </a:prstGeom>
          <a:noFill/>
          <a:ln/>
        </p:spPr>
        <p:txBody>
          <a:bodyPr wrap="square" lIns="0" tIns="0" rIns="0" bIns="0" rtlCol="0" anchor="t"/>
          <a:lstStyle/>
          <a:p>
            <a:pPr indent="0" marL="0">
              <a:lnSpc>
                <a:spcPts val="2200"/>
              </a:lnSpc>
              <a:buNone/>
            </a:pPr>
            <a:r>
              <a:rPr lang="en-US" sz="1400" dirty="0">
                <a:solidFill>
                  <a:srgbClr val="75787B"/>
                </a:solidFill>
                <a:latin typeface="Calibri" pitchFamily="34" charset="0"/>
                <a:ea typeface="Calibri" pitchFamily="34" charset="-122"/>
                <a:cs typeface="Calibri" pitchFamily="34" charset="-120"/>
              </a:rPr>
              <a:t>Three steps, not ten. The first one unblocks the other two, and it is the one the gap guide named.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THE ASK</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What we need from you</a:t>
            </a:r>
            <a:endParaRPr lang="en-US" sz="3400" dirty="0"/>
          </a:p>
        </p:txBody>
      </p:sp>
      <p:sp>
        <p:nvSpPr>
          <p:cNvPr id="4" name="Shape 2"/>
          <p:cNvSpPr/>
          <p:nvPr/>
        </p:nvSpPr>
        <p:spPr>
          <a:xfrm>
            <a:off x="640080" y="1783080"/>
            <a:ext cx="3393338" cy="3108960"/>
          </a:xfrm>
          <a:prstGeom prst="roundRect">
            <a:avLst>
              <a:gd name="adj" fmla="val 264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Shape 3"/>
          <p:cNvSpPr/>
          <p:nvPr/>
        </p:nvSpPr>
        <p:spPr>
          <a:xfrm>
            <a:off x="960120" y="2057400"/>
            <a:ext cx="420624" cy="420624"/>
          </a:xfrm>
          <a:prstGeom prst="ellipse">
            <a:avLst/>
          </a:prstGeom>
          <a:solidFill>
            <a:srgbClr val="CF4420"/>
          </a:solidFill>
          <a:ln w="12700">
            <a:solidFill>
              <a:srgbClr val="333333"/>
            </a:solidFill>
            <a:prstDash val="solid"/>
          </a:ln>
        </p:spPr>
      </p:sp>
      <p:sp>
        <p:nvSpPr>
          <p:cNvPr id="6" name="Text 4"/>
          <p:cNvSpPr txBox="1"/>
          <p:nvPr/>
        </p:nvSpPr>
        <p:spPr>
          <a:xfrm>
            <a:off x="960120" y="2057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960120" y="2651760"/>
            <a:ext cx="2753258" cy="868680"/>
          </a:xfrm>
          <a:prstGeom prst="rect">
            <a:avLst/>
          </a:prstGeom>
          <a:noFill/>
          <a:ln/>
        </p:spPr>
        <p:txBody>
          <a:bodyPr wrap="square" lIns="0" tIns="0" rIns="0" bIns="0" rtlCol="0" anchor="t"/>
          <a:lstStyle/>
          <a:p>
            <a:pPr indent="0" marL="0">
              <a:lnSpc>
                <a:spcPts val="2300"/>
              </a:lnSpc>
              <a:buNone/>
            </a:pPr>
            <a:r>
              <a:rPr lang="en-US" sz="1800" b="1" dirty="0">
                <a:solidFill>
                  <a:srgbClr val="630031"/>
                </a:solidFill>
                <a:latin typeface="Cambria" pitchFamily="34" charset="0"/>
                <a:ea typeface="Cambria" pitchFamily="34" charset="-122"/>
                <a:cs typeface="Cambria" pitchFamily="34" charset="-120"/>
              </a:rPr>
              <a:t>20 minutes with the teacher</a:t>
            </a:r>
            <a:endParaRPr lang="en-US" sz="1800" dirty="0"/>
          </a:p>
        </p:txBody>
      </p:sp>
      <p:sp>
        <p:nvSpPr>
          <p:cNvPr id="8" name="Text 6"/>
          <p:cNvSpPr txBox="1"/>
          <p:nvPr/>
        </p:nvSpPr>
        <p:spPr>
          <a:xfrm>
            <a:off x="960120" y="3611880"/>
            <a:ext cx="2753258" cy="1188720"/>
          </a:xfrm>
          <a:prstGeom prst="rect">
            <a:avLst/>
          </a:prstGeom>
          <a:noFill/>
          <a:ln/>
        </p:spPr>
        <p:txBody>
          <a:bodyPr wrap="square" lIns="0" tIns="0" rIns="0" bIns="0" rtlCol="0" anchor="t"/>
          <a:lstStyle/>
          <a:p>
            <a:pPr indent="0" marL="0">
              <a:lnSpc>
                <a:spcPts val="1700"/>
              </a:lnSpc>
              <a:buNone/>
            </a:pPr>
            <a:r>
              <a:rPr lang="en-US" sz="1250" dirty="0">
                <a:solidFill>
                  <a:srgbClr val="1C1A19"/>
                </a:solidFill>
                <a:latin typeface="Calibri" pitchFamily="34" charset="0"/>
                <a:ea typeface="Calibri" pitchFamily="34" charset="-122"/>
                <a:cs typeface="Calibri" pitchFamily="34" charset="-120"/>
              </a:rPr>
              <a:t>For the card session. It unblocks architecture, design and build, which is everything after it.</a:t>
            </a:r>
            <a:endParaRPr lang="en-US" sz="1250" dirty="0"/>
          </a:p>
        </p:txBody>
      </p:sp>
      <p:sp>
        <p:nvSpPr>
          <p:cNvPr id="9" name="Shape 7"/>
          <p:cNvSpPr/>
          <p:nvPr/>
        </p:nvSpPr>
        <p:spPr>
          <a:xfrm>
            <a:off x="4399178" y="1783080"/>
            <a:ext cx="3393338" cy="3108960"/>
          </a:xfrm>
          <a:prstGeom prst="roundRect">
            <a:avLst>
              <a:gd name="adj" fmla="val 264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0" name="Shape 8"/>
          <p:cNvSpPr/>
          <p:nvPr/>
        </p:nvSpPr>
        <p:spPr>
          <a:xfrm>
            <a:off x="4719218" y="2057400"/>
            <a:ext cx="420624" cy="420624"/>
          </a:xfrm>
          <a:prstGeom prst="ellipse">
            <a:avLst/>
          </a:prstGeom>
          <a:solidFill>
            <a:srgbClr val="CF4420"/>
          </a:solidFill>
          <a:ln w="12700">
            <a:solidFill>
              <a:srgbClr val="333333"/>
            </a:solidFill>
            <a:prstDash val="solid"/>
          </a:ln>
        </p:spPr>
      </p:sp>
      <p:sp>
        <p:nvSpPr>
          <p:cNvPr id="11" name="Text 9"/>
          <p:cNvSpPr txBox="1"/>
          <p:nvPr/>
        </p:nvSpPr>
        <p:spPr>
          <a:xfrm>
            <a:off x="4719218" y="2057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4719218" y="2651760"/>
            <a:ext cx="2753258" cy="868680"/>
          </a:xfrm>
          <a:prstGeom prst="rect">
            <a:avLst/>
          </a:prstGeom>
          <a:noFill/>
          <a:ln/>
        </p:spPr>
        <p:txBody>
          <a:bodyPr wrap="square" lIns="0" tIns="0" rIns="0" bIns="0" rtlCol="0" anchor="t"/>
          <a:lstStyle/>
          <a:p>
            <a:pPr indent="0" marL="0">
              <a:lnSpc>
                <a:spcPts val="2300"/>
              </a:lnSpc>
              <a:buNone/>
            </a:pPr>
            <a:r>
              <a:rPr lang="en-US" sz="1800" b="1" dirty="0">
                <a:solidFill>
                  <a:srgbClr val="630031"/>
                </a:solidFill>
                <a:latin typeface="Cambria" pitchFamily="34" charset="0"/>
                <a:ea typeface="Cambria" pitchFamily="34" charset="-122"/>
                <a:cs typeface="Cambria" pitchFamily="34" charset="-120"/>
              </a:rPr>
              <a:t>A decision on Ride history</a:t>
            </a:r>
            <a:endParaRPr lang="en-US" sz="1800" dirty="0"/>
          </a:p>
        </p:txBody>
      </p:sp>
      <p:sp>
        <p:nvSpPr>
          <p:cNvPr id="13" name="Text 11"/>
          <p:cNvSpPr txBox="1"/>
          <p:nvPr/>
        </p:nvSpPr>
        <p:spPr>
          <a:xfrm>
            <a:off x="4719218" y="3611880"/>
            <a:ext cx="2753258" cy="1188720"/>
          </a:xfrm>
          <a:prstGeom prst="rect">
            <a:avLst/>
          </a:prstGeom>
          <a:noFill/>
          <a:ln/>
        </p:spPr>
        <p:txBody>
          <a:bodyPr wrap="square" lIns="0" tIns="0" rIns="0" bIns="0" rtlCol="0" anchor="t"/>
          <a:lstStyle/>
          <a:p>
            <a:pPr indent="0" marL="0">
              <a:lnSpc>
                <a:spcPts val="1700"/>
              </a:lnSpc>
              <a:buNone/>
            </a:pPr>
            <a:r>
              <a:rPr lang="en-US" sz="1250" dirty="0">
                <a:solidFill>
                  <a:srgbClr val="1C1A19"/>
                </a:solidFill>
                <a:latin typeface="Calibri" pitchFamily="34" charset="0"/>
                <a:ea typeface="Calibri" pitchFamily="34" charset="-122"/>
                <a:cs typeface="Calibri" pitchFamily="34" charset="-120"/>
              </a:rPr>
              <a:t>Keep it and write the story, or cut it. We recommend cutting it for now: none of our four users asked for it.</a:t>
            </a:r>
            <a:endParaRPr lang="en-US" sz="1250" dirty="0"/>
          </a:p>
        </p:txBody>
      </p:sp>
      <p:sp>
        <p:nvSpPr>
          <p:cNvPr id="14" name="Shape 12"/>
          <p:cNvSpPr/>
          <p:nvPr/>
        </p:nvSpPr>
        <p:spPr>
          <a:xfrm>
            <a:off x="8158277" y="1783080"/>
            <a:ext cx="3393338" cy="3108960"/>
          </a:xfrm>
          <a:prstGeom prst="roundRect">
            <a:avLst>
              <a:gd name="adj" fmla="val 264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5" name="Shape 13"/>
          <p:cNvSpPr/>
          <p:nvPr/>
        </p:nvSpPr>
        <p:spPr>
          <a:xfrm>
            <a:off x="8478317" y="2057400"/>
            <a:ext cx="420624" cy="420624"/>
          </a:xfrm>
          <a:prstGeom prst="ellipse">
            <a:avLst/>
          </a:prstGeom>
          <a:solidFill>
            <a:srgbClr val="CF4420"/>
          </a:solidFill>
          <a:ln w="12700">
            <a:solidFill>
              <a:srgbClr val="333333"/>
            </a:solidFill>
            <a:prstDash val="solid"/>
          </a:ln>
        </p:spPr>
      </p:sp>
      <p:sp>
        <p:nvSpPr>
          <p:cNvPr id="16" name="Text 14"/>
          <p:cNvSpPr txBox="1"/>
          <p:nvPr/>
        </p:nvSpPr>
        <p:spPr>
          <a:xfrm>
            <a:off x="8478317" y="2057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8478317" y="2651760"/>
            <a:ext cx="2753258" cy="868680"/>
          </a:xfrm>
          <a:prstGeom prst="rect">
            <a:avLst/>
          </a:prstGeom>
          <a:noFill/>
          <a:ln/>
        </p:spPr>
        <p:txBody>
          <a:bodyPr wrap="square" lIns="0" tIns="0" rIns="0" bIns="0" rtlCol="0" anchor="t"/>
          <a:lstStyle/>
          <a:p>
            <a:pPr indent="0" marL="0">
              <a:lnSpc>
                <a:spcPts val="2300"/>
              </a:lnSpc>
              <a:buNone/>
            </a:pPr>
            <a:r>
              <a:rPr lang="en-US" sz="1800" b="1" dirty="0">
                <a:solidFill>
                  <a:srgbClr val="630031"/>
                </a:solidFill>
                <a:latin typeface="Cambria" pitchFamily="34" charset="0"/>
                <a:ea typeface="Cambria" pitchFamily="34" charset="-122"/>
                <a:cs typeface="Cambria" pitchFamily="34" charset="-120"/>
              </a:rPr>
              <a:t>Ten minutes with the front office</a:t>
            </a:r>
            <a:endParaRPr lang="en-US" sz="1800" dirty="0"/>
          </a:p>
        </p:txBody>
      </p:sp>
      <p:sp>
        <p:nvSpPr>
          <p:cNvPr id="18" name="Text 16"/>
          <p:cNvSpPr txBox="1"/>
          <p:nvPr/>
        </p:nvSpPr>
        <p:spPr>
          <a:xfrm>
            <a:off x="8478317" y="3611880"/>
            <a:ext cx="2753258" cy="1188720"/>
          </a:xfrm>
          <a:prstGeom prst="rect">
            <a:avLst/>
          </a:prstGeom>
          <a:noFill/>
          <a:ln/>
        </p:spPr>
        <p:txBody>
          <a:bodyPr wrap="square" lIns="0" tIns="0" rIns="0" bIns="0" rtlCol="0" anchor="t"/>
          <a:lstStyle/>
          <a:p>
            <a:pPr indent="0" marL="0">
              <a:lnSpc>
                <a:spcPts val="1700"/>
              </a:lnSpc>
              <a:buNone/>
            </a:pPr>
            <a:r>
              <a:rPr lang="en-US" sz="1250" dirty="0">
                <a:solidFill>
                  <a:srgbClr val="1C1A19"/>
                </a:solidFill>
                <a:latin typeface="Calibri" pitchFamily="34" charset="0"/>
                <a:ea typeface="Calibri" pitchFamily="34" charset="-122"/>
                <a:cs typeface="Calibri" pitchFamily="34" charset="-120"/>
              </a:rPr>
              <a:t>So the route board story has a real so that, from the person who actually answers the phone.</a:t>
            </a:r>
            <a:endParaRPr lang="en-US" sz="1250" dirty="0"/>
          </a:p>
        </p:txBody>
      </p:sp>
      <p:sp>
        <p:nvSpPr>
          <p:cNvPr id="19" name="Text 17"/>
          <p:cNvSpPr txBox="1"/>
          <p:nvPr/>
        </p:nvSpPr>
        <p:spPr>
          <a:xfrm>
            <a:off x="640080" y="5166360"/>
            <a:ext cx="10911535" cy="640080"/>
          </a:xfrm>
          <a:prstGeom prst="rect">
            <a:avLst/>
          </a:prstGeom>
          <a:noFill/>
          <a:ln/>
        </p:spPr>
        <p:txBody>
          <a:bodyPr wrap="square" lIns="0" tIns="0" rIns="0" bIns="0" rtlCol="0" anchor="t"/>
          <a:lstStyle/>
          <a:p>
            <a:pPr indent="0" marL="0">
              <a:lnSpc>
                <a:spcPts val="2200"/>
              </a:lnSpc>
              <a:buNone/>
            </a:pPr>
            <a:r>
              <a:rPr lang="en-US" sz="1400" dirty="0">
                <a:solidFill>
                  <a:srgbClr val="75787B"/>
                </a:solidFill>
                <a:latin typeface="Calibri" pitchFamily="34" charset="0"/>
                <a:ea typeface="Calibri" pitchFamily="34" charset="-122"/>
                <a:cs typeface="Calibri" pitchFamily="34" charset="-120"/>
              </a:rPr>
              <a:t>Three asks. The first unblocks everything. The second is a decision only a teacher can make. The third makes one story true.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630031"/>
        </a:solidFill>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4A0025"/>
          </a:solidFill>
          <a:ln w="12700">
            <a:solidFill>
              <a:srgbClr val="333333"/>
            </a:solidFill>
            <a:prstDash val="solid"/>
          </a:ln>
        </p:spPr>
      </p:sp>
      <p:sp>
        <p:nvSpPr>
          <p:cNvPr id="3" name="Text 1"/>
          <p:cNvSpPr txBox="1"/>
          <p:nvPr/>
        </p:nvSpPr>
        <p:spPr>
          <a:xfrm>
            <a:off x="640080" y="1280160"/>
            <a:ext cx="77724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Questions</a:t>
            </a:r>
            <a:endParaRPr lang="en-US" sz="5400" dirty="0"/>
          </a:p>
        </p:txBody>
      </p:sp>
      <p:sp>
        <p:nvSpPr>
          <p:cNvPr id="4" name="Text 2"/>
          <p:cNvSpPr txBox="1"/>
          <p:nvPr/>
        </p:nvSpPr>
        <p:spPr>
          <a:xfrm>
            <a:off x="640080" y="2423160"/>
            <a:ext cx="7772400" cy="365760"/>
          </a:xfrm>
          <a:prstGeom prst="rect">
            <a:avLst/>
          </a:prstGeom>
          <a:noFill/>
          <a:ln/>
        </p:spPr>
        <p:txBody>
          <a:bodyPr wrap="square" lIns="0" tIns="0" rIns="0" bIns="0" rtlCol="0" anchor="ctr"/>
          <a:lstStyle/>
          <a:p>
            <a:pPr indent="0" marL="0">
              <a:buNone/>
            </a:pPr>
            <a:r>
              <a:rPr lang="en-US" sz="1500" b="1" dirty="0">
                <a:solidFill>
                  <a:srgbClr val="E9C9D6"/>
                </a:solidFill>
                <a:latin typeface="Calibri" pitchFamily="34" charset="0"/>
                <a:ea typeface="Calibri" pitchFamily="34" charset="-122"/>
                <a:cs typeface="Calibri" pitchFamily="34" charset="-120"/>
              </a:rPr>
              <a:t>Bus Buddy  ·  Sample Team</a:t>
            </a:r>
            <a:endParaRPr lang="en-US" sz="1500" dirty="0"/>
          </a:p>
        </p:txBody>
      </p:sp>
      <p:sp>
        <p:nvSpPr>
          <p:cNvPr id="5" name="Text 3"/>
          <p:cNvSpPr txBox="1"/>
          <p:nvPr/>
        </p:nvSpPr>
        <p:spPr>
          <a:xfrm>
            <a:off x="640080" y="3200400"/>
            <a:ext cx="17373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Prototype</a:t>
            </a:r>
            <a:endParaRPr lang="en-US" sz="1300" dirty="0"/>
          </a:p>
        </p:txBody>
      </p:sp>
      <p:sp>
        <p:nvSpPr>
          <p:cNvPr id="6" name="Text 4"/>
          <p:cNvSpPr txBox="1"/>
          <p:nvPr/>
        </p:nvSpPr>
        <p:spPr>
          <a:xfrm>
            <a:off x="2377440" y="3200400"/>
            <a:ext cx="7772400" cy="411480"/>
          </a:xfrm>
          <a:prstGeom prst="rect">
            <a:avLst/>
          </a:prstGeom>
          <a:noFill/>
          <a:ln/>
        </p:spPr>
        <p:txBody>
          <a:bodyPr wrap="square" lIns="0" tIns="0" rIns="0" bIns="0" rtlCol="0" anchor="ctr"/>
          <a:lstStyle/>
          <a:p>
            <a:pPr indent="0" marL="0">
              <a:buNone/>
            </a:pPr>
            <a:r>
              <a:rPr lang="en-US" sz="1300" dirty="0">
                <a:solidFill>
                  <a:srgbClr val="E9C9D6"/>
                </a:solidFill>
                <a:latin typeface="Calibri" pitchFamily="34" charset="0"/>
                <a:ea typeface="Calibri" pitchFamily="34" charset="-122"/>
                <a:cs typeface="Calibri" pitchFamily="34" charset="-120"/>
              </a:rPr>
              <a:t>doubleblaze.solutions/prototypes/sample-bus-buddy/</a:t>
            </a:r>
            <a:endParaRPr lang="en-US" sz="1300" dirty="0"/>
          </a:p>
        </p:txBody>
      </p:sp>
      <p:sp>
        <p:nvSpPr>
          <p:cNvPr id="7" name="Text 5"/>
          <p:cNvSpPr txBox="1"/>
          <p:nvPr/>
        </p:nvSpPr>
        <p:spPr>
          <a:xfrm>
            <a:off x="640080" y="3767328"/>
            <a:ext cx="17373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Gap guide</a:t>
            </a:r>
            <a:endParaRPr lang="en-US" sz="1300" dirty="0"/>
          </a:p>
        </p:txBody>
      </p:sp>
      <p:sp>
        <p:nvSpPr>
          <p:cNvPr id="8" name="Text 6"/>
          <p:cNvSpPr txBox="1"/>
          <p:nvPr/>
        </p:nvSpPr>
        <p:spPr>
          <a:xfrm>
            <a:off x="2377440" y="3767328"/>
            <a:ext cx="7772400" cy="411480"/>
          </a:xfrm>
          <a:prstGeom prst="rect">
            <a:avLst/>
          </a:prstGeom>
          <a:noFill/>
          <a:ln/>
        </p:spPr>
        <p:txBody>
          <a:bodyPr wrap="square" lIns="0" tIns="0" rIns="0" bIns="0" rtlCol="0" anchor="ctr"/>
          <a:lstStyle/>
          <a:p>
            <a:pPr indent="0" marL="0">
              <a:buNone/>
            </a:pPr>
            <a:r>
              <a:rPr lang="en-US" sz="1300" dirty="0">
                <a:solidFill>
                  <a:srgbClr val="E9C9D6"/>
                </a:solidFill>
                <a:latin typeface="Calibri" pitchFamily="34" charset="0"/>
                <a:ea typeface="Calibri" pitchFamily="34" charset="-122"/>
                <a:cs typeface="Calibri" pitchFamily="34" charset="-120"/>
              </a:rPr>
              <a:t>doubleblaze.solutions/prototypes/sample-bus-buddy/gaps.html</a:t>
            </a:r>
            <a:endParaRPr lang="en-US" sz="1300" dirty="0"/>
          </a:p>
        </p:txBody>
      </p:sp>
      <p:sp>
        <p:nvSpPr>
          <p:cNvPr id="9" name="Text 7"/>
          <p:cNvSpPr txBox="1"/>
          <p:nvPr/>
        </p:nvSpPr>
        <p:spPr>
          <a:xfrm>
            <a:off x="640080" y="4334256"/>
            <a:ext cx="17373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Test plan</a:t>
            </a:r>
            <a:endParaRPr lang="en-US" sz="1300" dirty="0"/>
          </a:p>
        </p:txBody>
      </p:sp>
      <p:sp>
        <p:nvSpPr>
          <p:cNvPr id="10" name="Text 8"/>
          <p:cNvSpPr txBox="1"/>
          <p:nvPr/>
        </p:nvSpPr>
        <p:spPr>
          <a:xfrm>
            <a:off x="2377440" y="4334256"/>
            <a:ext cx="7772400" cy="411480"/>
          </a:xfrm>
          <a:prstGeom prst="rect">
            <a:avLst/>
          </a:prstGeom>
          <a:noFill/>
          <a:ln/>
        </p:spPr>
        <p:txBody>
          <a:bodyPr wrap="square" lIns="0" tIns="0" rIns="0" bIns="0" rtlCol="0" anchor="ctr"/>
          <a:lstStyle/>
          <a:p>
            <a:pPr indent="0" marL="0">
              <a:buNone/>
            </a:pPr>
            <a:r>
              <a:rPr lang="en-US" sz="1300" dirty="0">
                <a:solidFill>
                  <a:srgbClr val="E9C9D6"/>
                </a:solidFill>
                <a:latin typeface="Calibri" pitchFamily="34" charset="0"/>
                <a:ea typeface="Calibri" pitchFamily="34" charset="-122"/>
                <a:cs typeface="Calibri" pitchFamily="34" charset="-120"/>
              </a:rPr>
              <a:t>doubleblaze.solutions/prototypes/sample-bus-buddy/test-plan.html</a:t>
            </a:r>
            <a:endParaRPr lang="en-US" sz="1300" dirty="0"/>
          </a:p>
        </p:txBody>
      </p:sp>
      <p:sp>
        <p:nvSpPr>
          <p:cNvPr id="11" name="Text 9"/>
          <p:cNvSpPr txBox="1"/>
          <p:nvPr/>
        </p:nvSpPr>
        <p:spPr>
          <a:xfrm>
            <a:off x="640080" y="4901184"/>
            <a:ext cx="17373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Project board</a:t>
            </a:r>
            <a:endParaRPr lang="en-US" sz="1300" dirty="0"/>
          </a:p>
        </p:txBody>
      </p:sp>
      <p:sp>
        <p:nvSpPr>
          <p:cNvPr id="12" name="Text 10"/>
          <p:cNvSpPr txBox="1"/>
          <p:nvPr/>
        </p:nvSpPr>
        <p:spPr>
          <a:xfrm>
            <a:off x="2377440" y="4901184"/>
            <a:ext cx="7772400" cy="411480"/>
          </a:xfrm>
          <a:prstGeom prst="rect">
            <a:avLst/>
          </a:prstGeom>
          <a:noFill/>
          <a:ln/>
        </p:spPr>
        <p:txBody>
          <a:bodyPr wrap="square" lIns="0" tIns="0" rIns="0" bIns="0" rtlCol="0" anchor="ctr"/>
          <a:lstStyle/>
          <a:p>
            <a:pPr indent="0" marL="0">
              <a:buNone/>
            </a:pPr>
            <a:r>
              <a:rPr lang="en-US" sz="1300" dirty="0">
                <a:solidFill>
                  <a:srgbClr val="E9C9D6"/>
                </a:solidFill>
                <a:latin typeface="Calibri" pitchFamily="34" charset="0"/>
                <a:ea typeface="Calibri" pitchFamily="34" charset="-122"/>
                <a:cs typeface="Calibri" pitchFamily="34" charset="-120"/>
              </a:rPr>
              <a:t>doubleblaze.solutions/trail-crew/sample-bus-buddy/board</a:t>
            </a:r>
            <a:endParaRPr lang="en-US" sz="1300" dirty="0"/>
          </a:p>
        </p:txBody>
      </p:sp>
      <p:sp>
        <p:nvSpPr>
          <p:cNvPr id="13" name="Text 11"/>
          <p:cNvSpPr txBox="1"/>
          <p:nvPr/>
        </p:nvSpPr>
        <p:spPr>
          <a:xfrm>
            <a:off x="640080" y="6035040"/>
            <a:ext cx="5486400" cy="320040"/>
          </a:xfrm>
          <a:prstGeom prst="rect">
            <a:avLst/>
          </a:prstGeom>
          <a:noFill/>
          <a:ln/>
        </p:spPr>
        <p:txBody>
          <a:bodyPr wrap="square" lIns="0" tIns="0" rIns="0" bIns="0" rtlCol="0" anchor="ctr"/>
          <a:lstStyle/>
          <a:p>
            <a:pPr indent="0" marL="0">
              <a:buNone/>
            </a:pPr>
            <a:r>
              <a:rPr lang="en-US" sz="1100" dirty="0">
                <a:solidFill>
                  <a:srgbClr val="C79AAF"/>
                </a:solidFill>
                <a:latin typeface="Calibri" pitchFamily="34" charset="0"/>
                <a:ea typeface="Calibri" pitchFamily="34" charset="-122"/>
                <a:cs typeface="Calibri" pitchFamily="34" charset="-120"/>
              </a:rPr>
              <a:t>Built in class with Double Blaze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 Buddy: status update</dc:title>
  <dc:subject>PptxGenJS Presentation</dc:subject>
  <dc:creator>Double Blaze</dc:creator>
  <cp:lastModifiedBy>Double Blaze</cp:lastModifiedBy>
  <cp:revision>1</cp:revision>
  <dcterms:created xsi:type="dcterms:W3CDTF">2026-09-22T11:45:31Z</dcterms:created>
  <dcterms:modified xsi:type="dcterms:W3CDTF">2026-09-22T11:45:31Z</dcterms:modified>
</cp:coreProperties>
</file>