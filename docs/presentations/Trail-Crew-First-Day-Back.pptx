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here. The point of this slide is that nobody is starting over.
Say: the plans and the stories you wrote are not warm-up exercises, they are the specification. Everything we do this term is built out of them, and by the end of today you will have seen that happen on screen.
Do not go through the tools yet. Just set the frame.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numbers out. They are counted from the repository, not estimated.
The last line is the one that matters. If a team asks why their prototype looks thin, the honest answer is that their writing was thin, and that is fixable this week.
The one live site is Classic Cars. Do not explain it yet, it comes back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manages expectations, for them and for you.
Say out loud that you have deliberately picked three things to go deep on rather than covering everything shallowly. Middle schoolers respond well to being told the plan.
The bottom line matters: when somebody asks 'why aren't we writing tests ourselves', the answer is that it is a real skill and it is not this term's skill.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top row left to right, then the second row.
The thing to land: the prototype, the test plan and the design brief are all generated. Nobody types them. So when a story changes, they change, and they cannot quietly disagree with each other.
This is also the honest answer to 'is the computer doing it for us'. It is doing the copying. You are doing the deciding.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pause here. This is the section they will spend the most class time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House Points example because it is a real story from this class.
Spend the most time on 'so that'. Ask the room: what goes wrong if this feature does not exist? If nobody can answer, the feature might not be worth building, and noticing that is the skill.
Do not explain Given/When/Then in depth yet. The next-but-one slide makes the case for it far better than any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this one live if the projector will cooperate. Open the studio and type a story badly on purpose.
Type a criterion like 'the app must be fun'. Watch the test plan produce nothing. Then fix it in front of them and watch a test appear. That thirty seconds is worth more than this whole slide.
Point out that nothing is saved until they send it, and nothing changes their team's file until you approve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useful slide in the deck. Do not rush it.
Ask them to spot the difference before you say it. Somebody will.
Then the important bit: you are not going to learn to write test plans this term. You are going to read the ones your stories produce, and use them to find out whether your story was any good. Writing them properly is a real job and it is a later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Handle this slide with care. Do not name the team unless they volunteer it, and say the last line before anybody feels caught out.
The framing that works: the tool is not marking your work. It is telling you which sentences a stranger could not build from, which is exactly what a design review does at a real company.
If a team gets defensive, ask them what they would see on the screen if their criterion were true. They will usually answer it themselves in about ten seconds, and that answer is the rewritten criterion.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Designers sit up here. So should the builders, because the second half of this section is about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makes designers and builders talk to each other.
Point out that the design brief is generated from the architecture, so it cannot drift. If the builders change a component name, the brief changes.
One question to put to every team before they design anything: can you find every one of your components in this design? If the answer is no, they found the gap for 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teach Figma from this slide. They already like Figma and they will find it patronising.
Rule 3 is the one worth dwelling on: designing for a real material is what every designer who has ever worked with a factory has had to do, and it is not settling for less.
Send them to the step by step page for the actual buttons. It has the pictures.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which of the three they have drawn. It will be the happy one, every time, and that is not a criticism, it is what everybody does.
The lorem ipsum point at the bottom is worth ten seconds. Fake content being the perfect length is why designs fall apart the first time real data goes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section where the class splits hardest by confidence. Say early that looking things up is the job, not a sign of not knowing.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about the blanks. Tell them it is on purpose and tell them why: if we handed you finished code you would have a working app and you would not be able to build the next one.
The three kinds of stuck are the most useful thing you can drill into them:
1. I do not know what this should do  -&gt;  build card
2. I know what it should do but not how to write it  -&gt;  Pattern Book
3. I know the pattern but not what goes in the blank  -&gt;  architecture
Getting them to name which one they are in before they put a hand up will save you half your working sessions.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bottom line and mean it. The single biggest predictor of whether a beginner keeps going is whether red text feels like information or like failure.
Tell them the error page exists before they need it, so that when they do need it they remember it is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reason, not just the rule: a story Spark wrote is not yours, and you are the one standing up in the design review.
The third row is the interesting one. The line is not code or no code, it is whether the answer is already in their documents. An error message is not, so it helps properly.
Mention the logging plainly and without threat. It is so you can spot four teams stuck on the same thing at ten past ten, not to catch anybody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site live if you can. It is the most persuasive thing in the deck.
The point to make is not that it looks good. It is that every page traces back to a sentence they wrote, and you can put their story next to the page and see it.
If time allows, open the admin and add a car in front of them. Watching a public page change because somebody typed in a box is the moment a lot of them get what a website actually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titles rather than raw links so they survive a video being taken down, and so a student on a locked-down Chromebook can still find them.
Worth saying: watching a video is for getting the feel of a tool. It is not a substitute for the step by step pages, which are written for your actual project with your actual component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this one up while they get laptops out and leave it there.
Only one address needs remembering. Everything else is a link off the gallery, which is the point of having a gallery.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the three actions and put the deck away. Do not add a fourth.
The closing line is worth saying slowly. If two people on a team read the same story differently, they have just found the argument they would otherwise have had in three weeks with half the app built wrong.
Then hand out laptops. The first working session should start with reading their own test plan, not with writing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630031"/>
        </a:solidFill>
      </p:bgPr>
    </p:bg>
    <p:spTree>
      <p:nvGrpSpPr>
        <p:cNvPr id="1" name=""/>
        <p:cNvGrpSpPr/>
        <p:nvPr/>
      </p:nvGrpSpPr>
      <p:grpSpPr>
        <a:xfrm>
          <a:off x="0" y="0"/>
          <a:ext cx="0" cy="0"/>
          <a:chOff x="0" y="0"/>
          <a:chExt cx="0" cy="0"/>
        </a:xfrm>
      </p:grpSpPr>
      <p:sp>
        <p:nvSpPr>
          <p:cNvPr id="2" name="Shape 0"/>
          <p:cNvSpPr/>
          <p:nvPr/>
        </p:nvSpPr>
        <p:spPr>
          <a:xfrm>
            <a:off x="8778240" y="-1371600"/>
            <a:ext cx="5669280" cy="5669280"/>
          </a:xfrm>
          <a:prstGeom prst="ellipse">
            <a:avLst/>
          </a:prstGeom>
          <a:solidFill>
            <a:srgbClr val="4A0025"/>
          </a:solidFill>
          <a:ln w="12700">
            <a:solidFill>
              <a:srgbClr val="333333"/>
            </a:solidFill>
            <a:prstDash val="solid"/>
          </a:ln>
        </p:spPr>
      </p:sp>
      <p:sp>
        <p:nvSpPr>
          <p:cNvPr id="3" name="Shape 1"/>
          <p:cNvSpPr/>
          <p:nvPr/>
        </p:nvSpPr>
        <p:spPr>
          <a:xfrm>
            <a:off x="10424160" y="3931920"/>
            <a:ext cx="3108960" cy="3108960"/>
          </a:xfrm>
          <a:prstGeom prst="ellipse">
            <a:avLst/>
          </a:prstGeom>
          <a:solidFill>
            <a:srgbClr val="CF4420"/>
          </a:solidFill>
          <a:ln w="12700">
            <a:solidFill>
              <a:srgbClr val="333333"/>
            </a:solidFill>
            <a:prstDash val="solid"/>
          </a:ln>
        </p:spPr>
      </p:sp>
      <p:sp>
        <p:nvSpPr>
          <p:cNvPr id="4" name="Text 2"/>
          <p:cNvSpPr txBox="1"/>
          <p:nvPr/>
        </p:nvSpPr>
        <p:spPr>
          <a:xfrm>
            <a:off x="640080" y="1737360"/>
            <a:ext cx="7680960" cy="310896"/>
          </a:xfrm>
          <a:prstGeom prst="rect">
            <a:avLst/>
          </a:prstGeom>
          <a:noFill/>
          <a:ln/>
        </p:spPr>
        <p:txBody>
          <a:bodyPr wrap="square" lIns="0" tIns="0" rIns="0" bIns="0" rtlCol="0" anchor="ctr"/>
          <a:lstStyle/>
          <a:p>
            <a:pPr indent="0" marL="0">
              <a:buNone/>
            </a:pPr>
            <a:r>
              <a:rPr lang="en-US" sz="1300" b="1" spc="300" kern="0" dirty="0">
                <a:solidFill>
                  <a:srgbClr val="E9C9D6"/>
                </a:solidFill>
                <a:latin typeface="Calibri" pitchFamily="34" charset="0"/>
                <a:ea typeface="Calibri" pitchFamily="34" charset="-122"/>
                <a:cs typeface="Calibri" pitchFamily="34" charset="-120"/>
              </a:rPr>
              <a:t>TRAIL CREW  ·  TERM TWO</a:t>
            </a:r>
            <a:endParaRPr lang="en-US" sz="1300" dirty="0"/>
          </a:p>
        </p:txBody>
      </p:sp>
      <p:sp>
        <p:nvSpPr>
          <p:cNvPr id="5" name="Text 3"/>
          <p:cNvSpPr txBox="1"/>
          <p:nvPr/>
        </p:nvSpPr>
        <p:spPr>
          <a:xfrm>
            <a:off x="640080" y="2121408"/>
            <a:ext cx="7863840" cy="1920240"/>
          </a:xfrm>
          <a:prstGeom prst="rect">
            <a:avLst/>
          </a:prstGeom>
          <a:noFill/>
          <a:ln/>
        </p:spPr>
        <p:txBody>
          <a:bodyPr wrap="square" lIns="0" tIns="0" rIns="0" bIns="0" rtlCol="0" anchor="ctr"/>
          <a:lstStyle/>
          <a:p>
            <a:pPr indent="0" marL="0">
              <a:lnSpc>
                <a:spcPts val="5200"/>
              </a:lnSpc>
              <a:buNone/>
            </a:pPr>
            <a:r>
              <a:rPr lang="en-US" sz="4800" b="1" dirty="0">
                <a:solidFill>
                  <a:srgbClr val="FFFFFF"/>
                </a:solidFill>
                <a:latin typeface="Cambria" pitchFamily="34" charset="0"/>
                <a:ea typeface="Cambria" pitchFamily="34" charset="-122"/>
                <a:cs typeface="Cambria" pitchFamily="34" charset="-120"/>
              </a:rPr>
              <a:t>You already wrote</a:t>
            </a:r>
            <a:endParaRPr lang="en-US" sz="4800" dirty="0"/>
          </a:p>
          <a:p>
            <a:pPr indent="0" marL="0">
              <a:lnSpc>
                <a:spcPts val="5200"/>
              </a:lnSpc>
              <a:buNone/>
            </a:pPr>
            <a:r>
              <a:rPr lang="en-US" sz="4800" b="1" dirty="0">
                <a:solidFill>
                  <a:srgbClr val="FFFFFF"/>
                </a:solidFill>
                <a:latin typeface="Cambria" pitchFamily="34" charset="0"/>
                <a:ea typeface="Cambria" pitchFamily="34" charset="-122"/>
                <a:cs typeface="Cambria" pitchFamily="34" charset="-120"/>
              </a:rPr>
              <a:t>the hard part.</a:t>
            </a:r>
            <a:endParaRPr lang="en-US" sz="4800" dirty="0"/>
          </a:p>
        </p:txBody>
      </p:sp>
      <p:sp>
        <p:nvSpPr>
          <p:cNvPr id="6" name="Text 4"/>
          <p:cNvSpPr txBox="1"/>
          <p:nvPr/>
        </p:nvSpPr>
        <p:spPr>
          <a:xfrm>
            <a:off x="640080" y="4206240"/>
            <a:ext cx="7315200" cy="914400"/>
          </a:xfrm>
          <a:prstGeom prst="rect">
            <a:avLst/>
          </a:prstGeom>
          <a:noFill/>
          <a:ln/>
        </p:spPr>
        <p:txBody>
          <a:bodyPr wrap="square" lIns="0" tIns="0" rIns="0" bIns="0" rtlCol="0" anchor="ctr"/>
          <a:lstStyle/>
          <a:p>
            <a:pPr indent="0" marL="0">
              <a:lnSpc>
                <a:spcPts val="2400"/>
              </a:lnSpc>
              <a:buNone/>
            </a:pPr>
            <a:r>
              <a:rPr lang="en-US" sz="1600" dirty="0">
                <a:solidFill>
                  <a:srgbClr val="EBD9E1"/>
                </a:solidFill>
                <a:latin typeface="Calibri" pitchFamily="34" charset="0"/>
                <a:ea typeface="Calibri" pitchFamily="34" charset="-122"/>
                <a:cs typeface="Calibri" pitchFamily="34" charset="-120"/>
              </a:rPr>
              <a:t>Last term you decided what to build. This term you find out whether you were right, design it properly, and make it run.</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F1"/>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56032"/>
          </a:xfrm>
          <a:prstGeom prst="rect">
            <a:avLst/>
          </a:prstGeom>
          <a:noFill/>
          <a:ln/>
        </p:spPr>
        <p:txBody>
          <a:bodyPr wrap="square" lIns="0" tIns="0" rIns="0" bIns="0" rtlCol="0" anchor="ctr"/>
          <a:lstStyle/>
          <a:p>
            <a:pPr indent="0" marL="0">
              <a:buNone/>
            </a:pPr>
            <a:r>
              <a:rPr lang="en-US" sz="1200" b="1" spc="200" kern="0" dirty="0">
                <a:solidFill>
                  <a:srgbClr val="CF4420"/>
                </a:solidFill>
                <a:latin typeface="Calibri" pitchFamily="34" charset="0"/>
                <a:ea typeface="Calibri" pitchFamily="34" charset="-122"/>
                <a:cs typeface="Calibri" pitchFamily="34" charset="-120"/>
              </a:rPr>
              <a:t>SINCE SEPTEMBER</a:t>
            </a:r>
            <a:endParaRPr lang="en-US" sz="1200" dirty="0"/>
          </a:p>
        </p:txBody>
      </p:sp>
      <p:sp>
        <p:nvSpPr>
          <p:cNvPr id="3" name="Text 1"/>
          <p:cNvSpPr txBox="1"/>
          <p:nvPr/>
        </p:nvSpPr>
        <p:spPr>
          <a:xfrm>
            <a:off x="640080" y="658368"/>
            <a:ext cx="10911535" cy="777240"/>
          </a:xfrm>
          <a:prstGeom prst="rect">
            <a:avLst/>
          </a:prstGeom>
          <a:noFill/>
          <a:ln/>
        </p:spPr>
        <p:txBody>
          <a:bodyPr wrap="square" lIns="0" tIns="0" rIns="0" bIns="0" rtlCol="0" anchor="t"/>
          <a:lstStyle/>
          <a:p>
            <a:pPr indent="0" marL="0">
              <a:buNone/>
            </a:pPr>
            <a:r>
              <a:rPr lang="en-US" sz="3400" b="1" dirty="0">
                <a:solidFill>
                  <a:srgbClr val="630031"/>
                </a:solidFill>
                <a:latin typeface="Cambria" pitchFamily="34" charset="0"/>
                <a:ea typeface="Cambria" pitchFamily="34" charset="-122"/>
                <a:cs typeface="Cambria" pitchFamily="34" charset="-120"/>
              </a:rPr>
              <a:t>Where we got to</a:t>
            </a:r>
            <a:endParaRPr lang="en-US" sz="3400" dirty="0"/>
          </a:p>
        </p:txBody>
      </p:sp>
      <p:sp>
        <p:nvSpPr>
          <p:cNvPr id="4" name="Shape 2"/>
          <p:cNvSpPr/>
          <p:nvPr/>
        </p:nvSpPr>
        <p:spPr>
          <a:xfrm>
            <a:off x="640080" y="2103120"/>
            <a:ext cx="2487854" cy="2377440"/>
          </a:xfrm>
          <a:prstGeom prst="roundRect">
            <a:avLst>
              <a:gd name="adj" fmla="val 3462"/>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5" name="Text 3"/>
          <p:cNvSpPr txBox="1"/>
          <p:nvPr/>
        </p:nvSpPr>
        <p:spPr>
          <a:xfrm>
            <a:off x="640080" y="2286000"/>
            <a:ext cx="2487854" cy="1051560"/>
          </a:xfrm>
          <a:prstGeom prst="rect">
            <a:avLst/>
          </a:prstGeom>
          <a:noFill/>
          <a:ln/>
        </p:spPr>
        <p:txBody>
          <a:bodyPr wrap="square" lIns="0" tIns="0" rIns="0" bIns="0" rtlCol="0" anchor="ctr"/>
          <a:lstStyle/>
          <a:p>
            <a:pPr algn="ctr" indent="0" marL="0">
              <a:buNone/>
            </a:pPr>
            <a:r>
              <a:rPr lang="en-US" sz="6000" b="1" dirty="0">
                <a:solidFill>
                  <a:srgbClr val="630031"/>
                </a:solidFill>
                <a:latin typeface="Cambria" pitchFamily="34" charset="0"/>
                <a:ea typeface="Cambria" pitchFamily="34" charset="-122"/>
                <a:cs typeface="Cambria" pitchFamily="34" charset="-120"/>
              </a:rPr>
              <a:t>14</a:t>
            </a:r>
            <a:endParaRPr lang="en-US" sz="6000" dirty="0"/>
          </a:p>
        </p:txBody>
      </p:sp>
      <p:sp>
        <p:nvSpPr>
          <p:cNvPr id="6" name="Text 4"/>
          <p:cNvSpPr txBox="1"/>
          <p:nvPr/>
        </p:nvSpPr>
        <p:spPr>
          <a:xfrm>
            <a:off x="640080" y="3383280"/>
            <a:ext cx="2487854" cy="292608"/>
          </a:xfrm>
          <a:prstGeom prst="rect">
            <a:avLst/>
          </a:prstGeom>
          <a:noFill/>
          <a:ln/>
        </p:spPr>
        <p:txBody>
          <a:bodyPr wrap="square" lIns="0" tIns="0" rIns="0" bIns="0" rtlCol="0" anchor="ctr"/>
          <a:lstStyle/>
          <a:p>
            <a:pPr algn="ctr" indent="0" marL="0">
              <a:buNone/>
            </a:pPr>
            <a:r>
              <a:rPr lang="en-US" sz="1500" b="1" dirty="0">
                <a:solidFill>
                  <a:srgbClr val="1C1A19"/>
                </a:solidFill>
                <a:latin typeface="Calibri" pitchFamily="34" charset="0"/>
                <a:ea typeface="Calibri" pitchFamily="34" charset="-122"/>
                <a:cs typeface="Calibri" pitchFamily="34" charset="-120"/>
              </a:rPr>
              <a:t>teams</a:t>
            </a:r>
            <a:endParaRPr lang="en-US" sz="1500" dirty="0"/>
          </a:p>
        </p:txBody>
      </p:sp>
      <p:sp>
        <p:nvSpPr>
          <p:cNvPr id="7" name="Text 5"/>
          <p:cNvSpPr txBox="1"/>
          <p:nvPr/>
        </p:nvSpPr>
        <p:spPr>
          <a:xfrm>
            <a:off x="804672" y="3703320"/>
            <a:ext cx="2158670" cy="658368"/>
          </a:xfrm>
          <a:prstGeom prst="rect">
            <a:avLst/>
          </a:prstGeom>
          <a:noFill/>
          <a:ln/>
        </p:spPr>
        <p:txBody>
          <a:bodyPr wrap="square" lIns="0" tIns="0" rIns="0" bIns="0" rtlCol="0" anchor="ctr"/>
          <a:lstStyle/>
          <a:p>
            <a:pPr algn="ctr" indent="0" marL="0">
              <a:buNone/>
            </a:pPr>
            <a:r>
              <a:rPr lang="en-US" sz="1200" dirty="0">
                <a:solidFill>
                  <a:srgbClr val="5A5F63"/>
                </a:solidFill>
                <a:latin typeface="Calibri" pitchFamily="34" charset="0"/>
                <a:ea typeface="Calibri" pitchFamily="34" charset="-122"/>
                <a:cs typeface="Calibri" pitchFamily="34" charset="-120"/>
              </a:rPr>
              <a:t>with a product plan</a:t>
            </a:r>
            <a:endParaRPr lang="en-US" sz="1200" dirty="0"/>
          </a:p>
        </p:txBody>
      </p:sp>
      <p:sp>
        <p:nvSpPr>
          <p:cNvPr id="8" name="Shape 6"/>
          <p:cNvSpPr/>
          <p:nvPr/>
        </p:nvSpPr>
        <p:spPr>
          <a:xfrm>
            <a:off x="3447974" y="2103120"/>
            <a:ext cx="2487854" cy="2377440"/>
          </a:xfrm>
          <a:prstGeom prst="roundRect">
            <a:avLst>
              <a:gd name="adj" fmla="val 3462"/>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9" name="Text 7"/>
          <p:cNvSpPr txBox="1"/>
          <p:nvPr/>
        </p:nvSpPr>
        <p:spPr>
          <a:xfrm>
            <a:off x="3447974" y="2286000"/>
            <a:ext cx="2487854" cy="1051560"/>
          </a:xfrm>
          <a:prstGeom prst="rect">
            <a:avLst/>
          </a:prstGeom>
          <a:noFill/>
          <a:ln/>
        </p:spPr>
        <p:txBody>
          <a:bodyPr wrap="square" lIns="0" tIns="0" rIns="0" bIns="0" rtlCol="0" anchor="ctr"/>
          <a:lstStyle/>
          <a:p>
            <a:pPr algn="ctr" indent="0" marL="0">
              <a:buNone/>
            </a:pPr>
            <a:r>
              <a:rPr lang="en-US" sz="6000" b="1" dirty="0">
                <a:solidFill>
                  <a:srgbClr val="630031"/>
                </a:solidFill>
                <a:latin typeface="Cambria" pitchFamily="34" charset="0"/>
                <a:ea typeface="Cambria" pitchFamily="34" charset="-122"/>
                <a:cs typeface="Cambria" pitchFamily="34" charset="-120"/>
              </a:rPr>
              <a:t>40</a:t>
            </a:r>
            <a:endParaRPr lang="en-US" sz="6000" dirty="0"/>
          </a:p>
        </p:txBody>
      </p:sp>
      <p:sp>
        <p:nvSpPr>
          <p:cNvPr id="10" name="Text 8"/>
          <p:cNvSpPr txBox="1"/>
          <p:nvPr/>
        </p:nvSpPr>
        <p:spPr>
          <a:xfrm>
            <a:off x="3447974" y="3383280"/>
            <a:ext cx="2487854" cy="292608"/>
          </a:xfrm>
          <a:prstGeom prst="rect">
            <a:avLst/>
          </a:prstGeom>
          <a:noFill/>
          <a:ln/>
        </p:spPr>
        <p:txBody>
          <a:bodyPr wrap="square" lIns="0" tIns="0" rIns="0" bIns="0" rtlCol="0" anchor="ctr"/>
          <a:lstStyle/>
          <a:p>
            <a:pPr algn="ctr" indent="0" marL="0">
              <a:buNone/>
            </a:pPr>
            <a:r>
              <a:rPr lang="en-US" sz="1500" b="1" dirty="0">
                <a:solidFill>
                  <a:srgbClr val="1C1A19"/>
                </a:solidFill>
                <a:latin typeface="Calibri" pitchFamily="34" charset="0"/>
                <a:ea typeface="Calibri" pitchFamily="34" charset="-122"/>
                <a:cs typeface="Calibri" pitchFamily="34" charset="-120"/>
              </a:rPr>
              <a:t>user stories</a:t>
            </a:r>
            <a:endParaRPr lang="en-US" sz="1500" dirty="0"/>
          </a:p>
        </p:txBody>
      </p:sp>
      <p:sp>
        <p:nvSpPr>
          <p:cNvPr id="11" name="Text 9"/>
          <p:cNvSpPr txBox="1"/>
          <p:nvPr/>
        </p:nvSpPr>
        <p:spPr>
          <a:xfrm>
            <a:off x="3612566" y="3703320"/>
            <a:ext cx="2158670" cy="658368"/>
          </a:xfrm>
          <a:prstGeom prst="rect">
            <a:avLst/>
          </a:prstGeom>
          <a:noFill/>
          <a:ln/>
        </p:spPr>
        <p:txBody>
          <a:bodyPr wrap="square" lIns="0" tIns="0" rIns="0" bIns="0" rtlCol="0" anchor="ctr"/>
          <a:lstStyle/>
          <a:p>
            <a:pPr algn="ctr" indent="0" marL="0">
              <a:buNone/>
            </a:pPr>
            <a:r>
              <a:rPr lang="en-US" sz="1200" dirty="0">
                <a:solidFill>
                  <a:srgbClr val="5A5F63"/>
                </a:solidFill>
                <a:latin typeface="Calibri" pitchFamily="34" charset="0"/>
                <a:ea typeface="Calibri" pitchFamily="34" charset="-122"/>
                <a:cs typeface="Calibri" pitchFamily="34" charset="-120"/>
              </a:rPr>
              <a:t>written by you</a:t>
            </a:r>
            <a:endParaRPr lang="en-US" sz="1200" dirty="0"/>
          </a:p>
        </p:txBody>
      </p:sp>
      <p:sp>
        <p:nvSpPr>
          <p:cNvPr id="12" name="Shape 10"/>
          <p:cNvSpPr/>
          <p:nvPr/>
        </p:nvSpPr>
        <p:spPr>
          <a:xfrm>
            <a:off x="6255868" y="2103120"/>
            <a:ext cx="2487854" cy="2377440"/>
          </a:xfrm>
          <a:prstGeom prst="roundRect">
            <a:avLst>
              <a:gd name="adj" fmla="val 3462"/>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3" name="Text 11"/>
          <p:cNvSpPr txBox="1"/>
          <p:nvPr/>
        </p:nvSpPr>
        <p:spPr>
          <a:xfrm>
            <a:off x="6255868" y="2286000"/>
            <a:ext cx="2487854" cy="1051560"/>
          </a:xfrm>
          <a:prstGeom prst="rect">
            <a:avLst/>
          </a:prstGeom>
          <a:noFill/>
          <a:ln/>
        </p:spPr>
        <p:txBody>
          <a:bodyPr wrap="square" lIns="0" tIns="0" rIns="0" bIns="0" rtlCol="0" anchor="ctr"/>
          <a:lstStyle/>
          <a:p>
            <a:pPr algn="ctr" indent="0" marL="0">
              <a:buNone/>
            </a:pPr>
            <a:r>
              <a:rPr lang="en-US" sz="6000" b="1" dirty="0">
                <a:solidFill>
                  <a:srgbClr val="630031"/>
                </a:solidFill>
                <a:latin typeface="Cambria" pitchFamily="34" charset="0"/>
                <a:ea typeface="Cambria" pitchFamily="34" charset="-122"/>
                <a:cs typeface="Cambria" pitchFamily="34" charset="-120"/>
              </a:rPr>
              <a:t>15</a:t>
            </a:r>
            <a:endParaRPr lang="en-US" sz="6000" dirty="0"/>
          </a:p>
        </p:txBody>
      </p:sp>
      <p:sp>
        <p:nvSpPr>
          <p:cNvPr id="14" name="Text 12"/>
          <p:cNvSpPr txBox="1"/>
          <p:nvPr/>
        </p:nvSpPr>
        <p:spPr>
          <a:xfrm>
            <a:off x="6255868" y="3383280"/>
            <a:ext cx="2487854" cy="292608"/>
          </a:xfrm>
          <a:prstGeom prst="rect">
            <a:avLst/>
          </a:prstGeom>
          <a:noFill/>
          <a:ln/>
        </p:spPr>
        <p:txBody>
          <a:bodyPr wrap="square" lIns="0" tIns="0" rIns="0" bIns="0" rtlCol="0" anchor="ctr"/>
          <a:lstStyle/>
          <a:p>
            <a:pPr algn="ctr" indent="0" marL="0">
              <a:buNone/>
            </a:pPr>
            <a:r>
              <a:rPr lang="en-US" sz="1500" b="1" dirty="0">
                <a:solidFill>
                  <a:srgbClr val="1C1A19"/>
                </a:solidFill>
                <a:latin typeface="Calibri" pitchFamily="34" charset="0"/>
                <a:ea typeface="Calibri" pitchFamily="34" charset="-122"/>
                <a:cs typeface="Calibri" pitchFamily="34" charset="-120"/>
              </a:rPr>
              <a:t>prototypes</a:t>
            </a:r>
            <a:endParaRPr lang="en-US" sz="1500" dirty="0"/>
          </a:p>
        </p:txBody>
      </p:sp>
      <p:sp>
        <p:nvSpPr>
          <p:cNvPr id="15" name="Text 13"/>
          <p:cNvSpPr txBox="1"/>
          <p:nvPr/>
        </p:nvSpPr>
        <p:spPr>
          <a:xfrm>
            <a:off x="6420460" y="3703320"/>
            <a:ext cx="2158670" cy="658368"/>
          </a:xfrm>
          <a:prstGeom prst="rect">
            <a:avLst/>
          </a:prstGeom>
          <a:noFill/>
          <a:ln/>
        </p:spPr>
        <p:txBody>
          <a:bodyPr wrap="square" lIns="0" tIns="0" rIns="0" bIns="0" rtlCol="0" anchor="ctr"/>
          <a:lstStyle/>
          <a:p>
            <a:pPr algn="ctr" indent="0" marL="0">
              <a:buNone/>
            </a:pPr>
            <a:r>
              <a:rPr lang="en-US" sz="1200" dirty="0">
                <a:solidFill>
                  <a:srgbClr val="5A5F63"/>
                </a:solidFill>
                <a:latin typeface="Calibri" pitchFamily="34" charset="0"/>
                <a:ea typeface="Calibri" pitchFamily="34" charset="-122"/>
                <a:cs typeface="Calibri" pitchFamily="34" charset="-120"/>
              </a:rPr>
              <a:t>you can click, right now</a:t>
            </a:r>
            <a:endParaRPr lang="en-US" sz="1200" dirty="0"/>
          </a:p>
        </p:txBody>
      </p:sp>
      <p:sp>
        <p:nvSpPr>
          <p:cNvPr id="16" name="Shape 14"/>
          <p:cNvSpPr/>
          <p:nvPr/>
        </p:nvSpPr>
        <p:spPr>
          <a:xfrm>
            <a:off x="9063761" y="2103120"/>
            <a:ext cx="2487854" cy="2377440"/>
          </a:xfrm>
          <a:prstGeom prst="roundRect">
            <a:avLst>
              <a:gd name="adj" fmla="val 3462"/>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7" name="Text 15"/>
          <p:cNvSpPr txBox="1"/>
          <p:nvPr/>
        </p:nvSpPr>
        <p:spPr>
          <a:xfrm>
            <a:off x="9063761" y="2286000"/>
            <a:ext cx="2487854" cy="1051560"/>
          </a:xfrm>
          <a:prstGeom prst="rect">
            <a:avLst/>
          </a:prstGeom>
          <a:noFill/>
          <a:ln/>
        </p:spPr>
        <p:txBody>
          <a:bodyPr wrap="square" lIns="0" tIns="0" rIns="0" bIns="0" rtlCol="0" anchor="ctr"/>
          <a:lstStyle/>
          <a:p>
            <a:pPr algn="ctr" indent="0" marL="0">
              <a:buNone/>
            </a:pPr>
            <a:r>
              <a:rPr lang="en-US" sz="6000" b="1" dirty="0">
                <a:solidFill>
                  <a:srgbClr val="630031"/>
                </a:solidFill>
                <a:latin typeface="Cambria" pitchFamily="34" charset="0"/>
                <a:ea typeface="Cambria" pitchFamily="34" charset="-122"/>
                <a:cs typeface="Cambria" pitchFamily="34" charset="-120"/>
              </a:rPr>
              <a:t>1</a:t>
            </a:r>
            <a:endParaRPr lang="en-US" sz="6000" dirty="0"/>
          </a:p>
        </p:txBody>
      </p:sp>
      <p:sp>
        <p:nvSpPr>
          <p:cNvPr id="18" name="Text 16"/>
          <p:cNvSpPr txBox="1"/>
          <p:nvPr/>
        </p:nvSpPr>
        <p:spPr>
          <a:xfrm>
            <a:off x="9063761" y="3383280"/>
            <a:ext cx="2487854" cy="292608"/>
          </a:xfrm>
          <a:prstGeom prst="rect">
            <a:avLst/>
          </a:prstGeom>
          <a:noFill/>
          <a:ln/>
        </p:spPr>
        <p:txBody>
          <a:bodyPr wrap="square" lIns="0" tIns="0" rIns="0" bIns="0" rtlCol="0" anchor="ctr"/>
          <a:lstStyle/>
          <a:p>
            <a:pPr algn="ctr" indent="0" marL="0">
              <a:buNone/>
            </a:pPr>
            <a:r>
              <a:rPr lang="en-US" sz="1500" b="1" dirty="0">
                <a:solidFill>
                  <a:srgbClr val="1C1A19"/>
                </a:solidFill>
                <a:latin typeface="Calibri" pitchFamily="34" charset="0"/>
                <a:ea typeface="Calibri" pitchFamily="34" charset="-122"/>
                <a:cs typeface="Calibri" pitchFamily="34" charset="-120"/>
              </a:rPr>
              <a:t>site</a:t>
            </a:r>
            <a:endParaRPr lang="en-US" sz="1500" dirty="0"/>
          </a:p>
        </p:txBody>
      </p:sp>
      <p:sp>
        <p:nvSpPr>
          <p:cNvPr id="19" name="Text 17"/>
          <p:cNvSpPr txBox="1"/>
          <p:nvPr/>
        </p:nvSpPr>
        <p:spPr>
          <a:xfrm>
            <a:off x="9228353" y="3703320"/>
            <a:ext cx="2158670" cy="658368"/>
          </a:xfrm>
          <a:prstGeom prst="rect">
            <a:avLst/>
          </a:prstGeom>
          <a:noFill/>
          <a:ln/>
        </p:spPr>
        <p:txBody>
          <a:bodyPr wrap="square" lIns="0" tIns="0" rIns="0" bIns="0" rtlCol="0" anchor="ctr"/>
          <a:lstStyle/>
          <a:p>
            <a:pPr algn="ctr" indent="0" marL="0">
              <a:buNone/>
            </a:pPr>
            <a:r>
              <a:rPr lang="en-US" sz="1200" dirty="0">
                <a:solidFill>
                  <a:srgbClr val="5A5F63"/>
                </a:solidFill>
                <a:latin typeface="Calibri" pitchFamily="34" charset="0"/>
                <a:ea typeface="Calibri" pitchFamily="34" charset="-122"/>
                <a:cs typeface="Calibri" pitchFamily="34" charset="-120"/>
              </a:rPr>
              <a:t>already live on the internet</a:t>
            </a:r>
            <a:endParaRPr lang="en-US" sz="1200" dirty="0"/>
          </a:p>
        </p:txBody>
      </p:sp>
      <p:sp>
        <p:nvSpPr>
          <p:cNvPr id="20" name="Text 18"/>
          <p:cNvSpPr txBox="1"/>
          <p:nvPr/>
        </p:nvSpPr>
        <p:spPr>
          <a:xfrm>
            <a:off x="640080" y="4892040"/>
            <a:ext cx="10911535" cy="640080"/>
          </a:xfrm>
          <a:prstGeom prst="rect">
            <a:avLst/>
          </a:prstGeom>
          <a:noFill/>
          <a:ln/>
        </p:spPr>
        <p:txBody>
          <a:bodyPr wrap="square" lIns="0" tIns="0" rIns="0" bIns="0" rtlCol="0" anchor="t"/>
          <a:lstStyle/>
          <a:p>
            <a:pPr indent="0" marL="0">
              <a:lnSpc>
                <a:spcPts val="2200"/>
              </a:lnSpc>
              <a:buNone/>
            </a:pPr>
            <a:r>
              <a:rPr lang="en-US" sz="1600" dirty="0">
                <a:solidFill>
                  <a:srgbClr val="75787B"/>
                </a:solidFill>
                <a:latin typeface="Calibri" pitchFamily="34" charset="0"/>
                <a:ea typeface="Calibri" pitchFamily="34" charset="-122"/>
                <a:cs typeface="Calibri" pitchFamily="34" charset="-120"/>
              </a:rPr>
              <a:t>None of that was generated for you. Every screen in every prototype came from a sentence somebody in this room wrote down.</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F1"/>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56032"/>
          </a:xfrm>
          <a:prstGeom prst="rect">
            <a:avLst/>
          </a:prstGeom>
          <a:noFill/>
          <a:ln/>
        </p:spPr>
        <p:txBody>
          <a:bodyPr wrap="square" lIns="0" tIns="0" rIns="0" bIns="0" rtlCol="0" anchor="ctr"/>
          <a:lstStyle/>
          <a:p>
            <a:pPr indent="0" marL="0">
              <a:buNone/>
            </a:pPr>
            <a:r>
              <a:rPr lang="en-US" sz="1200" b="1" spc="200" kern="0" dirty="0">
                <a:solidFill>
                  <a:srgbClr val="CF4420"/>
                </a:solidFill>
                <a:latin typeface="Calibri" pitchFamily="34" charset="0"/>
                <a:ea typeface="Calibri" pitchFamily="34" charset="-122"/>
                <a:cs typeface="Calibri" pitchFamily="34" charset="-120"/>
              </a:rPr>
              <a:t>WHAT WE ARE LEARNING</a:t>
            </a:r>
            <a:endParaRPr lang="en-US" sz="1200" dirty="0"/>
          </a:p>
        </p:txBody>
      </p:sp>
      <p:sp>
        <p:nvSpPr>
          <p:cNvPr id="3" name="Text 1"/>
          <p:cNvSpPr txBox="1"/>
          <p:nvPr/>
        </p:nvSpPr>
        <p:spPr>
          <a:xfrm>
            <a:off x="640080" y="658368"/>
            <a:ext cx="10911535" cy="777240"/>
          </a:xfrm>
          <a:prstGeom prst="rect">
            <a:avLst/>
          </a:prstGeom>
          <a:noFill/>
          <a:ln/>
        </p:spPr>
        <p:txBody>
          <a:bodyPr wrap="square" lIns="0" tIns="0" rIns="0" bIns="0" rtlCol="0" anchor="t"/>
          <a:lstStyle/>
          <a:p>
            <a:pPr indent="0" marL="0">
              <a:buNone/>
            </a:pPr>
            <a:r>
              <a:rPr lang="en-US" sz="3400" b="1" dirty="0">
                <a:solidFill>
                  <a:srgbClr val="630031"/>
                </a:solidFill>
                <a:latin typeface="Cambria" pitchFamily="34" charset="0"/>
                <a:ea typeface="Cambria" pitchFamily="34" charset="-122"/>
                <a:cs typeface="Cambria" pitchFamily="34" charset="-120"/>
              </a:rPr>
              <a:t>Three things, properly</a:t>
            </a:r>
            <a:endParaRPr lang="en-US" sz="3400" dirty="0"/>
          </a:p>
        </p:txBody>
      </p:sp>
      <p:sp>
        <p:nvSpPr>
          <p:cNvPr id="4" name="Shape 2"/>
          <p:cNvSpPr/>
          <p:nvPr/>
        </p:nvSpPr>
        <p:spPr>
          <a:xfrm>
            <a:off x="640080" y="1828800"/>
            <a:ext cx="3417722" cy="3246120"/>
          </a:xfrm>
          <a:prstGeom prst="roundRect">
            <a:avLst>
              <a:gd name="adj" fmla="val 2535"/>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5" name="Shape 3"/>
          <p:cNvSpPr/>
          <p:nvPr/>
        </p:nvSpPr>
        <p:spPr>
          <a:xfrm>
            <a:off x="960120" y="2084832"/>
            <a:ext cx="420624" cy="420624"/>
          </a:xfrm>
          <a:prstGeom prst="ellipse">
            <a:avLst/>
          </a:prstGeom>
          <a:solidFill>
            <a:srgbClr val="FFFFFF"/>
          </a:solidFill>
          <a:ln w="12700">
            <a:solidFill>
              <a:srgbClr val="CF4420"/>
            </a:solidFill>
            <a:prstDash val="solid"/>
          </a:ln>
        </p:spPr>
      </p:sp>
      <p:sp>
        <p:nvSpPr>
          <p:cNvPr id="6" name="Shape 4"/>
          <p:cNvSpPr/>
          <p:nvPr/>
        </p:nvSpPr>
        <p:spPr>
          <a:xfrm>
            <a:off x="960120" y="2084832"/>
            <a:ext cx="420624" cy="420624"/>
          </a:xfrm>
          <a:prstGeom prst="ellipse">
            <a:avLst/>
          </a:prstGeom>
          <a:solidFill>
            <a:srgbClr val="CF4420"/>
          </a:solidFill>
          <a:ln w="12700">
            <a:solidFill>
              <a:srgbClr val="333333"/>
            </a:solidFill>
            <a:prstDash val="solid"/>
          </a:ln>
        </p:spPr>
      </p:sp>
      <p:sp>
        <p:nvSpPr>
          <p:cNvPr id="7" name="Text 5"/>
          <p:cNvSpPr txBox="1"/>
          <p:nvPr/>
        </p:nvSpPr>
        <p:spPr>
          <a:xfrm>
            <a:off x="960120" y="208483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txBox="1"/>
          <p:nvPr/>
        </p:nvSpPr>
        <p:spPr>
          <a:xfrm>
            <a:off x="960120" y="2724912"/>
            <a:ext cx="2777642" cy="411480"/>
          </a:xfrm>
          <a:prstGeom prst="rect">
            <a:avLst/>
          </a:prstGeom>
          <a:noFill/>
          <a:ln/>
        </p:spPr>
        <p:txBody>
          <a:bodyPr wrap="square" lIns="0" tIns="0" rIns="0" bIns="0" rtlCol="0" anchor="ctr"/>
          <a:lstStyle/>
          <a:p>
            <a:pPr indent="0" marL="0">
              <a:buNone/>
            </a:pPr>
            <a:r>
              <a:rPr lang="en-US" sz="2000" b="1" dirty="0">
                <a:solidFill>
                  <a:srgbClr val="630031"/>
                </a:solidFill>
                <a:latin typeface="Cambria" pitchFamily="34" charset="0"/>
                <a:ea typeface="Cambria" pitchFamily="34" charset="-122"/>
                <a:cs typeface="Cambria" pitchFamily="34" charset="-120"/>
              </a:rPr>
              <a:t>Write what to build</a:t>
            </a:r>
            <a:endParaRPr lang="en-US" sz="2000" dirty="0"/>
          </a:p>
        </p:txBody>
      </p:sp>
      <p:sp>
        <p:nvSpPr>
          <p:cNvPr id="9" name="Text 7"/>
          <p:cNvSpPr txBox="1"/>
          <p:nvPr/>
        </p:nvSpPr>
        <p:spPr>
          <a:xfrm>
            <a:off x="960120" y="3163824"/>
            <a:ext cx="2777642" cy="1325880"/>
          </a:xfrm>
          <a:prstGeom prst="rect">
            <a:avLst/>
          </a:prstGeom>
          <a:noFill/>
          <a:ln/>
        </p:spPr>
        <p:txBody>
          <a:bodyPr wrap="square" lIns="0" tIns="0" rIns="0" bIns="0" rtlCol="0" anchor="ctr"/>
          <a:lstStyle/>
          <a:p>
            <a:pPr indent="0" marL="0">
              <a:lnSpc>
                <a:spcPts val="1900"/>
              </a:lnSpc>
              <a:buNone/>
            </a:pPr>
            <a:r>
              <a:rPr lang="en-US" sz="1350" dirty="0">
                <a:solidFill>
                  <a:srgbClr val="1C1A19"/>
                </a:solidFill>
                <a:latin typeface="Calibri" pitchFamily="34" charset="0"/>
                <a:ea typeface="Calibri" pitchFamily="34" charset="-122"/>
                <a:cs typeface="Calibri" pitchFamily="34" charset="-120"/>
              </a:rPr>
              <a:t>A user story that somebody who has never met you could build from. Who it is for, what they do, and how you know it is finished.</a:t>
            </a:r>
            <a:endParaRPr lang="en-US" sz="1350" dirty="0"/>
          </a:p>
        </p:txBody>
      </p:sp>
      <p:sp>
        <p:nvSpPr>
          <p:cNvPr id="10" name="Text 8"/>
          <p:cNvSpPr txBox="1"/>
          <p:nvPr/>
        </p:nvSpPr>
        <p:spPr>
          <a:xfrm>
            <a:off x="960120" y="4462272"/>
            <a:ext cx="2777642" cy="457200"/>
          </a:xfrm>
          <a:prstGeom prst="rect">
            <a:avLst/>
          </a:prstGeom>
          <a:noFill/>
          <a:ln/>
        </p:spPr>
        <p:txBody>
          <a:bodyPr wrap="square" lIns="0" tIns="0" rIns="0" bIns="0" rtlCol="0" anchor="ctr"/>
          <a:lstStyle/>
          <a:p>
            <a:pPr indent="0" marL="0">
              <a:lnSpc>
                <a:spcPts val="1700"/>
              </a:lnSpc>
              <a:buNone/>
            </a:pPr>
            <a:r>
              <a:rPr lang="en-US" sz="1250" i="1" dirty="0">
                <a:solidFill>
                  <a:srgbClr val="CF4420"/>
                </a:solidFill>
                <a:latin typeface="Calibri" pitchFamily="34" charset="0"/>
                <a:ea typeface="Calibri" pitchFamily="34" charset="-122"/>
                <a:cs typeface="Calibri" pitchFamily="34" charset="-120"/>
              </a:rPr>
              <a:t>The skill: saying exactly what you mean.</a:t>
            </a:r>
            <a:endParaRPr lang="en-US" sz="1250" dirty="0"/>
          </a:p>
        </p:txBody>
      </p:sp>
      <p:sp>
        <p:nvSpPr>
          <p:cNvPr id="11" name="Shape 9"/>
          <p:cNvSpPr/>
          <p:nvPr/>
        </p:nvSpPr>
        <p:spPr>
          <a:xfrm>
            <a:off x="4386986" y="1828800"/>
            <a:ext cx="3417722" cy="3246120"/>
          </a:xfrm>
          <a:prstGeom prst="roundRect">
            <a:avLst>
              <a:gd name="adj" fmla="val 2535"/>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2" name="Shape 10"/>
          <p:cNvSpPr/>
          <p:nvPr/>
        </p:nvSpPr>
        <p:spPr>
          <a:xfrm>
            <a:off x="4707026" y="2084832"/>
            <a:ext cx="420624" cy="420624"/>
          </a:xfrm>
          <a:prstGeom prst="ellipse">
            <a:avLst/>
          </a:prstGeom>
          <a:solidFill>
            <a:srgbClr val="FFFFFF"/>
          </a:solidFill>
          <a:ln w="12700">
            <a:solidFill>
              <a:srgbClr val="CF4420"/>
            </a:solidFill>
            <a:prstDash val="solid"/>
          </a:ln>
        </p:spPr>
      </p:sp>
      <p:sp>
        <p:nvSpPr>
          <p:cNvPr id="13" name="Shape 11"/>
          <p:cNvSpPr/>
          <p:nvPr/>
        </p:nvSpPr>
        <p:spPr>
          <a:xfrm>
            <a:off x="4707026" y="2084832"/>
            <a:ext cx="420624" cy="420624"/>
          </a:xfrm>
          <a:prstGeom prst="ellipse">
            <a:avLst/>
          </a:prstGeom>
          <a:solidFill>
            <a:srgbClr val="CF4420"/>
          </a:solidFill>
          <a:ln w="12700">
            <a:solidFill>
              <a:srgbClr val="333333"/>
            </a:solidFill>
            <a:prstDash val="solid"/>
          </a:ln>
        </p:spPr>
      </p:sp>
      <p:sp>
        <p:nvSpPr>
          <p:cNvPr id="14" name="Text 12"/>
          <p:cNvSpPr txBox="1"/>
          <p:nvPr/>
        </p:nvSpPr>
        <p:spPr>
          <a:xfrm>
            <a:off x="4707026" y="208483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5" name="Text 13"/>
          <p:cNvSpPr txBox="1"/>
          <p:nvPr/>
        </p:nvSpPr>
        <p:spPr>
          <a:xfrm>
            <a:off x="4707026" y="2724912"/>
            <a:ext cx="2777642" cy="411480"/>
          </a:xfrm>
          <a:prstGeom prst="rect">
            <a:avLst/>
          </a:prstGeom>
          <a:noFill/>
          <a:ln/>
        </p:spPr>
        <p:txBody>
          <a:bodyPr wrap="square" lIns="0" tIns="0" rIns="0" bIns="0" rtlCol="0" anchor="ctr"/>
          <a:lstStyle/>
          <a:p>
            <a:pPr indent="0" marL="0">
              <a:buNone/>
            </a:pPr>
            <a:r>
              <a:rPr lang="en-US" sz="2000" b="1" dirty="0">
                <a:solidFill>
                  <a:srgbClr val="630031"/>
                </a:solidFill>
                <a:latin typeface="Cambria" pitchFamily="34" charset="0"/>
                <a:ea typeface="Cambria" pitchFamily="34" charset="-122"/>
                <a:cs typeface="Cambria" pitchFamily="34" charset="-120"/>
              </a:rPr>
              <a:t>Design it</a:t>
            </a:r>
            <a:endParaRPr lang="en-US" sz="2000" dirty="0"/>
          </a:p>
        </p:txBody>
      </p:sp>
      <p:sp>
        <p:nvSpPr>
          <p:cNvPr id="16" name="Text 14"/>
          <p:cNvSpPr txBox="1"/>
          <p:nvPr/>
        </p:nvSpPr>
        <p:spPr>
          <a:xfrm>
            <a:off x="4707026" y="3163824"/>
            <a:ext cx="2777642" cy="1325880"/>
          </a:xfrm>
          <a:prstGeom prst="rect">
            <a:avLst/>
          </a:prstGeom>
          <a:noFill/>
          <a:ln/>
        </p:spPr>
        <p:txBody>
          <a:bodyPr wrap="square" lIns="0" tIns="0" rIns="0" bIns="0" rtlCol="0" anchor="ctr"/>
          <a:lstStyle/>
          <a:p>
            <a:pPr indent="0" marL="0">
              <a:lnSpc>
                <a:spcPts val="1900"/>
              </a:lnSpc>
              <a:buNone/>
            </a:pPr>
            <a:r>
              <a:rPr lang="en-US" sz="1350" dirty="0">
                <a:solidFill>
                  <a:srgbClr val="1C1A19"/>
                </a:solidFill>
                <a:latin typeface="Calibri" pitchFamily="34" charset="0"/>
                <a:ea typeface="Calibri" pitchFamily="34" charset="-122"/>
                <a:cs typeface="Calibri" pitchFamily="34" charset="-120"/>
              </a:rPr>
              <a:t>Turn the story into screens in Figma, using the component names your own team already agreed on, so what you draw is what gets built.</a:t>
            </a:r>
            <a:endParaRPr lang="en-US" sz="1350" dirty="0"/>
          </a:p>
        </p:txBody>
      </p:sp>
      <p:sp>
        <p:nvSpPr>
          <p:cNvPr id="17" name="Text 15"/>
          <p:cNvSpPr txBox="1"/>
          <p:nvPr/>
        </p:nvSpPr>
        <p:spPr>
          <a:xfrm>
            <a:off x="4707026" y="4462272"/>
            <a:ext cx="2777642" cy="457200"/>
          </a:xfrm>
          <a:prstGeom prst="rect">
            <a:avLst/>
          </a:prstGeom>
          <a:noFill/>
          <a:ln/>
        </p:spPr>
        <p:txBody>
          <a:bodyPr wrap="square" lIns="0" tIns="0" rIns="0" bIns="0" rtlCol="0" anchor="ctr"/>
          <a:lstStyle/>
          <a:p>
            <a:pPr indent="0" marL="0">
              <a:lnSpc>
                <a:spcPts val="1700"/>
              </a:lnSpc>
              <a:buNone/>
            </a:pPr>
            <a:r>
              <a:rPr lang="en-US" sz="1250" i="1" dirty="0">
                <a:solidFill>
                  <a:srgbClr val="CF4420"/>
                </a:solidFill>
                <a:latin typeface="Calibri" pitchFamily="34" charset="0"/>
                <a:ea typeface="Calibri" pitchFamily="34" charset="-122"/>
                <a:cs typeface="Calibri" pitchFamily="34" charset="-120"/>
              </a:rPr>
              <a:t>The skill: designing for a real material.</a:t>
            </a:r>
            <a:endParaRPr lang="en-US" sz="1250" dirty="0"/>
          </a:p>
        </p:txBody>
      </p:sp>
      <p:sp>
        <p:nvSpPr>
          <p:cNvPr id="18" name="Shape 16"/>
          <p:cNvSpPr/>
          <p:nvPr/>
        </p:nvSpPr>
        <p:spPr>
          <a:xfrm>
            <a:off x="8133893" y="1828800"/>
            <a:ext cx="3417722" cy="3246120"/>
          </a:xfrm>
          <a:prstGeom prst="roundRect">
            <a:avLst>
              <a:gd name="adj" fmla="val 2535"/>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9" name="Shape 17"/>
          <p:cNvSpPr/>
          <p:nvPr/>
        </p:nvSpPr>
        <p:spPr>
          <a:xfrm>
            <a:off x="8453933" y="2084832"/>
            <a:ext cx="420624" cy="420624"/>
          </a:xfrm>
          <a:prstGeom prst="ellipse">
            <a:avLst/>
          </a:prstGeom>
          <a:solidFill>
            <a:srgbClr val="FFFFFF"/>
          </a:solidFill>
          <a:ln w="12700">
            <a:solidFill>
              <a:srgbClr val="CF4420"/>
            </a:solidFill>
            <a:prstDash val="solid"/>
          </a:ln>
        </p:spPr>
      </p:sp>
      <p:sp>
        <p:nvSpPr>
          <p:cNvPr id="20" name="Shape 18"/>
          <p:cNvSpPr/>
          <p:nvPr/>
        </p:nvSpPr>
        <p:spPr>
          <a:xfrm>
            <a:off x="8453933" y="2084832"/>
            <a:ext cx="420624" cy="420624"/>
          </a:xfrm>
          <a:prstGeom prst="ellipse">
            <a:avLst/>
          </a:prstGeom>
          <a:solidFill>
            <a:srgbClr val="CF4420"/>
          </a:solidFill>
          <a:ln w="12700">
            <a:solidFill>
              <a:srgbClr val="333333"/>
            </a:solidFill>
            <a:prstDash val="solid"/>
          </a:ln>
        </p:spPr>
      </p:sp>
      <p:sp>
        <p:nvSpPr>
          <p:cNvPr id="21" name="Text 19"/>
          <p:cNvSpPr txBox="1"/>
          <p:nvPr/>
        </p:nvSpPr>
        <p:spPr>
          <a:xfrm>
            <a:off x="8453933" y="208483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2" name="Text 20"/>
          <p:cNvSpPr txBox="1"/>
          <p:nvPr/>
        </p:nvSpPr>
        <p:spPr>
          <a:xfrm>
            <a:off x="8453933" y="2724912"/>
            <a:ext cx="2777642" cy="411480"/>
          </a:xfrm>
          <a:prstGeom prst="rect">
            <a:avLst/>
          </a:prstGeom>
          <a:noFill/>
          <a:ln/>
        </p:spPr>
        <p:txBody>
          <a:bodyPr wrap="square" lIns="0" tIns="0" rIns="0" bIns="0" rtlCol="0" anchor="ctr"/>
          <a:lstStyle/>
          <a:p>
            <a:pPr indent="0" marL="0">
              <a:buNone/>
            </a:pPr>
            <a:r>
              <a:rPr lang="en-US" sz="2000" b="1" dirty="0">
                <a:solidFill>
                  <a:srgbClr val="630031"/>
                </a:solidFill>
                <a:latin typeface="Cambria" pitchFamily="34" charset="0"/>
                <a:ea typeface="Cambria" pitchFamily="34" charset="-122"/>
                <a:cs typeface="Cambria" pitchFamily="34" charset="-120"/>
              </a:rPr>
              <a:t>Build it</a:t>
            </a:r>
            <a:endParaRPr lang="en-US" sz="2000" dirty="0"/>
          </a:p>
        </p:txBody>
      </p:sp>
      <p:sp>
        <p:nvSpPr>
          <p:cNvPr id="23" name="Text 21"/>
          <p:cNvSpPr txBox="1"/>
          <p:nvPr/>
        </p:nvSpPr>
        <p:spPr>
          <a:xfrm>
            <a:off x="8453933" y="3163824"/>
            <a:ext cx="2777642" cy="1325880"/>
          </a:xfrm>
          <a:prstGeom prst="rect">
            <a:avLst/>
          </a:prstGeom>
          <a:noFill/>
          <a:ln/>
        </p:spPr>
        <p:txBody>
          <a:bodyPr wrap="square" lIns="0" tIns="0" rIns="0" bIns="0" rtlCol="0" anchor="ctr"/>
          <a:lstStyle/>
          <a:p>
            <a:pPr indent="0" marL="0">
              <a:lnSpc>
                <a:spcPts val="1900"/>
              </a:lnSpc>
              <a:buNone/>
            </a:pPr>
            <a:r>
              <a:rPr lang="en-US" sz="1350" dirty="0">
                <a:solidFill>
                  <a:srgbClr val="1C1A19"/>
                </a:solidFill>
                <a:latin typeface="Calibri" pitchFamily="34" charset="0"/>
                <a:ea typeface="Calibri" pitchFamily="34" charset="-122"/>
                <a:cs typeface="Calibri" pitchFamily="34" charset="-120"/>
              </a:rPr>
              <a:t>Make it run in Anvil, one pattern at a time, from documents that point at each other instead of one big pile of code.</a:t>
            </a:r>
            <a:endParaRPr lang="en-US" sz="1350" dirty="0"/>
          </a:p>
        </p:txBody>
      </p:sp>
      <p:sp>
        <p:nvSpPr>
          <p:cNvPr id="24" name="Text 22"/>
          <p:cNvSpPr txBox="1"/>
          <p:nvPr/>
        </p:nvSpPr>
        <p:spPr>
          <a:xfrm>
            <a:off x="8453933" y="4462272"/>
            <a:ext cx="2777642" cy="457200"/>
          </a:xfrm>
          <a:prstGeom prst="rect">
            <a:avLst/>
          </a:prstGeom>
          <a:noFill/>
          <a:ln/>
        </p:spPr>
        <p:txBody>
          <a:bodyPr wrap="square" lIns="0" tIns="0" rIns="0" bIns="0" rtlCol="0" anchor="ctr"/>
          <a:lstStyle/>
          <a:p>
            <a:pPr indent="0" marL="0">
              <a:lnSpc>
                <a:spcPts val="1700"/>
              </a:lnSpc>
              <a:buNone/>
            </a:pPr>
            <a:r>
              <a:rPr lang="en-US" sz="1250" i="1" dirty="0">
                <a:solidFill>
                  <a:srgbClr val="CF4420"/>
                </a:solidFill>
                <a:latin typeface="Calibri" pitchFamily="34" charset="0"/>
                <a:ea typeface="Calibri" pitchFamily="34" charset="-122"/>
                <a:cs typeface="Calibri" pitchFamily="34" charset="-120"/>
              </a:rPr>
              <a:t>The skill: looking things up until you stop needing to.</a:t>
            </a:r>
            <a:endParaRPr lang="en-US" sz="1250" dirty="0"/>
          </a:p>
        </p:txBody>
      </p:sp>
      <p:sp>
        <p:nvSpPr>
          <p:cNvPr id="25" name="Text 23"/>
          <p:cNvSpPr txBox="1"/>
          <p:nvPr/>
        </p:nvSpPr>
        <p:spPr>
          <a:xfrm>
            <a:off x="640080" y="5303520"/>
            <a:ext cx="10911535" cy="548640"/>
          </a:xfrm>
          <a:prstGeom prst="rect">
            <a:avLst/>
          </a:prstGeom>
          <a:noFill/>
          <a:ln/>
        </p:spPr>
        <p:txBody>
          <a:bodyPr wrap="square" lIns="0" tIns="0" rIns="0" bIns="0" rtlCol="0" anchor="t"/>
          <a:lstStyle/>
          <a:p>
            <a:pPr indent="0" marL="0">
              <a:lnSpc>
                <a:spcPts val="2200"/>
              </a:lnSpc>
              <a:buNone/>
            </a:pPr>
            <a:r>
              <a:rPr lang="en-US" sz="1500" dirty="0">
                <a:solidFill>
                  <a:srgbClr val="75787B"/>
                </a:solidFill>
                <a:latin typeface="Calibri" pitchFamily="34" charset="0"/>
                <a:ea typeface="Calibri" pitchFamily="34" charset="-122"/>
                <a:cs typeface="Calibri" pitchFamily="34" charset="-120"/>
              </a:rPr>
              <a:t>Three things, done properly, instead of eight done once. Testing, databases and the rest are real, and they are not this term.</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630031"/>
        </a:solidFill>
      </p:bgPr>
    </p:bg>
    <p:spTree>
      <p:nvGrpSpPr>
        <p:cNvPr id="1" name=""/>
        <p:cNvGrpSpPr/>
        <p:nvPr/>
      </p:nvGrpSpPr>
      <p:grpSpPr>
        <a:xfrm>
          <a:off x="0" y="0"/>
          <a:ext cx="0" cy="0"/>
          <a:chOff x="0" y="0"/>
          <a:chExt cx="0" cy="0"/>
        </a:xfrm>
      </p:grpSpPr>
      <p:sp>
        <p:nvSpPr>
          <p:cNvPr id="2" name="Text 0"/>
          <p:cNvSpPr txBox="1"/>
          <p:nvPr/>
        </p:nvSpPr>
        <p:spPr>
          <a:xfrm>
            <a:off x="640080" y="685800"/>
            <a:ext cx="10911535"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Everything is built from the story</a:t>
            </a:r>
            <a:endParaRPr lang="en-US" sz="3400" dirty="0"/>
          </a:p>
        </p:txBody>
      </p:sp>
      <p:sp>
        <p:nvSpPr>
          <p:cNvPr id="3" name="Text 1"/>
          <p:cNvSpPr txBox="1"/>
          <p:nvPr/>
        </p:nvSpPr>
        <p:spPr>
          <a:xfrm>
            <a:off x="640080" y="1371600"/>
            <a:ext cx="8778240" cy="457200"/>
          </a:xfrm>
          <a:prstGeom prst="rect">
            <a:avLst/>
          </a:prstGeom>
          <a:noFill/>
          <a:ln/>
        </p:spPr>
        <p:txBody>
          <a:bodyPr wrap="square" lIns="0" tIns="0" rIns="0" bIns="0" rtlCol="0" anchor="ctr"/>
          <a:lstStyle/>
          <a:p>
            <a:pPr indent="0" marL="0">
              <a:buNone/>
            </a:pPr>
            <a:r>
              <a:rPr lang="en-US" sz="1500" dirty="0">
                <a:solidFill>
                  <a:srgbClr val="E9C9D6"/>
                </a:solidFill>
                <a:latin typeface="Calibri" pitchFamily="34" charset="0"/>
                <a:ea typeface="Calibri" pitchFamily="34" charset="-122"/>
                <a:cs typeface="Calibri" pitchFamily="34" charset="-120"/>
              </a:rPr>
              <a:t>Change a story and the rest changes with it. That is not a slogan, it is how the tool actually works.</a:t>
            </a:r>
            <a:endParaRPr lang="en-US" sz="1500" dirty="0"/>
          </a:p>
        </p:txBody>
      </p:sp>
      <p:sp>
        <p:nvSpPr>
          <p:cNvPr id="4" name="Shape 2"/>
          <p:cNvSpPr/>
          <p:nvPr/>
        </p:nvSpPr>
        <p:spPr>
          <a:xfrm>
            <a:off x="640080" y="2286000"/>
            <a:ext cx="1948221" cy="868680"/>
          </a:xfrm>
          <a:prstGeom prst="roundRect">
            <a:avLst>
              <a:gd name="adj" fmla="val 10526"/>
            </a:avLst>
          </a:prstGeom>
          <a:solidFill>
            <a:srgbClr val="CF4420"/>
          </a:solidFill>
          <a:ln w="12700">
            <a:solidFill>
              <a:srgbClr val="CF4420"/>
            </a:solidFill>
            <a:prstDash val="solid"/>
          </a:ln>
        </p:spPr>
      </p:sp>
      <p:sp>
        <p:nvSpPr>
          <p:cNvPr id="5" name="Text 3"/>
          <p:cNvSpPr txBox="1"/>
          <p:nvPr/>
        </p:nvSpPr>
        <p:spPr>
          <a:xfrm>
            <a:off x="640080" y="2286000"/>
            <a:ext cx="1948221" cy="8686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Your story</a:t>
            </a:r>
            <a:endParaRPr lang="en-US" sz="1400" dirty="0"/>
          </a:p>
        </p:txBody>
      </p:sp>
      <p:sp>
        <p:nvSpPr>
          <p:cNvPr id="6" name="Text 4"/>
          <p:cNvSpPr txBox="1"/>
          <p:nvPr/>
        </p:nvSpPr>
        <p:spPr>
          <a:xfrm>
            <a:off x="2588301" y="2286000"/>
            <a:ext cx="292608" cy="868680"/>
          </a:xfrm>
          <a:prstGeom prst="rect">
            <a:avLst/>
          </a:prstGeom>
          <a:noFill/>
          <a:ln/>
        </p:spPr>
        <p:txBody>
          <a:bodyPr wrap="square" lIns="0" tIns="0" rIns="0" bIns="0" rtlCol="0" anchor="ctr"/>
          <a:lstStyle/>
          <a:p>
            <a:pPr algn="ctr" indent="0" marL="0">
              <a:buNone/>
            </a:pPr>
            <a:r>
              <a:rPr lang="en-US" sz="1600" dirty="0">
                <a:solidFill>
                  <a:srgbClr val="C79AAF"/>
                </a:solidFill>
                <a:latin typeface="Calibri" pitchFamily="34" charset="0"/>
                <a:ea typeface="Calibri" pitchFamily="34" charset="-122"/>
                <a:cs typeface="Calibri" pitchFamily="34" charset="-120"/>
              </a:rPr>
              <a:t>→</a:t>
            </a:r>
            <a:endParaRPr lang="en-US" sz="1600" dirty="0"/>
          </a:p>
        </p:txBody>
      </p:sp>
      <p:sp>
        <p:nvSpPr>
          <p:cNvPr id="7" name="Shape 5"/>
          <p:cNvSpPr/>
          <p:nvPr/>
        </p:nvSpPr>
        <p:spPr>
          <a:xfrm>
            <a:off x="2880909" y="2286000"/>
            <a:ext cx="1948221" cy="868680"/>
          </a:xfrm>
          <a:prstGeom prst="roundRect">
            <a:avLst>
              <a:gd name="adj" fmla="val 10526"/>
            </a:avLst>
          </a:prstGeom>
          <a:solidFill>
            <a:srgbClr val="4A0025"/>
          </a:solidFill>
          <a:ln w="12700">
            <a:solidFill>
              <a:srgbClr val="7A2049"/>
            </a:solidFill>
            <a:prstDash val="solid"/>
          </a:ln>
        </p:spPr>
      </p:sp>
      <p:sp>
        <p:nvSpPr>
          <p:cNvPr id="8" name="Text 6"/>
          <p:cNvSpPr txBox="1"/>
          <p:nvPr/>
        </p:nvSpPr>
        <p:spPr>
          <a:xfrm>
            <a:off x="2880909" y="2286000"/>
            <a:ext cx="1948221" cy="8686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Test plan</a:t>
            </a:r>
            <a:endParaRPr lang="en-US" sz="1400" dirty="0"/>
          </a:p>
        </p:txBody>
      </p:sp>
      <p:sp>
        <p:nvSpPr>
          <p:cNvPr id="9" name="Text 7"/>
          <p:cNvSpPr txBox="1"/>
          <p:nvPr/>
        </p:nvSpPr>
        <p:spPr>
          <a:xfrm>
            <a:off x="4829129" y="2286000"/>
            <a:ext cx="292608" cy="868680"/>
          </a:xfrm>
          <a:prstGeom prst="rect">
            <a:avLst/>
          </a:prstGeom>
          <a:noFill/>
          <a:ln/>
        </p:spPr>
        <p:txBody>
          <a:bodyPr wrap="square" lIns="0" tIns="0" rIns="0" bIns="0" rtlCol="0" anchor="ctr"/>
          <a:lstStyle/>
          <a:p>
            <a:pPr algn="ctr" indent="0" marL="0">
              <a:buNone/>
            </a:pPr>
            <a:r>
              <a:rPr lang="en-US" sz="1600" dirty="0">
                <a:solidFill>
                  <a:srgbClr val="C79AAF"/>
                </a:solidFill>
                <a:latin typeface="Calibri" pitchFamily="34" charset="0"/>
                <a:ea typeface="Calibri" pitchFamily="34" charset="-122"/>
                <a:cs typeface="Calibri" pitchFamily="34" charset="-120"/>
              </a:rPr>
              <a:t>→</a:t>
            </a:r>
            <a:endParaRPr lang="en-US" sz="1600" dirty="0"/>
          </a:p>
        </p:txBody>
      </p:sp>
      <p:sp>
        <p:nvSpPr>
          <p:cNvPr id="10" name="Shape 8"/>
          <p:cNvSpPr/>
          <p:nvPr/>
        </p:nvSpPr>
        <p:spPr>
          <a:xfrm>
            <a:off x="5121737" y="2286000"/>
            <a:ext cx="1948221" cy="868680"/>
          </a:xfrm>
          <a:prstGeom prst="roundRect">
            <a:avLst>
              <a:gd name="adj" fmla="val 10526"/>
            </a:avLst>
          </a:prstGeom>
          <a:solidFill>
            <a:srgbClr val="4A0025"/>
          </a:solidFill>
          <a:ln w="12700">
            <a:solidFill>
              <a:srgbClr val="7A2049"/>
            </a:solidFill>
            <a:prstDash val="solid"/>
          </a:ln>
        </p:spPr>
      </p:sp>
      <p:sp>
        <p:nvSpPr>
          <p:cNvPr id="11" name="Text 9"/>
          <p:cNvSpPr txBox="1"/>
          <p:nvPr/>
        </p:nvSpPr>
        <p:spPr>
          <a:xfrm>
            <a:off x="5121737" y="2286000"/>
            <a:ext cx="1948221" cy="8686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Build card</a:t>
            </a:r>
            <a:endParaRPr lang="en-US" sz="1400" dirty="0"/>
          </a:p>
        </p:txBody>
      </p:sp>
      <p:sp>
        <p:nvSpPr>
          <p:cNvPr id="12" name="Text 10"/>
          <p:cNvSpPr txBox="1"/>
          <p:nvPr/>
        </p:nvSpPr>
        <p:spPr>
          <a:xfrm>
            <a:off x="7069958" y="2286000"/>
            <a:ext cx="292608" cy="868680"/>
          </a:xfrm>
          <a:prstGeom prst="rect">
            <a:avLst/>
          </a:prstGeom>
          <a:noFill/>
          <a:ln/>
        </p:spPr>
        <p:txBody>
          <a:bodyPr wrap="square" lIns="0" tIns="0" rIns="0" bIns="0" rtlCol="0" anchor="ctr"/>
          <a:lstStyle/>
          <a:p>
            <a:pPr algn="ctr" indent="0" marL="0">
              <a:buNone/>
            </a:pPr>
            <a:r>
              <a:rPr lang="en-US" sz="1600" dirty="0">
                <a:solidFill>
                  <a:srgbClr val="C79AAF"/>
                </a:solidFill>
                <a:latin typeface="Calibri" pitchFamily="34" charset="0"/>
                <a:ea typeface="Calibri" pitchFamily="34" charset="-122"/>
                <a:cs typeface="Calibri" pitchFamily="34" charset="-120"/>
              </a:rPr>
              <a:t>→</a:t>
            </a:r>
            <a:endParaRPr lang="en-US" sz="1600" dirty="0"/>
          </a:p>
        </p:txBody>
      </p:sp>
      <p:sp>
        <p:nvSpPr>
          <p:cNvPr id="13" name="Shape 11"/>
          <p:cNvSpPr/>
          <p:nvPr/>
        </p:nvSpPr>
        <p:spPr>
          <a:xfrm>
            <a:off x="7362566" y="2286000"/>
            <a:ext cx="1948221" cy="868680"/>
          </a:xfrm>
          <a:prstGeom prst="roundRect">
            <a:avLst>
              <a:gd name="adj" fmla="val 10526"/>
            </a:avLst>
          </a:prstGeom>
          <a:solidFill>
            <a:srgbClr val="4A0025"/>
          </a:solidFill>
          <a:ln w="12700">
            <a:solidFill>
              <a:srgbClr val="7A2049"/>
            </a:solidFill>
            <a:prstDash val="solid"/>
          </a:ln>
        </p:spPr>
      </p:sp>
      <p:sp>
        <p:nvSpPr>
          <p:cNvPr id="14" name="Text 12"/>
          <p:cNvSpPr txBox="1"/>
          <p:nvPr/>
        </p:nvSpPr>
        <p:spPr>
          <a:xfrm>
            <a:off x="7362566" y="2286000"/>
            <a:ext cx="1948221" cy="8686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Architecture</a:t>
            </a:r>
            <a:endParaRPr lang="en-US" sz="1400" dirty="0"/>
          </a:p>
        </p:txBody>
      </p:sp>
      <p:sp>
        <p:nvSpPr>
          <p:cNvPr id="15" name="Text 13"/>
          <p:cNvSpPr txBox="1"/>
          <p:nvPr/>
        </p:nvSpPr>
        <p:spPr>
          <a:xfrm>
            <a:off x="9310787" y="2286000"/>
            <a:ext cx="292608" cy="868680"/>
          </a:xfrm>
          <a:prstGeom prst="rect">
            <a:avLst/>
          </a:prstGeom>
          <a:noFill/>
          <a:ln/>
        </p:spPr>
        <p:txBody>
          <a:bodyPr wrap="square" lIns="0" tIns="0" rIns="0" bIns="0" rtlCol="0" anchor="ctr"/>
          <a:lstStyle/>
          <a:p>
            <a:pPr algn="ctr" indent="0" marL="0">
              <a:buNone/>
            </a:pPr>
            <a:r>
              <a:rPr lang="en-US" sz="1600" dirty="0">
                <a:solidFill>
                  <a:srgbClr val="C79AAF"/>
                </a:solidFill>
                <a:latin typeface="Calibri" pitchFamily="34" charset="0"/>
                <a:ea typeface="Calibri" pitchFamily="34" charset="-122"/>
                <a:cs typeface="Calibri" pitchFamily="34" charset="-120"/>
              </a:rPr>
              <a:t>→</a:t>
            </a:r>
            <a:endParaRPr lang="en-US" sz="1600" dirty="0"/>
          </a:p>
        </p:txBody>
      </p:sp>
      <p:sp>
        <p:nvSpPr>
          <p:cNvPr id="16" name="Shape 14"/>
          <p:cNvSpPr/>
          <p:nvPr/>
        </p:nvSpPr>
        <p:spPr>
          <a:xfrm>
            <a:off x="9603395" y="2286000"/>
            <a:ext cx="1948221" cy="868680"/>
          </a:xfrm>
          <a:prstGeom prst="roundRect">
            <a:avLst>
              <a:gd name="adj" fmla="val 10526"/>
            </a:avLst>
          </a:prstGeom>
          <a:solidFill>
            <a:srgbClr val="4A0025"/>
          </a:solidFill>
          <a:ln w="12700">
            <a:solidFill>
              <a:srgbClr val="7A2049"/>
            </a:solidFill>
            <a:prstDash val="solid"/>
          </a:ln>
        </p:spPr>
      </p:sp>
      <p:sp>
        <p:nvSpPr>
          <p:cNvPr id="17" name="Text 15"/>
          <p:cNvSpPr txBox="1"/>
          <p:nvPr/>
        </p:nvSpPr>
        <p:spPr>
          <a:xfrm>
            <a:off x="9603395" y="2286000"/>
            <a:ext cx="1948221" cy="8686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Code</a:t>
            </a:r>
            <a:endParaRPr lang="en-US" sz="1400" dirty="0"/>
          </a:p>
        </p:txBody>
      </p:sp>
      <p:sp>
        <p:nvSpPr>
          <p:cNvPr id="18" name="Text 16"/>
          <p:cNvSpPr txBox="1"/>
          <p:nvPr/>
        </p:nvSpPr>
        <p:spPr>
          <a:xfrm>
            <a:off x="640080" y="3154680"/>
            <a:ext cx="1948221" cy="365760"/>
          </a:xfrm>
          <a:prstGeom prst="rect">
            <a:avLst/>
          </a:prstGeom>
          <a:noFill/>
          <a:ln/>
        </p:spPr>
        <p:txBody>
          <a:bodyPr wrap="square" lIns="0" tIns="0" rIns="0" bIns="0" rtlCol="0" anchor="ctr"/>
          <a:lstStyle/>
          <a:p>
            <a:pPr algn="ctr" indent="0" marL="0">
              <a:buNone/>
            </a:pPr>
            <a:r>
              <a:rPr lang="en-US" sz="1500" dirty="0">
                <a:solidFill>
                  <a:srgbClr val="C79AAF"/>
                </a:solidFill>
                <a:latin typeface="Calibri" pitchFamily="34" charset="0"/>
                <a:ea typeface="Calibri" pitchFamily="34" charset="-122"/>
                <a:cs typeface="Calibri" pitchFamily="34" charset="-120"/>
              </a:rPr>
              <a:t>↓</a:t>
            </a:r>
            <a:endParaRPr lang="en-US" sz="1500" dirty="0"/>
          </a:p>
        </p:txBody>
      </p:sp>
      <p:sp>
        <p:nvSpPr>
          <p:cNvPr id="19" name="Shape 17"/>
          <p:cNvSpPr/>
          <p:nvPr/>
        </p:nvSpPr>
        <p:spPr>
          <a:xfrm>
            <a:off x="640080" y="3566160"/>
            <a:ext cx="1948221" cy="868680"/>
          </a:xfrm>
          <a:prstGeom prst="roundRect">
            <a:avLst>
              <a:gd name="adj" fmla="val 10526"/>
            </a:avLst>
          </a:prstGeom>
          <a:solidFill>
            <a:srgbClr val="4A0025"/>
          </a:solidFill>
          <a:ln w="12700">
            <a:solidFill>
              <a:srgbClr val="7A2049"/>
            </a:solidFill>
            <a:prstDash val="solid"/>
          </a:ln>
        </p:spPr>
      </p:sp>
      <p:sp>
        <p:nvSpPr>
          <p:cNvPr id="20" name="Text 18"/>
          <p:cNvSpPr txBox="1"/>
          <p:nvPr/>
        </p:nvSpPr>
        <p:spPr>
          <a:xfrm>
            <a:off x="640080" y="3566160"/>
            <a:ext cx="1948221" cy="8686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Prototype</a:t>
            </a:r>
            <a:endParaRPr lang="en-US" sz="1400" dirty="0"/>
          </a:p>
        </p:txBody>
      </p:sp>
      <p:sp>
        <p:nvSpPr>
          <p:cNvPr id="21" name="Text 19"/>
          <p:cNvSpPr txBox="1"/>
          <p:nvPr/>
        </p:nvSpPr>
        <p:spPr>
          <a:xfrm>
            <a:off x="7362566" y="3154680"/>
            <a:ext cx="1948221" cy="365760"/>
          </a:xfrm>
          <a:prstGeom prst="rect">
            <a:avLst/>
          </a:prstGeom>
          <a:noFill/>
          <a:ln/>
        </p:spPr>
        <p:txBody>
          <a:bodyPr wrap="square" lIns="0" tIns="0" rIns="0" bIns="0" rtlCol="0" anchor="ctr"/>
          <a:lstStyle/>
          <a:p>
            <a:pPr algn="ctr" indent="0" marL="0">
              <a:buNone/>
            </a:pPr>
            <a:r>
              <a:rPr lang="en-US" sz="1500" dirty="0">
                <a:solidFill>
                  <a:srgbClr val="C79AAF"/>
                </a:solidFill>
                <a:latin typeface="Calibri" pitchFamily="34" charset="0"/>
                <a:ea typeface="Calibri" pitchFamily="34" charset="-122"/>
                <a:cs typeface="Calibri" pitchFamily="34" charset="-120"/>
              </a:rPr>
              <a:t>↓</a:t>
            </a:r>
            <a:endParaRPr lang="en-US" sz="1500" dirty="0"/>
          </a:p>
        </p:txBody>
      </p:sp>
      <p:sp>
        <p:nvSpPr>
          <p:cNvPr id="22" name="Shape 20"/>
          <p:cNvSpPr/>
          <p:nvPr/>
        </p:nvSpPr>
        <p:spPr>
          <a:xfrm>
            <a:off x="7362566" y="3566160"/>
            <a:ext cx="1948221" cy="868680"/>
          </a:xfrm>
          <a:prstGeom prst="roundRect">
            <a:avLst>
              <a:gd name="adj" fmla="val 10526"/>
            </a:avLst>
          </a:prstGeom>
          <a:solidFill>
            <a:srgbClr val="4A0025"/>
          </a:solidFill>
          <a:ln w="12700">
            <a:solidFill>
              <a:srgbClr val="7A2049"/>
            </a:solidFill>
            <a:prstDash val="solid"/>
          </a:ln>
        </p:spPr>
      </p:sp>
      <p:sp>
        <p:nvSpPr>
          <p:cNvPr id="23" name="Text 21"/>
          <p:cNvSpPr txBox="1"/>
          <p:nvPr/>
        </p:nvSpPr>
        <p:spPr>
          <a:xfrm>
            <a:off x="7362566" y="3566160"/>
            <a:ext cx="1948221" cy="8686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Design brief</a:t>
            </a:r>
            <a:endParaRPr lang="en-US" sz="1400" dirty="0"/>
          </a:p>
        </p:txBody>
      </p:sp>
      <p:sp>
        <p:nvSpPr>
          <p:cNvPr id="24" name="Shape 22"/>
          <p:cNvSpPr/>
          <p:nvPr/>
        </p:nvSpPr>
        <p:spPr>
          <a:xfrm>
            <a:off x="9603395" y="3566160"/>
            <a:ext cx="1948221" cy="868680"/>
          </a:xfrm>
          <a:prstGeom prst="roundRect">
            <a:avLst>
              <a:gd name="adj" fmla="val 10526"/>
            </a:avLst>
          </a:prstGeom>
          <a:solidFill>
            <a:srgbClr val="4A0025"/>
          </a:solidFill>
          <a:ln w="12700">
            <a:solidFill>
              <a:srgbClr val="7A2049"/>
            </a:solidFill>
            <a:prstDash val="solid"/>
          </a:ln>
        </p:spPr>
      </p:sp>
      <p:sp>
        <p:nvSpPr>
          <p:cNvPr id="25" name="Text 23"/>
          <p:cNvSpPr txBox="1"/>
          <p:nvPr/>
        </p:nvSpPr>
        <p:spPr>
          <a:xfrm>
            <a:off x="9603395" y="3566160"/>
            <a:ext cx="1948221" cy="8686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Figma</a:t>
            </a:r>
            <a:endParaRPr lang="en-US" sz="1400" dirty="0"/>
          </a:p>
        </p:txBody>
      </p:sp>
      <p:sp>
        <p:nvSpPr>
          <p:cNvPr id="26" name="Text 24"/>
          <p:cNvSpPr txBox="1"/>
          <p:nvPr/>
        </p:nvSpPr>
        <p:spPr>
          <a:xfrm>
            <a:off x="9310787" y="3566160"/>
            <a:ext cx="292608" cy="868680"/>
          </a:xfrm>
          <a:prstGeom prst="rect">
            <a:avLst/>
          </a:prstGeom>
          <a:noFill/>
          <a:ln/>
        </p:spPr>
        <p:txBody>
          <a:bodyPr wrap="square" lIns="0" tIns="0" rIns="0" bIns="0" rtlCol="0" anchor="ctr"/>
          <a:lstStyle/>
          <a:p>
            <a:pPr algn="ctr" indent="0" marL="0">
              <a:buNone/>
            </a:pPr>
            <a:r>
              <a:rPr lang="en-US" sz="1600" dirty="0">
                <a:solidFill>
                  <a:srgbClr val="C79AAF"/>
                </a:solidFill>
                <a:latin typeface="Calibri" pitchFamily="34" charset="0"/>
                <a:ea typeface="Calibri" pitchFamily="34" charset="-122"/>
                <a:cs typeface="Calibri" pitchFamily="34" charset="-120"/>
              </a:rPr>
              <a:t>→</a:t>
            </a:r>
            <a:endParaRPr lang="en-US" sz="1600" dirty="0"/>
          </a:p>
        </p:txBody>
      </p:sp>
      <p:sp>
        <p:nvSpPr>
          <p:cNvPr id="27" name="Text 25"/>
          <p:cNvSpPr txBox="1"/>
          <p:nvPr/>
        </p:nvSpPr>
        <p:spPr>
          <a:xfrm>
            <a:off x="640080" y="4892040"/>
            <a:ext cx="10911535" cy="457200"/>
          </a:xfrm>
          <a:prstGeom prst="rect">
            <a:avLst/>
          </a:prstGeom>
          <a:noFill/>
          <a:ln/>
        </p:spPr>
        <p:txBody>
          <a:bodyPr wrap="square" lIns="0" tIns="0" rIns="0" bIns="0" rtlCol="0" anchor="ctr"/>
          <a:lstStyle/>
          <a:p>
            <a:pPr indent="0" marL="0">
              <a:buNone/>
            </a:pPr>
            <a:r>
              <a:rPr lang="en-US" sz="1600" i="1" dirty="0">
                <a:solidFill>
                  <a:srgbClr val="EBD9E1"/>
                </a:solidFill>
                <a:latin typeface="Calibri" pitchFamily="34" charset="0"/>
                <a:ea typeface="Calibri" pitchFamily="34" charset="-122"/>
                <a:cs typeface="Calibri" pitchFamily="34" charset="-120"/>
              </a:rPr>
              <a:t>One sentence, five documents, two of which you never have to write.</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4A0025"/>
        </a:solidFill>
      </p:bgPr>
    </p:bg>
    <p:spTree>
      <p:nvGrpSpPr>
        <p:cNvPr id="1" name=""/>
        <p:cNvGrpSpPr/>
        <p:nvPr/>
      </p:nvGrpSpPr>
      <p:grpSpPr>
        <a:xfrm>
          <a:off x="0" y="0"/>
          <a:ext cx="0" cy="0"/>
          <a:chOff x="0" y="0"/>
          <a:chExt cx="0" cy="0"/>
        </a:xfrm>
      </p:grpSpPr>
      <p:sp>
        <p:nvSpPr>
          <p:cNvPr id="2" name="Shape 0"/>
          <p:cNvSpPr/>
          <p:nvPr/>
        </p:nvSpPr>
        <p:spPr>
          <a:xfrm>
            <a:off x="9418320" y="1371600"/>
            <a:ext cx="4023360" cy="4023360"/>
          </a:xfrm>
          <a:prstGeom prst="ellipse">
            <a:avLst/>
          </a:prstGeom>
          <a:solidFill>
            <a:srgbClr val="630031"/>
          </a:solidFill>
          <a:ln w="12700">
            <a:solidFill>
              <a:srgbClr val="333333"/>
            </a:solidFill>
            <a:prstDash val="solid"/>
          </a:ln>
        </p:spPr>
      </p:sp>
      <p:sp>
        <p:nvSpPr>
          <p:cNvPr id="3" name="Text 1"/>
          <p:cNvSpPr txBox="1"/>
          <p:nvPr/>
        </p:nvSpPr>
        <p:spPr>
          <a:xfrm>
            <a:off x="640080" y="1965960"/>
            <a:ext cx="2743200" cy="1280160"/>
          </a:xfrm>
          <a:prstGeom prst="rect">
            <a:avLst/>
          </a:prstGeom>
          <a:noFill/>
          <a:ln/>
        </p:spPr>
        <p:txBody>
          <a:bodyPr wrap="square" lIns="0" tIns="0" rIns="0" bIns="0" rtlCol="0" anchor="ctr"/>
          <a:lstStyle/>
          <a:p>
            <a:pPr indent="0" marL="0">
              <a:buNone/>
            </a:pPr>
            <a:r>
              <a:rPr lang="en-US" sz="7200" b="1" dirty="0">
                <a:solidFill>
                  <a:srgbClr val="CF4420"/>
                </a:solidFill>
                <a:latin typeface="Cambria" pitchFamily="34" charset="0"/>
                <a:ea typeface="Cambria" pitchFamily="34" charset="-122"/>
                <a:cs typeface="Cambria" pitchFamily="34" charset="-120"/>
              </a:rPr>
              <a:t>01</a:t>
            </a:r>
            <a:endParaRPr lang="en-US" sz="7200" dirty="0"/>
          </a:p>
        </p:txBody>
      </p:sp>
      <p:sp>
        <p:nvSpPr>
          <p:cNvPr id="4" name="Text 2"/>
          <p:cNvSpPr txBox="1"/>
          <p:nvPr/>
        </p:nvSpPr>
        <p:spPr>
          <a:xfrm>
            <a:off x="640080" y="3200400"/>
            <a:ext cx="7315200" cy="86868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Write it</a:t>
            </a:r>
            <a:endParaRPr lang="en-US" sz="4400" dirty="0"/>
          </a:p>
        </p:txBody>
      </p:sp>
      <p:sp>
        <p:nvSpPr>
          <p:cNvPr id="5" name="Text 3"/>
          <p:cNvSpPr txBox="1"/>
          <p:nvPr/>
        </p:nvSpPr>
        <p:spPr>
          <a:xfrm>
            <a:off x="640080" y="4114800"/>
            <a:ext cx="7498080" cy="548640"/>
          </a:xfrm>
          <a:prstGeom prst="rect">
            <a:avLst/>
          </a:prstGeom>
          <a:noFill/>
          <a:ln/>
        </p:spPr>
        <p:txBody>
          <a:bodyPr wrap="square" lIns="0" tIns="0" rIns="0" bIns="0" rtlCol="0" anchor="ctr"/>
          <a:lstStyle/>
          <a:p>
            <a:pPr indent="0" marL="0">
              <a:buNone/>
            </a:pPr>
            <a:r>
              <a:rPr lang="en-US" sz="1600" dirty="0">
                <a:solidFill>
                  <a:srgbClr val="E9C9D6"/>
                </a:solidFill>
                <a:latin typeface="Calibri" pitchFamily="34" charset="0"/>
                <a:ea typeface="Calibri" pitchFamily="34" charset="-122"/>
                <a:cs typeface="Calibri" pitchFamily="34" charset="-120"/>
              </a:rPr>
              <a:t>The user story, and the thing it turns into while you are still typing.</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F1"/>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56032"/>
          </a:xfrm>
          <a:prstGeom prst="rect">
            <a:avLst/>
          </a:prstGeom>
          <a:noFill/>
          <a:ln/>
        </p:spPr>
        <p:txBody>
          <a:bodyPr wrap="square" lIns="0" tIns="0" rIns="0" bIns="0" rtlCol="0" anchor="ctr"/>
          <a:lstStyle/>
          <a:p>
            <a:pPr indent="0" marL="0">
              <a:buNone/>
            </a:pPr>
            <a:r>
              <a:rPr lang="en-US" sz="1200" b="1" spc="200" kern="0" dirty="0">
                <a:solidFill>
                  <a:srgbClr val="CF4420"/>
                </a:solidFill>
                <a:latin typeface="Calibri" pitchFamily="34" charset="0"/>
                <a:ea typeface="Calibri" pitchFamily="34" charset="-122"/>
                <a:cs typeface="Calibri" pitchFamily="34" charset="-120"/>
              </a:rPr>
              <a:t>THE SHAPE</a:t>
            </a:r>
            <a:endParaRPr lang="en-US" sz="1200" dirty="0"/>
          </a:p>
        </p:txBody>
      </p:sp>
      <p:sp>
        <p:nvSpPr>
          <p:cNvPr id="3" name="Text 1"/>
          <p:cNvSpPr txBox="1"/>
          <p:nvPr/>
        </p:nvSpPr>
        <p:spPr>
          <a:xfrm>
            <a:off x="640080" y="658368"/>
            <a:ext cx="10911535" cy="777240"/>
          </a:xfrm>
          <a:prstGeom prst="rect">
            <a:avLst/>
          </a:prstGeom>
          <a:noFill/>
          <a:ln/>
        </p:spPr>
        <p:txBody>
          <a:bodyPr wrap="square" lIns="0" tIns="0" rIns="0" bIns="0" rtlCol="0" anchor="t"/>
          <a:lstStyle/>
          <a:p>
            <a:pPr indent="0" marL="0">
              <a:buNone/>
            </a:pPr>
            <a:r>
              <a:rPr lang="en-US" sz="3400" b="1" dirty="0">
                <a:solidFill>
                  <a:srgbClr val="630031"/>
                </a:solidFill>
                <a:latin typeface="Cambria" pitchFamily="34" charset="0"/>
                <a:ea typeface="Cambria" pitchFamily="34" charset="-122"/>
                <a:cs typeface="Cambria" pitchFamily="34" charset="-120"/>
              </a:rPr>
              <a:t>A story has three parts</a:t>
            </a:r>
            <a:endParaRPr lang="en-US" sz="3400" dirty="0"/>
          </a:p>
        </p:txBody>
      </p:sp>
      <p:sp>
        <p:nvSpPr>
          <p:cNvPr id="4" name="Shape 2"/>
          <p:cNvSpPr/>
          <p:nvPr/>
        </p:nvSpPr>
        <p:spPr>
          <a:xfrm>
            <a:off x="640080" y="1783080"/>
            <a:ext cx="3417722" cy="3200400"/>
          </a:xfrm>
          <a:prstGeom prst="roundRect">
            <a:avLst>
              <a:gd name="adj" fmla="val 2571"/>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5" name="Text 3"/>
          <p:cNvSpPr txBox="1"/>
          <p:nvPr/>
        </p:nvSpPr>
        <p:spPr>
          <a:xfrm>
            <a:off x="932688" y="2011680"/>
            <a:ext cx="2832506" cy="365760"/>
          </a:xfrm>
          <a:prstGeom prst="rect">
            <a:avLst/>
          </a:prstGeom>
          <a:noFill/>
          <a:ln/>
        </p:spPr>
        <p:txBody>
          <a:bodyPr wrap="square" lIns="0" tIns="0" rIns="0" bIns="0" rtlCol="0" anchor="ctr"/>
          <a:lstStyle/>
          <a:p>
            <a:pPr indent="0" marL="0">
              <a:buNone/>
            </a:pPr>
            <a:r>
              <a:rPr lang="en-US" sz="1900" b="1" dirty="0">
                <a:solidFill>
                  <a:srgbClr val="630031"/>
                </a:solidFill>
                <a:latin typeface="Cambria" pitchFamily="34" charset="0"/>
                <a:ea typeface="Cambria" pitchFamily="34" charset="-122"/>
                <a:cs typeface="Cambria" pitchFamily="34" charset="-120"/>
              </a:rPr>
              <a:t>Narrative</a:t>
            </a:r>
            <a:endParaRPr lang="en-US" sz="1900" dirty="0"/>
          </a:p>
        </p:txBody>
      </p:sp>
      <p:sp>
        <p:nvSpPr>
          <p:cNvPr id="6" name="Text 4"/>
          <p:cNvSpPr txBox="1"/>
          <p:nvPr/>
        </p:nvSpPr>
        <p:spPr>
          <a:xfrm>
            <a:off x="932688" y="2395728"/>
            <a:ext cx="2832506" cy="566928"/>
          </a:xfrm>
          <a:prstGeom prst="rect">
            <a:avLst/>
          </a:prstGeom>
          <a:noFill/>
          <a:ln/>
        </p:spPr>
        <p:txBody>
          <a:bodyPr wrap="square" lIns="0" tIns="0" rIns="0" bIns="0" rtlCol="0" anchor="ctr"/>
          <a:lstStyle/>
          <a:p>
            <a:pPr indent="0" marL="0">
              <a:lnSpc>
                <a:spcPts val="1700"/>
              </a:lnSpc>
              <a:buNone/>
            </a:pPr>
            <a:r>
              <a:rPr lang="en-US" sz="1300" dirty="0">
                <a:solidFill>
                  <a:srgbClr val="75787B"/>
                </a:solidFill>
                <a:latin typeface="Calibri" pitchFamily="34" charset="0"/>
                <a:ea typeface="Calibri" pitchFamily="34" charset="-122"/>
                <a:cs typeface="Calibri" pitchFamily="34" charset="-120"/>
              </a:rPr>
              <a:t>One sentence, in three pieces.</a:t>
            </a:r>
            <a:endParaRPr lang="en-US" sz="1300" dirty="0"/>
          </a:p>
        </p:txBody>
      </p:sp>
      <p:sp>
        <p:nvSpPr>
          <p:cNvPr id="7" name="Shape 5"/>
          <p:cNvSpPr/>
          <p:nvPr/>
        </p:nvSpPr>
        <p:spPr>
          <a:xfrm>
            <a:off x="932688" y="3035808"/>
            <a:ext cx="2832506" cy="1691640"/>
          </a:xfrm>
          <a:prstGeom prst="roundRect">
            <a:avLst>
              <a:gd name="adj" fmla="val 3784"/>
            </a:avLst>
          </a:prstGeom>
          <a:solidFill>
            <a:srgbClr val="F0EBE4"/>
          </a:solidFill>
          <a:ln w="12700">
            <a:solidFill>
              <a:srgbClr val="333333"/>
            </a:solidFill>
            <a:prstDash val="solid"/>
          </a:ln>
        </p:spPr>
      </p:sp>
      <p:sp>
        <p:nvSpPr>
          <p:cNvPr id="8" name="Text 6"/>
          <p:cNvSpPr txBox="1"/>
          <p:nvPr/>
        </p:nvSpPr>
        <p:spPr>
          <a:xfrm>
            <a:off x="1097280" y="3163824"/>
            <a:ext cx="2503322" cy="1463040"/>
          </a:xfrm>
          <a:prstGeom prst="rect">
            <a:avLst/>
          </a:prstGeom>
          <a:noFill/>
          <a:ln/>
        </p:spPr>
        <p:txBody>
          <a:bodyPr wrap="square" lIns="0" tIns="0" rIns="0" bIns="0" rtlCol="0" anchor="ctr"/>
          <a:lstStyle/>
          <a:p>
            <a:pPr indent="0" marL="0">
              <a:lnSpc>
                <a:spcPts val="1600"/>
              </a:lnSpc>
              <a:buNone/>
            </a:pPr>
            <a:r>
              <a:rPr lang="en-US" sz="1200" dirty="0">
                <a:solidFill>
                  <a:srgbClr val="1C1A19"/>
                </a:solidFill>
                <a:latin typeface="Calibri" pitchFamily="34" charset="0"/>
                <a:ea typeface="Calibri" pitchFamily="34" charset="-122"/>
                <a:cs typeface="Calibri" pitchFamily="34" charset="-120"/>
              </a:rPr>
              <a:t>As a teacher,</a:t>
            </a:r>
            <a:endParaRPr lang="en-US" sz="1200" dirty="0"/>
          </a:p>
          <a:p>
            <a:pPr indent="0" marL="0">
              <a:lnSpc>
                <a:spcPts val="1600"/>
              </a:lnSpc>
              <a:buNone/>
            </a:pPr>
            <a:r>
              <a:rPr lang="en-US" sz="1200" dirty="0">
                <a:solidFill>
                  <a:srgbClr val="1C1A19"/>
                </a:solidFill>
                <a:latin typeface="Calibri" pitchFamily="34" charset="0"/>
                <a:ea typeface="Calibri" pitchFamily="34" charset="-122"/>
                <a:cs typeface="Calibri" pitchFamily="34" charset="-120"/>
              </a:rPr>
              <a:t>I want to add points to a house,</a:t>
            </a:r>
            <a:endParaRPr lang="en-US" sz="1200" dirty="0"/>
          </a:p>
          <a:p>
            <a:pPr indent="0" marL="0">
              <a:lnSpc>
                <a:spcPts val="1600"/>
              </a:lnSpc>
              <a:buNone/>
            </a:pPr>
            <a:r>
              <a:rPr lang="en-US" sz="1200" dirty="0">
                <a:solidFill>
                  <a:srgbClr val="1C1A19"/>
                </a:solidFill>
                <a:latin typeface="Calibri" pitchFamily="34" charset="0"/>
                <a:ea typeface="Calibri" pitchFamily="34" charset="-122"/>
                <a:cs typeface="Calibri" pitchFamily="34" charset="-120"/>
              </a:rPr>
              <a:t>so that students can see their house going up during the week.</a:t>
            </a:r>
            <a:endParaRPr lang="en-US" sz="1200" dirty="0"/>
          </a:p>
        </p:txBody>
      </p:sp>
      <p:sp>
        <p:nvSpPr>
          <p:cNvPr id="9" name="Shape 7"/>
          <p:cNvSpPr/>
          <p:nvPr/>
        </p:nvSpPr>
        <p:spPr>
          <a:xfrm>
            <a:off x="4386986" y="1783080"/>
            <a:ext cx="3417722" cy="3200400"/>
          </a:xfrm>
          <a:prstGeom prst="roundRect">
            <a:avLst>
              <a:gd name="adj" fmla="val 2571"/>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0" name="Text 8"/>
          <p:cNvSpPr txBox="1"/>
          <p:nvPr/>
        </p:nvSpPr>
        <p:spPr>
          <a:xfrm>
            <a:off x="4679594" y="2011680"/>
            <a:ext cx="2832506" cy="365760"/>
          </a:xfrm>
          <a:prstGeom prst="rect">
            <a:avLst/>
          </a:prstGeom>
          <a:noFill/>
          <a:ln/>
        </p:spPr>
        <p:txBody>
          <a:bodyPr wrap="square" lIns="0" tIns="0" rIns="0" bIns="0" rtlCol="0" anchor="ctr"/>
          <a:lstStyle/>
          <a:p>
            <a:pPr indent="0" marL="0">
              <a:buNone/>
            </a:pPr>
            <a:r>
              <a:rPr lang="en-US" sz="1900" b="1" dirty="0">
                <a:solidFill>
                  <a:srgbClr val="630031"/>
                </a:solidFill>
                <a:latin typeface="Cambria" pitchFamily="34" charset="0"/>
                <a:ea typeface="Cambria" pitchFamily="34" charset="-122"/>
                <a:cs typeface="Cambria" pitchFamily="34" charset="-120"/>
              </a:rPr>
              <a:t>Acceptance criteria</a:t>
            </a:r>
            <a:endParaRPr lang="en-US" sz="1900" dirty="0"/>
          </a:p>
        </p:txBody>
      </p:sp>
      <p:sp>
        <p:nvSpPr>
          <p:cNvPr id="11" name="Text 9"/>
          <p:cNvSpPr txBox="1"/>
          <p:nvPr/>
        </p:nvSpPr>
        <p:spPr>
          <a:xfrm>
            <a:off x="4679594" y="2395728"/>
            <a:ext cx="2832506" cy="566928"/>
          </a:xfrm>
          <a:prstGeom prst="rect">
            <a:avLst/>
          </a:prstGeom>
          <a:noFill/>
          <a:ln/>
        </p:spPr>
        <p:txBody>
          <a:bodyPr wrap="square" lIns="0" tIns="0" rIns="0" bIns="0" rtlCol="0" anchor="ctr"/>
          <a:lstStyle/>
          <a:p>
            <a:pPr indent="0" marL="0">
              <a:lnSpc>
                <a:spcPts val="1700"/>
              </a:lnSpc>
              <a:buNone/>
            </a:pPr>
            <a:r>
              <a:rPr lang="en-US" sz="1300" dirty="0">
                <a:solidFill>
                  <a:srgbClr val="75787B"/>
                </a:solidFill>
                <a:latin typeface="Calibri" pitchFamily="34" charset="0"/>
                <a:ea typeface="Calibri" pitchFamily="34" charset="-122"/>
                <a:cs typeface="Calibri" pitchFamily="34" charset="-120"/>
              </a:rPr>
              <a:t>Your finish line. Things somebody could check by looking.</a:t>
            </a:r>
            <a:endParaRPr lang="en-US" sz="1300" dirty="0"/>
          </a:p>
        </p:txBody>
      </p:sp>
      <p:sp>
        <p:nvSpPr>
          <p:cNvPr id="12" name="Shape 10"/>
          <p:cNvSpPr/>
          <p:nvPr/>
        </p:nvSpPr>
        <p:spPr>
          <a:xfrm>
            <a:off x="4679594" y="3035808"/>
            <a:ext cx="2832506" cy="1691640"/>
          </a:xfrm>
          <a:prstGeom prst="roundRect">
            <a:avLst>
              <a:gd name="adj" fmla="val 3784"/>
            </a:avLst>
          </a:prstGeom>
          <a:solidFill>
            <a:srgbClr val="F0EBE4"/>
          </a:solidFill>
          <a:ln w="12700">
            <a:solidFill>
              <a:srgbClr val="333333"/>
            </a:solidFill>
            <a:prstDash val="solid"/>
          </a:ln>
        </p:spPr>
      </p:sp>
      <p:sp>
        <p:nvSpPr>
          <p:cNvPr id="13" name="Text 11"/>
          <p:cNvSpPr txBox="1"/>
          <p:nvPr/>
        </p:nvSpPr>
        <p:spPr>
          <a:xfrm>
            <a:off x="4844186" y="3163824"/>
            <a:ext cx="2503322" cy="1463040"/>
          </a:xfrm>
          <a:prstGeom prst="rect">
            <a:avLst/>
          </a:prstGeom>
          <a:noFill/>
          <a:ln/>
        </p:spPr>
        <p:txBody>
          <a:bodyPr wrap="square" lIns="0" tIns="0" rIns="0" bIns="0" rtlCol="0" anchor="ctr"/>
          <a:lstStyle/>
          <a:p>
            <a:pPr indent="0" marL="0">
              <a:lnSpc>
                <a:spcPts val="1600"/>
              </a:lnSpc>
              <a:buNone/>
            </a:pPr>
            <a:r>
              <a:rPr lang="en-US" sz="1200" dirty="0">
                <a:solidFill>
                  <a:srgbClr val="1C1A19"/>
                </a:solidFill>
                <a:latin typeface="Calibri" pitchFamily="34" charset="0"/>
                <a:ea typeface="Calibri" pitchFamily="34" charset="-122"/>
                <a:cs typeface="Calibri" pitchFamily="34" charset="-120"/>
              </a:rPr>
              <a:t>•  A teacher can add up to 50 points at a time</a:t>
            </a:r>
            <a:endParaRPr lang="en-US" sz="1200" dirty="0"/>
          </a:p>
          <a:p>
            <a:pPr indent="0" marL="0">
              <a:lnSpc>
                <a:spcPts val="1600"/>
              </a:lnSpc>
              <a:buNone/>
            </a:pPr>
            <a:r>
              <a:rPr lang="en-US" sz="1200" dirty="0">
                <a:solidFill>
                  <a:srgbClr val="1C1A19"/>
                </a:solidFill>
                <a:latin typeface="Calibri" pitchFamily="34" charset="0"/>
                <a:ea typeface="Calibri" pitchFamily="34" charset="-122"/>
                <a:cs typeface="Calibri" pitchFamily="34" charset="-120"/>
              </a:rPr>
              <a:t>•  The scoreboard updates straight away</a:t>
            </a:r>
            <a:endParaRPr lang="en-US" sz="1200" dirty="0"/>
          </a:p>
        </p:txBody>
      </p:sp>
      <p:sp>
        <p:nvSpPr>
          <p:cNvPr id="14" name="Shape 12"/>
          <p:cNvSpPr/>
          <p:nvPr/>
        </p:nvSpPr>
        <p:spPr>
          <a:xfrm>
            <a:off x="8133893" y="1783080"/>
            <a:ext cx="3417722" cy="3200400"/>
          </a:xfrm>
          <a:prstGeom prst="roundRect">
            <a:avLst>
              <a:gd name="adj" fmla="val 2571"/>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5" name="Text 13"/>
          <p:cNvSpPr txBox="1"/>
          <p:nvPr/>
        </p:nvSpPr>
        <p:spPr>
          <a:xfrm>
            <a:off x="8426501" y="2011680"/>
            <a:ext cx="2832506" cy="365760"/>
          </a:xfrm>
          <a:prstGeom prst="rect">
            <a:avLst/>
          </a:prstGeom>
          <a:noFill/>
          <a:ln/>
        </p:spPr>
        <p:txBody>
          <a:bodyPr wrap="square" lIns="0" tIns="0" rIns="0" bIns="0" rtlCol="0" anchor="ctr"/>
          <a:lstStyle/>
          <a:p>
            <a:pPr indent="0" marL="0">
              <a:buNone/>
            </a:pPr>
            <a:r>
              <a:rPr lang="en-US" sz="1900" b="1" dirty="0">
                <a:solidFill>
                  <a:srgbClr val="630031"/>
                </a:solidFill>
                <a:latin typeface="Cambria" pitchFamily="34" charset="0"/>
                <a:ea typeface="Cambria" pitchFamily="34" charset="-122"/>
                <a:cs typeface="Cambria" pitchFamily="34" charset="-120"/>
              </a:rPr>
              <a:t>Scenarios</a:t>
            </a:r>
            <a:endParaRPr lang="en-US" sz="1900" dirty="0"/>
          </a:p>
        </p:txBody>
      </p:sp>
      <p:sp>
        <p:nvSpPr>
          <p:cNvPr id="16" name="Text 14"/>
          <p:cNvSpPr txBox="1"/>
          <p:nvPr/>
        </p:nvSpPr>
        <p:spPr>
          <a:xfrm>
            <a:off x="8426501" y="2395728"/>
            <a:ext cx="2832506" cy="566928"/>
          </a:xfrm>
          <a:prstGeom prst="rect">
            <a:avLst/>
          </a:prstGeom>
          <a:noFill/>
          <a:ln/>
        </p:spPr>
        <p:txBody>
          <a:bodyPr wrap="square" lIns="0" tIns="0" rIns="0" bIns="0" rtlCol="0" anchor="ctr"/>
          <a:lstStyle/>
          <a:p>
            <a:pPr indent="0" marL="0">
              <a:lnSpc>
                <a:spcPts val="1700"/>
              </a:lnSpc>
              <a:buNone/>
            </a:pPr>
            <a:r>
              <a:rPr lang="en-US" sz="1300" dirty="0">
                <a:solidFill>
                  <a:srgbClr val="75787B"/>
                </a:solidFill>
                <a:latin typeface="Calibri" pitchFamily="34" charset="0"/>
                <a:ea typeface="Calibri" pitchFamily="34" charset="-122"/>
                <a:cs typeface="Calibri" pitchFamily="34" charset="-120"/>
              </a:rPr>
              <a:t>One story of one time somebody uses it.</a:t>
            </a:r>
            <a:endParaRPr lang="en-US" sz="1300" dirty="0"/>
          </a:p>
        </p:txBody>
      </p:sp>
      <p:sp>
        <p:nvSpPr>
          <p:cNvPr id="17" name="Shape 15"/>
          <p:cNvSpPr/>
          <p:nvPr/>
        </p:nvSpPr>
        <p:spPr>
          <a:xfrm>
            <a:off x="8426501" y="3035808"/>
            <a:ext cx="2832506" cy="1691640"/>
          </a:xfrm>
          <a:prstGeom prst="roundRect">
            <a:avLst>
              <a:gd name="adj" fmla="val 3784"/>
            </a:avLst>
          </a:prstGeom>
          <a:solidFill>
            <a:srgbClr val="F0EBE4"/>
          </a:solidFill>
          <a:ln w="12700">
            <a:solidFill>
              <a:srgbClr val="333333"/>
            </a:solidFill>
            <a:prstDash val="solid"/>
          </a:ln>
        </p:spPr>
      </p:sp>
      <p:sp>
        <p:nvSpPr>
          <p:cNvPr id="18" name="Text 16"/>
          <p:cNvSpPr txBox="1"/>
          <p:nvPr/>
        </p:nvSpPr>
        <p:spPr>
          <a:xfrm>
            <a:off x="8591093" y="3163824"/>
            <a:ext cx="2503322" cy="1463040"/>
          </a:xfrm>
          <a:prstGeom prst="rect">
            <a:avLst/>
          </a:prstGeom>
          <a:noFill/>
          <a:ln/>
        </p:spPr>
        <p:txBody>
          <a:bodyPr wrap="square" lIns="0" tIns="0" rIns="0" bIns="0" rtlCol="0" anchor="ctr"/>
          <a:lstStyle/>
          <a:p>
            <a:pPr indent="0" marL="0">
              <a:lnSpc>
                <a:spcPts val="1600"/>
              </a:lnSpc>
              <a:buNone/>
            </a:pPr>
            <a:r>
              <a:rPr lang="en-US" sz="1200" dirty="0">
                <a:solidFill>
                  <a:srgbClr val="1C1A19"/>
                </a:solidFill>
                <a:latin typeface="Calibri" pitchFamily="34" charset="0"/>
                <a:ea typeface="Calibri" pitchFamily="34" charset="-122"/>
                <a:cs typeface="Calibri" pitchFamily="34" charset="-120"/>
              </a:rPr>
              <a:t>Given I am signed in as a teacher</a:t>
            </a:r>
            <a:endParaRPr lang="en-US" sz="1200" dirty="0"/>
          </a:p>
          <a:p>
            <a:pPr indent="0" marL="0">
              <a:lnSpc>
                <a:spcPts val="1600"/>
              </a:lnSpc>
              <a:buNone/>
            </a:pPr>
            <a:r>
              <a:rPr lang="en-US" sz="1200" dirty="0">
                <a:solidFill>
                  <a:srgbClr val="1C1A19"/>
                </a:solidFill>
                <a:latin typeface="Calibri" pitchFamily="34" charset="0"/>
                <a:ea typeface="Calibri" pitchFamily="34" charset="-122"/>
                <a:cs typeface="Calibri" pitchFamily="34" charset="-120"/>
              </a:rPr>
              <a:t>When I add 10 points to Gryffindor</a:t>
            </a:r>
            <a:endParaRPr lang="en-US" sz="1200" dirty="0"/>
          </a:p>
          <a:p>
            <a:pPr indent="0" marL="0">
              <a:lnSpc>
                <a:spcPts val="1600"/>
              </a:lnSpc>
              <a:buNone/>
            </a:pPr>
            <a:r>
              <a:rPr lang="en-US" sz="1200" dirty="0">
                <a:solidFill>
                  <a:srgbClr val="1C1A19"/>
                </a:solidFill>
                <a:latin typeface="Calibri" pitchFamily="34" charset="0"/>
                <a:ea typeface="Calibri" pitchFamily="34" charset="-122"/>
                <a:cs typeface="Calibri" pitchFamily="34" charset="-120"/>
              </a:rPr>
              <a:t>Then the scoreboard shows 10 more</a:t>
            </a:r>
            <a:endParaRPr lang="en-US" sz="1200" dirty="0"/>
          </a:p>
        </p:txBody>
      </p:sp>
      <p:sp>
        <p:nvSpPr>
          <p:cNvPr id="19" name="Text 17"/>
          <p:cNvSpPr txBox="1"/>
          <p:nvPr/>
        </p:nvSpPr>
        <p:spPr>
          <a:xfrm>
            <a:off x="640080" y="5212080"/>
            <a:ext cx="10911535" cy="640080"/>
          </a:xfrm>
          <a:prstGeom prst="rect">
            <a:avLst/>
          </a:prstGeom>
          <a:noFill/>
          <a:ln/>
        </p:spPr>
        <p:txBody>
          <a:bodyPr wrap="square" lIns="0" tIns="0" rIns="0" bIns="0" rtlCol="0" anchor="t"/>
          <a:lstStyle/>
          <a:p>
            <a:pPr indent="0" marL="0">
              <a:lnSpc>
                <a:spcPts val="2200"/>
              </a:lnSpc>
              <a:buNone/>
            </a:pPr>
            <a:r>
              <a:rPr lang="en-US" sz="1500" dirty="0">
                <a:solidFill>
                  <a:srgbClr val="75787B"/>
                </a:solidFill>
                <a:latin typeface="Calibri" pitchFamily="34" charset="0"/>
                <a:ea typeface="Calibri" pitchFamily="34" charset="-122"/>
                <a:cs typeface="Calibri" pitchFamily="34" charset="-120"/>
              </a:rPr>
              <a:t>“As a” names a kind of person, never a name. “So that” is the half everybody skips and the only part that says whether the feature is worth building.</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F1"/>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56032"/>
          </a:xfrm>
          <a:prstGeom prst="rect">
            <a:avLst/>
          </a:prstGeom>
          <a:noFill/>
          <a:ln/>
        </p:spPr>
        <p:txBody>
          <a:bodyPr wrap="square" lIns="0" tIns="0" rIns="0" bIns="0" rtlCol="0" anchor="ctr"/>
          <a:lstStyle/>
          <a:p>
            <a:pPr indent="0" marL="0">
              <a:buNone/>
            </a:pPr>
            <a:r>
              <a:rPr lang="en-US" sz="1200" b="1" spc="200" kern="0" dirty="0">
                <a:solidFill>
                  <a:srgbClr val="CF4420"/>
                </a:solidFill>
                <a:latin typeface="Calibri" pitchFamily="34" charset="0"/>
                <a:ea typeface="Calibri" pitchFamily="34" charset="-122"/>
                <a:cs typeface="Calibri" pitchFamily="34" charset="-120"/>
              </a:rPr>
              <a:t>THE STORY STUDIO</a:t>
            </a:r>
            <a:endParaRPr lang="en-US" sz="1200" dirty="0"/>
          </a:p>
        </p:txBody>
      </p:sp>
      <p:sp>
        <p:nvSpPr>
          <p:cNvPr id="3" name="Text 1"/>
          <p:cNvSpPr txBox="1"/>
          <p:nvPr/>
        </p:nvSpPr>
        <p:spPr>
          <a:xfrm>
            <a:off x="640080" y="658368"/>
            <a:ext cx="10911535" cy="777240"/>
          </a:xfrm>
          <a:prstGeom prst="rect">
            <a:avLst/>
          </a:prstGeom>
          <a:noFill/>
          <a:ln/>
        </p:spPr>
        <p:txBody>
          <a:bodyPr wrap="square" lIns="0" tIns="0" rIns="0" bIns="0" rtlCol="0" anchor="t"/>
          <a:lstStyle/>
          <a:p>
            <a:pPr indent="0" marL="0">
              <a:buNone/>
            </a:pPr>
            <a:r>
              <a:rPr lang="en-US" sz="3400" b="1" dirty="0">
                <a:solidFill>
                  <a:srgbClr val="630031"/>
                </a:solidFill>
                <a:latin typeface="Cambria" pitchFamily="34" charset="0"/>
                <a:ea typeface="Cambria" pitchFamily="34" charset="-122"/>
                <a:cs typeface="Cambria" pitchFamily="34" charset="-120"/>
              </a:rPr>
              <a:t>Where you write it</a:t>
            </a:r>
            <a:endParaRPr lang="en-US" sz="3400" dirty="0"/>
          </a:p>
        </p:txBody>
      </p:sp>
      <p:sp>
        <p:nvSpPr>
          <p:cNvPr id="4" name="Shape 2"/>
          <p:cNvSpPr/>
          <p:nvPr/>
        </p:nvSpPr>
        <p:spPr>
          <a:xfrm>
            <a:off x="640080" y="1783080"/>
            <a:ext cx="5486400" cy="4114800"/>
          </a:xfrm>
          <a:prstGeom prst="roundRect">
            <a:avLst>
              <a:gd name="adj" fmla="val 2000"/>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5" name="Text 3"/>
          <p:cNvSpPr txBox="1"/>
          <p:nvPr/>
        </p:nvSpPr>
        <p:spPr>
          <a:xfrm>
            <a:off x="960120" y="2011680"/>
            <a:ext cx="4846320" cy="365760"/>
          </a:xfrm>
          <a:prstGeom prst="rect">
            <a:avLst/>
          </a:prstGeom>
          <a:noFill/>
          <a:ln/>
        </p:spPr>
        <p:txBody>
          <a:bodyPr wrap="square" lIns="0" tIns="0" rIns="0" bIns="0" rtlCol="0" anchor="ctr"/>
          <a:lstStyle/>
          <a:p>
            <a:pPr indent="0" marL="0">
              <a:buNone/>
            </a:pPr>
            <a:r>
              <a:rPr lang="en-US" sz="1900" b="1" dirty="0">
                <a:solidFill>
                  <a:srgbClr val="630031"/>
                </a:solidFill>
                <a:latin typeface="Cambria" pitchFamily="34" charset="0"/>
                <a:ea typeface="Cambria" pitchFamily="34" charset="-122"/>
                <a:cs typeface="Cambria" pitchFamily="34" charset="-120"/>
              </a:rPr>
              <a:t>You type on the left</a:t>
            </a:r>
            <a:endParaRPr lang="en-US" sz="1900" dirty="0"/>
          </a:p>
        </p:txBody>
      </p:sp>
      <p:sp>
        <p:nvSpPr>
          <p:cNvPr id="6" name="Shape 4"/>
          <p:cNvSpPr/>
          <p:nvPr/>
        </p:nvSpPr>
        <p:spPr>
          <a:xfrm>
            <a:off x="960120" y="2606040"/>
            <a:ext cx="4846320" cy="420624"/>
          </a:xfrm>
          <a:prstGeom prst="roundRect">
            <a:avLst>
              <a:gd name="adj" fmla="val 13043"/>
            </a:avLst>
          </a:prstGeom>
          <a:solidFill>
            <a:srgbClr val="F0EBE4"/>
          </a:solidFill>
          <a:ln w="12700">
            <a:solidFill>
              <a:srgbClr val="333333"/>
            </a:solidFill>
            <a:prstDash val="solid"/>
          </a:ln>
        </p:spPr>
      </p:sp>
      <p:sp>
        <p:nvSpPr>
          <p:cNvPr id="7" name="Text 5"/>
          <p:cNvSpPr txBox="1"/>
          <p:nvPr/>
        </p:nvSpPr>
        <p:spPr>
          <a:xfrm>
            <a:off x="1143000" y="2606040"/>
            <a:ext cx="4572000" cy="420624"/>
          </a:xfrm>
          <a:prstGeom prst="rect">
            <a:avLst/>
          </a:prstGeom>
          <a:noFill/>
          <a:ln/>
        </p:spPr>
        <p:txBody>
          <a:bodyPr wrap="square" lIns="0" tIns="0" rIns="0" bIns="0" rtlCol="0" anchor="ctr"/>
          <a:lstStyle/>
          <a:p>
            <a:pPr indent="0" marL="0">
              <a:buNone/>
            </a:pPr>
            <a:r>
              <a:rPr lang="en-US" sz="1300" dirty="0">
                <a:solidFill>
                  <a:srgbClr val="1C1A19"/>
                </a:solidFill>
                <a:latin typeface="Calibri" pitchFamily="34" charset="0"/>
                <a:ea typeface="Calibri" pitchFamily="34" charset="-122"/>
                <a:cs typeface="Calibri" pitchFamily="34" charset="-120"/>
              </a:rPr>
              <a:t>Name it</a:t>
            </a:r>
            <a:endParaRPr lang="en-US" sz="1300" dirty="0"/>
          </a:p>
        </p:txBody>
      </p:sp>
      <p:sp>
        <p:nvSpPr>
          <p:cNvPr id="8" name="Shape 6"/>
          <p:cNvSpPr/>
          <p:nvPr/>
        </p:nvSpPr>
        <p:spPr>
          <a:xfrm>
            <a:off x="960120" y="3264408"/>
            <a:ext cx="4846320" cy="420624"/>
          </a:xfrm>
          <a:prstGeom prst="roundRect">
            <a:avLst>
              <a:gd name="adj" fmla="val 13043"/>
            </a:avLst>
          </a:prstGeom>
          <a:solidFill>
            <a:srgbClr val="F0EBE4"/>
          </a:solidFill>
          <a:ln w="12700">
            <a:solidFill>
              <a:srgbClr val="333333"/>
            </a:solidFill>
            <a:prstDash val="solid"/>
          </a:ln>
        </p:spPr>
      </p:sp>
      <p:sp>
        <p:nvSpPr>
          <p:cNvPr id="9" name="Text 7"/>
          <p:cNvSpPr txBox="1"/>
          <p:nvPr/>
        </p:nvSpPr>
        <p:spPr>
          <a:xfrm>
            <a:off x="1143000" y="3264408"/>
            <a:ext cx="4572000" cy="420624"/>
          </a:xfrm>
          <a:prstGeom prst="rect">
            <a:avLst/>
          </a:prstGeom>
          <a:noFill/>
          <a:ln/>
        </p:spPr>
        <p:txBody>
          <a:bodyPr wrap="square" lIns="0" tIns="0" rIns="0" bIns="0" rtlCol="0" anchor="ctr"/>
          <a:lstStyle/>
          <a:p>
            <a:pPr indent="0" marL="0">
              <a:buNone/>
            </a:pPr>
            <a:r>
              <a:rPr lang="en-US" sz="1300" dirty="0">
                <a:solidFill>
                  <a:srgbClr val="1C1A19"/>
                </a:solidFill>
                <a:latin typeface="Calibri" pitchFamily="34" charset="0"/>
                <a:ea typeface="Calibri" pitchFamily="34" charset="-122"/>
                <a:cs typeface="Calibri" pitchFamily="34" charset="-120"/>
              </a:rPr>
              <a:t>As a  /  I want  /  So that</a:t>
            </a:r>
            <a:endParaRPr lang="en-US" sz="1300" dirty="0"/>
          </a:p>
        </p:txBody>
      </p:sp>
      <p:sp>
        <p:nvSpPr>
          <p:cNvPr id="10" name="Shape 8"/>
          <p:cNvSpPr/>
          <p:nvPr/>
        </p:nvSpPr>
        <p:spPr>
          <a:xfrm>
            <a:off x="960120" y="3922776"/>
            <a:ext cx="4846320" cy="420624"/>
          </a:xfrm>
          <a:prstGeom prst="roundRect">
            <a:avLst>
              <a:gd name="adj" fmla="val 13043"/>
            </a:avLst>
          </a:prstGeom>
          <a:solidFill>
            <a:srgbClr val="F0EBE4"/>
          </a:solidFill>
          <a:ln w="12700">
            <a:solidFill>
              <a:srgbClr val="333333"/>
            </a:solidFill>
            <a:prstDash val="solid"/>
          </a:ln>
        </p:spPr>
      </p:sp>
      <p:sp>
        <p:nvSpPr>
          <p:cNvPr id="11" name="Text 9"/>
          <p:cNvSpPr txBox="1"/>
          <p:nvPr/>
        </p:nvSpPr>
        <p:spPr>
          <a:xfrm>
            <a:off x="1143000" y="3922776"/>
            <a:ext cx="4572000" cy="420624"/>
          </a:xfrm>
          <a:prstGeom prst="rect">
            <a:avLst/>
          </a:prstGeom>
          <a:noFill/>
          <a:ln/>
        </p:spPr>
        <p:txBody>
          <a:bodyPr wrap="square" lIns="0" tIns="0" rIns="0" bIns="0" rtlCol="0" anchor="ctr"/>
          <a:lstStyle/>
          <a:p>
            <a:pPr indent="0" marL="0">
              <a:buNone/>
            </a:pPr>
            <a:r>
              <a:rPr lang="en-US" sz="1300" dirty="0">
                <a:solidFill>
                  <a:srgbClr val="1C1A19"/>
                </a:solidFill>
                <a:latin typeface="Calibri" pitchFamily="34" charset="0"/>
                <a:ea typeface="Calibri" pitchFamily="34" charset="-122"/>
                <a:cs typeface="Calibri" pitchFamily="34" charset="-120"/>
              </a:rPr>
              <a:t>Acceptance criteria, as many as you need</a:t>
            </a:r>
            <a:endParaRPr lang="en-US" sz="1300" dirty="0"/>
          </a:p>
        </p:txBody>
      </p:sp>
      <p:sp>
        <p:nvSpPr>
          <p:cNvPr id="12" name="Shape 10"/>
          <p:cNvSpPr/>
          <p:nvPr/>
        </p:nvSpPr>
        <p:spPr>
          <a:xfrm>
            <a:off x="960120" y="4581144"/>
            <a:ext cx="4846320" cy="420624"/>
          </a:xfrm>
          <a:prstGeom prst="roundRect">
            <a:avLst>
              <a:gd name="adj" fmla="val 13043"/>
            </a:avLst>
          </a:prstGeom>
          <a:solidFill>
            <a:srgbClr val="F0EBE4"/>
          </a:solidFill>
          <a:ln w="12700">
            <a:solidFill>
              <a:srgbClr val="333333"/>
            </a:solidFill>
            <a:prstDash val="solid"/>
          </a:ln>
        </p:spPr>
      </p:sp>
      <p:sp>
        <p:nvSpPr>
          <p:cNvPr id="13" name="Text 11"/>
          <p:cNvSpPr txBox="1"/>
          <p:nvPr/>
        </p:nvSpPr>
        <p:spPr>
          <a:xfrm>
            <a:off x="1143000" y="4581144"/>
            <a:ext cx="4572000" cy="420624"/>
          </a:xfrm>
          <a:prstGeom prst="rect">
            <a:avLst/>
          </a:prstGeom>
          <a:noFill/>
          <a:ln/>
        </p:spPr>
        <p:txBody>
          <a:bodyPr wrap="square" lIns="0" tIns="0" rIns="0" bIns="0" rtlCol="0" anchor="ctr"/>
          <a:lstStyle/>
          <a:p>
            <a:pPr indent="0" marL="0">
              <a:buNone/>
            </a:pPr>
            <a:r>
              <a:rPr lang="en-US" sz="1300" dirty="0">
                <a:solidFill>
                  <a:srgbClr val="1C1A19"/>
                </a:solidFill>
                <a:latin typeface="Calibri" pitchFamily="34" charset="0"/>
                <a:ea typeface="Calibri" pitchFamily="34" charset="-122"/>
                <a:cs typeface="Calibri" pitchFamily="34" charset="-120"/>
              </a:rPr>
              <a:t>Given  /  When  /  Then</a:t>
            </a:r>
            <a:endParaRPr lang="en-US" sz="1300" dirty="0"/>
          </a:p>
        </p:txBody>
      </p:sp>
      <p:sp>
        <p:nvSpPr>
          <p:cNvPr id="14" name="Text 12"/>
          <p:cNvSpPr txBox="1"/>
          <p:nvPr/>
        </p:nvSpPr>
        <p:spPr>
          <a:xfrm>
            <a:off x="960120" y="5349240"/>
            <a:ext cx="4846320" cy="320040"/>
          </a:xfrm>
          <a:prstGeom prst="rect">
            <a:avLst/>
          </a:prstGeom>
          <a:noFill/>
          <a:ln/>
        </p:spPr>
        <p:txBody>
          <a:bodyPr wrap="square" lIns="0" tIns="0" rIns="0" bIns="0" rtlCol="0" anchor="ctr"/>
          <a:lstStyle/>
          <a:p>
            <a:pPr indent="0" marL="0">
              <a:buNone/>
            </a:pPr>
            <a:r>
              <a:rPr lang="en-US" sz="1250" b="1" dirty="0">
                <a:solidFill>
                  <a:srgbClr val="CF4420"/>
                </a:solidFill>
                <a:latin typeface="Calibri" pitchFamily="34" charset="0"/>
                <a:ea typeface="Calibri" pitchFamily="34" charset="-122"/>
                <a:cs typeface="Calibri" pitchFamily="34" charset="-120"/>
              </a:rPr>
              <a:t>doubleblaze.solutions/trail-crew/write</a:t>
            </a:r>
            <a:endParaRPr lang="en-US" sz="1250" dirty="0"/>
          </a:p>
        </p:txBody>
      </p:sp>
      <p:sp>
        <p:nvSpPr>
          <p:cNvPr id="15" name="Shape 13"/>
          <p:cNvSpPr/>
          <p:nvPr/>
        </p:nvSpPr>
        <p:spPr>
          <a:xfrm>
            <a:off x="6492240" y="1783080"/>
            <a:ext cx="5059375" cy="4114800"/>
          </a:xfrm>
          <a:prstGeom prst="roundRect">
            <a:avLst>
              <a:gd name="adj" fmla="val 2000"/>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6" name="Text 14"/>
          <p:cNvSpPr txBox="1"/>
          <p:nvPr/>
        </p:nvSpPr>
        <p:spPr>
          <a:xfrm>
            <a:off x="6812280" y="2011680"/>
            <a:ext cx="4206240" cy="365760"/>
          </a:xfrm>
          <a:prstGeom prst="rect">
            <a:avLst/>
          </a:prstGeom>
          <a:noFill/>
          <a:ln/>
        </p:spPr>
        <p:txBody>
          <a:bodyPr wrap="square" lIns="0" tIns="0" rIns="0" bIns="0" rtlCol="0" anchor="ctr"/>
          <a:lstStyle/>
          <a:p>
            <a:pPr indent="0" marL="0">
              <a:buNone/>
            </a:pPr>
            <a:r>
              <a:rPr lang="en-US" sz="1900" b="1" dirty="0">
                <a:solidFill>
                  <a:srgbClr val="630031"/>
                </a:solidFill>
                <a:latin typeface="Cambria" pitchFamily="34" charset="0"/>
                <a:ea typeface="Cambria" pitchFamily="34" charset="-122"/>
                <a:cs typeface="Cambria" pitchFamily="34" charset="-120"/>
              </a:rPr>
              <a:t>It answers on the right</a:t>
            </a:r>
            <a:endParaRPr lang="en-US" sz="1900" dirty="0"/>
          </a:p>
        </p:txBody>
      </p:sp>
      <p:sp>
        <p:nvSpPr>
          <p:cNvPr id="17" name="Shape 15"/>
          <p:cNvSpPr/>
          <p:nvPr/>
        </p:nvSpPr>
        <p:spPr>
          <a:xfrm>
            <a:off x="6812280" y="2578608"/>
            <a:ext cx="329184" cy="329184"/>
          </a:xfrm>
          <a:prstGeom prst="ellipse">
            <a:avLst/>
          </a:prstGeom>
          <a:solidFill>
            <a:srgbClr val="FFFFFF"/>
          </a:solidFill>
          <a:ln w="12700">
            <a:solidFill>
              <a:srgbClr val="CF4420"/>
            </a:solidFill>
            <a:prstDash val="solid"/>
          </a:ln>
        </p:spPr>
      </p:sp>
      <p:sp>
        <p:nvSpPr>
          <p:cNvPr id="18" name="Shape 16"/>
          <p:cNvSpPr/>
          <p:nvPr/>
        </p:nvSpPr>
        <p:spPr>
          <a:xfrm>
            <a:off x="6812280" y="2578608"/>
            <a:ext cx="329184" cy="329184"/>
          </a:xfrm>
          <a:prstGeom prst="ellipse">
            <a:avLst/>
          </a:prstGeom>
          <a:solidFill>
            <a:srgbClr val="CF4420"/>
          </a:solidFill>
          <a:ln w="12700">
            <a:solidFill>
              <a:srgbClr val="333333"/>
            </a:solidFill>
            <a:prstDash val="solid"/>
          </a:ln>
        </p:spPr>
      </p:sp>
      <p:sp>
        <p:nvSpPr>
          <p:cNvPr id="19" name="Text 17"/>
          <p:cNvSpPr txBox="1"/>
          <p:nvPr/>
        </p:nvSpPr>
        <p:spPr>
          <a:xfrm>
            <a:off x="6812280" y="2578608"/>
            <a:ext cx="32918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20" name="Text 18"/>
          <p:cNvSpPr txBox="1"/>
          <p:nvPr/>
        </p:nvSpPr>
        <p:spPr>
          <a:xfrm>
            <a:off x="7269480" y="2551176"/>
            <a:ext cx="3749040" cy="256032"/>
          </a:xfrm>
          <a:prstGeom prst="rect">
            <a:avLst/>
          </a:prstGeom>
          <a:noFill/>
          <a:ln/>
        </p:spPr>
        <p:txBody>
          <a:bodyPr wrap="square" lIns="0" tIns="0" rIns="0" bIns="0" rtlCol="0" anchor="ctr"/>
          <a:lstStyle/>
          <a:p>
            <a:pPr indent="0" marL="0">
              <a:buNone/>
            </a:pPr>
            <a:r>
              <a:rPr lang="en-US" sz="1350" b="1" dirty="0">
                <a:solidFill>
                  <a:srgbClr val="1C1A19"/>
                </a:solidFill>
                <a:latin typeface="Calibri" pitchFamily="34" charset="0"/>
                <a:ea typeface="Calibri" pitchFamily="34" charset="-122"/>
                <a:cs typeface="Calibri" pitchFamily="34" charset="-120"/>
              </a:rPr>
              <a:t>Checks</a:t>
            </a:r>
            <a:endParaRPr lang="en-US" sz="1350" dirty="0"/>
          </a:p>
        </p:txBody>
      </p:sp>
      <p:sp>
        <p:nvSpPr>
          <p:cNvPr id="21" name="Text 19"/>
          <p:cNvSpPr txBox="1"/>
          <p:nvPr/>
        </p:nvSpPr>
        <p:spPr>
          <a:xfrm>
            <a:off x="7269480" y="2807208"/>
            <a:ext cx="3840480" cy="457200"/>
          </a:xfrm>
          <a:prstGeom prst="rect">
            <a:avLst/>
          </a:prstGeom>
          <a:noFill/>
          <a:ln/>
        </p:spPr>
        <p:txBody>
          <a:bodyPr wrap="square" lIns="0" tIns="0" rIns="0" bIns="0" rtlCol="0" anchor="ctr"/>
          <a:lstStyle/>
          <a:p>
            <a:pPr indent="0" marL="0">
              <a:lnSpc>
                <a:spcPts val="1400"/>
              </a:lnSpc>
              <a:buNone/>
            </a:pPr>
            <a:r>
              <a:rPr lang="en-US" sz="1150" dirty="0">
                <a:solidFill>
                  <a:srgbClr val="75787B"/>
                </a:solidFill>
                <a:latin typeface="Calibri" pitchFamily="34" charset="0"/>
                <a:ea typeface="Calibri" pitchFamily="34" charset="-122"/>
                <a:cs typeface="Calibri" pitchFamily="34" charset="-120"/>
              </a:rPr>
              <a:t>What is missing, and what is thin. Rules, not opinions, so you can argue with them.</a:t>
            </a:r>
            <a:endParaRPr lang="en-US" sz="1150" dirty="0"/>
          </a:p>
        </p:txBody>
      </p:sp>
      <p:sp>
        <p:nvSpPr>
          <p:cNvPr id="22" name="Shape 20"/>
          <p:cNvSpPr/>
          <p:nvPr/>
        </p:nvSpPr>
        <p:spPr>
          <a:xfrm>
            <a:off x="6812280" y="3383280"/>
            <a:ext cx="329184" cy="329184"/>
          </a:xfrm>
          <a:prstGeom prst="ellipse">
            <a:avLst/>
          </a:prstGeom>
          <a:solidFill>
            <a:srgbClr val="FFFFFF"/>
          </a:solidFill>
          <a:ln w="12700">
            <a:solidFill>
              <a:srgbClr val="CF4420"/>
            </a:solidFill>
            <a:prstDash val="solid"/>
          </a:ln>
        </p:spPr>
      </p:sp>
      <p:sp>
        <p:nvSpPr>
          <p:cNvPr id="23" name="Shape 21"/>
          <p:cNvSpPr/>
          <p:nvPr/>
        </p:nvSpPr>
        <p:spPr>
          <a:xfrm>
            <a:off x="6812280" y="3383280"/>
            <a:ext cx="329184" cy="329184"/>
          </a:xfrm>
          <a:prstGeom prst="ellipse">
            <a:avLst/>
          </a:prstGeom>
          <a:solidFill>
            <a:srgbClr val="CF4420"/>
          </a:solidFill>
          <a:ln w="12700">
            <a:solidFill>
              <a:srgbClr val="333333"/>
            </a:solidFill>
            <a:prstDash val="solid"/>
          </a:ln>
        </p:spPr>
      </p:sp>
      <p:sp>
        <p:nvSpPr>
          <p:cNvPr id="24" name="Text 22"/>
          <p:cNvSpPr txBox="1"/>
          <p:nvPr/>
        </p:nvSpPr>
        <p:spPr>
          <a:xfrm>
            <a:off x="6812280" y="3383280"/>
            <a:ext cx="32918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5" name="Text 23"/>
          <p:cNvSpPr txBox="1"/>
          <p:nvPr/>
        </p:nvSpPr>
        <p:spPr>
          <a:xfrm>
            <a:off x="7269480" y="3355848"/>
            <a:ext cx="3749040" cy="256032"/>
          </a:xfrm>
          <a:prstGeom prst="rect">
            <a:avLst/>
          </a:prstGeom>
          <a:noFill/>
          <a:ln/>
        </p:spPr>
        <p:txBody>
          <a:bodyPr wrap="square" lIns="0" tIns="0" rIns="0" bIns="0" rtlCol="0" anchor="ctr"/>
          <a:lstStyle/>
          <a:p>
            <a:pPr indent="0" marL="0">
              <a:buNone/>
            </a:pPr>
            <a:r>
              <a:rPr lang="en-US" sz="1350" b="1" dirty="0">
                <a:solidFill>
                  <a:srgbClr val="1C1A19"/>
                </a:solidFill>
                <a:latin typeface="Calibri" pitchFamily="34" charset="0"/>
                <a:ea typeface="Calibri" pitchFamily="34" charset="-122"/>
                <a:cs typeface="Calibri" pitchFamily="34" charset="-120"/>
              </a:rPr>
              <a:t>Your story</a:t>
            </a:r>
            <a:endParaRPr lang="en-US" sz="1350" dirty="0"/>
          </a:p>
        </p:txBody>
      </p:sp>
      <p:sp>
        <p:nvSpPr>
          <p:cNvPr id="26" name="Text 24"/>
          <p:cNvSpPr txBox="1"/>
          <p:nvPr/>
        </p:nvSpPr>
        <p:spPr>
          <a:xfrm>
            <a:off x="7269480" y="3611880"/>
            <a:ext cx="3840480" cy="457200"/>
          </a:xfrm>
          <a:prstGeom prst="rect">
            <a:avLst/>
          </a:prstGeom>
          <a:noFill/>
          <a:ln/>
        </p:spPr>
        <p:txBody>
          <a:bodyPr wrap="square" lIns="0" tIns="0" rIns="0" bIns="0" rtlCol="0" anchor="ctr"/>
          <a:lstStyle/>
          <a:p>
            <a:pPr indent="0" marL="0">
              <a:lnSpc>
                <a:spcPts val="1400"/>
              </a:lnSpc>
              <a:buNone/>
            </a:pPr>
            <a:r>
              <a:rPr lang="en-US" sz="1150" dirty="0">
                <a:solidFill>
                  <a:srgbClr val="75787B"/>
                </a:solidFill>
                <a:latin typeface="Calibri" pitchFamily="34" charset="0"/>
                <a:ea typeface="Calibri" pitchFamily="34" charset="-122"/>
                <a:cs typeface="Calibri" pitchFamily="34" charset="-120"/>
              </a:rPr>
              <a:t>Exactly what would go into your team's file.</a:t>
            </a:r>
            <a:endParaRPr lang="en-US" sz="1150" dirty="0"/>
          </a:p>
        </p:txBody>
      </p:sp>
      <p:sp>
        <p:nvSpPr>
          <p:cNvPr id="27" name="Shape 25"/>
          <p:cNvSpPr/>
          <p:nvPr/>
        </p:nvSpPr>
        <p:spPr>
          <a:xfrm>
            <a:off x="6812280" y="4187952"/>
            <a:ext cx="329184" cy="329184"/>
          </a:xfrm>
          <a:prstGeom prst="ellipse">
            <a:avLst/>
          </a:prstGeom>
          <a:solidFill>
            <a:srgbClr val="FFFFFF"/>
          </a:solidFill>
          <a:ln w="12700">
            <a:solidFill>
              <a:srgbClr val="CF4420"/>
            </a:solidFill>
            <a:prstDash val="solid"/>
          </a:ln>
        </p:spPr>
      </p:sp>
      <p:sp>
        <p:nvSpPr>
          <p:cNvPr id="28" name="Shape 26"/>
          <p:cNvSpPr/>
          <p:nvPr/>
        </p:nvSpPr>
        <p:spPr>
          <a:xfrm>
            <a:off x="6812280" y="4187952"/>
            <a:ext cx="329184" cy="329184"/>
          </a:xfrm>
          <a:prstGeom prst="ellipse">
            <a:avLst/>
          </a:prstGeom>
          <a:solidFill>
            <a:srgbClr val="CF4420"/>
          </a:solidFill>
          <a:ln w="12700">
            <a:solidFill>
              <a:srgbClr val="333333"/>
            </a:solidFill>
            <a:prstDash val="solid"/>
          </a:ln>
        </p:spPr>
      </p:sp>
      <p:sp>
        <p:nvSpPr>
          <p:cNvPr id="29" name="Text 27"/>
          <p:cNvSpPr txBox="1"/>
          <p:nvPr/>
        </p:nvSpPr>
        <p:spPr>
          <a:xfrm>
            <a:off x="6812280" y="4187952"/>
            <a:ext cx="32918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30" name="Text 28"/>
          <p:cNvSpPr txBox="1"/>
          <p:nvPr/>
        </p:nvSpPr>
        <p:spPr>
          <a:xfrm>
            <a:off x="7269480" y="4160520"/>
            <a:ext cx="3749040" cy="256032"/>
          </a:xfrm>
          <a:prstGeom prst="rect">
            <a:avLst/>
          </a:prstGeom>
          <a:noFill/>
          <a:ln/>
        </p:spPr>
        <p:txBody>
          <a:bodyPr wrap="square" lIns="0" tIns="0" rIns="0" bIns="0" rtlCol="0" anchor="ctr"/>
          <a:lstStyle/>
          <a:p>
            <a:pPr indent="0" marL="0">
              <a:buNone/>
            </a:pPr>
            <a:r>
              <a:rPr lang="en-US" sz="1350" b="1" dirty="0">
                <a:solidFill>
                  <a:srgbClr val="1C1A19"/>
                </a:solidFill>
                <a:latin typeface="Calibri" pitchFamily="34" charset="0"/>
                <a:ea typeface="Calibri" pitchFamily="34" charset="-122"/>
                <a:cs typeface="Calibri" pitchFamily="34" charset="-120"/>
              </a:rPr>
              <a:t>The test plan</a:t>
            </a:r>
            <a:endParaRPr lang="en-US" sz="1350" dirty="0"/>
          </a:p>
        </p:txBody>
      </p:sp>
      <p:sp>
        <p:nvSpPr>
          <p:cNvPr id="31" name="Text 29"/>
          <p:cNvSpPr txBox="1"/>
          <p:nvPr/>
        </p:nvSpPr>
        <p:spPr>
          <a:xfrm>
            <a:off x="7269480" y="4416552"/>
            <a:ext cx="3840480" cy="457200"/>
          </a:xfrm>
          <a:prstGeom prst="rect">
            <a:avLst/>
          </a:prstGeom>
          <a:noFill/>
          <a:ln/>
        </p:spPr>
        <p:txBody>
          <a:bodyPr wrap="square" lIns="0" tIns="0" rIns="0" bIns="0" rtlCol="0" anchor="ctr"/>
          <a:lstStyle/>
          <a:p>
            <a:pPr indent="0" marL="0">
              <a:lnSpc>
                <a:spcPts val="1400"/>
              </a:lnSpc>
              <a:buNone/>
            </a:pPr>
            <a:r>
              <a:rPr lang="en-US" sz="1150" dirty="0">
                <a:solidFill>
                  <a:srgbClr val="75787B"/>
                </a:solidFill>
                <a:latin typeface="Calibri" pitchFamily="34" charset="0"/>
                <a:ea typeface="Calibri" pitchFamily="34" charset="-122"/>
                <a:cs typeface="Calibri" pitchFamily="34" charset="-120"/>
              </a:rPr>
              <a:t>Built from what you typed. Watch it while you write.</a:t>
            </a:r>
            <a:endParaRPr lang="en-US" sz="1150" dirty="0"/>
          </a:p>
        </p:txBody>
      </p:sp>
      <p:sp>
        <p:nvSpPr>
          <p:cNvPr id="32" name="Shape 30"/>
          <p:cNvSpPr/>
          <p:nvPr/>
        </p:nvSpPr>
        <p:spPr>
          <a:xfrm>
            <a:off x="6812280" y="4992624"/>
            <a:ext cx="329184" cy="329184"/>
          </a:xfrm>
          <a:prstGeom prst="ellipse">
            <a:avLst/>
          </a:prstGeom>
          <a:solidFill>
            <a:srgbClr val="FFFFFF"/>
          </a:solidFill>
          <a:ln w="12700">
            <a:solidFill>
              <a:srgbClr val="CF4420"/>
            </a:solidFill>
            <a:prstDash val="solid"/>
          </a:ln>
        </p:spPr>
      </p:sp>
      <p:sp>
        <p:nvSpPr>
          <p:cNvPr id="33" name="Shape 31"/>
          <p:cNvSpPr/>
          <p:nvPr/>
        </p:nvSpPr>
        <p:spPr>
          <a:xfrm>
            <a:off x="6812280" y="4992624"/>
            <a:ext cx="329184" cy="329184"/>
          </a:xfrm>
          <a:prstGeom prst="ellipse">
            <a:avLst/>
          </a:prstGeom>
          <a:solidFill>
            <a:srgbClr val="CF4420"/>
          </a:solidFill>
          <a:ln w="12700">
            <a:solidFill>
              <a:srgbClr val="333333"/>
            </a:solidFill>
            <a:prstDash val="solid"/>
          </a:ln>
        </p:spPr>
      </p:sp>
      <p:sp>
        <p:nvSpPr>
          <p:cNvPr id="34" name="Text 32"/>
          <p:cNvSpPr txBox="1"/>
          <p:nvPr/>
        </p:nvSpPr>
        <p:spPr>
          <a:xfrm>
            <a:off x="6812280" y="4992624"/>
            <a:ext cx="32918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5" name="Text 33"/>
          <p:cNvSpPr txBox="1"/>
          <p:nvPr/>
        </p:nvSpPr>
        <p:spPr>
          <a:xfrm>
            <a:off x="7269480" y="4965192"/>
            <a:ext cx="3749040" cy="256032"/>
          </a:xfrm>
          <a:prstGeom prst="rect">
            <a:avLst/>
          </a:prstGeom>
          <a:noFill/>
          <a:ln/>
        </p:spPr>
        <p:txBody>
          <a:bodyPr wrap="square" lIns="0" tIns="0" rIns="0" bIns="0" rtlCol="0" anchor="ctr"/>
          <a:lstStyle/>
          <a:p>
            <a:pPr indent="0" marL="0">
              <a:buNone/>
            </a:pPr>
            <a:r>
              <a:rPr lang="en-US" sz="1350" b="1" dirty="0">
                <a:solidFill>
                  <a:srgbClr val="1C1A19"/>
                </a:solidFill>
                <a:latin typeface="Calibri" pitchFamily="34" charset="0"/>
                <a:ea typeface="Calibri" pitchFamily="34" charset="-122"/>
                <a:cs typeface="Calibri" pitchFamily="34" charset="-120"/>
              </a:rPr>
              <a:t>What it takes to build</a:t>
            </a:r>
            <a:endParaRPr lang="en-US" sz="1350" dirty="0"/>
          </a:p>
        </p:txBody>
      </p:sp>
      <p:sp>
        <p:nvSpPr>
          <p:cNvPr id="36" name="Text 34"/>
          <p:cNvSpPr txBox="1"/>
          <p:nvPr/>
        </p:nvSpPr>
        <p:spPr>
          <a:xfrm>
            <a:off x="7269480" y="5221224"/>
            <a:ext cx="3840480" cy="457200"/>
          </a:xfrm>
          <a:prstGeom prst="rect">
            <a:avLst/>
          </a:prstGeom>
          <a:noFill/>
          <a:ln/>
        </p:spPr>
        <p:txBody>
          <a:bodyPr wrap="square" lIns="0" tIns="0" rIns="0" bIns="0" rtlCol="0" anchor="ctr"/>
          <a:lstStyle/>
          <a:p>
            <a:pPr indent="0" marL="0">
              <a:lnSpc>
                <a:spcPts val="1400"/>
              </a:lnSpc>
              <a:buNone/>
            </a:pPr>
            <a:r>
              <a:rPr lang="en-US" sz="1150" dirty="0">
                <a:solidFill>
                  <a:srgbClr val="75787B"/>
                </a:solidFill>
                <a:latin typeface="Calibri" pitchFamily="34" charset="0"/>
                <a:ea typeface="Calibri" pitchFamily="34" charset="-122"/>
                <a:cs typeface="Calibri" pitchFamily="34" charset="-120"/>
              </a:rPr>
              <a:t>Which patterns your own words point at.</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F1"/>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56032"/>
          </a:xfrm>
          <a:prstGeom prst="rect">
            <a:avLst/>
          </a:prstGeom>
          <a:noFill/>
          <a:ln/>
        </p:spPr>
        <p:txBody>
          <a:bodyPr wrap="square" lIns="0" tIns="0" rIns="0" bIns="0" rtlCol="0" anchor="ctr"/>
          <a:lstStyle/>
          <a:p>
            <a:pPr indent="0" marL="0">
              <a:buNone/>
            </a:pPr>
            <a:r>
              <a:rPr lang="en-US" sz="1200" b="1" spc="200" kern="0" dirty="0">
                <a:solidFill>
                  <a:srgbClr val="CF4420"/>
                </a:solidFill>
                <a:latin typeface="Calibri" pitchFamily="34" charset="0"/>
                <a:ea typeface="Calibri" pitchFamily="34" charset="-122"/>
                <a:cs typeface="Calibri" pitchFamily="34" charset="-120"/>
              </a:rPr>
              <a:t>AND THE GAP IN IT IS THE LESSON</a:t>
            </a:r>
            <a:endParaRPr lang="en-US" sz="1200" dirty="0"/>
          </a:p>
        </p:txBody>
      </p:sp>
      <p:sp>
        <p:nvSpPr>
          <p:cNvPr id="3" name="Text 1"/>
          <p:cNvSpPr txBox="1"/>
          <p:nvPr/>
        </p:nvSpPr>
        <p:spPr>
          <a:xfrm>
            <a:off x="640080" y="658368"/>
            <a:ext cx="10911535" cy="777240"/>
          </a:xfrm>
          <a:prstGeom prst="rect">
            <a:avLst/>
          </a:prstGeom>
          <a:noFill/>
          <a:ln/>
        </p:spPr>
        <p:txBody>
          <a:bodyPr wrap="square" lIns="0" tIns="0" rIns="0" bIns="0" rtlCol="0" anchor="t"/>
          <a:lstStyle/>
          <a:p>
            <a:pPr indent="0" marL="0">
              <a:buNone/>
            </a:pPr>
            <a:r>
              <a:rPr lang="en-US" sz="3400" b="1" dirty="0">
                <a:solidFill>
                  <a:srgbClr val="630031"/>
                </a:solidFill>
                <a:latin typeface="Cambria" pitchFamily="34" charset="0"/>
                <a:ea typeface="Cambria" pitchFamily="34" charset="-122"/>
                <a:cs typeface="Cambria" pitchFamily="34" charset="-120"/>
              </a:rPr>
              <a:t>Your test plan writes itself</a:t>
            </a:r>
            <a:endParaRPr lang="en-US" sz="3400" dirty="0"/>
          </a:p>
        </p:txBody>
      </p:sp>
      <p:sp>
        <p:nvSpPr>
          <p:cNvPr id="4" name="Text 2"/>
          <p:cNvSpPr txBox="1"/>
          <p:nvPr/>
        </p:nvSpPr>
        <p:spPr>
          <a:xfrm>
            <a:off x="640080" y="1783080"/>
            <a:ext cx="457200" cy="274320"/>
          </a:xfrm>
          <a:prstGeom prst="rect">
            <a:avLst/>
          </a:prstGeom>
          <a:noFill/>
          <a:ln/>
        </p:spPr>
        <p:txBody>
          <a:bodyPr wrap="square" lIns="0" tIns="0" rIns="0" bIns="0" rtlCol="0" anchor="ctr"/>
          <a:lstStyle/>
          <a:p>
            <a:pPr indent="0" marL="0">
              <a:buNone/>
            </a:pPr>
            <a:r>
              <a:rPr lang="en-US" sz="1200" b="1" spc="100" kern="0" dirty="0">
                <a:solidFill>
                  <a:srgbClr val="630031"/>
                </a:solidFill>
                <a:latin typeface="Calibri" pitchFamily="34" charset="0"/>
                <a:ea typeface="Calibri" pitchFamily="34" charset="-122"/>
                <a:cs typeface="Calibri" pitchFamily="34" charset="-120"/>
              </a:rPr>
              <a:t>#</a:t>
            </a:r>
            <a:endParaRPr lang="en-US" sz="1200" dirty="0"/>
          </a:p>
        </p:txBody>
      </p:sp>
      <p:sp>
        <p:nvSpPr>
          <p:cNvPr id="5" name="Text 3"/>
          <p:cNvSpPr txBox="1"/>
          <p:nvPr/>
        </p:nvSpPr>
        <p:spPr>
          <a:xfrm>
            <a:off x="1280160" y="1783080"/>
            <a:ext cx="4251960" cy="274320"/>
          </a:xfrm>
          <a:prstGeom prst="rect">
            <a:avLst/>
          </a:prstGeom>
          <a:noFill/>
          <a:ln/>
        </p:spPr>
        <p:txBody>
          <a:bodyPr wrap="square" lIns="0" tIns="0" rIns="0" bIns="0" rtlCol="0" anchor="ctr"/>
          <a:lstStyle/>
          <a:p>
            <a:pPr indent="0" marL="0">
              <a:buNone/>
            </a:pPr>
            <a:r>
              <a:rPr lang="en-US" sz="1200" b="1" spc="100" kern="0" dirty="0">
                <a:solidFill>
                  <a:srgbClr val="630031"/>
                </a:solidFill>
                <a:latin typeface="Calibri" pitchFamily="34" charset="0"/>
                <a:ea typeface="Calibri" pitchFamily="34" charset="-122"/>
                <a:cs typeface="Calibri" pitchFamily="34" charset="-120"/>
              </a:rPr>
              <a:t>What somebody does</a:t>
            </a:r>
            <a:endParaRPr lang="en-US" sz="1200" dirty="0"/>
          </a:p>
        </p:txBody>
      </p:sp>
      <p:sp>
        <p:nvSpPr>
          <p:cNvPr id="6" name="Text 4"/>
          <p:cNvSpPr txBox="1"/>
          <p:nvPr/>
        </p:nvSpPr>
        <p:spPr>
          <a:xfrm>
            <a:off x="5715000" y="1783080"/>
            <a:ext cx="4023360" cy="274320"/>
          </a:xfrm>
          <a:prstGeom prst="rect">
            <a:avLst/>
          </a:prstGeom>
          <a:noFill/>
          <a:ln/>
        </p:spPr>
        <p:txBody>
          <a:bodyPr wrap="square" lIns="0" tIns="0" rIns="0" bIns="0" rtlCol="0" anchor="ctr"/>
          <a:lstStyle/>
          <a:p>
            <a:pPr indent="0" marL="0">
              <a:buNone/>
            </a:pPr>
            <a:r>
              <a:rPr lang="en-US" sz="1200" b="1" spc="100" kern="0" dirty="0">
                <a:solidFill>
                  <a:srgbClr val="630031"/>
                </a:solidFill>
                <a:latin typeface="Calibri" pitchFamily="34" charset="0"/>
                <a:ea typeface="Calibri" pitchFamily="34" charset="-122"/>
                <a:cs typeface="Calibri" pitchFamily="34" charset="-120"/>
              </a:rPr>
              <a:t>It passes when</a:t>
            </a:r>
            <a:endParaRPr lang="en-US" sz="1200" dirty="0"/>
          </a:p>
        </p:txBody>
      </p:sp>
      <p:sp>
        <p:nvSpPr>
          <p:cNvPr id="7" name="Text 5"/>
          <p:cNvSpPr txBox="1"/>
          <p:nvPr/>
        </p:nvSpPr>
        <p:spPr>
          <a:xfrm>
            <a:off x="9921240" y="1783080"/>
            <a:ext cx="1627632" cy="274320"/>
          </a:xfrm>
          <a:prstGeom prst="rect">
            <a:avLst/>
          </a:prstGeom>
          <a:noFill/>
          <a:ln/>
        </p:spPr>
        <p:txBody>
          <a:bodyPr wrap="square" lIns="0" tIns="0" rIns="0" bIns="0" rtlCol="0" anchor="ctr"/>
          <a:lstStyle/>
          <a:p>
            <a:pPr indent="0" marL="0">
              <a:buNone/>
            </a:pPr>
            <a:r>
              <a:rPr lang="en-US" sz="1200" b="1" spc="100" kern="0" dirty="0">
                <a:solidFill>
                  <a:srgbClr val="630031"/>
                </a:solidFill>
                <a:latin typeface="Calibri" pitchFamily="34" charset="0"/>
                <a:ea typeface="Calibri" pitchFamily="34" charset="-122"/>
                <a:cs typeface="Calibri" pitchFamily="34" charset="-120"/>
              </a:rPr>
              <a:t>Came from</a:t>
            </a:r>
            <a:endParaRPr lang="en-US" sz="1200" dirty="0"/>
          </a:p>
        </p:txBody>
      </p:sp>
      <p:sp>
        <p:nvSpPr>
          <p:cNvPr id="8" name="Shape 6"/>
          <p:cNvSpPr/>
          <p:nvPr/>
        </p:nvSpPr>
        <p:spPr>
          <a:xfrm>
            <a:off x="640080" y="2084832"/>
            <a:ext cx="10911535" cy="914400"/>
          </a:xfrm>
          <a:prstGeom prst="roundRect">
            <a:avLst>
              <a:gd name="adj" fmla="val 9000"/>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9" name="Text 7"/>
          <p:cNvSpPr txBox="1"/>
          <p:nvPr/>
        </p:nvSpPr>
        <p:spPr>
          <a:xfrm>
            <a:off x="640080" y="2194560"/>
            <a:ext cx="457200" cy="731520"/>
          </a:xfrm>
          <a:prstGeom prst="rect">
            <a:avLst/>
          </a:prstGeom>
          <a:noFill/>
          <a:ln/>
        </p:spPr>
        <p:txBody>
          <a:bodyPr wrap="square" lIns="0" tIns="0" rIns="0" bIns="0" rtlCol="0" anchor="t"/>
          <a:lstStyle/>
          <a:p>
            <a:pPr indent="0" marL="0">
              <a:lnSpc>
                <a:spcPts val="1600"/>
              </a:lnSpc>
              <a:buNone/>
            </a:pPr>
            <a:r>
              <a:rPr lang="en-US" sz="1250" dirty="0">
                <a:solidFill>
                  <a:srgbClr val="1C1A19"/>
                </a:solidFill>
                <a:latin typeface="Calibri" pitchFamily="34" charset="0"/>
                <a:ea typeface="Calibri" pitchFamily="34" charset="-122"/>
                <a:cs typeface="Calibri" pitchFamily="34" charset="-120"/>
              </a:rPr>
              <a:t>T1</a:t>
            </a:r>
            <a:endParaRPr lang="en-US" sz="1250" dirty="0"/>
          </a:p>
        </p:txBody>
      </p:sp>
      <p:sp>
        <p:nvSpPr>
          <p:cNvPr id="10" name="Text 8"/>
          <p:cNvSpPr txBox="1"/>
          <p:nvPr/>
        </p:nvSpPr>
        <p:spPr>
          <a:xfrm>
            <a:off x="1280160" y="2194560"/>
            <a:ext cx="4251960" cy="731520"/>
          </a:xfrm>
          <a:prstGeom prst="rect">
            <a:avLst/>
          </a:prstGeom>
          <a:noFill/>
          <a:ln/>
        </p:spPr>
        <p:txBody>
          <a:bodyPr wrap="square" lIns="0" tIns="0" rIns="0" bIns="0" rtlCol="0" anchor="t"/>
          <a:lstStyle/>
          <a:p>
            <a:pPr indent="0" marL="0">
              <a:lnSpc>
                <a:spcPts val="1600"/>
              </a:lnSpc>
              <a:buNone/>
            </a:pPr>
            <a:r>
              <a:rPr lang="en-US" sz="1250" dirty="0">
                <a:solidFill>
                  <a:srgbClr val="1C1A19"/>
                </a:solidFill>
                <a:latin typeface="Calibri" pitchFamily="34" charset="0"/>
                <a:ea typeface="Calibri" pitchFamily="34" charset="-122"/>
                <a:cs typeface="Calibri" pitchFamily="34" charset="-120"/>
              </a:rPr>
              <a:t>Set it up so that I am signed in as a teacher.</a:t>
            </a:r>
            <a:endParaRPr lang="en-US" sz="1250" dirty="0"/>
          </a:p>
          <a:p>
            <a:pPr indent="0" marL="0">
              <a:lnSpc>
                <a:spcPts val="1600"/>
              </a:lnSpc>
              <a:buNone/>
            </a:pPr>
            <a:r>
              <a:rPr lang="en-US" sz="1250" dirty="0">
                <a:solidFill>
                  <a:srgbClr val="1C1A19"/>
                </a:solidFill>
                <a:latin typeface="Calibri" pitchFamily="34" charset="0"/>
                <a:ea typeface="Calibri" pitchFamily="34" charset="-122"/>
                <a:cs typeface="Calibri" pitchFamily="34" charset="-120"/>
              </a:rPr>
              <a:t>I add 10 points to Gryffindor.</a:t>
            </a:r>
            <a:endParaRPr lang="en-US" sz="1250" dirty="0"/>
          </a:p>
        </p:txBody>
      </p:sp>
      <p:sp>
        <p:nvSpPr>
          <p:cNvPr id="11" name="Text 9"/>
          <p:cNvSpPr txBox="1"/>
          <p:nvPr/>
        </p:nvSpPr>
        <p:spPr>
          <a:xfrm>
            <a:off x="5715000" y="2194560"/>
            <a:ext cx="4023360" cy="731520"/>
          </a:xfrm>
          <a:prstGeom prst="rect">
            <a:avLst/>
          </a:prstGeom>
          <a:noFill/>
          <a:ln/>
        </p:spPr>
        <p:txBody>
          <a:bodyPr wrap="square" lIns="0" tIns="0" rIns="0" bIns="0" rtlCol="0" anchor="t"/>
          <a:lstStyle/>
          <a:p>
            <a:pPr indent="0" marL="0">
              <a:lnSpc>
                <a:spcPts val="1600"/>
              </a:lnSpc>
              <a:buNone/>
            </a:pPr>
            <a:r>
              <a:rPr lang="en-US" sz="1250" dirty="0">
                <a:solidFill>
                  <a:srgbClr val="1C1A19"/>
                </a:solidFill>
                <a:latin typeface="Calibri" pitchFamily="34" charset="0"/>
                <a:ea typeface="Calibri" pitchFamily="34" charset="-122"/>
                <a:cs typeface="Calibri" pitchFamily="34" charset="-120"/>
              </a:rPr>
              <a:t>The scoreboard shows 10 more</a:t>
            </a:r>
            <a:endParaRPr lang="en-US" sz="1250" dirty="0"/>
          </a:p>
        </p:txBody>
      </p:sp>
      <p:sp>
        <p:nvSpPr>
          <p:cNvPr id="12" name="Text 10"/>
          <p:cNvSpPr txBox="1"/>
          <p:nvPr/>
        </p:nvSpPr>
        <p:spPr>
          <a:xfrm>
            <a:off x="9921240" y="2194560"/>
            <a:ext cx="1627632" cy="731520"/>
          </a:xfrm>
          <a:prstGeom prst="rect">
            <a:avLst/>
          </a:prstGeom>
          <a:noFill/>
          <a:ln/>
        </p:spPr>
        <p:txBody>
          <a:bodyPr wrap="square" lIns="0" tIns="0" rIns="0" bIns="0" rtlCol="0" anchor="t"/>
          <a:lstStyle/>
          <a:p>
            <a:pPr indent="0" marL="0">
              <a:lnSpc>
                <a:spcPts val="1600"/>
              </a:lnSpc>
              <a:buNone/>
            </a:pPr>
            <a:r>
              <a:rPr lang="en-US" sz="1250" dirty="0">
                <a:solidFill>
                  <a:srgbClr val="75787B"/>
                </a:solidFill>
                <a:latin typeface="Calibri" pitchFamily="34" charset="0"/>
                <a:ea typeface="Calibri" pitchFamily="34" charset="-122"/>
                <a:cs typeface="Calibri" pitchFamily="34" charset="-120"/>
              </a:rPr>
              <a:t>Your scenario</a:t>
            </a:r>
            <a:endParaRPr lang="en-US" sz="1250" dirty="0"/>
          </a:p>
        </p:txBody>
      </p:sp>
      <p:sp>
        <p:nvSpPr>
          <p:cNvPr id="13" name="Shape 11"/>
          <p:cNvSpPr/>
          <p:nvPr/>
        </p:nvSpPr>
        <p:spPr>
          <a:xfrm>
            <a:off x="640080" y="3136392"/>
            <a:ext cx="10911535" cy="914400"/>
          </a:xfrm>
          <a:prstGeom prst="roundRect">
            <a:avLst>
              <a:gd name="adj" fmla="val 9000"/>
            </a:avLst>
          </a:prstGeom>
          <a:solidFill>
            <a:srgbClr val="FBF0EA"/>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4" name="Text 12"/>
          <p:cNvSpPr txBox="1"/>
          <p:nvPr/>
        </p:nvSpPr>
        <p:spPr>
          <a:xfrm>
            <a:off x="640080" y="3246120"/>
            <a:ext cx="457200" cy="731520"/>
          </a:xfrm>
          <a:prstGeom prst="rect">
            <a:avLst/>
          </a:prstGeom>
          <a:noFill/>
          <a:ln/>
        </p:spPr>
        <p:txBody>
          <a:bodyPr wrap="square" lIns="0" tIns="0" rIns="0" bIns="0" rtlCol="0" anchor="t"/>
          <a:lstStyle/>
          <a:p>
            <a:pPr indent="0" marL="0">
              <a:lnSpc>
                <a:spcPts val="1600"/>
              </a:lnSpc>
              <a:buNone/>
            </a:pPr>
            <a:r>
              <a:rPr lang="en-US" sz="1250" dirty="0">
                <a:solidFill>
                  <a:srgbClr val="1C1A19"/>
                </a:solidFill>
                <a:latin typeface="Calibri" pitchFamily="34" charset="0"/>
                <a:ea typeface="Calibri" pitchFamily="34" charset="-122"/>
                <a:cs typeface="Calibri" pitchFamily="34" charset="-120"/>
              </a:rPr>
              <a:t>T2</a:t>
            </a:r>
            <a:endParaRPr lang="en-US" sz="1250" dirty="0"/>
          </a:p>
        </p:txBody>
      </p:sp>
      <p:sp>
        <p:nvSpPr>
          <p:cNvPr id="15" name="Text 13"/>
          <p:cNvSpPr txBox="1"/>
          <p:nvPr/>
        </p:nvSpPr>
        <p:spPr>
          <a:xfrm>
            <a:off x="1280160" y="3246120"/>
            <a:ext cx="4251960" cy="731520"/>
          </a:xfrm>
          <a:prstGeom prst="rect">
            <a:avLst/>
          </a:prstGeom>
          <a:noFill/>
          <a:ln/>
        </p:spPr>
        <p:txBody>
          <a:bodyPr wrap="square" lIns="0" tIns="0" rIns="0" bIns="0" rtlCol="0" anchor="t"/>
          <a:lstStyle/>
          <a:p>
            <a:pPr indent="0" marL="0">
              <a:lnSpc>
                <a:spcPts val="1600"/>
              </a:lnSpc>
              <a:buNone/>
            </a:pPr>
            <a:r>
              <a:rPr lang="en-US" sz="1250" b="1" dirty="0">
                <a:solidFill>
                  <a:srgbClr val="CF4420"/>
                </a:solidFill>
                <a:latin typeface="Calibri" pitchFamily="34" charset="0"/>
                <a:ea typeface="Calibri" pitchFamily="34" charset="-122"/>
                <a:cs typeface="Calibri" pitchFamily="34" charset="-120"/>
              </a:rPr>
              <a:t>You write this. What would you actually do</a:t>
            </a:r>
            <a:endParaRPr lang="en-US" sz="1250" dirty="0"/>
          </a:p>
          <a:p>
            <a:pPr indent="0" marL="0">
              <a:lnSpc>
                <a:spcPts val="1600"/>
              </a:lnSpc>
              <a:buNone/>
            </a:pPr>
            <a:r>
              <a:rPr lang="en-US" sz="1250" b="1" dirty="0">
                <a:solidFill>
                  <a:srgbClr val="CF4420"/>
                </a:solidFill>
                <a:latin typeface="Calibri" pitchFamily="34" charset="0"/>
                <a:ea typeface="Calibri" pitchFamily="34" charset="-122"/>
                <a:cs typeface="Calibri" pitchFamily="34" charset="-120"/>
              </a:rPr>
              <a:t>to find out?</a:t>
            </a:r>
            <a:endParaRPr lang="en-US" sz="1250" dirty="0"/>
          </a:p>
        </p:txBody>
      </p:sp>
      <p:sp>
        <p:nvSpPr>
          <p:cNvPr id="16" name="Text 14"/>
          <p:cNvSpPr txBox="1"/>
          <p:nvPr/>
        </p:nvSpPr>
        <p:spPr>
          <a:xfrm>
            <a:off x="5715000" y="3246120"/>
            <a:ext cx="4023360" cy="731520"/>
          </a:xfrm>
          <a:prstGeom prst="rect">
            <a:avLst/>
          </a:prstGeom>
          <a:noFill/>
          <a:ln/>
        </p:spPr>
        <p:txBody>
          <a:bodyPr wrap="square" lIns="0" tIns="0" rIns="0" bIns="0" rtlCol="0" anchor="t"/>
          <a:lstStyle/>
          <a:p>
            <a:pPr indent="0" marL="0">
              <a:lnSpc>
                <a:spcPts val="1600"/>
              </a:lnSpc>
              <a:buNone/>
            </a:pPr>
            <a:r>
              <a:rPr lang="en-US" sz="1250" dirty="0">
                <a:solidFill>
                  <a:srgbClr val="1C1A19"/>
                </a:solidFill>
                <a:latin typeface="Calibri" pitchFamily="34" charset="0"/>
                <a:ea typeface="Calibri" pitchFamily="34" charset="-122"/>
                <a:cs typeface="Calibri" pitchFamily="34" charset="-120"/>
              </a:rPr>
              <a:t>A teacher can add up to 50 points at a time</a:t>
            </a:r>
            <a:endParaRPr lang="en-US" sz="1250" dirty="0"/>
          </a:p>
        </p:txBody>
      </p:sp>
      <p:sp>
        <p:nvSpPr>
          <p:cNvPr id="17" name="Text 15"/>
          <p:cNvSpPr txBox="1"/>
          <p:nvPr/>
        </p:nvSpPr>
        <p:spPr>
          <a:xfrm>
            <a:off x="9921240" y="3246120"/>
            <a:ext cx="1627632" cy="731520"/>
          </a:xfrm>
          <a:prstGeom prst="rect">
            <a:avLst/>
          </a:prstGeom>
          <a:noFill/>
          <a:ln/>
        </p:spPr>
        <p:txBody>
          <a:bodyPr wrap="square" lIns="0" tIns="0" rIns="0" bIns="0" rtlCol="0" anchor="t"/>
          <a:lstStyle/>
          <a:p>
            <a:pPr indent="0" marL="0">
              <a:lnSpc>
                <a:spcPts val="1600"/>
              </a:lnSpc>
              <a:buNone/>
            </a:pPr>
            <a:r>
              <a:rPr lang="en-US" sz="1250" dirty="0">
                <a:solidFill>
                  <a:srgbClr val="75787B"/>
                </a:solidFill>
                <a:latin typeface="Calibri" pitchFamily="34" charset="0"/>
                <a:ea typeface="Calibri" pitchFamily="34" charset="-122"/>
                <a:cs typeface="Calibri" pitchFamily="34" charset="-120"/>
              </a:rPr>
              <a:t>A criterion</a:t>
            </a:r>
            <a:endParaRPr lang="en-US" sz="1250" dirty="0"/>
          </a:p>
        </p:txBody>
      </p:sp>
      <p:sp>
        <p:nvSpPr>
          <p:cNvPr id="18" name="Shape 16"/>
          <p:cNvSpPr/>
          <p:nvPr/>
        </p:nvSpPr>
        <p:spPr>
          <a:xfrm>
            <a:off x="640080" y="4434840"/>
            <a:ext cx="10911535" cy="1234440"/>
          </a:xfrm>
          <a:prstGeom prst="roundRect">
            <a:avLst>
              <a:gd name="adj" fmla="val 6667"/>
            </a:avLst>
          </a:prstGeom>
          <a:solidFill>
            <a:srgbClr val="EFF2EE"/>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9" name="Text 17"/>
          <p:cNvSpPr txBox="1"/>
          <p:nvPr/>
        </p:nvSpPr>
        <p:spPr>
          <a:xfrm>
            <a:off x="960120" y="4617720"/>
            <a:ext cx="10271455" cy="365760"/>
          </a:xfrm>
          <a:prstGeom prst="rect">
            <a:avLst/>
          </a:prstGeom>
          <a:noFill/>
          <a:ln/>
        </p:spPr>
        <p:txBody>
          <a:bodyPr wrap="square" lIns="0" tIns="0" rIns="0" bIns="0" rtlCol="0" anchor="ctr"/>
          <a:lstStyle/>
          <a:p>
            <a:pPr indent="0" marL="0">
              <a:buNone/>
            </a:pPr>
            <a:r>
              <a:rPr lang="en-US" sz="1900" b="1" dirty="0">
                <a:solidFill>
                  <a:srgbClr val="2E4A3B"/>
                </a:solidFill>
                <a:latin typeface="Cambria" pitchFamily="34" charset="0"/>
                <a:ea typeface="Cambria" pitchFamily="34" charset="-122"/>
                <a:cs typeface="Cambria" pitchFamily="34" charset="-120"/>
              </a:rPr>
              <a:t>The scenario filled in both columns. The criterion only filled in one.</a:t>
            </a:r>
            <a:endParaRPr lang="en-US" sz="1900" dirty="0"/>
          </a:p>
        </p:txBody>
      </p:sp>
      <p:sp>
        <p:nvSpPr>
          <p:cNvPr id="20" name="Text 18"/>
          <p:cNvSpPr txBox="1"/>
          <p:nvPr/>
        </p:nvSpPr>
        <p:spPr>
          <a:xfrm>
            <a:off x="960120" y="5029200"/>
            <a:ext cx="10271455" cy="548640"/>
          </a:xfrm>
          <a:prstGeom prst="rect">
            <a:avLst/>
          </a:prstGeom>
          <a:noFill/>
          <a:ln/>
        </p:spPr>
        <p:txBody>
          <a:bodyPr wrap="square" lIns="0" tIns="0" rIns="0" bIns="0" rtlCol="0" anchor="ctr"/>
          <a:lstStyle/>
          <a:p>
            <a:pPr indent="0" marL="0">
              <a:lnSpc>
                <a:spcPts val="1800"/>
              </a:lnSpc>
              <a:buNone/>
            </a:pPr>
            <a:r>
              <a:rPr lang="en-US" sz="1350" dirty="0">
                <a:solidFill>
                  <a:srgbClr val="1C1A19"/>
                </a:solidFill>
                <a:latin typeface="Calibri" pitchFamily="34" charset="0"/>
                <a:ea typeface="Calibri" pitchFamily="34" charset="-122"/>
                <a:cs typeface="Calibri" pitchFamily="34" charset="-120"/>
              </a:rPr>
              <a:t>A criterion tells you what has to be true. It never tells you what somebody does. That is what three extra lines of Given, When and Then buys you, and it is why they are worth typing.</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F1"/>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56032"/>
          </a:xfrm>
          <a:prstGeom prst="rect">
            <a:avLst/>
          </a:prstGeom>
          <a:noFill/>
          <a:ln/>
        </p:spPr>
        <p:txBody>
          <a:bodyPr wrap="square" lIns="0" tIns="0" rIns="0" bIns="0" rtlCol="0" anchor="ctr"/>
          <a:lstStyle/>
          <a:p>
            <a:pPr indent="0" marL="0">
              <a:buNone/>
            </a:pPr>
            <a:r>
              <a:rPr lang="en-US" sz="1200" b="1" spc="200" kern="0" dirty="0">
                <a:solidFill>
                  <a:srgbClr val="CF4420"/>
                </a:solidFill>
                <a:latin typeface="Calibri" pitchFamily="34" charset="0"/>
                <a:ea typeface="Calibri" pitchFamily="34" charset="-122"/>
                <a:cs typeface="Calibri" pitchFamily="34" charset="-120"/>
              </a:rPr>
              <a:t>READ THIS BEFORE YOU ARGUE WITH IT</a:t>
            </a:r>
            <a:endParaRPr lang="en-US" sz="1200" dirty="0"/>
          </a:p>
        </p:txBody>
      </p:sp>
      <p:sp>
        <p:nvSpPr>
          <p:cNvPr id="3" name="Text 1"/>
          <p:cNvSpPr txBox="1"/>
          <p:nvPr/>
        </p:nvSpPr>
        <p:spPr>
          <a:xfrm>
            <a:off x="640080" y="658368"/>
            <a:ext cx="10911535" cy="777240"/>
          </a:xfrm>
          <a:prstGeom prst="rect">
            <a:avLst/>
          </a:prstGeom>
          <a:noFill/>
          <a:ln/>
        </p:spPr>
        <p:txBody>
          <a:bodyPr wrap="square" lIns="0" tIns="0" rIns="0" bIns="0" rtlCol="0" anchor="t"/>
          <a:lstStyle/>
          <a:p>
            <a:pPr indent="0" marL="0">
              <a:buNone/>
            </a:pPr>
            <a:r>
              <a:rPr lang="en-US" sz="3400" b="1" dirty="0">
                <a:solidFill>
                  <a:srgbClr val="630031"/>
                </a:solidFill>
                <a:latin typeface="Cambria" pitchFamily="34" charset="0"/>
                <a:ea typeface="Cambria" pitchFamily="34" charset="-122"/>
                <a:cs typeface="Cambria" pitchFamily="34" charset="-120"/>
              </a:rPr>
              <a:t>What your own stories already told us</a:t>
            </a:r>
            <a:endParaRPr lang="en-US" sz="3400" dirty="0"/>
          </a:p>
        </p:txBody>
      </p:sp>
      <p:sp>
        <p:nvSpPr>
          <p:cNvPr id="4" name="Shape 2"/>
          <p:cNvSpPr/>
          <p:nvPr/>
        </p:nvSpPr>
        <p:spPr>
          <a:xfrm>
            <a:off x="640080" y="1783080"/>
            <a:ext cx="5577840" cy="3200400"/>
          </a:xfrm>
          <a:prstGeom prst="roundRect">
            <a:avLst>
              <a:gd name="adj" fmla="val 2571"/>
            </a:avLst>
          </a:prstGeom>
          <a:solidFill>
            <a:srgbClr val="FBF0EA"/>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5" name="Text 3"/>
          <p:cNvSpPr txBox="1"/>
          <p:nvPr/>
        </p:nvSpPr>
        <p:spPr>
          <a:xfrm>
            <a:off x="960120" y="1993392"/>
            <a:ext cx="4937760" cy="292608"/>
          </a:xfrm>
          <a:prstGeom prst="rect">
            <a:avLst/>
          </a:prstGeom>
          <a:noFill/>
          <a:ln/>
        </p:spPr>
        <p:txBody>
          <a:bodyPr wrap="square" lIns="0" tIns="0" rIns="0" bIns="0" rtlCol="0" anchor="ctr"/>
          <a:lstStyle/>
          <a:p>
            <a:pPr indent="0" marL="0">
              <a:buNone/>
            </a:pPr>
            <a:r>
              <a:rPr lang="en-US" sz="1200" b="1" spc="100" kern="0" dirty="0">
                <a:solidFill>
                  <a:srgbClr val="CF4420"/>
                </a:solidFill>
                <a:latin typeface="Calibri" pitchFamily="34" charset="0"/>
                <a:ea typeface="Calibri" pitchFamily="34" charset="-122"/>
                <a:cs typeface="Calibri" pitchFamily="34" charset="-120"/>
              </a:rPr>
              <a:t>One team wrote this</a:t>
            </a:r>
            <a:endParaRPr lang="en-US" sz="1200" dirty="0"/>
          </a:p>
        </p:txBody>
      </p:sp>
      <p:sp>
        <p:nvSpPr>
          <p:cNvPr id="6" name="Text 4"/>
          <p:cNvSpPr txBox="1"/>
          <p:nvPr/>
        </p:nvSpPr>
        <p:spPr>
          <a:xfrm>
            <a:off x="960120" y="2377440"/>
            <a:ext cx="4937760" cy="822960"/>
          </a:xfrm>
          <a:prstGeom prst="rect">
            <a:avLst/>
          </a:prstGeom>
          <a:noFill/>
          <a:ln/>
        </p:spPr>
        <p:txBody>
          <a:bodyPr wrap="square" lIns="0" tIns="0" rIns="0" bIns="0" rtlCol="0" anchor="ctr"/>
          <a:lstStyle/>
          <a:p>
            <a:pPr indent="0" marL="0">
              <a:lnSpc>
                <a:spcPts val="2700"/>
              </a:lnSpc>
              <a:buNone/>
            </a:pPr>
            <a:r>
              <a:rPr lang="en-US" sz="2000" i="1" dirty="0">
                <a:solidFill>
                  <a:srgbClr val="1C1A19"/>
                </a:solidFill>
                <a:latin typeface="Cambria" pitchFamily="34" charset="0"/>
                <a:ea typeface="Cambria" pitchFamily="34" charset="-122"/>
                <a:cs typeface="Cambria" pitchFamily="34" charset="-120"/>
              </a:rPr>
              <a:t>“The animation must be entertaining</a:t>
            </a:r>
            <a:endParaRPr lang="en-US" sz="2000" dirty="0"/>
          </a:p>
          <a:p>
            <a:pPr indent="0" marL="0">
              <a:lnSpc>
                <a:spcPts val="2700"/>
              </a:lnSpc>
              <a:buNone/>
            </a:pPr>
            <a:r>
              <a:rPr lang="en-US" sz="2000" i="1" dirty="0">
                <a:solidFill>
                  <a:srgbClr val="1C1A19"/>
                </a:solidFill>
                <a:latin typeface="Cambria" pitchFamily="34" charset="0"/>
                <a:ea typeface="Cambria" pitchFamily="34" charset="-122"/>
                <a:cs typeface="Cambria" pitchFamily="34" charset="-120"/>
              </a:rPr>
              <a:t>to as many people as possible.”</a:t>
            </a:r>
            <a:endParaRPr lang="en-US" sz="2000" dirty="0"/>
          </a:p>
        </p:txBody>
      </p:sp>
      <p:sp>
        <p:nvSpPr>
          <p:cNvPr id="7" name="Text 5"/>
          <p:cNvSpPr txBox="1"/>
          <p:nvPr/>
        </p:nvSpPr>
        <p:spPr>
          <a:xfrm>
            <a:off x="960120" y="3310128"/>
            <a:ext cx="4937760" cy="1143000"/>
          </a:xfrm>
          <a:prstGeom prst="rect">
            <a:avLst/>
          </a:prstGeom>
          <a:noFill/>
          <a:ln/>
        </p:spPr>
        <p:txBody>
          <a:bodyPr wrap="square" lIns="0" tIns="0" rIns="0" bIns="0" rtlCol="0" anchor="ctr"/>
          <a:lstStyle/>
          <a:p>
            <a:pPr indent="0" marL="0">
              <a:lnSpc>
                <a:spcPts val="1800"/>
              </a:lnSpc>
              <a:buNone/>
            </a:pPr>
            <a:r>
              <a:rPr lang="en-US" sz="1350" dirty="0">
                <a:solidFill>
                  <a:srgbClr val="1C1A19"/>
                </a:solidFill>
                <a:latin typeface="Calibri" pitchFamily="34" charset="0"/>
                <a:ea typeface="Calibri" pitchFamily="34" charset="-122"/>
                <a:cs typeface="Calibri" pitchFamily="34" charset="-120"/>
              </a:rPr>
              <a:t>That is a real thing to want, and there is no way to look at a screen and check it. So it produces no test, and a note explaining why.</a:t>
            </a:r>
            <a:endParaRPr lang="en-US" sz="1350" dirty="0"/>
          </a:p>
          <a:p>
            <a:pPr indent="0" marL="0">
              <a:lnSpc>
                <a:spcPts val="1800"/>
              </a:lnSpc>
              <a:buNone/>
            </a:pPr>
            <a:endParaRPr lang="en-US" sz="1350" dirty="0"/>
          </a:p>
          <a:p>
            <a:pPr indent="0" marL="0">
              <a:lnSpc>
                <a:spcPts val="1800"/>
              </a:lnSpc>
              <a:buNone/>
            </a:pPr>
            <a:r>
              <a:rPr lang="en-US" sz="1350" dirty="0">
                <a:solidFill>
                  <a:srgbClr val="1C1A19"/>
                </a:solidFill>
                <a:latin typeface="Calibri" pitchFamily="34" charset="0"/>
                <a:ea typeface="Calibri" pitchFamily="34" charset="-122"/>
                <a:cs typeface="Calibri" pitchFamily="34" charset="-120"/>
              </a:rPr>
              <a:t>It is not a bad idea. It is an idea that is not finished yet.</a:t>
            </a:r>
            <a:endParaRPr lang="en-US" sz="1350" dirty="0"/>
          </a:p>
        </p:txBody>
      </p:sp>
      <p:sp>
        <p:nvSpPr>
          <p:cNvPr id="8" name="Shape 6"/>
          <p:cNvSpPr/>
          <p:nvPr/>
        </p:nvSpPr>
        <p:spPr>
          <a:xfrm>
            <a:off x="6583680" y="1783080"/>
            <a:ext cx="4967935" cy="1005840"/>
          </a:xfrm>
          <a:prstGeom prst="roundRect">
            <a:avLst>
              <a:gd name="adj" fmla="val 8182"/>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9" name="Text 7"/>
          <p:cNvSpPr txBox="1"/>
          <p:nvPr/>
        </p:nvSpPr>
        <p:spPr>
          <a:xfrm>
            <a:off x="6812280" y="1783080"/>
            <a:ext cx="914400" cy="1005840"/>
          </a:xfrm>
          <a:prstGeom prst="rect">
            <a:avLst/>
          </a:prstGeom>
          <a:noFill/>
          <a:ln/>
        </p:spPr>
        <p:txBody>
          <a:bodyPr wrap="square" lIns="0" tIns="0" rIns="0" bIns="0" rtlCol="0" anchor="ctr"/>
          <a:lstStyle/>
          <a:p>
            <a:pPr indent="0" marL="0">
              <a:buNone/>
            </a:pPr>
            <a:r>
              <a:rPr lang="en-US" sz="3000" b="1" dirty="0">
                <a:solidFill>
                  <a:srgbClr val="630031"/>
                </a:solidFill>
                <a:latin typeface="Cambria" pitchFamily="34" charset="0"/>
                <a:ea typeface="Cambria" pitchFamily="34" charset="-122"/>
                <a:cs typeface="Cambria" pitchFamily="34" charset="-120"/>
              </a:rPr>
              <a:t>161</a:t>
            </a:r>
            <a:endParaRPr lang="en-US" sz="3000" dirty="0"/>
          </a:p>
        </p:txBody>
      </p:sp>
      <p:sp>
        <p:nvSpPr>
          <p:cNvPr id="10" name="Text 8"/>
          <p:cNvSpPr txBox="1"/>
          <p:nvPr/>
        </p:nvSpPr>
        <p:spPr>
          <a:xfrm>
            <a:off x="7772400" y="1892808"/>
            <a:ext cx="3550615" cy="786384"/>
          </a:xfrm>
          <a:prstGeom prst="rect">
            <a:avLst/>
          </a:prstGeom>
          <a:noFill/>
          <a:ln/>
        </p:spPr>
        <p:txBody>
          <a:bodyPr wrap="square" lIns="0" tIns="0" rIns="0" bIns="0" rtlCol="0" anchor="ctr"/>
          <a:lstStyle/>
          <a:p>
            <a:pPr indent="0" marL="0">
              <a:lnSpc>
                <a:spcPts val="1600"/>
              </a:lnSpc>
              <a:buNone/>
            </a:pPr>
            <a:r>
              <a:rPr lang="en-US" sz="1250" dirty="0">
                <a:solidFill>
                  <a:srgbClr val="1C1A19"/>
                </a:solidFill>
                <a:latin typeface="Calibri" pitchFamily="34" charset="0"/>
                <a:ea typeface="Calibri" pitchFamily="34" charset="-122"/>
                <a:cs typeface="Calibri" pitchFamily="34" charset="-120"/>
              </a:rPr>
              <a:t>tests came out of your 40 stories</a:t>
            </a:r>
            <a:endParaRPr lang="en-US" sz="1250" dirty="0"/>
          </a:p>
        </p:txBody>
      </p:sp>
      <p:sp>
        <p:nvSpPr>
          <p:cNvPr id="11" name="Shape 9"/>
          <p:cNvSpPr/>
          <p:nvPr/>
        </p:nvSpPr>
        <p:spPr>
          <a:xfrm>
            <a:off x="6583680" y="2880360"/>
            <a:ext cx="4967935" cy="1005840"/>
          </a:xfrm>
          <a:prstGeom prst="roundRect">
            <a:avLst>
              <a:gd name="adj" fmla="val 8182"/>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2" name="Text 10"/>
          <p:cNvSpPr txBox="1"/>
          <p:nvPr/>
        </p:nvSpPr>
        <p:spPr>
          <a:xfrm>
            <a:off x="6812280" y="2880360"/>
            <a:ext cx="914400" cy="1005840"/>
          </a:xfrm>
          <a:prstGeom prst="rect">
            <a:avLst/>
          </a:prstGeom>
          <a:noFill/>
          <a:ln/>
        </p:spPr>
        <p:txBody>
          <a:bodyPr wrap="square" lIns="0" tIns="0" rIns="0" bIns="0" rtlCol="0" anchor="ctr"/>
          <a:lstStyle/>
          <a:p>
            <a:pPr indent="0" marL="0">
              <a:buNone/>
            </a:pPr>
            <a:r>
              <a:rPr lang="en-US" sz="3000" b="1" dirty="0">
                <a:solidFill>
                  <a:srgbClr val="630031"/>
                </a:solidFill>
                <a:latin typeface="Cambria" pitchFamily="34" charset="0"/>
                <a:ea typeface="Cambria" pitchFamily="34" charset="-122"/>
                <a:cs typeface="Cambria" pitchFamily="34" charset="-120"/>
              </a:rPr>
              <a:t>108</a:t>
            </a:r>
            <a:endParaRPr lang="en-US" sz="3000" dirty="0"/>
          </a:p>
        </p:txBody>
      </p:sp>
      <p:sp>
        <p:nvSpPr>
          <p:cNvPr id="13" name="Text 11"/>
          <p:cNvSpPr txBox="1"/>
          <p:nvPr/>
        </p:nvSpPr>
        <p:spPr>
          <a:xfrm>
            <a:off x="7772400" y="2990088"/>
            <a:ext cx="3550615" cy="786384"/>
          </a:xfrm>
          <a:prstGeom prst="rect">
            <a:avLst/>
          </a:prstGeom>
          <a:noFill/>
          <a:ln/>
        </p:spPr>
        <p:txBody>
          <a:bodyPr wrap="square" lIns="0" tIns="0" rIns="0" bIns="0" rtlCol="0" anchor="ctr"/>
          <a:lstStyle/>
          <a:p>
            <a:pPr indent="0" marL="0">
              <a:lnSpc>
                <a:spcPts val="1600"/>
              </a:lnSpc>
              <a:buNone/>
            </a:pPr>
            <a:r>
              <a:rPr lang="en-US" sz="1250" dirty="0">
                <a:solidFill>
                  <a:srgbClr val="1C1A19"/>
                </a:solidFill>
                <a:latin typeface="Calibri" pitchFamily="34" charset="0"/>
                <a:ea typeface="Calibri" pitchFamily="34" charset="-122"/>
                <a:cs typeface="Calibri" pitchFamily="34" charset="-120"/>
              </a:rPr>
              <a:t>of them are missing their steps, because they came from criteria and not scenarios</a:t>
            </a:r>
            <a:endParaRPr lang="en-US" sz="1250" dirty="0"/>
          </a:p>
        </p:txBody>
      </p:sp>
      <p:sp>
        <p:nvSpPr>
          <p:cNvPr id="14" name="Shape 12"/>
          <p:cNvSpPr/>
          <p:nvPr/>
        </p:nvSpPr>
        <p:spPr>
          <a:xfrm>
            <a:off x="6583680" y="3977640"/>
            <a:ext cx="4967935" cy="1005840"/>
          </a:xfrm>
          <a:prstGeom prst="roundRect">
            <a:avLst>
              <a:gd name="adj" fmla="val 8182"/>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5" name="Text 13"/>
          <p:cNvSpPr txBox="1"/>
          <p:nvPr/>
        </p:nvSpPr>
        <p:spPr>
          <a:xfrm>
            <a:off x="6812280" y="3977640"/>
            <a:ext cx="914400" cy="1005840"/>
          </a:xfrm>
          <a:prstGeom prst="rect">
            <a:avLst/>
          </a:prstGeom>
          <a:noFill/>
          <a:ln/>
        </p:spPr>
        <p:txBody>
          <a:bodyPr wrap="square" lIns="0" tIns="0" rIns="0" bIns="0" rtlCol="0" anchor="ctr"/>
          <a:lstStyle/>
          <a:p>
            <a:pPr indent="0" marL="0">
              <a:buNone/>
            </a:pPr>
            <a:r>
              <a:rPr lang="en-US" sz="3000" b="1" dirty="0">
                <a:solidFill>
                  <a:srgbClr val="630031"/>
                </a:solidFill>
                <a:latin typeface="Cambria" pitchFamily="34" charset="0"/>
                <a:ea typeface="Cambria" pitchFamily="34" charset="-122"/>
                <a:cs typeface="Cambria" pitchFamily="34" charset="-120"/>
              </a:rPr>
              <a:t>14</a:t>
            </a:r>
            <a:endParaRPr lang="en-US" sz="3000" dirty="0"/>
          </a:p>
        </p:txBody>
      </p:sp>
      <p:sp>
        <p:nvSpPr>
          <p:cNvPr id="16" name="Text 14"/>
          <p:cNvSpPr txBox="1"/>
          <p:nvPr/>
        </p:nvSpPr>
        <p:spPr>
          <a:xfrm>
            <a:off x="7772400" y="4087368"/>
            <a:ext cx="3550615" cy="786384"/>
          </a:xfrm>
          <a:prstGeom prst="rect">
            <a:avLst/>
          </a:prstGeom>
          <a:noFill/>
          <a:ln/>
        </p:spPr>
        <p:txBody>
          <a:bodyPr wrap="square" lIns="0" tIns="0" rIns="0" bIns="0" rtlCol="0" anchor="ctr"/>
          <a:lstStyle/>
          <a:p>
            <a:pPr indent="0" marL="0">
              <a:lnSpc>
                <a:spcPts val="1600"/>
              </a:lnSpc>
              <a:buNone/>
            </a:pPr>
            <a:r>
              <a:rPr lang="en-US" sz="1250" dirty="0">
                <a:solidFill>
                  <a:srgbClr val="1C1A19"/>
                </a:solidFill>
                <a:latin typeface="Calibri" pitchFamily="34" charset="0"/>
                <a:ea typeface="Calibri" pitchFamily="34" charset="-122"/>
                <a:cs typeface="Calibri" pitchFamily="34" charset="-120"/>
              </a:rPr>
              <a:t>criteria across the class have no test at all, and every one is somebody's real sentence</a:t>
            </a:r>
            <a:endParaRPr lang="en-US" sz="1250" dirty="0"/>
          </a:p>
        </p:txBody>
      </p:sp>
      <p:sp>
        <p:nvSpPr>
          <p:cNvPr id="17" name="Text 15"/>
          <p:cNvSpPr txBox="1"/>
          <p:nvPr/>
        </p:nvSpPr>
        <p:spPr>
          <a:xfrm>
            <a:off x="640080" y="5257800"/>
            <a:ext cx="10911535" cy="548640"/>
          </a:xfrm>
          <a:prstGeom prst="rect">
            <a:avLst/>
          </a:prstGeom>
          <a:noFill/>
          <a:ln/>
        </p:spPr>
        <p:txBody>
          <a:bodyPr wrap="square" lIns="0" tIns="0" rIns="0" bIns="0" rtlCol="0" anchor="t"/>
          <a:lstStyle/>
          <a:p>
            <a:pPr indent="0" marL="0">
              <a:lnSpc>
                <a:spcPts val="2200"/>
              </a:lnSpc>
              <a:buNone/>
            </a:pPr>
            <a:r>
              <a:rPr lang="en-US" sz="1500" dirty="0">
                <a:solidFill>
                  <a:srgbClr val="75787B"/>
                </a:solidFill>
                <a:latin typeface="Calibri" pitchFamily="34" charset="0"/>
                <a:ea typeface="Calibri" pitchFamily="34" charset="-122"/>
                <a:cs typeface="Calibri" pitchFamily="34" charset="-120"/>
              </a:rPr>
              <a:t>Nobody is in trouble. Every professional team writes criteria like that one, and the good ones notice.</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4A0025"/>
        </a:solidFill>
      </p:bgPr>
    </p:bg>
    <p:spTree>
      <p:nvGrpSpPr>
        <p:cNvPr id="1" name=""/>
        <p:cNvGrpSpPr/>
        <p:nvPr/>
      </p:nvGrpSpPr>
      <p:grpSpPr>
        <a:xfrm>
          <a:off x="0" y="0"/>
          <a:ext cx="0" cy="0"/>
          <a:chOff x="0" y="0"/>
          <a:chExt cx="0" cy="0"/>
        </a:xfrm>
      </p:grpSpPr>
      <p:sp>
        <p:nvSpPr>
          <p:cNvPr id="2" name="Shape 0"/>
          <p:cNvSpPr/>
          <p:nvPr/>
        </p:nvSpPr>
        <p:spPr>
          <a:xfrm>
            <a:off x="9418320" y="1371600"/>
            <a:ext cx="4023360" cy="4023360"/>
          </a:xfrm>
          <a:prstGeom prst="ellipse">
            <a:avLst/>
          </a:prstGeom>
          <a:solidFill>
            <a:srgbClr val="630031"/>
          </a:solidFill>
          <a:ln w="12700">
            <a:solidFill>
              <a:srgbClr val="333333"/>
            </a:solidFill>
            <a:prstDash val="solid"/>
          </a:ln>
        </p:spPr>
      </p:sp>
      <p:sp>
        <p:nvSpPr>
          <p:cNvPr id="3" name="Text 1"/>
          <p:cNvSpPr txBox="1"/>
          <p:nvPr/>
        </p:nvSpPr>
        <p:spPr>
          <a:xfrm>
            <a:off x="640080" y="1965960"/>
            <a:ext cx="2743200" cy="1280160"/>
          </a:xfrm>
          <a:prstGeom prst="rect">
            <a:avLst/>
          </a:prstGeom>
          <a:noFill/>
          <a:ln/>
        </p:spPr>
        <p:txBody>
          <a:bodyPr wrap="square" lIns="0" tIns="0" rIns="0" bIns="0" rtlCol="0" anchor="ctr"/>
          <a:lstStyle/>
          <a:p>
            <a:pPr indent="0" marL="0">
              <a:buNone/>
            </a:pPr>
            <a:r>
              <a:rPr lang="en-US" sz="7200" b="1" dirty="0">
                <a:solidFill>
                  <a:srgbClr val="CF4420"/>
                </a:solidFill>
                <a:latin typeface="Cambria" pitchFamily="34" charset="0"/>
                <a:ea typeface="Cambria" pitchFamily="34" charset="-122"/>
                <a:cs typeface="Cambria" pitchFamily="34" charset="-120"/>
              </a:rPr>
              <a:t>02</a:t>
            </a:r>
            <a:endParaRPr lang="en-US" sz="7200" dirty="0"/>
          </a:p>
        </p:txBody>
      </p:sp>
      <p:sp>
        <p:nvSpPr>
          <p:cNvPr id="4" name="Text 2"/>
          <p:cNvSpPr txBox="1"/>
          <p:nvPr/>
        </p:nvSpPr>
        <p:spPr>
          <a:xfrm>
            <a:off x="640080" y="3200400"/>
            <a:ext cx="7315200" cy="86868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Design it</a:t>
            </a:r>
            <a:endParaRPr lang="en-US" sz="4400" dirty="0"/>
          </a:p>
        </p:txBody>
      </p:sp>
      <p:sp>
        <p:nvSpPr>
          <p:cNvPr id="5" name="Text 3"/>
          <p:cNvSpPr txBox="1"/>
          <p:nvPr/>
        </p:nvSpPr>
        <p:spPr>
          <a:xfrm>
            <a:off x="640080" y="4114800"/>
            <a:ext cx="7498080" cy="548640"/>
          </a:xfrm>
          <a:prstGeom prst="rect">
            <a:avLst/>
          </a:prstGeom>
          <a:noFill/>
          <a:ln/>
        </p:spPr>
        <p:txBody>
          <a:bodyPr wrap="square" lIns="0" tIns="0" rIns="0" bIns="0" rtlCol="0" anchor="ctr"/>
          <a:lstStyle/>
          <a:p>
            <a:pPr indent="0" marL="0">
              <a:buNone/>
            </a:pPr>
            <a:r>
              <a:rPr lang="en-US" sz="1600" dirty="0">
                <a:solidFill>
                  <a:srgbClr val="E9C9D6"/>
                </a:solidFill>
                <a:latin typeface="Calibri" pitchFamily="34" charset="0"/>
                <a:ea typeface="Calibri" pitchFamily="34" charset="-122"/>
                <a:cs typeface="Calibri" pitchFamily="34" charset="-120"/>
              </a:rPr>
              <a:t>Figma, and the reason your layer names matter more than your colours.</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4F1"/>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56032"/>
          </a:xfrm>
          <a:prstGeom prst="rect">
            <a:avLst/>
          </a:prstGeom>
          <a:noFill/>
          <a:ln/>
        </p:spPr>
        <p:txBody>
          <a:bodyPr wrap="square" lIns="0" tIns="0" rIns="0" bIns="0" rtlCol="0" anchor="ctr"/>
          <a:lstStyle/>
          <a:p>
            <a:pPr indent="0" marL="0">
              <a:buNone/>
            </a:pPr>
            <a:r>
              <a:rPr lang="en-US" sz="1200" b="1" spc="200" kern="0" dirty="0">
                <a:solidFill>
                  <a:srgbClr val="CF4420"/>
                </a:solidFill>
                <a:latin typeface="Calibri" pitchFamily="34" charset="0"/>
                <a:ea typeface="Calibri" pitchFamily="34" charset="-122"/>
                <a:cs typeface="Calibri" pitchFamily="34" charset="-120"/>
              </a:rPr>
              <a:t>NOBODY TOLD THE DESIGNERS THIS</a:t>
            </a:r>
            <a:endParaRPr lang="en-US" sz="1200" dirty="0"/>
          </a:p>
        </p:txBody>
      </p:sp>
      <p:sp>
        <p:nvSpPr>
          <p:cNvPr id="3" name="Text 1"/>
          <p:cNvSpPr txBox="1"/>
          <p:nvPr/>
        </p:nvSpPr>
        <p:spPr>
          <a:xfrm>
            <a:off x="640080" y="658368"/>
            <a:ext cx="10911535" cy="777240"/>
          </a:xfrm>
          <a:prstGeom prst="rect">
            <a:avLst/>
          </a:prstGeom>
          <a:noFill/>
          <a:ln/>
        </p:spPr>
        <p:txBody>
          <a:bodyPr wrap="square" lIns="0" tIns="0" rIns="0" bIns="0" rtlCol="0" anchor="t"/>
          <a:lstStyle/>
          <a:p>
            <a:pPr indent="0" marL="0">
              <a:buNone/>
            </a:pPr>
            <a:r>
              <a:rPr lang="en-US" sz="3400" b="1" dirty="0">
                <a:solidFill>
                  <a:srgbClr val="630031"/>
                </a:solidFill>
                <a:latin typeface="Cambria" pitchFamily="34" charset="0"/>
                <a:ea typeface="Cambria" pitchFamily="34" charset="-122"/>
                <a:cs typeface="Cambria" pitchFamily="34" charset="-120"/>
              </a:rPr>
              <a:t>Your team already named every button</a:t>
            </a:r>
            <a:endParaRPr lang="en-US" sz="3400" dirty="0"/>
          </a:p>
        </p:txBody>
      </p:sp>
      <p:sp>
        <p:nvSpPr>
          <p:cNvPr id="4" name="Text 2"/>
          <p:cNvSpPr txBox="1"/>
          <p:nvPr/>
        </p:nvSpPr>
        <p:spPr>
          <a:xfrm>
            <a:off x="640080" y="1737360"/>
            <a:ext cx="8412480" cy="914400"/>
          </a:xfrm>
          <a:prstGeom prst="rect">
            <a:avLst/>
          </a:prstGeom>
          <a:noFill/>
          <a:ln/>
        </p:spPr>
        <p:txBody>
          <a:bodyPr wrap="square" lIns="0" tIns="0" rIns="0" bIns="0" rtlCol="0" anchor="t"/>
          <a:lstStyle/>
          <a:p>
            <a:pPr indent="0" marL="0">
              <a:lnSpc>
                <a:spcPts val="2200"/>
              </a:lnSpc>
              <a:buNone/>
            </a:pPr>
            <a:r>
              <a:rPr lang="en-US" sz="1600" dirty="0">
                <a:solidFill>
                  <a:srgbClr val="1C1A19"/>
                </a:solidFill>
                <a:latin typeface="Calibri" pitchFamily="34" charset="0"/>
                <a:ea typeface="Calibri" pitchFamily="34" charset="-122"/>
                <a:cs typeface="Calibri" pitchFamily="34" charset="-120"/>
              </a:rPr>
              <a:t>Open your team's design brief. It lists every screen in your app, and inside each one, the exact name of every label, box and button. Your builders agreed those names. Nobody wrote the page: it is your architecture, read back as a list of things to draw.</a:t>
            </a:r>
            <a:endParaRPr lang="en-US" sz="1600" dirty="0"/>
          </a:p>
        </p:txBody>
      </p:sp>
      <p:sp>
        <p:nvSpPr>
          <p:cNvPr id="5" name="Shape 3"/>
          <p:cNvSpPr/>
          <p:nvPr/>
        </p:nvSpPr>
        <p:spPr>
          <a:xfrm>
            <a:off x="640080" y="2834640"/>
            <a:ext cx="5486400" cy="2743200"/>
          </a:xfrm>
          <a:prstGeom prst="roundRect">
            <a:avLst>
              <a:gd name="adj" fmla="val 3000"/>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6" name="Text 4"/>
          <p:cNvSpPr txBox="1"/>
          <p:nvPr/>
        </p:nvSpPr>
        <p:spPr>
          <a:xfrm>
            <a:off x="960120" y="3063240"/>
            <a:ext cx="4846320" cy="320040"/>
          </a:xfrm>
          <a:prstGeom prst="rect">
            <a:avLst/>
          </a:prstGeom>
          <a:noFill/>
          <a:ln/>
        </p:spPr>
        <p:txBody>
          <a:bodyPr wrap="square" lIns="0" tIns="0" rIns="0" bIns="0" rtlCol="0" anchor="ctr"/>
          <a:lstStyle/>
          <a:p>
            <a:pPr indent="0" marL="0">
              <a:buNone/>
            </a:pPr>
            <a:r>
              <a:rPr lang="en-US" sz="1700" b="1" dirty="0">
                <a:solidFill>
                  <a:srgbClr val="630031"/>
                </a:solidFill>
                <a:latin typeface="Cambria" pitchFamily="34" charset="0"/>
                <a:ea typeface="Cambria" pitchFamily="34" charset="-122"/>
                <a:cs typeface="Cambria" pitchFamily="34" charset="-120"/>
              </a:rPr>
              <a:t>Scoreboard</a:t>
            </a:r>
            <a:endParaRPr lang="en-US" sz="1700" dirty="0"/>
          </a:p>
        </p:txBody>
      </p:sp>
      <p:sp>
        <p:nvSpPr>
          <p:cNvPr id="7" name="Text 5"/>
          <p:cNvSpPr txBox="1"/>
          <p:nvPr/>
        </p:nvSpPr>
        <p:spPr>
          <a:xfrm>
            <a:off x="960120" y="3547872"/>
            <a:ext cx="2651760" cy="310896"/>
          </a:xfrm>
          <a:prstGeom prst="rect">
            <a:avLst/>
          </a:prstGeom>
          <a:noFill/>
          <a:ln/>
        </p:spPr>
        <p:txBody>
          <a:bodyPr wrap="square" lIns="0" tIns="0" rIns="0" bIns="0" rtlCol="0" anchor="ctr"/>
          <a:lstStyle/>
          <a:p>
            <a:pPr indent="0" marL="0">
              <a:buNone/>
            </a:pPr>
            <a:r>
              <a:rPr lang="en-US" sz="1200" dirty="0">
                <a:solidFill>
                  <a:srgbClr val="1C1A19"/>
                </a:solidFill>
                <a:latin typeface="Courier New" pitchFamily="34" charset="0"/>
                <a:ea typeface="Courier New" pitchFamily="34" charset="-122"/>
                <a:cs typeface="Courier New" pitchFamily="34" charset="-120"/>
              </a:rPr>
              <a:t>rp_houses</a:t>
            </a:r>
            <a:endParaRPr lang="en-US" sz="1200" dirty="0"/>
          </a:p>
        </p:txBody>
      </p:sp>
      <p:sp>
        <p:nvSpPr>
          <p:cNvPr id="8" name="Text 6"/>
          <p:cNvSpPr txBox="1"/>
          <p:nvPr/>
        </p:nvSpPr>
        <p:spPr>
          <a:xfrm>
            <a:off x="3703320" y="3547872"/>
            <a:ext cx="2103120" cy="310896"/>
          </a:xfrm>
          <a:prstGeom prst="rect">
            <a:avLst/>
          </a:prstGeom>
          <a:noFill/>
          <a:ln/>
        </p:spPr>
        <p:txBody>
          <a:bodyPr wrap="square" lIns="0" tIns="0" rIns="0" bIns="0" rtlCol="0" anchor="ctr"/>
          <a:lstStyle/>
          <a:p>
            <a:pPr indent="0" marL="0">
              <a:buNone/>
            </a:pPr>
            <a:r>
              <a:rPr lang="en-US" sz="1150" dirty="0">
                <a:solidFill>
                  <a:srgbClr val="75787B"/>
                </a:solidFill>
                <a:latin typeface="Calibri" pitchFamily="34" charset="0"/>
                <a:ea typeface="Calibri" pitchFamily="34" charset="-122"/>
                <a:cs typeface="Calibri" pitchFamily="34" charset="-120"/>
              </a:rPr>
              <a:t>RepeatingPanel</a:t>
            </a:r>
            <a:endParaRPr lang="en-US" sz="1150" dirty="0"/>
          </a:p>
        </p:txBody>
      </p:sp>
      <p:sp>
        <p:nvSpPr>
          <p:cNvPr id="9" name="Text 7"/>
          <p:cNvSpPr txBox="1"/>
          <p:nvPr/>
        </p:nvSpPr>
        <p:spPr>
          <a:xfrm>
            <a:off x="960120" y="4005072"/>
            <a:ext cx="2651760" cy="310896"/>
          </a:xfrm>
          <a:prstGeom prst="rect">
            <a:avLst/>
          </a:prstGeom>
          <a:noFill/>
          <a:ln/>
        </p:spPr>
        <p:txBody>
          <a:bodyPr wrap="square" lIns="0" tIns="0" rIns="0" bIns="0" rtlCol="0" anchor="ctr"/>
          <a:lstStyle/>
          <a:p>
            <a:pPr indent="0" marL="0">
              <a:buNone/>
            </a:pPr>
            <a:r>
              <a:rPr lang="en-US" sz="1200" dirty="0">
                <a:solidFill>
                  <a:srgbClr val="1C1A19"/>
                </a:solidFill>
                <a:latin typeface="Courier New" pitchFamily="34" charset="0"/>
                <a:ea typeface="Courier New" pitchFamily="34" charset="-122"/>
                <a:cs typeface="Courier New" pitchFamily="34" charset="-120"/>
              </a:rPr>
              <a:t>    ↳ lbl_house_name</a:t>
            </a:r>
            <a:endParaRPr lang="en-US" sz="1200" dirty="0"/>
          </a:p>
        </p:txBody>
      </p:sp>
      <p:sp>
        <p:nvSpPr>
          <p:cNvPr id="10" name="Text 8"/>
          <p:cNvSpPr txBox="1"/>
          <p:nvPr/>
        </p:nvSpPr>
        <p:spPr>
          <a:xfrm>
            <a:off x="3703320" y="4005072"/>
            <a:ext cx="2103120" cy="310896"/>
          </a:xfrm>
          <a:prstGeom prst="rect">
            <a:avLst/>
          </a:prstGeom>
          <a:noFill/>
          <a:ln/>
        </p:spPr>
        <p:txBody>
          <a:bodyPr wrap="square" lIns="0" tIns="0" rIns="0" bIns="0" rtlCol="0" anchor="ctr"/>
          <a:lstStyle/>
          <a:p>
            <a:pPr indent="0" marL="0">
              <a:buNone/>
            </a:pPr>
            <a:r>
              <a:rPr lang="en-US" sz="1150" dirty="0">
                <a:solidFill>
                  <a:srgbClr val="75787B"/>
                </a:solidFill>
                <a:latin typeface="Calibri" pitchFamily="34" charset="0"/>
                <a:ea typeface="Calibri" pitchFamily="34" charset="-122"/>
                <a:cs typeface="Calibri" pitchFamily="34" charset="-120"/>
              </a:rPr>
              <a:t>Label</a:t>
            </a:r>
            <a:endParaRPr lang="en-US" sz="1150" dirty="0"/>
          </a:p>
        </p:txBody>
      </p:sp>
      <p:sp>
        <p:nvSpPr>
          <p:cNvPr id="11" name="Text 9"/>
          <p:cNvSpPr txBox="1"/>
          <p:nvPr/>
        </p:nvSpPr>
        <p:spPr>
          <a:xfrm>
            <a:off x="960120" y="4462272"/>
            <a:ext cx="2651760" cy="310896"/>
          </a:xfrm>
          <a:prstGeom prst="rect">
            <a:avLst/>
          </a:prstGeom>
          <a:noFill/>
          <a:ln/>
        </p:spPr>
        <p:txBody>
          <a:bodyPr wrap="square" lIns="0" tIns="0" rIns="0" bIns="0" rtlCol="0" anchor="ctr"/>
          <a:lstStyle/>
          <a:p>
            <a:pPr indent="0" marL="0">
              <a:buNone/>
            </a:pPr>
            <a:r>
              <a:rPr lang="en-US" sz="1200" dirty="0">
                <a:solidFill>
                  <a:srgbClr val="1C1A19"/>
                </a:solidFill>
                <a:latin typeface="Courier New" pitchFamily="34" charset="0"/>
                <a:ea typeface="Courier New" pitchFamily="34" charset="-122"/>
                <a:cs typeface="Courier New" pitchFamily="34" charset="-120"/>
              </a:rPr>
              <a:t>    ↳ lbl_house_points</a:t>
            </a:r>
            <a:endParaRPr lang="en-US" sz="1200" dirty="0"/>
          </a:p>
        </p:txBody>
      </p:sp>
      <p:sp>
        <p:nvSpPr>
          <p:cNvPr id="12" name="Text 10"/>
          <p:cNvSpPr txBox="1"/>
          <p:nvPr/>
        </p:nvSpPr>
        <p:spPr>
          <a:xfrm>
            <a:off x="3703320" y="4462272"/>
            <a:ext cx="2103120" cy="310896"/>
          </a:xfrm>
          <a:prstGeom prst="rect">
            <a:avLst/>
          </a:prstGeom>
          <a:noFill/>
          <a:ln/>
        </p:spPr>
        <p:txBody>
          <a:bodyPr wrap="square" lIns="0" tIns="0" rIns="0" bIns="0" rtlCol="0" anchor="ctr"/>
          <a:lstStyle/>
          <a:p>
            <a:pPr indent="0" marL="0">
              <a:buNone/>
            </a:pPr>
            <a:r>
              <a:rPr lang="en-US" sz="1150" dirty="0">
                <a:solidFill>
                  <a:srgbClr val="75787B"/>
                </a:solidFill>
                <a:latin typeface="Calibri" pitchFamily="34" charset="0"/>
                <a:ea typeface="Calibri" pitchFamily="34" charset="-122"/>
                <a:cs typeface="Calibri" pitchFamily="34" charset="-120"/>
              </a:rPr>
              <a:t>Label</a:t>
            </a:r>
            <a:endParaRPr lang="en-US" sz="1150" dirty="0"/>
          </a:p>
        </p:txBody>
      </p:sp>
      <p:sp>
        <p:nvSpPr>
          <p:cNvPr id="13" name="Text 11"/>
          <p:cNvSpPr txBox="1"/>
          <p:nvPr/>
        </p:nvSpPr>
        <p:spPr>
          <a:xfrm>
            <a:off x="960120" y="4919472"/>
            <a:ext cx="2651760" cy="310896"/>
          </a:xfrm>
          <a:prstGeom prst="rect">
            <a:avLst/>
          </a:prstGeom>
          <a:noFill/>
          <a:ln/>
        </p:spPr>
        <p:txBody>
          <a:bodyPr wrap="square" lIns="0" tIns="0" rIns="0" bIns="0" rtlCol="0" anchor="ctr"/>
          <a:lstStyle/>
          <a:p>
            <a:pPr indent="0" marL="0">
              <a:buNone/>
            </a:pPr>
            <a:r>
              <a:rPr lang="en-US" sz="1200" dirty="0">
                <a:solidFill>
                  <a:srgbClr val="1C1A19"/>
                </a:solidFill>
                <a:latin typeface="Courier New" pitchFamily="34" charset="0"/>
                <a:ea typeface="Courier New" pitchFamily="34" charset="-122"/>
                <a:cs typeface="Courier New" pitchFamily="34" charset="-120"/>
              </a:rPr>
              <a:t>btn_go_add_points</a:t>
            </a:r>
            <a:endParaRPr lang="en-US" sz="1200" dirty="0"/>
          </a:p>
        </p:txBody>
      </p:sp>
      <p:sp>
        <p:nvSpPr>
          <p:cNvPr id="14" name="Text 12"/>
          <p:cNvSpPr txBox="1"/>
          <p:nvPr/>
        </p:nvSpPr>
        <p:spPr>
          <a:xfrm>
            <a:off x="3703320" y="4919472"/>
            <a:ext cx="2103120" cy="310896"/>
          </a:xfrm>
          <a:prstGeom prst="rect">
            <a:avLst/>
          </a:prstGeom>
          <a:noFill/>
          <a:ln/>
        </p:spPr>
        <p:txBody>
          <a:bodyPr wrap="square" lIns="0" tIns="0" rIns="0" bIns="0" rtlCol="0" anchor="ctr"/>
          <a:lstStyle/>
          <a:p>
            <a:pPr indent="0" marL="0">
              <a:buNone/>
            </a:pPr>
            <a:r>
              <a:rPr lang="en-US" sz="1150" dirty="0">
                <a:solidFill>
                  <a:srgbClr val="75787B"/>
                </a:solidFill>
                <a:latin typeface="Calibri" pitchFamily="34" charset="0"/>
                <a:ea typeface="Calibri" pitchFamily="34" charset="-122"/>
                <a:cs typeface="Calibri" pitchFamily="34" charset="-120"/>
              </a:rPr>
              <a:t>Button, hidden from students</a:t>
            </a:r>
            <a:endParaRPr lang="en-US" sz="1150" dirty="0"/>
          </a:p>
        </p:txBody>
      </p:sp>
      <p:sp>
        <p:nvSpPr>
          <p:cNvPr id="15" name="Shape 13"/>
          <p:cNvSpPr/>
          <p:nvPr/>
        </p:nvSpPr>
        <p:spPr>
          <a:xfrm>
            <a:off x="6492240" y="2834640"/>
            <a:ext cx="5059375" cy="2743200"/>
          </a:xfrm>
          <a:prstGeom prst="roundRect">
            <a:avLst>
              <a:gd name="adj" fmla="val 3000"/>
            </a:avLst>
          </a:prstGeom>
          <a:solidFill>
            <a:srgbClr val="FBF0EA"/>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6" name="Text 14"/>
          <p:cNvSpPr txBox="1"/>
          <p:nvPr/>
        </p:nvSpPr>
        <p:spPr>
          <a:xfrm>
            <a:off x="6812280" y="3063240"/>
            <a:ext cx="4206240" cy="320040"/>
          </a:xfrm>
          <a:prstGeom prst="rect">
            <a:avLst/>
          </a:prstGeom>
          <a:noFill/>
          <a:ln/>
        </p:spPr>
        <p:txBody>
          <a:bodyPr wrap="square" lIns="0" tIns="0" rIns="0" bIns="0" rtlCol="0" anchor="ctr"/>
          <a:lstStyle/>
          <a:p>
            <a:pPr indent="0" marL="0">
              <a:buNone/>
            </a:pPr>
            <a:r>
              <a:rPr lang="en-US" sz="1700" b="1" dirty="0">
                <a:solidFill>
                  <a:srgbClr val="630031"/>
                </a:solidFill>
                <a:latin typeface="Cambria" pitchFamily="34" charset="0"/>
                <a:ea typeface="Cambria" pitchFamily="34" charset="-122"/>
                <a:cs typeface="Cambria" pitchFamily="34" charset="-120"/>
              </a:rPr>
              <a:t>Use these as your Figma layer names</a:t>
            </a:r>
            <a:endParaRPr lang="en-US" sz="1700" dirty="0"/>
          </a:p>
        </p:txBody>
      </p:sp>
      <p:sp>
        <p:nvSpPr>
          <p:cNvPr id="17" name="Text 15"/>
          <p:cNvSpPr txBox="1"/>
          <p:nvPr/>
        </p:nvSpPr>
        <p:spPr>
          <a:xfrm>
            <a:off x="6812280" y="3520440"/>
            <a:ext cx="4297680" cy="1920240"/>
          </a:xfrm>
          <a:prstGeom prst="rect">
            <a:avLst/>
          </a:prstGeom>
          <a:noFill/>
          <a:ln/>
        </p:spPr>
        <p:txBody>
          <a:bodyPr wrap="square" lIns="0" tIns="0" rIns="0" bIns="0" rtlCol="0" anchor="ctr"/>
          <a:lstStyle/>
          <a:p>
            <a:pPr indent="0" marL="0">
              <a:lnSpc>
                <a:spcPts val="1700"/>
              </a:lnSpc>
              <a:buNone/>
            </a:pPr>
            <a:r>
              <a:rPr lang="en-US" sz="1300" dirty="0">
                <a:solidFill>
                  <a:srgbClr val="1C1A19"/>
                </a:solidFill>
                <a:latin typeface="Calibri" pitchFamily="34" charset="0"/>
                <a:ea typeface="Calibri" pitchFamily="34" charset="-122"/>
                <a:cs typeface="Calibri" pitchFamily="34" charset="-120"/>
              </a:rPr>
              <a:t>Copy them exactly, underscores and all.</a:t>
            </a:r>
            <a:endParaRPr lang="en-US" sz="1300" dirty="0"/>
          </a:p>
          <a:p>
            <a:pPr indent="0" marL="0">
              <a:lnSpc>
                <a:spcPts val="1700"/>
              </a:lnSpc>
              <a:buNone/>
            </a:pPr>
            <a:endParaRPr lang="en-US" sz="1300" dirty="0"/>
          </a:p>
          <a:p>
            <a:pPr indent="0" marL="0">
              <a:lnSpc>
                <a:spcPts val="1700"/>
              </a:lnSpc>
              <a:buNone/>
            </a:pPr>
            <a:r>
              <a:rPr lang="en-US" sz="1300" dirty="0">
                <a:solidFill>
                  <a:srgbClr val="1C1A19"/>
                </a:solidFill>
                <a:latin typeface="Calibri" pitchFamily="34" charset="0"/>
                <a:ea typeface="Calibri" pitchFamily="34" charset="-122"/>
                <a:cs typeface="Calibri" pitchFamily="34" charset="-120"/>
              </a:rPr>
              <a:t>Then your builder opens your design and finds their own components in it. If your layers are called Rectangle 41, they are guessing.</a:t>
            </a:r>
            <a:endParaRPr lang="en-US" sz="1300" dirty="0"/>
          </a:p>
          <a:p>
            <a:pPr indent="0" marL="0">
              <a:lnSpc>
                <a:spcPts val="1700"/>
              </a:lnSpc>
              <a:buNone/>
            </a:pPr>
            <a:endParaRPr lang="en-US" sz="1300" dirty="0"/>
          </a:p>
          <a:p>
            <a:pPr indent="0" marL="0">
              <a:lnSpc>
                <a:spcPts val="1700"/>
              </a:lnSpc>
              <a:buNone/>
            </a:pPr>
            <a:r>
              <a:rPr lang="en-US" sz="1300" dirty="0">
                <a:solidFill>
                  <a:srgbClr val="1C1A19"/>
                </a:solidFill>
                <a:latin typeface="Calibri" pitchFamily="34" charset="0"/>
                <a:ea typeface="Calibri" pitchFamily="34" charset="-122"/>
                <a:cs typeface="Calibri" pitchFamily="34" charset="-120"/>
              </a:rPr>
              <a:t>It costs ten seconds per layer and it is the difference between a design that gets built and one that gets admired.</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4F1"/>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56032"/>
          </a:xfrm>
          <a:prstGeom prst="rect">
            <a:avLst/>
          </a:prstGeom>
          <a:noFill/>
          <a:ln/>
        </p:spPr>
        <p:txBody>
          <a:bodyPr wrap="square" lIns="0" tIns="0" rIns="0" bIns="0" rtlCol="0" anchor="ctr"/>
          <a:lstStyle/>
          <a:p>
            <a:pPr indent="0" marL="0">
              <a:buNone/>
            </a:pPr>
            <a:r>
              <a:rPr lang="en-US" sz="1200" b="1" spc="200" kern="0" dirty="0">
                <a:solidFill>
                  <a:srgbClr val="CF4420"/>
                </a:solidFill>
                <a:latin typeface="Calibri" pitchFamily="34" charset="0"/>
                <a:ea typeface="Calibri" pitchFamily="34" charset="-122"/>
                <a:cs typeface="Calibri" pitchFamily="34" charset="-120"/>
              </a:rPr>
              <a:t>THERE IS A STEP BY STEP GUIDE WITH PICTURES</a:t>
            </a:r>
            <a:endParaRPr lang="en-US" sz="1200" dirty="0"/>
          </a:p>
        </p:txBody>
      </p:sp>
      <p:sp>
        <p:nvSpPr>
          <p:cNvPr id="3" name="Text 1"/>
          <p:cNvSpPr txBox="1"/>
          <p:nvPr/>
        </p:nvSpPr>
        <p:spPr>
          <a:xfrm>
            <a:off x="640080" y="658368"/>
            <a:ext cx="10911535" cy="777240"/>
          </a:xfrm>
          <a:prstGeom prst="rect">
            <a:avLst/>
          </a:prstGeom>
          <a:noFill/>
          <a:ln/>
        </p:spPr>
        <p:txBody>
          <a:bodyPr wrap="square" lIns="0" tIns="0" rIns="0" bIns="0" rtlCol="0" anchor="t"/>
          <a:lstStyle/>
          <a:p>
            <a:pPr indent="0" marL="0">
              <a:buNone/>
            </a:pPr>
            <a:r>
              <a:rPr lang="en-US" sz="3400" b="1" dirty="0">
                <a:solidFill>
                  <a:srgbClr val="630031"/>
                </a:solidFill>
                <a:latin typeface="Cambria" pitchFamily="34" charset="0"/>
                <a:ea typeface="Cambria" pitchFamily="34" charset="-122"/>
                <a:cs typeface="Cambria" pitchFamily="34" charset="-120"/>
              </a:rPr>
              <a:t>Figma, in five rules</a:t>
            </a:r>
            <a:endParaRPr lang="en-US" sz="3400" dirty="0"/>
          </a:p>
        </p:txBody>
      </p:sp>
      <p:sp>
        <p:nvSpPr>
          <p:cNvPr id="4" name="Shape 2"/>
          <p:cNvSpPr/>
          <p:nvPr/>
        </p:nvSpPr>
        <p:spPr>
          <a:xfrm>
            <a:off x="640080" y="1856232"/>
            <a:ext cx="384048" cy="384048"/>
          </a:xfrm>
          <a:prstGeom prst="ellipse">
            <a:avLst/>
          </a:prstGeom>
          <a:solidFill>
            <a:srgbClr val="FFFFFF"/>
          </a:solidFill>
          <a:ln w="12700">
            <a:solidFill>
              <a:srgbClr val="CF4420"/>
            </a:solidFill>
            <a:prstDash val="solid"/>
          </a:ln>
        </p:spPr>
      </p:sp>
      <p:sp>
        <p:nvSpPr>
          <p:cNvPr id="5" name="Shape 3"/>
          <p:cNvSpPr/>
          <p:nvPr/>
        </p:nvSpPr>
        <p:spPr>
          <a:xfrm>
            <a:off x="640080" y="1856232"/>
            <a:ext cx="384048" cy="384048"/>
          </a:xfrm>
          <a:prstGeom prst="ellipse">
            <a:avLst/>
          </a:prstGeom>
          <a:solidFill>
            <a:srgbClr val="CF4420"/>
          </a:solidFill>
          <a:ln w="12700">
            <a:solidFill>
              <a:srgbClr val="333333"/>
            </a:solidFill>
            <a:prstDash val="solid"/>
          </a:ln>
        </p:spPr>
      </p:sp>
      <p:sp>
        <p:nvSpPr>
          <p:cNvPr id="6" name="Text 4"/>
          <p:cNvSpPr txBox="1"/>
          <p:nvPr/>
        </p:nvSpPr>
        <p:spPr>
          <a:xfrm>
            <a:off x="640080" y="185623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1207008" y="1783080"/>
            <a:ext cx="3383280" cy="566928"/>
          </a:xfrm>
          <a:prstGeom prst="rect">
            <a:avLst/>
          </a:prstGeom>
          <a:noFill/>
          <a:ln/>
        </p:spPr>
        <p:txBody>
          <a:bodyPr wrap="square" lIns="0" tIns="0" rIns="0" bIns="0" rtlCol="0" anchor="ctr"/>
          <a:lstStyle/>
          <a:p>
            <a:pPr indent="0" marL="0">
              <a:buNone/>
            </a:pPr>
            <a:r>
              <a:rPr lang="en-US" sz="1500" b="1" dirty="0">
                <a:solidFill>
                  <a:srgbClr val="630031"/>
                </a:solidFill>
                <a:latin typeface="Calibri" pitchFamily="34" charset="0"/>
                <a:ea typeface="Calibri" pitchFamily="34" charset="-122"/>
                <a:cs typeface="Calibri" pitchFamily="34" charset="-120"/>
              </a:rPr>
              <a:t>One frame per screen</a:t>
            </a:r>
            <a:endParaRPr lang="en-US" sz="1500" dirty="0"/>
          </a:p>
        </p:txBody>
      </p:sp>
      <p:sp>
        <p:nvSpPr>
          <p:cNvPr id="8" name="Text 6"/>
          <p:cNvSpPr txBox="1"/>
          <p:nvPr/>
        </p:nvSpPr>
        <p:spPr>
          <a:xfrm>
            <a:off x="4846320" y="1783080"/>
            <a:ext cx="6705295" cy="566928"/>
          </a:xfrm>
          <a:prstGeom prst="rect">
            <a:avLst/>
          </a:prstGeom>
          <a:noFill/>
          <a:ln/>
        </p:spPr>
        <p:txBody>
          <a:bodyPr wrap="square" lIns="0" tIns="0" rIns="0" bIns="0" rtlCol="0" anchor="ctr"/>
          <a:lstStyle/>
          <a:p>
            <a:pPr indent="0" marL="0">
              <a:lnSpc>
                <a:spcPts val="1700"/>
              </a:lnSpc>
              <a:buNone/>
            </a:pPr>
            <a:r>
              <a:rPr lang="en-US" sz="1300" dirty="0">
                <a:solidFill>
                  <a:srgbClr val="1C1A19"/>
                </a:solidFill>
                <a:latin typeface="Calibri" pitchFamily="34" charset="0"/>
                <a:ea typeface="Calibri" pitchFamily="34" charset="-122"/>
                <a:cs typeface="Calibri" pitchFamily="34" charset="-120"/>
              </a:rPr>
              <a:t>Named exactly as your design brief names it. Four screens inside one frame cannot be linked to each other.</a:t>
            </a:r>
            <a:endParaRPr lang="en-US" sz="1300" dirty="0"/>
          </a:p>
        </p:txBody>
      </p:sp>
      <p:sp>
        <p:nvSpPr>
          <p:cNvPr id="9" name="Shape 7"/>
          <p:cNvSpPr/>
          <p:nvPr/>
        </p:nvSpPr>
        <p:spPr>
          <a:xfrm>
            <a:off x="640080" y="2642616"/>
            <a:ext cx="384048" cy="384048"/>
          </a:xfrm>
          <a:prstGeom prst="ellipse">
            <a:avLst/>
          </a:prstGeom>
          <a:solidFill>
            <a:srgbClr val="FFFFFF"/>
          </a:solidFill>
          <a:ln w="12700">
            <a:solidFill>
              <a:srgbClr val="CF4420"/>
            </a:solidFill>
            <a:prstDash val="solid"/>
          </a:ln>
        </p:spPr>
      </p:sp>
      <p:sp>
        <p:nvSpPr>
          <p:cNvPr id="10" name="Shape 8"/>
          <p:cNvSpPr/>
          <p:nvPr/>
        </p:nvSpPr>
        <p:spPr>
          <a:xfrm>
            <a:off x="640080" y="2642616"/>
            <a:ext cx="384048" cy="384048"/>
          </a:xfrm>
          <a:prstGeom prst="ellipse">
            <a:avLst/>
          </a:prstGeom>
          <a:solidFill>
            <a:srgbClr val="CF4420"/>
          </a:solidFill>
          <a:ln w="12700">
            <a:solidFill>
              <a:srgbClr val="333333"/>
            </a:solidFill>
            <a:prstDash val="solid"/>
          </a:ln>
        </p:spPr>
      </p:sp>
      <p:sp>
        <p:nvSpPr>
          <p:cNvPr id="11" name="Text 9"/>
          <p:cNvSpPr txBox="1"/>
          <p:nvPr/>
        </p:nvSpPr>
        <p:spPr>
          <a:xfrm>
            <a:off x="640080" y="264261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txBox="1"/>
          <p:nvPr/>
        </p:nvSpPr>
        <p:spPr>
          <a:xfrm>
            <a:off x="1207008" y="2569464"/>
            <a:ext cx="3383280" cy="566928"/>
          </a:xfrm>
          <a:prstGeom prst="rect">
            <a:avLst/>
          </a:prstGeom>
          <a:noFill/>
          <a:ln/>
        </p:spPr>
        <p:txBody>
          <a:bodyPr wrap="square" lIns="0" tIns="0" rIns="0" bIns="0" rtlCol="0" anchor="ctr"/>
          <a:lstStyle/>
          <a:p>
            <a:pPr indent="0" marL="0">
              <a:buNone/>
            </a:pPr>
            <a:r>
              <a:rPr lang="en-US" sz="1500" b="1" dirty="0">
                <a:solidFill>
                  <a:srgbClr val="630031"/>
                </a:solidFill>
                <a:latin typeface="Calibri" pitchFamily="34" charset="0"/>
                <a:ea typeface="Calibri" pitchFamily="34" charset="-122"/>
                <a:cs typeface="Calibri" pitchFamily="34" charset="-120"/>
              </a:rPr>
              <a:t>Layer names are not decoration</a:t>
            </a:r>
            <a:endParaRPr lang="en-US" sz="1500" dirty="0"/>
          </a:p>
        </p:txBody>
      </p:sp>
      <p:sp>
        <p:nvSpPr>
          <p:cNvPr id="13" name="Text 11"/>
          <p:cNvSpPr txBox="1"/>
          <p:nvPr/>
        </p:nvSpPr>
        <p:spPr>
          <a:xfrm>
            <a:off x="4846320" y="2569464"/>
            <a:ext cx="6705295" cy="566928"/>
          </a:xfrm>
          <a:prstGeom prst="rect">
            <a:avLst/>
          </a:prstGeom>
          <a:noFill/>
          <a:ln/>
        </p:spPr>
        <p:txBody>
          <a:bodyPr wrap="square" lIns="0" tIns="0" rIns="0" bIns="0" rtlCol="0" anchor="ctr"/>
          <a:lstStyle/>
          <a:p>
            <a:pPr indent="0" marL="0">
              <a:lnSpc>
                <a:spcPts val="1700"/>
              </a:lnSpc>
              <a:buNone/>
            </a:pPr>
            <a:r>
              <a:rPr lang="en-US" sz="1300" dirty="0">
                <a:solidFill>
                  <a:srgbClr val="1C1A19"/>
                </a:solidFill>
                <a:latin typeface="Calibri" pitchFamily="34" charset="0"/>
                <a:ea typeface="Calibri" pitchFamily="34" charset="-122"/>
                <a:cs typeface="Calibri" pitchFamily="34" charset="-120"/>
              </a:rPr>
              <a:t>btn_save, lbl_error, rp_houses. This is also how the good animation works later.</a:t>
            </a:r>
            <a:endParaRPr lang="en-US" sz="1300" dirty="0"/>
          </a:p>
        </p:txBody>
      </p:sp>
      <p:sp>
        <p:nvSpPr>
          <p:cNvPr id="14" name="Shape 12"/>
          <p:cNvSpPr/>
          <p:nvPr/>
        </p:nvSpPr>
        <p:spPr>
          <a:xfrm>
            <a:off x="640080" y="3429000"/>
            <a:ext cx="384048" cy="384048"/>
          </a:xfrm>
          <a:prstGeom prst="ellipse">
            <a:avLst/>
          </a:prstGeom>
          <a:solidFill>
            <a:srgbClr val="FFFFFF"/>
          </a:solidFill>
          <a:ln w="12700">
            <a:solidFill>
              <a:srgbClr val="CF4420"/>
            </a:solidFill>
            <a:prstDash val="solid"/>
          </a:ln>
        </p:spPr>
      </p:sp>
      <p:sp>
        <p:nvSpPr>
          <p:cNvPr id="15" name="Shape 13"/>
          <p:cNvSpPr/>
          <p:nvPr/>
        </p:nvSpPr>
        <p:spPr>
          <a:xfrm>
            <a:off x="640080" y="3429000"/>
            <a:ext cx="384048" cy="384048"/>
          </a:xfrm>
          <a:prstGeom prst="ellipse">
            <a:avLst/>
          </a:prstGeom>
          <a:solidFill>
            <a:srgbClr val="CF4420"/>
          </a:solidFill>
          <a:ln w="12700">
            <a:solidFill>
              <a:srgbClr val="333333"/>
            </a:solidFill>
            <a:prstDash val="solid"/>
          </a:ln>
        </p:spPr>
      </p:sp>
      <p:sp>
        <p:nvSpPr>
          <p:cNvPr id="16" name="Text 14"/>
          <p:cNvSpPr txBox="1"/>
          <p:nvPr/>
        </p:nvSpPr>
        <p:spPr>
          <a:xfrm>
            <a:off x="640080" y="342900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txBox="1"/>
          <p:nvPr/>
        </p:nvSpPr>
        <p:spPr>
          <a:xfrm>
            <a:off x="1207008" y="3355848"/>
            <a:ext cx="3383280" cy="566928"/>
          </a:xfrm>
          <a:prstGeom prst="rect">
            <a:avLst/>
          </a:prstGeom>
          <a:noFill/>
          <a:ln/>
        </p:spPr>
        <p:txBody>
          <a:bodyPr wrap="square" lIns="0" tIns="0" rIns="0" bIns="0" rtlCol="0" anchor="ctr"/>
          <a:lstStyle/>
          <a:p>
            <a:pPr indent="0" marL="0">
              <a:buNone/>
            </a:pPr>
            <a:r>
              <a:rPr lang="en-US" sz="1500" b="1" dirty="0">
                <a:solidFill>
                  <a:srgbClr val="630031"/>
                </a:solidFill>
                <a:latin typeface="Calibri" pitchFamily="34" charset="0"/>
                <a:ea typeface="Calibri" pitchFamily="34" charset="-122"/>
                <a:cs typeface="Calibri" pitchFamily="34" charset="-120"/>
              </a:rPr>
              <a:t>Design what Anvil can build</a:t>
            </a:r>
            <a:endParaRPr lang="en-US" sz="1500" dirty="0"/>
          </a:p>
        </p:txBody>
      </p:sp>
      <p:sp>
        <p:nvSpPr>
          <p:cNvPr id="18" name="Text 16"/>
          <p:cNvSpPr txBox="1"/>
          <p:nvPr/>
        </p:nvSpPr>
        <p:spPr>
          <a:xfrm>
            <a:off x="4846320" y="3355848"/>
            <a:ext cx="6705295" cy="566928"/>
          </a:xfrm>
          <a:prstGeom prst="rect">
            <a:avLst/>
          </a:prstGeom>
          <a:noFill/>
          <a:ln/>
        </p:spPr>
        <p:txBody>
          <a:bodyPr wrap="square" lIns="0" tIns="0" rIns="0" bIns="0" rtlCol="0" anchor="ctr"/>
          <a:lstStyle/>
          <a:p>
            <a:pPr indent="0" marL="0">
              <a:lnSpc>
                <a:spcPts val="1700"/>
              </a:lnSpc>
              <a:buNone/>
            </a:pPr>
            <a:r>
              <a:rPr lang="en-US" sz="1300" dirty="0">
                <a:solidFill>
                  <a:srgbClr val="1C1A19"/>
                </a:solidFill>
                <a:latin typeface="Calibri" pitchFamily="34" charset="0"/>
                <a:ea typeface="Calibri" pitchFamily="34" charset="-122"/>
                <a:cs typeface="Calibri" pitchFamily="34" charset="-120"/>
              </a:rPr>
              <a:t>It has a fixed set of components. Figma will happily let you draw a gradient button nobody on your team can produce.</a:t>
            </a:r>
            <a:endParaRPr lang="en-US" sz="1300" dirty="0"/>
          </a:p>
        </p:txBody>
      </p:sp>
      <p:sp>
        <p:nvSpPr>
          <p:cNvPr id="19" name="Shape 17"/>
          <p:cNvSpPr/>
          <p:nvPr/>
        </p:nvSpPr>
        <p:spPr>
          <a:xfrm>
            <a:off x="640080" y="4215384"/>
            <a:ext cx="384048" cy="384048"/>
          </a:xfrm>
          <a:prstGeom prst="ellipse">
            <a:avLst/>
          </a:prstGeom>
          <a:solidFill>
            <a:srgbClr val="FFFFFF"/>
          </a:solidFill>
          <a:ln w="12700">
            <a:solidFill>
              <a:srgbClr val="CF4420"/>
            </a:solidFill>
            <a:prstDash val="solid"/>
          </a:ln>
        </p:spPr>
      </p:sp>
      <p:sp>
        <p:nvSpPr>
          <p:cNvPr id="20" name="Shape 18"/>
          <p:cNvSpPr/>
          <p:nvPr/>
        </p:nvSpPr>
        <p:spPr>
          <a:xfrm>
            <a:off x="640080" y="4215384"/>
            <a:ext cx="384048" cy="384048"/>
          </a:xfrm>
          <a:prstGeom prst="ellipse">
            <a:avLst/>
          </a:prstGeom>
          <a:solidFill>
            <a:srgbClr val="CF4420"/>
          </a:solidFill>
          <a:ln w="12700">
            <a:solidFill>
              <a:srgbClr val="333333"/>
            </a:solidFill>
            <a:prstDash val="solid"/>
          </a:ln>
        </p:spPr>
      </p:sp>
      <p:sp>
        <p:nvSpPr>
          <p:cNvPr id="21" name="Text 19"/>
          <p:cNvSpPr txBox="1"/>
          <p:nvPr/>
        </p:nvSpPr>
        <p:spPr>
          <a:xfrm>
            <a:off x="640080" y="4215384"/>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2" name="Text 20"/>
          <p:cNvSpPr txBox="1"/>
          <p:nvPr/>
        </p:nvSpPr>
        <p:spPr>
          <a:xfrm>
            <a:off x="1207008" y="4142232"/>
            <a:ext cx="3383280" cy="566928"/>
          </a:xfrm>
          <a:prstGeom prst="rect">
            <a:avLst/>
          </a:prstGeom>
          <a:noFill/>
          <a:ln/>
        </p:spPr>
        <p:txBody>
          <a:bodyPr wrap="square" lIns="0" tIns="0" rIns="0" bIns="0" rtlCol="0" anchor="ctr"/>
          <a:lstStyle/>
          <a:p>
            <a:pPr indent="0" marL="0">
              <a:buNone/>
            </a:pPr>
            <a:r>
              <a:rPr lang="en-US" sz="1500" b="1" dirty="0">
                <a:solidFill>
                  <a:srgbClr val="630031"/>
                </a:solidFill>
                <a:latin typeface="Calibri" pitchFamily="34" charset="0"/>
                <a:ea typeface="Calibri" pitchFamily="34" charset="-122"/>
                <a:cs typeface="Calibri" pitchFamily="34" charset="-120"/>
              </a:rPr>
              <a:t>A repeating list is one row</a:t>
            </a:r>
            <a:endParaRPr lang="en-US" sz="1500" dirty="0"/>
          </a:p>
        </p:txBody>
      </p:sp>
      <p:sp>
        <p:nvSpPr>
          <p:cNvPr id="23" name="Text 21"/>
          <p:cNvSpPr txBox="1"/>
          <p:nvPr/>
        </p:nvSpPr>
        <p:spPr>
          <a:xfrm>
            <a:off x="4846320" y="4142232"/>
            <a:ext cx="6705295" cy="566928"/>
          </a:xfrm>
          <a:prstGeom prst="rect">
            <a:avLst/>
          </a:prstGeom>
          <a:noFill/>
          <a:ln/>
        </p:spPr>
        <p:txBody>
          <a:bodyPr wrap="square" lIns="0" tIns="0" rIns="0" bIns="0" rtlCol="0" anchor="ctr"/>
          <a:lstStyle/>
          <a:p>
            <a:pPr indent="0" marL="0">
              <a:lnSpc>
                <a:spcPts val="1700"/>
              </a:lnSpc>
              <a:buNone/>
            </a:pPr>
            <a:r>
              <a:rPr lang="en-US" sz="1300" dirty="0">
                <a:solidFill>
                  <a:srgbClr val="1C1A19"/>
                </a:solidFill>
                <a:latin typeface="Calibri" pitchFamily="34" charset="0"/>
                <a:ea typeface="Calibri" pitchFamily="34" charset="-122"/>
                <a:cs typeface="Calibri" pitchFamily="34" charset="-120"/>
              </a:rPr>
              <a:t>Design it once. Anvil stamps out a copy per row of data. Row three cannot look different from row one.</a:t>
            </a:r>
            <a:endParaRPr lang="en-US" sz="1300" dirty="0"/>
          </a:p>
        </p:txBody>
      </p:sp>
      <p:sp>
        <p:nvSpPr>
          <p:cNvPr id="24" name="Shape 22"/>
          <p:cNvSpPr/>
          <p:nvPr/>
        </p:nvSpPr>
        <p:spPr>
          <a:xfrm>
            <a:off x="640080" y="5001768"/>
            <a:ext cx="384048" cy="384048"/>
          </a:xfrm>
          <a:prstGeom prst="ellipse">
            <a:avLst/>
          </a:prstGeom>
          <a:solidFill>
            <a:srgbClr val="FFFFFF"/>
          </a:solidFill>
          <a:ln w="12700">
            <a:solidFill>
              <a:srgbClr val="CF4420"/>
            </a:solidFill>
            <a:prstDash val="solid"/>
          </a:ln>
        </p:spPr>
      </p:sp>
      <p:sp>
        <p:nvSpPr>
          <p:cNvPr id="25" name="Shape 23"/>
          <p:cNvSpPr/>
          <p:nvPr/>
        </p:nvSpPr>
        <p:spPr>
          <a:xfrm>
            <a:off x="640080" y="5001768"/>
            <a:ext cx="384048" cy="384048"/>
          </a:xfrm>
          <a:prstGeom prst="ellipse">
            <a:avLst/>
          </a:prstGeom>
          <a:solidFill>
            <a:srgbClr val="CF4420"/>
          </a:solidFill>
          <a:ln w="12700">
            <a:solidFill>
              <a:srgbClr val="333333"/>
            </a:solidFill>
            <a:prstDash val="solid"/>
          </a:ln>
        </p:spPr>
      </p:sp>
      <p:sp>
        <p:nvSpPr>
          <p:cNvPr id="26" name="Text 24"/>
          <p:cNvSpPr txBox="1"/>
          <p:nvPr/>
        </p:nvSpPr>
        <p:spPr>
          <a:xfrm>
            <a:off x="640080" y="500176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7" name="Text 25"/>
          <p:cNvSpPr txBox="1"/>
          <p:nvPr/>
        </p:nvSpPr>
        <p:spPr>
          <a:xfrm>
            <a:off x="1207008" y="4928616"/>
            <a:ext cx="3383280" cy="566928"/>
          </a:xfrm>
          <a:prstGeom prst="rect">
            <a:avLst/>
          </a:prstGeom>
          <a:noFill/>
          <a:ln/>
        </p:spPr>
        <p:txBody>
          <a:bodyPr wrap="square" lIns="0" tIns="0" rIns="0" bIns="0" rtlCol="0" anchor="ctr"/>
          <a:lstStyle/>
          <a:p>
            <a:pPr indent="0" marL="0">
              <a:buNone/>
            </a:pPr>
            <a:r>
              <a:rPr lang="en-US" sz="1500" b="1" dirty="0">
                <a:solidFill>
                  <a:srgbClr val="630031"/>
                </a:solidFill>
                <a:latin typeface="Calibri" pitchFamily="34" charset="0"/>
                <a:ea typeface="Calibri" pitchFamily="34" charset="-122"/>
                <a:cs typeface="Calibri" pitchFamily="34" charset="-120"/>
              </a:rPr>
              <a:t>Draw the bad day</a:t>
            </a:r>
            <a:endParaRPr lang="en-US" sz="1500" dirty="0"/>
          </a:p>
        </p:txBody>
      </p:sp>
      <p:sp>
        <p:nvSpPr>
          <p:cNvPr id="28" name="Text 26"/>
          <p:cNvSpPr txBox="1"/>
          <p:nvPr/>
        </p:nvSpPr>
        <p:spPr>
          <a:xfrm>
            <a:off x="4846320" y="4928616"/>
            <a:ext cx="6705295" cy="566928"/>
          </a:xfrm>
          <a:prstGeom prst="rect">
            <a:avLst/>
          </a:prstGeom>
          <a:noFill/>
          <a:ln/>
        </p:spPr>
        <p:txBody>
          <a:bodyPr wrap="square" lIns="0" tIns="0" rIns="0" bIns="0" rtlCol="0" anchor="ctr"/>
          <a:lstStyle/>
          <a:p>
            <a:pPr indent="0" marL="0">
              <a:lnSpc>
                <a:spcPts val="1700"/>
              </a:lnSpc>
              <a:buNone/>
            </a:pPr>
            <a:r>
              <a:rPr lang="en-US" sz="1300" dirty="0">
                <a:solidFill>
                  <a:srgbClr val="1C1A19"/>
                </a:solidFill>
                <a:latin typeface="Calibri" pitchFamily="34" charset="0"/>
                <a:ea typeface="Calibri" pitchFamily="34" charset="-122"/>
                <a:cs typeface="Calibri" pitchFamily="34" charset="-120"/>
              </a:rPr>
              <a:t>Empty, wrong and full, not just the happy one. Your builder invents the other two at speed if you do not.</a:t>
            </a:r>
            <a:endParaRPr lang="en-US" sz="1300" dirty="0"/>
          </a:p>
        </p:txBody>
      </p:sp>
      <p:sp>
        <p:nvSpPr>
          <p:cNvPr id="29" name="Text 27"/>
          <p:cNvSpPr txBox="1"/>
          <p:nvPr/>
        </p:nvSpPr>
        <p:spPr>
          <a:xfrm>
            <a:off x="640080" y="5852160"/>
            <a:ext cx="10911535" cy="365760"/>
          </a:xfrm>
          <a:prstGeom prst="rect">
            <a:avLst/>
          </a:prstGeom>
          <a:noFill/>
          <a:ln/>
        </p:spPr>
        <p:txBody>
          <a:bodyPr wrap="square" lIns="0" tIns="0" rIns="0" bIns="0" rtlCol="0" anchor="ctr"/>
          <a:lstStyle/>
          <a:p>
            <a:pPr indent="0" marL="0">
              <a:buNone/>
            </a:pPr>
            <a:r>
              <a:rPr lang="en-US" sz="1250" b="1" dirty="0">
                <a:solidFill>
                  <a:srgbClr val="CF4420"/>
                </a:solidFill>
                <a:latin typeface="Calibri" pitchFamily="34" charset="0"/>
                <a:ea typeface="Calibri" pitchFamily="34" charset="-122"/>
                <a:cs typeface="Calibri" pitchFamily="34" charset="-120"/>
              </a:rPr>
              <a:t>doubleblaze.solutions/build/prototype-steps.html  —  22 numbered steps, diagrams, and what to do when it goes wrong</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4F1"/>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56032"/>
          </a:xfrm>
          <a:prstGeom prst="rect">
            <a:avLst/>
          </a:prstGeom>
          <a:noFill/>
          <a:ln/>
        </p:spPr>
        <p:txBody>
          <a:bodyPr wrap="square" lIns="0" tIns="0" rIns="0" bIns="0" rtlCol="0" anchor="ctr"/>
          <a:lstStyle/>
          <a:p>
            <a:pPr indent="0" marL="0">
              <a:buNone/>
            </a:pPr>
            <a:r>
              <a:rPr lang="en-US" sz="1200" b="1" spc="200" kern="0" dirty="0">
                <a:solidFill>
                  <a:srgbClr val="CF4420"/>
                </a:solidFill>
                <a:latin typeface="Calibri" pitchFamily="34" charset="0"/>
                <a:ea typeface="Calibri" pitchFamily="34" charset="-122"/>
                <a:cs typeface="Calibri" pitchFamily="34" charset="-120"/>
              </a:rPr>
              <a:t>DESIGNERS ALMOST ALWAYS DRAW ONE</a:t>
            </a:r>
            <a:endParaRPr lang="en-US" sz="1200" dirty="0"/>
          </a:p>
        </p:txBody>
      </p:sp>
      <p:sp>
        <p:nvSpPr>
          <p:cNvPr id="3" name="Text 1"/>
          <p:cNvSpPr txBox="1"/>
          <p:nvPr/>
        </p:nvSpPr>
        <p:spPr>
          <a:xfrm>
            <a:off x="640080" y="658368"/>
            <a:ext cx="10911535" cy="777240"/>
          </a:xfrm>
          <a:prstGeom prst="rect">
            <a:avLst/>
          </a:prstGeom>
          <a:noFill/>
          <a:ln/>
        </p:spPr>
        <p:txBody>
          <a:bodyPr wrap="square" lIns="0" tIns="0" rIns="0" bIns="0" rtlCol="0" anchor="t"/>
          <a:lstStyle/>
          <a:p>
            <a:pPr indent="0" marL="0">
              <a:buNone/>
            </a:pPr>
            <a:r>
              <a:rPr lang="en-US" sz="3400" b="1" dirty="0">
                <a:solidFill>
                  <a:srgbClr val="630031"/>
                </a:solidFill>
                <a:latin typeface="Cambria" pitchFamily="34" charset="0"/>
                <a:ea typeface="Cambria" pitchFamily="34" charset="-122"/>
                <a:cs typeface="Cambria" pitchFamily="34" charset="-120"/>
              </a:rPr>
              <a:t>Every screen has three states</a:t>
            </a:r>
            <a:endParaRPr lang="en-US" sz="3400" dirty="0"/>
          </a:p>
        </p:txBody>
      </p:sp>
      <p:sp>
        <p:nvSpPr>
          <p:cNvPr id="4" name="Shape 2"/>
          <p:cNvSpPr/>
          <p:nvPr/>
        </p:nvSpPr>
        <p:spPr>
          <a:xfrm>
            <a:off x="640080" y="1920240"/>
            <a:ext cx="3417722" cy="2286000"/>
          </a:xfrm>
          <a:prstGeom prst="roundRect">
            <a:avLst>
              <a:gd name="adj" fmla="val 3600"/>
            </a:avLst>
          </a:prstGeom>
          <a:solidFill>
            <a:srgbClr val="FBF0EA"/>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5" name="Text 3"/>
          <p:cNvSpPr txBox="1"/>
          <p:nvPr/>
        </p:nvSpPr>
        <p:spPr>
          <a:xfrm>
            <a:off x="960120" y="2194560"/>
            <a:ext cx="2777642" cy="457200"/>
          </a:xfrm>
          <a:prstGeom prst="rect">
            <a:avLst/>
          </a:prstGeom>
          <a:noFill/>
          <a:ln/>
        </p:spPr>
        <p:txBody>
          <a:bodyPr wrap="square" lIns="0" tIns="0" rIns="0" bIns="0" rtlCol="0" anchor="ctr"/>
          <a:lstStyle/>
          <a:p>
            <a:pPr indent="0" marL="0">
              <a:buNone/>
            </a:pPr>
            <a:r>
              <a:rPr lang="en-US" sz="2600" b="1" dirty="0">
                <a:solidFill>
                  <a:srgbClr val="630031"/>
                </a:solidFill>
                <a:latin typeface="Cambria" pitchFamily="34" charset="0"/>
                <a:ea typeface="Cambria" pitchFamily="34" charset="-122"/>
                <a:cs typeface="Cambria" pitchFamily="34" charset="-120"/>
              </a:rPr>
              <a:t>Empty</a:t>
            </a:r>
            <a:endParaRPr lang="en-US" sz="2600" dirty="0"/>
          </a:p>
        </p:txBody>
      </p:sp>
      <p:sp>
        <p:nvSpPr>
          <p:cNvPr id="6" name="Text 4"/>
          <p:cNvSpPr txBox="1"/>
          <p:nvPr/>
        </p:nvSpPr>
        <p:spPr>
          <a:xfrm>
            <a:off x="960120" y="2724912"/>
            <a:ext cx="2777642" cy="1371600"/>
          </a:xfrm>
          <a:prstGeom prst="rect">
            <a:avLst/>
          </a:prstGeom>
          <a:noFill/>
          <a:ln/>
        </p:spPr>
        <p:txBody>
          <a:bodyPr wrap="square" lIns="0" tIns="0" rIns="0" bIns="0" rtlCol="0" anchor="t"/>
          <a:lstStyle/>
          <a:p>
            <a:pPr indent="0" marL="0">
              <a:lnSpc>
                <a:spcPts val="1900"/>
              </a:lnSpc>
              <a:buNone/>
            </a:pPr>
            <a:r>
              <a:rPr lang="en-US" sz="1350" dirty="0">
                <a:solidFill>
                  <a:srgbClr val="1C1A19"/>
                </a:solidFill>
                <a:latin typeface="Calibri" pitchFamily="34" charset="0"/>
                <a:ea typeface="Calibri" pitchFamily="34" charset="-122"/>
                <a:cs typeface="Calibri" pitchFamily="34" charset="-120"/>
              </a:rPr>
              <a:t>Nothing has been added yet. On the first day your app is real, this is the only state anybody sees.</a:t>
            </a:r>
            <a:endParaRPr lang="en-US" sz="1350" dirty="0"/>
          </a:p>
        </p:txBody>
      </p:sp>
      <p:sp>
        <p:nvSpPr>
          <p:cNvPr id="7" name="Shape 5"/>
          <p:cNvSpPr/>
          <p:nvPr/>
        </p:nvSpPr>
        <p:spPr>
          <a:xfrm>
            <a:off x="4386986" y="1920240"/>
            <a:ext cx="3417722" cy="2286000"/>
          </a:xfrm>
          <a:prstGeom prst="roundRect">
            <a:avLst>
              <a:gd name="adj" fmla="val 3600"/>
            </a:avLst>
          </a:prstGeom>
          <a:solidFill>
            <a:srgbClr val="F5EEF6"/>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8" name="Text 6"/>
          <p:cNvSpPr txBox="1"/>
          <p:nvPr/>
        </p:nvSpPr>
        <p:spPr>
          <a:xfrm>
            <a:off x="4707026" y="2194560"/>
            <a:ext cx="2777642" cy="457200"/>
          </a:xfrm>
          <a:prstGeom prst="rect">
            <a:avLst/>
          </a:prstGeom>
          <a:noFill/>
          <a:ln/>
        </p:spPr>
        <p:txBody>
          <a:bodyPr wrap="square" lIns="0" tIns="0" rIns="0" bIns="0" rtlCol="0" anchor="ctr"/>
          <a:lstStyle/>
          <a:p>
            <a:pPr indent="0" marL="0">
              <a:buNone/>
            </a:pPr>
            <a:r>
              <a:rPr lang="en-US" sz="2600" b="1" dirty="0">
                <a:solidFill>
                  <a:srgbClr val="630031"/>
                </a:solidFill>
                <a:latin typeface="Cambria" pitchFamily="34" charset="0"/>
                <a:ea typeface="Cambria" pitchFamily="34" charset="-122"/>
                <a:cs typeface="Cambria" pitchFamily="34" charset="-120"/>
              </a:rPr>
              <a:t>Wrong</a:t>
            </a:r>
            <a:endParaRPr lang="en-US" sz="2600" dirty="0"/>
          </a:p>
        </p:txBody>
      </p:sp>
      <p:sp>
        <p:nvSpPr>
          <p:cNvPr id="9" name="Text 7"/>
          <p:cNvSpPr txBox="1"/>
          <p:nvPr/>
        </p:nvSpPr>
        <p:spPr>
          <a:xfrm>
            <a:off x="4707026" y="2724912"/>
            <a:ext cx="2777642" cy="1371600"/>
          </a:xfrm>
          <a:prstGeom prst="rect">
            <a:avLst/>
          </a:prstGeom>
          <a:noFill/>
          <a:ln/>
        </p:spPr>
        <p:txBody>
          <a:bodyPr wrap="square" lIns="0" tIns="0" rIns="0" bIns="0" rtlCol="0" anchor="t"/>
          <a:lstStyle/>
          <a:p>
            <a:pPr indent="0" marL="0">
              <a:lnSpc>
                <a:spcPts val="1900"/>
              </a:lnSpc>
              <a:buNone/>
            </a:pPr>
            <a:r>
              <a:rPr lang="en-US" sz="1350" dirty="0">
                <a:solidFill>
                  <a:srgbClr val="1C1A19"/>
                </a:solidFill>
                <a:latin typeface="Calibri" pitchFamily="34" charset="0"/>
                <a:ea typeface="Calibri" pitchFamily="34" charset="-122"/>
                <a:cs typeface="Calibri" pitchFamily="34" charset="-120"/>
              </a:rPr>
              <a:t>Somebody typed something the app will not accept. Most of your teams already have an error label. Nobody has designed it.</a:t>
            </a:r>
            <a:endParaRPr lang="en-US" sz="1350" dirty="0"/>
          </a:p>
        </p:txBody>
      </p:sp>
      <p:sp>
        <p:nvSpPr>
          <p:cNvPr id="10" name="Shape 8"/>
          <p:cNvSpPr/>
          <p:nvPr/>
        </p:nvSpPr>
        <p:spPr>
          <a:xfrm>
            <a:off x="8133893" y="1920240"/>
            <a:ext cx="3417722" cy="2286000"/>
          </a:xfrm>
          <a:prstGeom prst="roundRect">
            <a:avLst>
              <a:gd name="adj" fmla="val 3600"/>
            </a:avLst>
          </a:prstGeom>
          <a:solidFill>
            <a:srgbClr val="EFF2EE"/>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1" name="Text 9"/>
          <p:cNvSpPr txBox="1"/>
          <p:nvPr/>
        </p:nvSpPr>
        <p:spPr>
          <a:xfrm>
            <a:off x="8453933" y="2194560"/>
            <a:ext cx="2777642" cy="457200"/>
          </a:xfrm>
          <a:prstGeom prst="rect">
            <a:avLst/>
          </a:prstGeom>
          <a:noFill/>
          <a:ln/>
        </p:spPr>
        <p:txBody>
          <a:bodyPr wrap="square" lIns="0" tIns="0" rIns="0" bIns="0" rtlCol="0" anchor="ctr"/>
          <a:lstStyle/>
          <a:p>
            <a:pPr indent="0" marL="0">
              <a:buNone/>
            </a:pPr>
            <a:r>
              <a:rPr lang="en-US" sz="2600" b="1" dirty="0">
                <a:solidFill>
                  <a:srgbClr val="630031"/>
                </a:solidFill>
                <a:latin typeface="Cambria" pitchFamily="34" charset="0"/>
                <a:ea typeface="Cambria" pitchFamily="34" charset="-122"/>
                <a:cs typeface="Cambria" pitchFamily="34" charset="-120"/>
              </a:rPr>
              <a:t>Full</a:t>
            </a:r>
            <a:endParaRPr lang="en-US" sz="2600" dirty="0"/>
          </a:p>
        </p:txBody>
      </p:sp>
      <p:sp>
        <p:nvSpPr>
          <p:cNvPr id="12" name="Text 10"/>
          <p:cNvSpPr txBox="1"/>
          <p:nvPr/>
        </p:nvSpPr>
        <p:spPr>
          <a:xfrm>
            <a:off x="8453933" y="2724912"/>
            <a:ext cx="2777642" cy="1371600"/>
          </a:xfrm>
          <a:prstGeom prst="rect">
            <a:avLst/>
          </a:prstGeom>
          <a:noFill/>
          <a:ln/>
        </p:spPr>
        <p:txBody>
          <a:bodyPr wrap="square" lIns="0" tIns="0" rIns="0" bIns="0" rtlCol="0" anchor="t"/>
          <a:lstStyle/>
          <a:p>
            <a:pPr indent="0" marL="0">
              <a:lnSpc>
                <a:spcPts val="1900"/>
              </a:lnSpc>
              <a:buNone/>
            </a:pPr>
            <a:r>
              <a:rPr lang="en-US" sz="1350" dirty="0">
                <a:solidFill>
                  <a:srgbClr val="1C1A19"/>
                </a:solidFill>
                <a:latin typeface="Calibri" pitchFamily="34" charset="0"/>
                <a:ea typeface="Calibri" pitchFamily="34" charset="-122"/>
                <a:cs typeface="Calibri" pitchFamily="34" charset="-120"/>
              </a:rPr>
              <a:t>Somebody used it for a month. Forty rows, long names, a review that is a paragraph.</a:t>
            </a:r>
            <a:endParaRPr lang="en-US" sz="1350" dirty="0"/>
          </a:p>
        </p:txBody>
      </p:sp>
      <p:sp>
        <p:nvSpPr>
          <p:cNvPr id="13" name="Text 11"/>
          <p:cNvSpPr txBox="1"/>
          <p:nvPr/>
        </p:nvSpPr>
        <p:spPr>
          <a:xfrm>
            <a:off x="640080" y="4572000"/>
            <a:ext cx="10911535" cy="731520"/>
          </a:xfrm>
          <a:prstGeom prst="rect">
            <a:avLst/>
          </a:prstGeom>
          <a:noFill/>
          <a:ln/>
        </p:spPr>
        <p:txBody>
          <a:bodyPr wrap="square" lIns="0" tIns="0" rIns="0" bIns="0" rtlCol="0" anchor="t"/>
          <a:lstStyle/>
          <a:p>
            <a:pPr indent="0" marL="0">
              <a:lnSpc>
                <a:spcPts val="2200"/>
              </a:lnSpc>
              <a:buNone/>
            </a:pPr>
            <a:r>
              <a:rPr lang="en-US" sz="1500" dirty="0">
                <a:solidFill>
                  <a:srgbClr val="75787B"/>
                </a:solidFill>
                <a:latin typeface="Calibri" pitchFamily="34" charset="0"/>
                <a:ea typeface="Calibri" pitchFamily="34" charset="-122"/>
                <a:cs typeface="Calibri" pitchFamily="34" charset="-120"/>
              </a:rPr>
              <a:t>And use your own real words. Real car names, real prices, the actual sentence from your story. Fake content is always exactly the right length, which hides every problem your layout has.</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4A0025"/>
        </a:solidFill>
      </p:bgPr>
    </p:bg>
    <p:spTree>
      <p:nvGrpSpPr>
        <p:cNvPr id="1" name=""/>
        <p:cNvGrpSpPr/>
        <p:nvPr/>
      </p:nvGrpSpPr>
      <p:grpSpPr>
        <a:xfrm>
          <a:off x="0" y="0"/>
          <a:ext cx="0" cy="0"/>
          <a:chOff x="0" y="0"/>
          <a:chExt cx="0" cy="0"/>
        </a:xfrm>
      </p:grpSpPr>
      <p:sp>
        <p:nvSpPr>
          <p:cNvPr id="2" name="Shape 0"/>
          <p:cNvSpPr/>
          <p:nvPr/>
        </p:nvSpPr>
        <p:spPr>
          <a:xfrm>
            <a:off x="9418320" y="1371600"/>
            <a:ext cx="4023360" cy="4023360"/>
          </a:xfrm>
          <a:prstGeom prst="ellipse">
            <a:avLst/>
          </a:prstGeom>
          <a:solidFill>
            <a:srgbClr val="630031"/>
          </a:solidFill>
          <a:ln w="12700">
            <a:solidFill>
              <a:srgbClr val="333333"/>
            </a:solidFill>
            <a:prstDash val="solid"/>
          </a:ln>
        </p:spPr>
      </p:sp>
      <p:sp>
        <p:nvSpPr>
          <p:cNvPr id="3" name="Text 1"/>
          <p:cNvSpPr txBox="1"/>
          <p:nvPr/>
        </p:nvSpPr>
        <p:spPr>
          <a:xfrm>
            <a:off x="640080" y="1965960"/>
            <a:ext cx="2743200" cy="1280160"/>
          </a:xfrm>
          <a:prstGeom prst="rect">
            <a:avLst/>
          </a:prstGeom>
          <a:noFill/>
          <a:ln/>
        </p:spPr>
        <p:txBody>
          <a:bodyPr wrap="square" lIns="0" tIns="0" rIns="0" bIns="0" rtlCol="0" anchor="ctr"/>
          <a:lstStyle/>
          <a:p>
            <a:pPr indent="0" marL="0">
              <a:buNone/>
            </a:pPr>
            <a:r>
              <a:rPr lang="en-US" sz="7200" b="1" dirty="0">
                <a:solidFill>
                  <a:srgbClr val="CF4420"/>
                </a:solidFill>
                <a:latin typeface="Cambria" pitchFamily="34" charset="0"/>
                <a:ea typeface="Cambria" pitchFamily="34" charset="-122"/>
                <a:cs typeface="Cambria" pitchFamily="34" charset="-120"/>
              </a:rPr>
              <a:t>03</a:t>
            </a:r>
            <a:endParaRPr lang="en-US" sz="7200" dirty="0"/>
          </a:p>
        </p:txBody>
      </p:sp>
      <p:sp>
        <p:nvSpPr>
          <p:cNvPr id="4" name="Text 2"/>
          <p:cNvSpPr txBox="1"/>
          <p:nvPr/>
        </p:nvSpPr>
        <p:spPr>
          <a:xfrm>
            <a:off x="640080" y="3200400"/>
            <a:ext cx="7315200" cy="86868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Build it</a:t>
            </a:r>
            <a:endParaRPr lang="en-US" sz="4400" dirty="0"/>
          </a:p>
        </p:txBody>
      </p:sp>
      <p:sp>
        <p:nvSpPr>
          <p:cNvPr id="5" name="Text 3"/>
          <p:cNvSpPr txBox="1"/>
          <p:nvPr/>
        </p:nvSpPr>
        <p:spPr>
          <a:xfrm>
            <a:off x="640080" y="4114800"/>
            <a:ext cx="7498080" cy="548640"/>
          </a:xfrm>
          <a:prstGeom prst="rect">
            <a:avLst/>
          </a:prstGeom>
          <a:noFill/>
          <a:ln/>
        </p:spPr>
        <p:txBody>
          <a:bodyPr wrap="square" lIns="0" tIns="0" rIns="0" bIns="0" rtlCol="0" anchor="ctr"/>
          <a:lstStyle/>
          <a:p>
            <a:pPr indent="0" marL="0">
              <a:buNone/>
            </a:pPr>
            <a:r>
              <a:rPr lang="en-US" sz="1600" dirty="0">
                <a:solidFill>
                  <a:srgbClr val="E9C9D6"/>
                </a:solidFill>
                <a:latin typeface="Calibri" pitchFamily="34" charset="0"/>
                <a:ea typeface="Calibri" pitchFamily="34" charset="-122"/>
                <a:cs typeface="Calibri" pitchFamily="34" charset="-120"/>
              </a:rPr>
              <a:t>Anvil, and three documents that point at each other on purpose.</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4F1"/>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56032"/>
          </a:xfrm>
          <a:prstGeom prst="rect">
            <a:avLst/>
          </a:prstGeom>
          <a:noFill/>
          <a:ln/>
        </p:spPr>
        <p:txBody>
          <a:bodyPr wrap="square" lIns="0" tIns="0" rIns="0" bIns="0" rtlCol="0" anchor="ctr"/>
          <a:lstStyle/>
          <a:p>
            <a:pPr indent="0" marL="0">
              <a:buNone/>
            </a:pPr>
            <a:r>
              <a:rPr lang="en-US" sz="1200" b="1" spc="200" kern="0" dirty="0">
                <a:solidFill>
                  <a:srgbClr val="CF4420"/>
                </a:solidFill>
                <a:latin typeface="Calibri" pitchFamily="34" charset="0"/>
                <a:ea typeface="Calibri" pitchFamily="34" charset="-122"/>
                <a:cs typeface="Calibri" pitchFamily="34" charset="-120"/>
              </a:rPr>
              <a:t>WHY YOU HAVE TO LOOK THINGS UP</a:t>
            </a:r>
            <a:endParaRPr lang="en-US" sz="1200" dirty="0"/>
          </a:p>
        </p:txBody>
      </p:sp>
      <p:sp>
        <p:nvSpPr>
          <p:cNvPr id="3" name="Text 1"/>
          <p:cNvSpPr txBox="1"/>
          <p:nvPr/>
        </p:nvSpPr>
        <p:spPr>
          <a:xfrm>
            <a:off x="640080" y="658368"/>
            <a:ext cx="10911535" cy="777240"/>
          </a:xfrm>
          <a:prstGeom prst="rect">
            <a:avLst/>
          </a:prstGeom>
          <a:noFill/>
          <a:ln/>
        </p:spPr>
        <p:txBody>
          <a:bodyPr wrap="square" lIns="0" tIns="0" rIns="0" bIns="0" rtlCol="0" anchor="t"/>
          <a:lstStyle/>
          <a:p>
            <a:pPr indent="0" marL="0">
              <a:buNone/>
            </a:pPr>
            <a:r>
              <a:rPr lang="en-US" sz="3400" b="1" dirty="0">
                <a:solidFill>
                  <a:srgbClr val="630031"/>
                </a:solidFill>
                <a:latin typeface="Cambria" pitchFamily="34" charset="0"/>
                <a:ea typeface="Cambria" pitchFamily="34" charset="-122"/>
                <a:cs typeface="Cambria" pitchFamily="34" charset="-120"/>
              </a:rPr>
              <a:t>Three documents, and the blanks between them</a:t>
            </a:r>
            <a:endParaRPr lang="en-US" sz="3400" dirty="0"/>
          </a:p>
        </p:txBody>
      </p:sp>
      <p:sp>
        <p:nvSpPr>
          <p:cNvPr id="4" name="Shape 2"/>
          <p:cNvSpPr/>
          <p:nvPr/>
        </p:nvSpPr>
        <p:spPr>
          <a:xfrm>
            <a:off x="640080" y="1783080"/>
            <a:ext cx="3417722" cy="2377440"/>
          </a:xfrm>
          <a:prstGeom prst="roundRect">
            <a:avLst>
              <a:gd name="adj" fmla="val 3462"/>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5" name="Shape 3"/>
          <p:cNvSpPr/>
          <p:nvPr/>
        </p:nvSpPr>
        <p:spPr>
          <a:xfrm>
            <a:off x="960120" y="2029968"/>
            <a:ext cx="420624" cy="420624"/>
          </a:xfrm>
          <a:prstGeom prst="ellipse">
            <a:avLst/>
          </a:prstGeom>
          <a:solidFill>
            <a:srgbClr val="FFFFFF"/>
          </a:solidFill>
          <a:ln w="12700">
            <a:solidFill>
              <a:srgbClr val="CF4420"/>
            </a:solidFill>
            <a:prstDash val="solid"/>
          </a:ln>
        </p:spPr>
      </p:sp>
      <p:sp>
        <p:nvSpPr>
          <p:cNvPr id="6" name="Shape 4"/>
          <p:cNvSpPr/>
          <p:nvPr/>
        </p:nvSpPr>
        <p:spPr>
          <a:xfrm>
            <a:off x="960120" y="2029968"/>
            <a:ext cx="420624" cy="420624"/>
          </a:xfrm>
          <a:prstGeom prst="ellipse">
            <a:avLst/>
          </a:prstGeom>
          <a:solidFill>
            <a:srgbClr val="CF4420"/>
          </a:solidFill>
          <a:ln w="12700">
            <a:solidFill>
              <a:srgbClr val="333333"/>
            </a:solidFill>
            <a:prstDash val="solid"/>
          </a:ln>
        </p:spPr>
      </p:sp>
      <p:sp>
        <p:nvSpPr>
          <p:cNvPr id="7" name="Text 5"/>
          <p:cNvSpPr txBox="1"/>
          <p:nvPr/>
        </p:nvSpPr>
        <p:spPr>
          <a:xfrm>
            <a:off x="960120" y="202996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txBox="1"/>
          <p:nvPr/>
        </p:nvSpPr>
        <p:spPr>
          <a:xfrm>
            <a:off x="1508760" y="2084832"/>
            <a:ext cx="2229002" cy="320040"/>
          </a:xfrm>
          <a:prstGeom prst="rect">
            <a:avLst/>
          </a:prstGeom>
          <a:noFill/>
          <a:ln/>
        </p:spPr>
        <p:txBody>
          <a:bodyPr wrap="square" lIns="0" tIns="0" rIns="0" bIns="0" rtlCol="0" anchor="ctr"/>
          <a:lstStyle/>
          <a:p>
            <a:pPr indent="0" marL="0">
              <a:buNone/>
            </a:pPr>
            <a:r>
              <a:rPr lang="en-US" sz="1800" b="1" dirty="0">
                <a:solidFill>
                  <a:srgbClr val="630031"/>
                </a:solidFill>
                <a:latin typeface="Cambria" pitchFamily="34" charset="0"/>
                <a:ea typeface="Cambria" pitchFamily="34" charset="-122"/>
                <a:cs typeface="Cambria" pitchFamily="34" charset="-120"/>
              </a:rPr>
              <a:t>Your build card</a:t>
            </a:r>
            <a:endParaRPr lang="en-US" sz="1800" dirty="0"/>
          </a:p>
        </p:txBody>
      </p:sp>
      <p:sp>
        <p:nvSpPr>
          <p:cNvPr id="9" name="Text 7"/>
          <p:cNvSpPr txBox="1"/>
          <p:nvPr/>
        </p:nvSpPr>
        <p:spPr>
          <a:xfrm>
            <a:off x="960120" y="2606040"/>
            <a:ext cx="2777642" cy="914400"/>
          </a:xfrm>
          <a:prstGeom prst="rect">
            <a:avLst/>
          </a:prstGeom>
          <a:noFill/>
          <a:ln/>
        </p:spPr>
        <p:txBody>
          <a:bodyPr wrap="square" lIns="0" tIns="0" rIns="0" bIns="0" rtlCol="0" anchor="ctr"/>
          <a:lstStyle/>
          <a:p>
            <a:pPr indent="0" marL="0">
              <a:lnSpc>
                <a:spcPts val="1700"/>
              </a:lnSpc>
              <a:buNone/>
            </a:pPr>
            <a:r>
              <a:rPr lang="en-US" sz="1300" dirty="0">
                <a:solidFill>
                  <a:srgbClr val="1C1A19"/>
                </a:solidFill>
                <a:latin typeface="Calibri" pitchFamily="34" charset="0"/>
                <a:ea typeface="Calibri" pitchFamily="34" charset="-122"/>
                <a:cs typeface="Calibri" pitchFamily="34" charset="-120"/>
              </a:rPr>
              <a:t>What the feature is, and what has to be true before it is done.</a:t>
            </a:r>
            <a:endParaRPr lang="en-US" sz="1300" dirty="0"/>
          </a:p>
        </p:txBody>
      </p:sp>
      <p:sp>
        <p:nvSpPr>
          <p:cNvPr id="10" name="Text 8"/>
          <p:cNvSpPr txBox="1"/>
          <p:nvPr/>
        </p:nvSpPr>
        <p:spPr>
          <a:xfrm>
            <a:off x="960120" y="3611880"/>
            <a:ext cx="2777642" cy="365760"/>
          </a:xfrm>
          <a:prstGeom prst="rect">
            <a:avLst/>
          </a:prstGeom>
          <a:noFill/>
          <a:ln/>
        </p:spPr>
        <p:txBody>
          <a:bodyPr wrap="square" lIns="0" tIns="0" rIns="0" bIns="0" rtlCol="0" anchor="ctr"/>
          <a:lstStyle/>
          <a:p>
            <a:pPr indent="0" marL="0">
              <a:buNone/>
            </a:pPr>
            <a:r>
              <a:rPr lang="en-US" sz="1250" i="1" dirty="0">
                <a:solidFill>
                  <a:srgbClr val="CF4420"/>
                </a:solidFill>
                <a:latin typeface="Calibri" pitchFamily="34" charset="0"/>
                <a:ea typeface="Calibri" pitchFamily="34" charset="-122"/>
                <a:cs typeface="Calibri" pitchFamily="34" charset="-120"/>
              </a:rPr>
              <a:t>Start here. Always.</a:t>
            </a:r>
            <a:endParaRPr lang="en-US" sz="1250" dirty="0"/>
          </a:p>
        </p:txBody>
      </p:sp>
      <p:sp>
        <p:nvSpPr>
          <p:cNvPr id="11" name="Shape 9"/>
          <p:cNvSpPr/>
          <p:nvPr/>
        </p:nvSpPr>
        <p:spPr>
          <a:xfrm>
            <a:off x="4386986" y="1783080"/>
            <a:ext cx="3417722" cy="2377440"/>
          </a:xfrm>
          <a:prstGeom prst="roundRect">
            <a:avLst>
              <a:gd name="adj" fmla="val 3462"/>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2" name="Shape 10"/>
          <p:cNvSpPr/>
          <p:nvPr/>
        </p:nvSpPr>
        <p:spPr>
          <a:xfrm>
            <a:off x="4707026" y="2029968"/>
            <a:ext cx="420624" cy="420624"/>
          </a:xfrm>
          <a:prstGeom prst="ellipse">
            <a:avLst/>
          </a:prstGeom>
          <a:solidFill>
            <a:srgbClr val="FFFFFF"/>
          </a:solidFill>
          <a:ln w="12700">
            <a:solidFill>
              <a:srgbClr val="CF4420"/>
            </a:solidFill>
            <a:prstDash val="solid"/>
          </a:ln>
        </p:spPr>
      </p:sp>
      <p:sp>
        <p:nvSpPr>
          <p:cNvPr id="13" name="Shape 11"/>
          <p:cNvSpPr/>
          <p:nvPr/>
        </p:nvSpPr>
        <p:spPr>
          <a:xfrm>
            <a:off x="4707026" y="2029968"/>
            <a:ext cx="420624" cy="420624"/>
          </a:xfrm>
          <a:prstGeom prst="ellipse">
            <a:avLst/>
          </a:prstGeom>
          <a:solidFill>
            <a:srgbClr val="CF4420"/>
          </a:solidFill>
          <a:ln w="12700">
            <a:solidFill>
              <a:srgbClr val="333333"/>
            </a:solidFill>
            <a:prstDash val="solid"/>
          </a:ln>
        </p:spPr>
      </p:sp>
      <p:sp>
        <p:nvSpPr>
          <p:cNvPr id="14" name="Text 12"/>
          <p:cNvSpPr txBox="1"/>
          <p:nvPr/>
        </p:nvSpPr>
        <p:spPr>
          <a:xfrm>
            <a:off x="4707026" y="202996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5" name="Text 13"/>
          <p:cNvSpPr txBox="1"/>
          <p:nvPr/>
        </p:nvSpPr>
        <p:spPr>
          <a:xfrm>
            <a:off x="5255666" y="2084832"/>
            <a:ext cx="2229002" cy="320040"/>
          </a:xfrm>
          <a:prstGeom prst="rect">
            <a:avLst/>
          </a:prstGeom>
          <a:noFill/>
          <a:ln/>
        </p:spPr>
        <p:txBody>
          <a:bodyPr wrap="square" lIns="0" tIns="0" rIns="0" bIns="0" rtlCol="0" anchor="ctr"/>
          <a:lstStyle/>
          <a:p>
            <a:pPr indent="0" marL="0">
              <a:buNone/>
            </a:pPr>
            <a:r>
              <a:rPr lang="en-US" sz="1800" b="1" dirty="0">
                <a:solidFill>
                  <a:srgbClr val="630031"/>
                </a:solidFill>
                <a:latin typeface="Cambria" pitchFamily="34" charset="0"/>
                <a:ea typeface="Cambria" pitchFamily="34" charset="-122"/>
                <a:cs typeface="Cambria" pitchFamily="34" charset="-120"/>
              </a:rPr>
              <a:t>Your architecture</a:t>
            </a:r>
            <a:endParaRPr lang="en-US" sz="1800" dirty="0"/>
          </a:p>
        </p:txBody>
      </p:sp>
      <p:sp>
        <p:nvSpPr>
          <p:cNvPr id="16" name="Text 14"/>
          <p:cNvSpPr txBox="1"/>
          <p:nvPr/>
        </p:nvSpPr>
        <p:spPr>
          <a:xfrm>
            <a:off x="4707026" y="2606040"/>
            <a:ext cx="2777642" cy="914400"/>
          </a:xfrm>
          <a:prstGeom prst="rect">
            <a:avLst/>
          </a:prstGeom>
          <a:noFill/>
          <a:ln/>
        </p:spPr>
        <p:txBody>
          <a:bodyPr wrap="square" lIns="0" tIns="0" rIns="0" bIns="0" rtlCol="0" anchor="ctr"/>
          <a:lstStyle/>
          <a:p>
            <a:pPr indent="0" marL="0">
              <a:lnSpc>
                <a:spcPts val="1700"/>
              </a:lnSpc>
              <a:buNone/>
            </a:pPr>
            <a:r>
              <a:rPr lang="en-US" sz="1300" dirty="0">
                <a:solidFill>
                  <a:srgbClr val="1C1A19"/>
                </a:solidFill>
                <a:latin typeface="Calibri" pitchFamily="34" charset="0"/>
                <a:ea typeface="Calibri" pitchFamily="34" charset="-122"/>
                <a:cs typeface="Calibri" pitchFamily="34" charset="-120"/>
              </a:rPr>
              <a:t>The screens, the exact component names, the tables, and which patterns each feature needs.</a:t>
            </a:r>
            <a:endParaRPr lang="en-US" sz="1300" dirty="0"/>
          </a:p>
        </p:txBody>
      </p:sp>
      <p:sp>
        <p:nvSpPr>
          <p:cNvPr id="17" name="Text 15"/>
          <p:cNvSpPr txBox="1"/>
          <p:nvPr/>
        </p:nvSpPr>
        <p:spPr>
          <a:xfrm>
            <a:off x="4707026" y="3611880"/>
            <a:ext cx="2777642" cy="365760"/>
          </a:xfrm>
          <a:prstGeom prst="rect">
            <a:avLst/>
          </a:prstGeom>
          <a:noFill/>
          <a:ln/>
        </p:spPr>
        <p:txBody>
          <a:bodyPr wrap="square" lIns="0" tIns="0" rIns="0" bIns="0" rtlCol="0" anchor="ctr"/>
          <a:lstStyle/>
          <a:p>
            <a:pPr indent="0" marL="0">
              <a:buNone/>
            </a:pPr>
            <a:r>
              <a:rPr lang="en-US" sz="1250" i="1" dirty="0">
                <a:solidFill>
                  <a:srgbClr val="CF4420"/>
                </a:solidFill>
                <a:latin typeface="Calibri" pitchFamily="34" charset="0"/>
                <a:ea typeface="Calibri" pitchFamily="34" charset="-122"/>
                <a:cs typeface="Calibri" pitchFamily="34" charset="-120"/>
              </a:rPr>
              <a:t>Only this page knows your names.</a:t>
            </a:r>
            <a:endParaRPr lang="en-US" sz="1250" dirty="0"/>
          </a:p>
        </p:txBody>
      </p:sp>
      <p:sp>
        <p:nvSpPr>
          <p:cNvPr id="18" name="Shape 16"/>
          <p:cNvSpPr/>
          <p:nvPr/>
        </p:nvSpPr>
        <p:spPr>
          <a:xfrm>
            <a:off x="8133893" y="1783080"/>
            <a:ext cx="3417722" cy="2377440"/>
          </a:xfrm>
          <a:prstGeom prst="roundRect">
            <a:avLst>
              <a:gd name="adj" fmla="val 3462"/>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9" name="Shape 17"/>
          <p:cNvSpPr/>
          <p:nvPr/>
        </p:nvSpPr>
        <p:spPr>
          <a:xfrm>
            <a:off x="8453933" y="2029968"/>
            <a:ext cx="420624" cy="420624"/>
          </a:xfrm>
          <a:prstGeom prst="ellipse">
            <a:avLst/>
          </a:prstGeom>
          <a:solidFill>
            <a:srgbClr val="FFFFFF"/>
          </a:solidFill>
          <a:ln w="12700">
            <a:solidFill>
              <a:srgbClr val="CF4420"/>
            </a:solidFill>
            <a:prstDash val="solid"/>
          </a:ln>
        </p:spPr>
      </p:sp>
      <p:sp>
        <p:nvSpPr>
          <p:cNvPr id="20" name="Shape 18"/>
          <p:cNvSpPr/>
          <p:nvPr/>
        </p:nvSpPr>
        <p:spPr>
          <a:xfrm>
            <a:off x="8453933" y="2029968"/>
            <a:ext cx="420624" cy="420624"/>
          </a:xfrm>
          <a:prstGeom prst="ellipse">
            <a:avLst/>
          </a:prstGeom>
          <a:solidFill>
            <a:srgbClr val="CF4420"/>
          </a:solidFill>
          <a:ln w="12700">
            <a:solidFill>
              <a:srgbClr val="333333"/>
            </a:solidFill>
            <a:prstDash val="solid"/>
          </a:ln>
        </p:spPr>
      </p:sp>
      <p:sp>
        <p:nvSpPr>
          <p:cNvPr id="21" name="Text 19"/>
          <p:cNvSpPr txBox="1"/>
          <p:nvPr/>
        </p:nvSpPr>
        <p:spPr>
          <a:xfrm>
            <a:off x="8453933" y="202996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2" name="Text 20"/>
          <p:cNvSpPr txBox="1"/>
          <p:nvPr/>
        </p:nvSpPr>
        <p:spPr>
          <a:xfrm>
            <a:off x="9002573" y="2084832"/>
            <a:ext cx="2229002" cy="320040"/>
          </a:xfrm>
          <a:prstGeom prst="rect">
            <a:avLst/>
          </a:prstGeom>
          <a:noFill/>
          <a:ln/>
        </p:spPr>
        <p:txBody>
          <a:bodyPr wrap="square" lIns="0" tIns="0" rIns="0" bIns="0" rtlCol="0" anchor="ctr"/>
          <a:lstStyle/>
          <a:p>
            <a:pPr indent="0" marL="0">
              <a:buNone/>
            </a:pPr>
            <a:r>
              <a:rPr lang="en-US" sz="1800" b="1" dirty="0">
                <a:solidFill>
                  <a:srgbClr val="630031"/>
                </a:solidFill>
                <a:latin typeface="Cambria" pitchFamily="34" charset="0"/>
                <a:ea typeface="Cambria" pitchFamily="34" charset="-122"/>
                <a:cs typeface="Cambria" pitchFamily="34" charset="-120"/>
              </a:rPr>
              <a:t>The Pattern Book</a:t>
            </a:r>
            <a:endParaRPr lang="en-US" sz="1800" dirty="0"/>
          </a:p>
        </p:txBody>
      </p:sp>
      <p:sp>
        <p:nvSpPr>
          <p:cNvPr id="23" name="Text 21"/>
          <p:cNvSpPr txBox="1"/>
          <p:nvPr/>
        </p:nvSpPr>
        <p:spPr>
          <a:xfrm>
            <a:off x="8453933" y="2606040"/>
            <a:ext cx="2777642" cy="914400"/>
          </a:xfrm>
          <a:prstGeom prst="rect">
            <a:avLst/>
          </a:prstGeom>
          <a:noFill/>
          <a:ln/>
        </p:spPr>
        <p:txBody>
          <a:bodyPr wrap="square" lIns="0" tIns="0" rIns="0" bIns="0" rtlCol="0" anchor="ctr"/>
          <a:lstStyle/>
          <a:p>
            <a:pPr indent="0" marL="0">
              <a:lnSpc>
                <a:spcPts val="1700"/>
              </a:lnSpc>
              <a:buNone/>
            </a:pPr>
            <a:r>
              <a:rPr lang="en-US" sz="1300" dirty="0">
                <a:solidFill>
                  <a:srgbClr val="1C1A19"/>
                </a:solidFill>
                <a:latin typeface="Calibri" pitchFamily="34" charset="0"/>
                <a:ea typeface="Calibri" pitchFamily="34" charset="-122"/>
                <a:cs typeface="Calibri" pitchFamily="34" charset="-120"/>
              </a:rPr>
              <a:t>The actual code. Shared by every team in every period.</a:t>
            </a:r>
            <a:endParaRPr lang="en-US" sz="1300" dirty="0"/>
          </a:p>
        </p:txBody>
      </p:sp>
      <p:sp>
        <p:nvSpPr>
          <p:cNvPr id="24" name="Text 22"/>
          <p:cNvSpPr txBox="1"/>
          <p:nvPr/>
        </p:nvSpPr>
        <p:spPr>
          <a:xfrm>
            <a:off x="8453933" y="3611880"/>
            <a:ext cx="2777642" cy="365760"/>
          </a:xfrm>
          <a:prstGeom prst="rect">
            <a:avLst/>
          </a:prstGeom>
          <a:noFill/>
          <a:ln/>
        </p:spPr>
        <p:txBody>
          <a:bodyPr wrap="square" lIns="0" tIns="0" rIns="0" bIns="0" rtlCol="0" anchor="ctr"/>
          <a:lstStyle/>
          <a:p>
            <a:pPr indent="0" marL="0">
              <a:buNone/>
            </a:pPr>
            <a:r>
              <a:rPr lang="en-US" sz="1250" i="1" dirty="0">
                <a:solidFill>
                  <a:srgbClr val="CF4420"/>
                </a:solidFill>
                <a:latin typeface="Calibri" pitchFamily="34" charset="0"/>
                <a:ea typeface="Calibri" pitchFamily="34" charset="-122"/>
                <a:cs typeface="Calibri" pitchFamily="34" charset="-120"/>
              </a:rPr>
              <a:t>Every name in it is a blank.</a:t>
            </a:r>
            <a:endParaRPr lang="en-US" sz="1250" dirty="0"/>
          </a:p>
        </p:txBody>
      </p:sp>
      <p:sp>
        <p:nvSpPr>
          <p:cNvPr id="25" name="Shape 23"/>
          <p:cNvSpPr/>
          <p:nvPr/>
        </p:nvSpPr>
        <p:spPr>
          <a:xfrm>
            <a:off x="640080" y="4343400"/>
            <a:ext cx="10911535" cy="1188720"/>
          </a:xfrm>
          <a:prstGeom prst="roundRect">
            <a:avLst>
              <a:gd name="adj" fmla="val 6923"/>
            </a:avLst>
          </a:prstGeom>
          <a:solidFill>
            <a:srgbClr val="F0EBE4"/>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26" name="Text 24"/>
          <p:cNvSpPr txBox="1"/>
          <p:nvPr/>
        </p:nvSpPr>
        <p:spPr>
          <a:xfrm>
            <a:off x="1005840" y="4343400"/>
            <a:ext cx="5120640" cy="1188720"/>
          </a:xfrm>
          <a:prstGeom prst="rect">
            <a:avLst/>
          </a:prstGeom>
          <a:noFill/>
          <a:ln/>
        </p:spPr>
        <p:txBody>
          <a:bodyPr wrap="square" lIns="0" tIns="0" rIns="0" bIns="0" rtlCol="0" anchor="ctr"/>
          <a:lstStyle/>
          <a:p>
            <a:pPr indent="0" marL="0">
              <a:buNone/>
            </a:pPr>
            <a:r>
              <a:rPr lang="en-US" sz="1400" b="1" dirty="0">
                <a:solidFill>
                  <a:srgbClr val="630031"/>
                </a:solidFill>
                <a:latin typeface="Courier New" pitchFamily="34" charset="0"/>
                <a:ea typeface="Courier New" pitchFamily="34" charset="-122"/>
                <a:cs typeface="Courier New" pitchFamily="34" charset="-120"/>
              </a:rPr>
              <a:t>app_tables.___table_name___.add_row( ... )</a:t>
            </a:r>
            <a:endParaRPr lang="en-US" sz="1400" dirty="0"/>
          </a:p>
        </p:txBody>
      </p:sp>
      <p:sp>
        <p:nvSpPr>
          <p:cNvPr id="27" name="Text 25"/>
          <p:cNvSpPr txBox="1"/>
          <p:nvPr/>
        </p:nvSpPr>
        <p:spPr>
          <a:xfrm>
            <a:off x="6400800" y="4343400"/>
            <a:ext cx="4785055" cy="1188720"/>
          </a:xfrm>
          <a:prstGeom prst="rect">
            <a:avLst/>
          </a:prstGeom>
          <a:noFill/>
          <a:ln/>
        </p:spPr>
        <p:txBody>
          <a:bodyPr wrap="square" lIns="0" tIns="0" rIns="0" bIns="0" rtlCol="0" anchor="ctr"/>
          <a:lstStyle/>
          <a:p>
            <a:pPr indent="0" marL="0">
              <a:lnSpc>
                <a:spcPts val="1700"/>
              </a:lnSpc>
              <a:buNone/>
            </a:pPr>
            <a:r>
              <a:rPr lang="en-US" sz="1300" dirty="0">
                <a:solidFill>
                  <a:srgbClr val="1C1A19"/>
                </a:solidFill>
                <a:latin typeface="Calibri" pitchFamily="34" charset="0"/>
                <a:ea typeface="Calibri" pitchFamily="34" charset="-122"/>
                <a:cs typeface="Calibri" pitchFamily="34" charset="-120"/>
              </a:rPr>
              <a:t>The blank is always a name only your team knows. You cannot copy the code without reading your own architecture, and that is deliberate. Looking something up four times is what makes you stop needing to look it up.</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4F1"/>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56032"/>
          </a:xfrm>
          <a:prstGeom prst="rect">
            <a:avLst/>
          </a:prstGeom>
          <a:noFill/>
          <a:ln/>
        </p:spPr>
        <p:txBody>
          <a:bodyPr wrap="square" lIns="0" tIns="0" rIns="0" bIns="0" rtlCol="0" anchor="ctr"/>
          <a:lstStyle/>
          <a:p>
            <a:pPr indent="0" marL="0">
              <a:buNone/>
            </a:pPr>
            <a:r>
              <a:rPr lang="en-US" sz="1200" b="1" spc="200" kern="0" dirty="0">
                <a:solidFill>
                  <a:srgbClr val="CF4420"/>
                </a:solidFill>
                <a:latin typeface="Calibri" pitchFamily="34" charset="0"/>
                <a:ea typeface="Calibri" pitchFamily="34" charset="-122"/>
                <a:cs typeface="Calibri" pitchFamily="34" charset="-120"/>
              </a:rPr>
              <a:t>IT IS NOT YOU FAILING</a:t>
            </a:r>
            <a:endParaRPr lang="en-US" sz="1200" dirty="0"/>
          </a:p>
        </p:txBody>
      </p:sp>
      <p:sp>
        <p:nvSpPr>
          <p:cNvPr id="3" name="Text 1"/>
          <p:cNvSpPr txBox="1"/>
          <p:nvPr/>
        </p:nvSpPr>
        <p:spPr>
          <a:xfrm>
            <a:off x="640080" y="658368"/>
            <a:ext cx="10911535" cy="777240"/>
          </a:xfrm>
          <a:prstGeom prst="rect">
            <a:avLst/>
          </a:prstGeom>
          <a:noFill/>
          <a:ln/>
        </p:spPr>
        <p:txBody>
          <a:bodyPr wrap="square" lIns="0" tIns="0" rIns="0" bIns="0" rtlCol="0" anchor="t"/>
          <a:lstStyle/>
          <a:p>
            <a:pPr indent="0" marL="0">
              <a:buNone/>
            </a:pPr>
            <a:r>
              <a:rPr lang="en-US" sz="3400" b="1" dirty="0">
                <a:solidFill>
                  <a:srgbClr val="630031"/>
                </a:solidFill>
                <a:latin typeface="Cambria" pitchFamily="34" charset="0"/>
                <a:ea typeface="Cambria" pitchFamily="34" charset="-122"/>
                <a:cs typeface="Cambria" pitchFamily="34" charset="-120"/>
              </a:rPr>
              <a:t>When Anvil shows you red text</a:t>
            </a:r>
            <a:endParaRPr lang="en-US" sz="3400" dirty="0"/>
          </a:p>
        </p:txBody>
      </p:sp>
      <p:sp>
        <p:nvSpPr>
          <p:cNvPr id="4" name="Shape 2"/>
          <p:cNvSpPr/>
          <p:nvPr/>
        </p:nvSpPr>
        <p:spPr>
          <a:xfrm>
            <a:off x="640080" y="1783080"/>
            <a:ext cx="5486400" cy="3611880"/>
          </a:xfrm>
          <a:prstGeom prst="roundRect">
            <a:avLst>
              <a:gd name="adj" fmla="val 2278"/>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5" name="Text 3"/>
          <p:cNvSpPr txBox="1"/>
          <p:nvPr/>
        </p:nvSpPr>
        <p:spPr>
          <a:xfrm>
            <a:off x="960120" y="2011680"/>
            <a:ext cx="4846320" cy="365760"/>
          </a:xfrm>
          <a:prstGeom prst="rect">
            <a:avLst/>
          </a:prstGeom>
          <a:noFill/>
          <a:ln/>
        </p:spPr>
        <p:txBody>
          <a:bodyPr wrap="square" lIns="0" tIns="0" rIns="0" bIns="0" rtlCol="0" anchor="ctr"/>
          <a:lstStyle/>
          <a:p>
            <a:pPr indent="0" marL="0">
              <a:buNone/>
            </a:pPr>
            <a:r>
              <a:rPr lang="en-US" sz="1900" b="1" dirty="0">
                <a:solidFill>
                  <a:srgbClr val="630031"/>
                </a:solidFill>
                <a:latin typeface="Cambria" pitchFamily="34" charset="0"/>
                <a:ea typeface="Cambria" pitchFamily="34" charset="-122"/>
                <a:cs typeface="Cambria" pitchFamily="34" charset="-120"/>
              </a:rPr>
              <a:t>First steps in Anvil</a:t>
            </a:r>
            <a:endParaRPr lang="en-US" sz="1900" dirty="0"/>
          </a:p>
        </p:txBody>
      </p:sp>
      <p:sp>
        <p:nvSpPr>
          <p:cNvPr id="6" name="Text 4"/>
          <p:cNvSpPr txBox="1"/>
          <p:nvPr/>
        </p:nvSpPr>
        <p:spPr>
          <a:xfrm>
            <a:off x="960120" y="2395728"/>
            <a:ext cx="4846320" cy="2880360"/>
          </a:xfrm>
          <a:prstGeom prst="rect">
            <a:avLst/>
          </a:prstGeom>
          <a:noFill/>
          <a:ln/>
        </p:spPr>
        <p:txBody>
          <a:bodyPr wrap="square" lIns="0" tIns="0" rIns="0" bIns="0" rtlCol="0" anchor="t"/>
          <a:lstStyle/>
          <a:p>
            <a:pPr marL="342900" indent="-342900">
              <a:spcAft>
                <a:spcPts val="1600"/>
              </a:spcAft>
              <a:buSzPct val="100000"/>
              <a:buChar char="•"/>
            </a:pPr>
            <a:r>
              <a:rPr lang="en-US" sz="1600" dirty="0">
                <a:solidFill>
                  <a:srgbClr val="1C1A19"/>
                </a:solidFill>
                <a:latin typeface="Calibri" pitchFamily="34" charset="0"/>
                <a:ea typeface="Calibri" pitchFamily="34" charset="-122"/>
                <a:cs typeface="Calibri" pitchFamily="34" charset="-120"/>
              </a:rPr>
              <a:t>Where to type it, and what to click.</a:t>
            </a:r>
            <a:endParaRPr lang="en-US" sz="1600" dirty="0"/>
          </a:p>
          <a:p>
            <a:pPr marL="342900" indent="-342900">
              <a:spcAft>
                <a:spcPts val="1600"/>
              </a:spcAft>
              <a:buSzPct val="100000"/>
              <a:buChar char="•"/>
            </a:pPr>
            <a:r>
              <a:rPr lang="en-US" sz="1600" dirty="0">
                <a:solidFill>
                  <a:srgbClr val="1C1A19"/>
                </a:solidFill>
                <a:latin typeface="Calibri" pitchFamily="34" charset="0"/>
                <a:ea typeface="Calibri" pitchFamily="34" charset="-122"/>
                <a:cs typeface="Calibri" pitchFamily="34" charset="-120"/>
              </a:rPr>
              <a:t>The difference between a component's name and its text.</a:t>
            </a:r>
            <a:endParaRPr lang="en-US" sz="1600" dirty="0"/>
          </a:p>
          <a:p>
            <a:pPr marL="342900" indent="-342900">
              <a:spcAft>
                <a:spcPts val="1600"/>
              </a:spcAft>
              <a:buSzPct val="100000"/>
              <a:buChar char="•"/>
            </a:pPr>
            <a:r>
              <a:rPr lang="en-US" sz="1600" dirty="0">
                <a:solidFill>
                  <a:srgbClr val="1C1A19"/>
                </a:solidFill>
                <a:latin typeface="Calibri" pitchFamily="34" charset="0"/>
                <a:ea typeface="Calibri" pitchFamily="34" charset="-122"/>
                <a:cs typeface="Calibri" pitchFamily="34" charset="-120"/>
              </a:rPr>
              <a:t>Let Anvil write the handler. Do not type it yourself.</a:t>
            </a:r>
            <a:endParaRPr lang="en-US" sz="1600" dirty="0"/>
          </a:p>
          <a:p>
            <a:pPr marL="342900" indent="-342900">
              <a:spcAft>
                <a:spcPts val="1600"/>
              </a:spcAft>
              <a:buSzPct val="100000"/>
              <a:buChar char="•"/>
            </a:pPr>
            <a:r>
              <a:rPr lang="en-US" sz="1600" dirty="0">
                <a:solidFill>
                  <a:srgbClr val="1C1A19"/>
                </a:solidFill>
                <a:latin typeface="Calibri" pitchFamily="34" charset="0"/>
                <a:ea typeface="Calibri" pitchFamily="34" charset="-122"/>
                <a:cs typeface="Calibri" pitchFamily="34" charset="-120"/>
              </a:rPr>
              <a:t>One line, then run it. Not twenty lines, then run it.</a:t>
            </a:r>
            <a:endParaRPr lang="en-US" sz="1600" dirty="0"/>
          </a:p>
          <a:p>
            <a:pPr marL="342900" indent="-342900">
              <a:spcAft>
                <a:spcPts val="1600"/>
              </a:spcAft>
              <a:buSzPct val="100000"/>
              <a:buChar char="•"/>
            </a:pPr>
            <a:r>
              <a:rPr lang="en-US" sz="1600" dirty="0">
                <a:solidFill>
                  <a:srgbClr val="1C1A19"/>
                </a:solidFill>
                <a:latin typeface="Calibri" pitchFamily="34" charset="0"/>
                <a:ea typeface="Calibri" pitchFamily="34" charset="-122"/>
                <a:cs typeface="Calibri" pitchFamily="34" charset="-120"/>
              </a:rPr>
              <a:t>Anything that touches the database goes in a Server Module.</a:t>
            </a:r>
            <a:endParaRPr lang="en-US" sz="1600" dirty="0"/>
          </a:p>
          <a:p>
            <a:pPr marL="342900" indent="-342900">
              <a:spcAft>
                <a:spcPts val="1600"/>
              </a:spcAft>
              <a:buSzPct val="100000"/>
              <a:buChar char="•"/>
            </a:pPr>
            <a:r>
              <a:rPr lang="en-US" sz="1600" dirty="0">
                <a:solidFill>
                  <a:srgbClr val="1C1A19"/>
                </a:solidFill>
                <a:latin typeface="Calibri" pitchFamily="34" charset="0"/>
                <a:ea typeface="Calibri" pitchFamily="34" charset="-122"/>
                <a:cs typeface="Calibri" pitchFamily="34" charset="-120"/>
              </a:rPr>
              <a:t>Print things out to see what is happening. print("it worked") is real debugging.</a:t>
            </a:r>
            <a:endParaRPr lang="en-US" sz="1600" dirty="0"/>
          </a:p>
        </p:txBody>
      </p:sp>
      <p:sp>
        <p:nvSpPr>
          <p:cNvPr id="7" name="Shape 5"/>
          <p:cNvSpPr/>
          <p:nvPr/>
        </p:nvSpPr>
        <p:spPr>
          <a:xfrm>
            <a:off x="6492240" y="1783080"/>
            <a:ext cx="5059375" cy="3611880"/>
          </a:xfrm>
          <a:prstGeom prst="roundRect">
            <a:avLst>
              <a:gd name="adj" fmla="val 2278"/>
            </a:avLst>
          </a:prstGeom>
          <a:solidFill>
            <a:srgbClr val="FBF0EA"/>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8" name="Text 6"/>
          <p:cNvSpPr txBox="1"/>
          <p:nvPr/>
        </p:nvSpPr>
        <p:spPr>
          <a:xfrm>
            <a:off x="6812280" y="2011680"/>
            <a:ext cx="4206240" cy="365760"/>
          </a:xfrm>
          <a:prstGeom prst="rect">
            <a:avLst/>
          </a:prstGeom>
          <a:noFill/>
          <a:ln/>
        </p:spPr>
        <p:txBody>
          <a:bodyPr wrap="square" lIns="0" tIns="0" rIns="0" bIns="0" rtlCol="0" anchor="ctr"/>
          <a:lstStyle/>
          <a:p>
            <a:pPr indent="0" marL="0">
              <a:buNone/>
            </a:pPr>
            <a:r>
              <a:rPr lang="en-US" sz="1900" b="1" dirty="0">
                <a:solidFill>
                  <a:srgbClr val="630031"/>
                </a:solidFill>
                <a:latin typeface="Cambria" pitchFamily="34" charset="0"/>
                <a:ea typeface="Cambria" pitchFamily="34" charset="-122"/>
                <a:cs typeface="Cambria" pitchFamily="34" charset="-120"/>
              </a:rPr>
              <a:t>The error page</a:t>
            </a:r>
            <a:endParaRPr lang="en-US" sz="1900" dirty="0"/>
          </a:p>
        </p:txBody>
      </p:sp>
      <p:sp>
        <p:nvSpPr>
          <p:cNvPr id="9" name="Text 7"/>
          <p:cNvSpPr txBox="1"/>
          <p:nvPr/>
        </p:nvSpPr>
        <p:spPr>
          <a:xfrm>
            <a:off x="6812280" y="2450592"/>
            <a:ext cx="4297680" cy="822960"/>
          </a:xfrm>
          <a:prstGeom prst="rect">
            <a:avLst/>
          </a:prstGeom>
          <a:noFill/>
          <a:ln/>
        </p:spPr>
        <p:txBody>
          <a:bodyPr wrap="square" lIns="0" tIns="0" rIns="0" bIns="0" rtlCol="0" anchor="ctr"/>
          <a:lstStyle/>
          <a:p>
            <a:pPr indent="0" marL="0">
              <a:lnSpc>
                <a:spcPts val="1700"/>
              </a:lnSpc>
              <a:buNone/>
            </a:pPr>
            <a:r>
              <a:rPr lang="en-US" sz="1300" dirty="0">
                <a:solidFill>
                  <a:srgbClr val="1C1A19"/>
                </a:solidFill>
                <a:latin typeface="Calibri" pitchFamily="34" charset="0"/>
                <a:ea typeface="Calibri" pitchFamily="34" charset="-122"/>
                <a:cs typeface="Calibri" pitchFamily="34" charset="-120"/>
              </a:rPr>
              <a:t>Ten errors you will actually hit, each one in plain words with what to check. Including the worst one, which is not an error at all:</a:t>
            </a:r>
            <a:endParaRPr lang="en-US" sz="1300" dirty="0"/>
          </a:p>
        </p:txBody>
      </p:sp>
      <p:sp>
        <p:nvSpPr>
          <p:cNvPr id="10" name="Shape 8"/>
          <p:cNvSpPr/>
          <p:nvPr/>
        </p:nvSpPr>
        <p:spPr>
          <a:xfrm>
            <a:off x="6812280" y="3429000"/>
            <a:ext cx="4297680" cy="1737360"/>
          </a:xfrm>
          <a:prstGeom prst="roundRect">
            <a:avLst>
              <a:gd name="adj" fmla="val 3684"/>
            </a:avLst>
          </a:prstGeom>
          <a:solidFill>
            <a:srgbClr val="FFFFFF"/>
          </a:solidFill>
          <a:ln w="12700">
            <a:solidFill>
              <a:srgbClr val="333333"/>
            </a:solidFill>
            <a:prstDash val="solid"/>
          </a:ln>
        </p:spPr>
      </p:sp>
      <p:sp>
        <p:nvSpPr>
          <p:cNvPr id="11" name="Text 9"/>
          <p:cNvSpPr txBox="1"/>
          <p:nvPr/>
        </p:nvSpPr>
        <p:spPr>
          <a:xfrm>
            <a:off x="6995160" y="3611880"/>
            <a:ext cx="3931920" cy="320040"/>
          </a:xfrm>
          <a:prstGeom prst="rect">
            <a:avLst/>
          </a:prstGeom>
          <a:noFill/>
          <a:ln/>
        </p:spPr>
        <p:txBody>
          <a:bodyPr wrap="square" lIns="0" tIns="0" rIns="0" bIns="0" rtlCol="0" anchor="ctr"/>
          <a:lstStyle/>
          <a:p>
            <a:pPr indent="0" marL="0">
              <a:buNone/>
            </a:pPr>
            <a:r>
              <a:rPr lang="en-US" sz="1400" b="1" dirty="0">
                <a:solidFill>
                  <a:srgbClr val="630031"/>
                </a:solidFill>
                <a:latin typeface="Calibri" pitchFamily="34" charset="0"/>
                <a:ea typeface="Calibri" pitchFamily="34" charset="-122"/>
                <a:cs typeface="Calibri" pitchFamily="34" charset="-120"/>
              </a:rPr>
              <a:t>“My button does nothing.”</a:t>
            </a:r>
            <a:endParaRPr lang="en-US" sz="1400" dirty="0"/>
          </a:p>
        </p:txBody>
      </p:sp>
      <p:sp>
        <p:nvSpPr>
          <p:cNvPr id="12" name="Text 10"/>
          <p:cNvSpPr txBox="1"/>
          <p:nvPr/>
        </p:nvSpPr>
        <p:spPr>
          <a:xfrm>
            <a:off x="6995160" y="3977640"/>
            <a:ext cx="3931920" cy="1005840"/>
          </a:xfrm>
          <a:prstGeom prst="rect">
            <a:avLst/>
          </a:prstGeom>
          <a:noFill/>
          <a:ln/>
        </p:spPr>
        <p:txBody>
          <a:bodyPr wrap="square" lIns="0" tIns="0" rIns="0" bIns="0" rtlCol="0" anchor="ctr"/>
          <a:lstStyle/>
          <a:p>
            <a:pPr indent="0" marL="0">
              <a:lnSpc>
                <a:spcPts val="1600"/>
              </a:lnSpc>
              <a:buNone/>
            </a:pPr>
            <a:r>
              <a:rPr lang="en-US" sz="1200" dirty="0">
                <a:solidFill>
                  <a:srgbClr val="1C1A19"/>
                </a:solidFill>
                <a:latin typeface="Calibri" pitchFamily="34" charset="0"/>
                <a:ea typeface="Calibri" pitchFamily="34" charset="-122"/>
                <a:cs typeface="Calibri" pitchFamily="34" charset="-120"/>
              </a:rPr>
              <a:t>Nine times out of ten the handler is not connected to the button. The page tells you how to check in about fifteen seconds.</a:t>
            </a:r>
            <a:endParaRPr lang="en-US" sz="1200" dirty="0"/>
          </a:p>
        </p:txBody>
      </p:sp>
      <p:sp>
        <p:nvSpPr>
          <p:cNvPr id="13" name="Text 11"/>
          <p:cNvSpPr txBox="1"/>
          <p:nvPr/>
        </p:nvSpPr>
        <p:spPr>
          <a:xfrm>
            <a:off x="640080" y="5623560"/>
            <a:ext cx="10911535" cy="548640"/>
          </a:xfrm>
          <a:prstGeom prst="rect">
            <a:avLst/>
          </a:prstGeom>
          <a:noFill/>
          <a:ln/>
        </p:spPr>
        <p:txBody>
          <a:bodyPr wrap="square" lIns="0" tIns="0" rIns="0" bIns="0" rtlCol="0" anchor="t"/>
          <a:lstStyle/>
          <a:p>
            <a:pPr indent="0" marL="0">
              <a:lnSpc>
                <a:spcPts val="2200"/>
              </a:lnSpc>
              <a:buNone/>
            </a:pPr>
            <a:r>
              <a:rPr lang="en-US" sz="1500" dirty="0">
                <a:solidFill>
                  <a:srgbClr val="75787B"/>
                </a:solidFill>
                <a:latin typeface="Calibri" pitchFamily="34" charset="0"/>
                <a:ea typeface="Calibri" pitchFamily="34" charset="-122"/>
                <a:cs typeface="Calibri" pitchFamily="34" charset="-120"/>
              </a:rPr>
              <a:t>Everything breaks. Reading an error message is a skill and this is the term you get good at it.</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4F1"/>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56032"/>
          </a:xfrm>
          <a:prstGeom prst="rect">
            <a:avLst/>
          </a:prstGeom>
          <a:noFill/>
          <a:ln/>
        </p:spPr>
        <p:txBody>
          <a:bodyPr wrap="square" lIns="0" tIns="0" rIns="0" bIns="0" rtlCol="0" anchor="ctr"/>
          <a:lstStyle/>
          <a:p>
            <a:pPr indent="0" marL="0">
              <a:buNone/>
            </a:pPr>
            <a:r>
              <a:rPr lang="en-US" sz="1200" b="1" spc="200" kern="0" dirty="0">
                <a:solidFill>
                  <a:srgbClr val="CF4420"/>
                </a:solidFill>
                <a:latin typeface="Calibri" pitchFamily="34" charset="0"/>
                <a:ea typeface="Calibri" pitchFamily="34" charset="-122"/>
                <a:cs typeface="Calibri" pitchFamily="34" charset="-120"/>
              </a:rPr>
              <a:t>AND IT IS DIFFERENT IN EACH PLACE</a:t>
            </a:r>
            <a:endParaRPr lang="en-US" sz="1200" dirty="0"/>
          </a:p>
        </p:txBody>
      </p:sp>
      <p:sp>
        <p:nvSpPr>
          <p:cNvPr id="3" name="Text 1"/>
          <p:cNvSpPr txBox="1"/>
          <p:nvPr/>
        </p:nvSpPr>
        <p:spPr>
          <a:xfrm>
            <a:off x="640080" y="658368"/>
            <a:ext cx="10911535" cy="777240"/>
          </a:xfrm>
          <a:prstGeom prst="rect">
            <a:avLst/>
          </a:prstGeom>
          <a:noFill/>
          <a:ln/>
        </p:spPr>
        <p:txBody>
          <a:bodyPr wrap="square" lIns="0" tIns="0" rIns="0" bIns="0" rtlCol="0" anchor="t"/>
          <a:lstStyle/>
          <a:p>
            <a:pPr indent="0" marL="0">
              <a:buNone/>
            </a:pPr>
            <a:r>
              <a:rPr lang="en-US" sz="3400" b="1" dirty="0">
                <a:solidFill>
                  <a:srgbClr val="630031"/>
                </a:solidFill>
                <a:latin typeface="Cambria" pitchFamily="34" charset="0"/>
                <a:ea typeface="Cambria" pitchFamily="34" charset="-122"/>
                <a:cs typeface="Cambria" pitchFamily="34" charset="-120"/>
              </a:rPr>
              <a:t>Spark will help. It will not do it for you.</a:t>
            </a:r>
            <a:endParaRPr lang="en-US" sz="3400" dirty="0"/>
          </a:p>
        </p:txBody>
      </p:sp>
      <p:sp>
        <p:nvSpPr>
          <p:cNvPr id="4" name="Shape 2"/>
          <p:cNvSpPr/>
          <p:nvPr/>
        </p:nvSpPr>
        <p:spPr>
          <a:xfrm>
            <a:off x="640080" y="1737360"/>
            <a:ext cx="10911535" cy="841248"/>
          </a:xfrm>
          <a:prstGeom prst="roundRect">
            <a:avLst>
              <a:gd name="adj" fmla="val 9783"/>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5" name="Text 3"/>
          <p:cNvSpPr txBox="1"/>
          <p:nvPr/>
        </p:nvSpPr>
        <p:spPr>
          <a:xfrm>
            <a:off x="914400" y="1810512"/>
            <a:ext cx="2651760" cy="694944"/>
          </a:xfrm>
          <a:prstGeom prst="rect">
            <a:avLst/>
          </a:prstGeom>
          <a:noFill/>
          <a:ln/>
        </p:spPr>
        <p:txBody>
          <a:bodyPr wrap="square" lIns="0" tIns="0" rIns="0" bIns="0" rtlCol="0" anchor="ctr"/>
          <a:lstStyle/>
          <a:p>
            <a:pPr indent="0" marL="0">
              <a:buNone/>
            </a:pPr>
            <a:r>
              <a:rPr lang="en-US" sz="1400" b="1" dirty="0">
                <a:solidFill>
                  <a:srgbClr val="630031"/>
                </a:solidFill>
                <a:latin typeface="Calibri" pitchFamily="34" charset="0"/>
                <a:ea typeface="Calibri" pitchFamily="34" charset="-122"/>
                <a:cs typeface="Calibri" pitchFamily="34" charset="-120"/>
              </a:rPr>
              <a:t>On your story</a:t>
            </a:r>
            <a:endParaRPr lang="en-US" sz="1400" dirty="0"/>
          </a:p>
        </p:txBody>
      </p:sp>
      <p:sp>
        <p:nvSpPr>
          <p:cNvPr id="6" name="Text 4"/>
          <p:cNvSpPr txBox="1"/>
          <p:nvPr/>
        </p:nvSpPr>
        <p:spPr>
          <a:xfrm>
            <a:off x="3703320" y="1810512"/>
            <a:ext cx="4114800" cy="694944"/>
          </a:xfrm>
          <a:prstGeom prst="rect">
            <a:avLst/>
          </a:prstGeom>
          <a:noFill/>
          <a:ln/>
        </p:spPr>
        <p:txBody>
          <a:bodyPr wrap="square" lIns="0" tIns="0" rIns="0" bIns="0" rtlCol="0" anchor="ctr"/>
          <a:lstStyle/>
          <a:p>
            <a:pPr indent="0" marL="0">
              <a:lnSpc>
                <a:spcPts val="1600"/>
              </a:lnSpc>
              <a:buNone/>
            </a:pPr>
            <a:r>
              <a:rPr lang="en-US" sz="1250" dirty="0">
                <a:solidFill>
                  <a:srgbClr val="1C1A19"/>
                </a:solidFill>
                <a:latin typeface="Calibri" pitchFamily="34" charset="0"/>
                <a:ea typeface="Calibri" pitchFamily="34" charset="-122"/>
                <a:cs typeface="Calibri" pitchFamily="34" charset="-120"/>
              </a:rPr>
              <a:t>Explains the shape, says what is thin, asks the question that unsticks you.</a:t>
            </a:r>
            <a:endParaRPr lang="en-US" sz="1250" dirty="0"/>
          </a:p>
        </p:txBody>
      </p:sp>
      <p:sp>
        <p:nvSpPr>
          <p:cNvPr id="7" name="Text 5"/>
          <p:cNvSpPr txBox="1"/>
          <p:nvPr/>
        </p:nvSpPr>
        <p:spPr>
          <a:xfrm>
            <a:off x="8001000" y="1810512"/>
            <a:ext cx="3276295" cy="694944"/>
          </a:xfrm>
          <a:prstGeom prst="rect">
            <a:avLst/>
          </a:prstGeom>
          <a:noFill/>
          <a:ln/>
        </p:spPr>
        <p:txBody>
          <a:bodyPr wrap="square" lIns="0" tIns="0" rIns="0" bIns="0" rtlCol="0" anchor="ctr"/>
          <a:lstStyle/>
          <a:p>
            <a:pPr indent="0" marL="0">
              <a:lnSpc>
                <a:spcPts val="1600"/>
              </a:lnSpc>
              <a:buNone/>
            </a:pPr>
            <a:r>
              <a:rPr lang="en-US" sz="1250" i="1" dirty="0">
                <a:solidFill>
                  <a:srgbClr val="CF4420"/>
                </a:solidFill>
                <a:latin typeface="Calibri" pitchFamily="34" charset="0"/>
                <a:ea typeface="Calibri" pitchFamily="34" charset="-122"/>
                <a:cs typeface="Calibri" pitchFamily="34" charset="-120"/>
              </a:rPr>
              <a:t>It will not write your story.</a:t>
            </a:r>
            <a:endParaRPr lang="en-US" sz="1250" dirty="0"/>
          </a:p>
        </p:txBody>
      </p:sp>
      <p:sp>
        <p:nvSpPr>
          <p:cNvPr id="8" name="Shape 6"/>
          <p:cNvSpPr/>
          <p:nvPr/>
        </p:nvSpPr>
        <p:spPr>
          <a:xfrm>
            <a:off x="640080" y="2697480"/>
            <a:ext cx="10911535" cy="841248"/>
          </a:xfrm>
          <a:prstGeom prst="roundRect">
            <a:avLst>
              <a:gd name="adj" fmla="val 9783"/>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9" name="Text 7"/>
          <p:cNvSpPr txBox="1"/>
          <p:nvPr/>
        </p:nvSpPr>
        <p:spPr>
          <a:xfrm>
            <a:off x="914400" y="2770632"/>
            <a:ext cx="2651760" cy="694944"/>
          </a:xfrm>
          <a:prstGeom prst="rect">
            <a:avLst/>
          </a:prstGeom>
          <a:noFill/>
          <a:ln/>
        </p:spPr>
        <p:txBody>
          <a:bodyPr wrap="square" lIns="0" tIns="0" rIns="0" bIns="0" rtlCol="0" anchor="ctr"/>
          <a:lstStyle/>
          <a:p>
            <a:pPr indent="0" marL="0">
              <a:buNone/>
            </a:pPr>
            <a:r>
              <a:rPr lang="en-US" sz="1400" b="1" dirty="0">
                <a:solidFill>
                  <a:srgbClr val="630031"/>
                </a:solidFill>
                <a:latin typeface="Calibri" pitchFamily="34" charset="0"/>
                <a:ea typeface="Calibri" pitchFamily="34" charset="-122"/>
                <a:cs typeface="Calibri" pitchFamily="34" charset="-120"/>
              </a:rPr>
              <a:t>On your build guide</a:t>
            </a:r>
            <a:endParaRPr lang="en-US" sz="1400" dirty="0"/>
          </a:p>
        </p:txBody>
      </p:sp>
      <p:sp>
        <p:nvSpPr>
          <p:cNvPr id="10" name="Text 8"/>
          <p:cNvSpPr txBox="1"/>
          <p:nvPr/>
        </p:nvSpPr>
        <p:spPr>
          <a:xfrm>
            <a:off x="3703320" y="2770632"/>
            <a:ext cx="4114800" cy="694944"/>
          </a:xfrm>
          <a:prstGeom prst="rect">
            <a:avLst/>
          </a:prstGeom>
          <a:noFill/>
          <a:ln/>
        </p:spPr>
        <p:txBody>
          <a:bodyPr wrap="square" lIns="0" tIns="0" rIns="0" bIns="0" rtlCol="0" anchor="ctr"/>
          <a:lstStyle/>
          <a:p>
            <a:pPr indent="0" marL="0">
              <a:lnSpc>
                <a:spcPts val="1600"/>
              </a:lnSpc>
              <a:buNone/>
            </a:pPr>
            <a:r>
              <a:rPr lang="en-US" sz="1250" dirty="0">
                <a:solidFill>
                  <a:srgbClr val="1C1A19"/>
                </a:solidFill>
                <a:latin typeface="Calibri" pitchFamily="34" charset="0"/>
                <a:ea typeface="Calibri" pitchFamily="34" charset="-122"/>
                <a:cs typeface="Calibri" pitchFamily="34" charset="-120"/>
              </a:rPr>
              <a:t>Works out which of the three kinds of stuck you are in and names the page and pattern.</a:t>
            </a:r>
            <a:endParaRPr lang="en-US" sz="1250" dirty="0"/>
          </a:p>
        </p:txBody>
      </p:sp>
      <p:sp>
        <p:nvSpPr>
          <p:cNvPr id="11" name="Text 9"/>
          <p:cNvSpPr txBox="1"/>
          <p:nvPr/>
        </p:nvSpPr>
        <p:spPr>
          <a:xfrm>
            <a:off x="8001000" y="2770632"/>
            <a:ext cx="3276295" cy="694944"/>
          </a:xfrm>
          <a:prstGeom prst="rect">
            <a:avLst/>
          </a:prstGeom>
          <a:noFill/>
          <a:ln/>
        </p:spPr>
        <p:txBody>
          <a:bodyPr wrap="square" lIns="0" tIns="0" rIns="0" bIns="0" rtlCol="0" anchor="ctr"/>
          <a:lstStyle/>
          <a:p>
            <a:pPr indent="0" marL="0">
              <a:lnSpc>
                <a:spcPts val="1600"/>
              </a:lnSpc>
              <a:buNone/>
            </a:pPr>
            <a:r>
              <a:rPr lang="en-US" sz="1250" i="1" dirty="0">
                <a:solidFill>
                  <a:srgbClr val="CF4420"/>
                </a:solidFill>
                <a:latin typeface="Calibri" pitchFamily="34" charset="0"/>
                <a:ea typeface="Calibri" pitchFamily="34" charset="-122"/>
                <a:cs typeface="Calibri" pitchFamily="34" charset="-120"/>
              </a:rPr>
              <a:t>It will not write your code.</a:t>
            </a:r>
            <a:endParaRPr lang="en-US" sz="1250" dirty="0"/>
          </a:p>
        </p:txBody>
      </p:sp>
      <p:sp>
        <p:nvSpPr>
          <p:cNvPr id="12" name="Shape 10"/>
          <p:cNvSpPr/>
          <p:nvPr/>
        </p:nvSpPr>
        <p:spPr>
          <a:xfrm>
            <a:off x="640080" y="3657600"/>
            <a:ext cx="10911535" cy="841248"/>
          </a:xfrm>
          <a:prstGeom prst="roundRect">
            <a:avLst>
              <a:gd name="adj" fmla="val 9783"/>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3" name="Text 11"/>
          <p:cNvSpPr txBox="1"/>
          <p:nvPr/>
        </p:nvSpPr>
        <p:spPr>
          <a:xfrm>
            <a:off x="914400" y="3730752"/>
            <a:ext cx="2651760" cy="694944"/>
          </a:xfrm>
          <a:prstGeom prst="rect">
            <a:avLst/>
          </a:prstGeom>
          <a:noFill/>
          <a:ln/>
        </p:spPr>
        <p:txBody>
          <a:bodyPr wrap="square" lIns="0" tIns="0" rIns="0" bIns="0" rtlCol="0" anchor="ctr"/>
          <a:lstStyle/>
          <a:p>
            <a:pPr indent="0" marL="0">
              <a:buNone/>
            </a:pPr>
            <a:r>
              <a:rPr lang="en-US" sz="1400" b="1" dirty="0">
                <a:solidFill>
                  <a:srgbClr val="630031"/>
                </a:solidFill>
                <a:latin typeface="Calibri" pitchFamily="34" charset="0"/>
                <a:ea typeface="Calibri" pitchFamily="34" charset="-122"/>
                <a:cs typeface="Calibri" pitchFamily="34" charset="-120"/>
              </a:rPr>
              <a:t>When something is broken</a:t>
            </a:r>
            <a:endParaRPr lang="en-US" sz="1400" dirty="0"/>
          </a:p>
        </p:txBody>
      </p:sp>
      <p:sp>
        <p:nvSpPr>
          <p:cNvPr id="14" name="Text 12"/>
          <p:cNvSpPr txBox="1"/>
          <p:nvPr/>
        </p:nvSpPr>
        <p:spPr>
          <a:xfrm>
            <a:off x="3703320" y="3730752"/>
            <a:ext cx="4114800" cy="694944"/>
          </a:xfrm>
          <a:prstGeom prst="rect">
            <a:avLst/>
          </a:prstGeom>
          <a:noFill/>
          <a:ln/>
        </p:spPr>
        <p:txBody>
          <a:bodyPr wrap="square" lIns="0" tIns="0" rIns="0" bIns="0" rtlCol="0" anchor="ctr"/>
          <a:lstStyle/>
          <a:p>
            <a:pPr indent="0" marL="0">
              <a:lnSpc>
                <a:spcPts val="1600"/>
              </a:lnSpc>
              <a:buNone/>
            </a:pPr>
            <a:r>
              <a:rPr lang="en-US" sz="1250" dirty="0">
                <a:solidFill>
                  <a:srgbClr val="1C1A19"/>
                </a:solidFill>
                <a:latin typeface="Calibri" pitchFamily="34" charset="0"/>
                <a:ea typeface="Calibri" pitchFamily="34" charset="-122"/>
                <a:cs typeface="Calibri" pitchFamily="34" charset="-120"/>
              </a:rPr>
              <a:t>Paste the red text. It explains what the error means and shows the fix.</a:t>
            </a:r>
            <a:endParaRPr lang="en-US" sz="1250" dirty="0"/>
          </a:p>
        </p:txBody>
      </p:sp>
      <p:sp>
        <p:nvSpPr>
          <p:cNvPr id="15" name="Text 13"/>
          <p:cNvSpPr txBox="1"/>
          <p:nvPr/>
        </p:nvSpPr>
        <p:spPr>
          <a:xfrm>
            <a:off x="8001000" y="3730752"/>
            <a:ext cx="3276295" cy="694944"/>
          </a:xfrm>
          <a:prstGeom prst="rect">
            <a:avLst/>
          </a:prstGeom>
          <a:noFill/>
          <a:ln/>
        </p:spPr>
        <p:txBody>
          <a:bodyPr wrap="square" lIns="0" tIns="0" rIns="0" bIns="0" rtlCol="0" anchor="ctr"/>
          <a:lstStyle/>
          <a:p>
            <a:pPr indent="0" marL="0">
              <a:lnSpc>
                <a:spcPts val="1600"/>
              </a:lnSpc>
              <a:buNone/>
            </a:pPr>
            <a:r>
              <a:rPr lang="en-US" sz="1250" i="1" dirty="0">
                <a:solidFill>
                  <a:srgbClr val="2E4A3B"/>
                </a:solidFill>
                <a:latin typeface="Calibri" pitchFamily="34" charset="0"/>
                <a:ea typeface="Calibri" pitchFamily="34" charset="-122"/>
                <a:cs typeface="Calibri" pitchFamily="34" charset="-120"/>
              </a:rPr>
              <a:t>Here it does show code, because nothing you could look up contains your mistake.</a:t>
            </a:r>
            <a:endParaRPr lang="en-US" sz="1250" dirty="0"/>
          </a:p>
        </p:txBody>
      </p:sp>
      <p:sp>
        <p:nvSpPr>
          <p:cNvPr id="16" name="Shape 14"/>
          <p:cNvSpPr/>
          <p:nvPr/>
        </p:nvSpPr>
        <p:spPr>
          <a:xfrm>
            <a:off x="640080" y="4617720"/>
            <a:ext cx="10911535" cy="841248"/>
          </a:xfrm>
          <a:prstGeom prst="roundRect">
            <a:avLst>
              <a:gd name="adj" fmla="val 9783"/>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7" name="Text 15"/>
          <p:cNvSpPr txBox="1"/>
          <p:nvPr/>
        </p:nvSpPr>
        <p:spPr>
          <a:xfrm>
            <a:off x="914400" y="4690872"/>
            <a:ext cx="2651760" cy="694944"/>
          </a:xfrm>
          <a:prstGeom prst="rect">
            <a:avLst/>
          </a:prstGeom>
          <a:noFill/>
          <a:ln/>
        </p:spPr>
        <p:txBody>
          <a:bodyPr wrap="square" lIns="0" tIns="0" rIns="0" bIns="0" rtlCol="0" anchor="ctr"/>
          <a:lstStyle/>
          <a:p>
            <a:pPr indent="0" marL="0">
              <a:buNone/>
            </a:pPr>
            <a:r>
              <a:rPr lang="en-US" sz="1400" b="1" dirty="0">
                <a:solidFill>
                  <a:srgbClr val="630031"/>
                </a:solidFill>
                <a:latin typeface="Calibri" pitchFamily="34" charset="0"/>
                <a:ea typeface="Calibri" pitchFamily="34" charset="-122"/>
                <a:cs typeface="Calibri" pitchFamily="34" charset="-120"/>
              </a:rPr>
              <a:t>On your design</a:t>
            </a:r>
            <a:endParaRPr lang="en-US" sz="1400" dirty="0"/>
          </a:p>
        </p:txBody>
      </p:sp>
      <p:sp>
        <p:nvSpPr>
          <p:cNvPr id="18" name="Text 16"/>
          <p:cNvSpPr txBox="1"/>
          <p:nvPr/>
        </p:nvSpPr>
        <p:spPr>
          <a:xfrm>
            <a:off x="3703320" y="4690872"/>
            <a:ext cx="4114800" cy="694944"/>
          </a:xfrm>
          <a:prstGeom prst="rect">
            <a:avLst/>
          </a:prstGeom>
          <a:noFill/>
          <a:ln/>
        </p:spPr>
        <p:txBody>
          <a:bodyPr wrap="square" lIns="0" tIns="0" rIns="0" bIns="0" rtlCol="0" anchor="ctr"/>
          <a:lstStyle/>
          <a:p>
            <a:pPr indent="0" marL="0">
              <a:lnSpc>
                <a:spcPts val="1600"/>
              </a:lnSpc>
              <a:buNone/>
            </a:pPr>
            <a:r>
              <a:rPr lang="en-US" sz="1250" dirty="0">
                <a:solidFill>
                  <a:srgbClr val="1C1A19"/>
                </a:solidFill>
                <a:latin typeface="Calibri" pitchFamily="34" charset="0"/>
                <a:ea typeface="Calibri" pitchFamily="34" charset="-122"/>
                <a:cs typeface="Calibri" pitchFamily="34" charset="-120"/>
              </a:rPr>
              <a:t>Answers straight. Can Anvil do this? Does my design match what my team is building?</a:t>
            </a:r>
            <a:endParaRPr lang="en-US" sz="1250" dirty="0"/>
          </a:p>
        </p:txBody>
      </p:sp>
      <p:sp>
        <p:nvSpPr>
          <p:cNvPr id="19" name="Text 17"/>
          <p:cNvSpPr txBox="1"/>
          <p:nvPr/>
        </p:nvSpPr>
        <p:spPr>
          <a:xfrm>
            <a:off x="8001000" y="4690872"/>
            <a:ext cx="3276295" cy="694944"/>
          </a:xfrm>
          <a:prstGeom prst="rect">
            <a:avLst/>
          </a:prstGeom>
          <a:noFill/>
          <a:ln/>
        </p:spPr>
        <p:txBody>
          <a:bodyPr wrap="square" lIns="0" tIns="0" rIns="0" bIns="0" rtlCol="0" anchor="ctr"/>
          <a:lstStyle/>
          <a:p>
            <a:pPr indent="0" marL="0">
              <a:lnSpc>
                <a:spcPts val="1600"/>
              </a:lnSpc>
              <a:buNone/>
            </a:pPr>
            <a:r>
              <a:rPr lang="en-US" sz="1250" i="1" dirty="0">
                <a:solidFill>
                  <a:srgbClr val="CF4420"/>
                </a:solidFill>
                <a:latin typeface="Calibri" pitchFamily="34" charset="0"/>
                <a:ea typeface="Calibri" pitchFamily="34" charset="-122"/>
                <a:cs typeface="Calibri" pitchFamily="34" charset="-120"/>
              </a:rPr>
              <a:t>It will not invent a component name.</a:t>
            </a:r>
            <a:endParaRPr lang="en-US" sz="1250" dirty="0"/>
          </a:p>
        </p:txBody>
      </p:sp>
      <p:sp>
        <p:nvSpPr>
          <p:cNvPr id="20" name="Text 18"/>
          <p:cNvSpPr txBox="1"/>
          <p:nvPr/>
        </p:nvSpPr>
        <p:spPr>
          <a:xfrm>
            <a:off x="640080" y="5715000"/>
            <a:ext cx="10911535" cy="457200"/>
          </a:xfrm>
          <a:prstGeom prst="rect">
            <a:avLst/>
          </a:prstGeom>
          <a:noFill/>
          <a:ln/>
        </p:spPr>
        <p:txBody>
          <a:bodyPr wrap="square" lIns="0" tIns="0" rIns="0" bIns="0" rtlCol="0" anchor="t"/>
          <a:lstStyle/>
          <a:p>
            <a:pPr indent="0" marL="0">
              <a:lnSpc>
                <a:spcPts val="2200"/>
              </a:lnSpc>
              <a:buNone/>
            </a:pPr>
            <a:r>
              <a:rPr lang="en-US" sz="1400" dirty="0">
                <a:solidFill>
                  <a:srgbClr val="75787B"/>
                </a:solidFill>
                <a:latin typeface="Calibri" pitchFamily="34" charset="0"/>
                <a:ea typeface="Calibri" pitchFamily="34" charset="-122"/>
                <a:cs typeface="Calibri" pitchFamily="34" charset="-120"/>
              </a:rPr>
              <a:t>Do not spend the period trying to talk it into it. The limits are on purpose, and your teacher can see every question anybody asks.</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4F1"/>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56032"/>
          </a:xfrm>
          <a:prstGeom prst="rect">
            <a:avLst/>
          </a:prstGeom>
          <a:noFill/>
          <a:ln/>
        </p:spPr>
        <p:txBody>
          <a:bodyPr wrap="square" lIns="0" tIns="0" rIns="0" bIns="0" rtlCol="0" anchor="ctr"/>
          <a:lstStyle/>
          <a:p>
            <a:pPr indent="0" marL="0">
              <a:buNone/>
            </a:pPr>
            <a:r>
              <a:rPr lang="en-US" sz="1200" b="1" spc="200" kern="0" dirty="0">
                <a:solidFill>
                  <a:srgbClr val="CF4420"/>
                </a:solidFill>
                <a:latin typeface="Calibri" pitchFamily="34" charset="0"/>
                <a:ea typeface="Calibri" pitchFamily="34" charset="-122"/>
                <a:cs typeface="Calibri" pitchFamily="34" charset="-120"/>
              </a:rPr>
              <a:t>CLASSIC CARS, LIVE ON THE INTERNET</a:t>
            </a:r>
            <a:endParaRPr lang="en-US" sz="1200" dirty="0"/>
          </a:p>
        </p:txBody>
      </p:sp>
      <p:sp>
        <p:nvSpPr>
          <p:cNvPr id="3" name="Text 1"/>
          <p:cNvSpPr txBox="1"/>
          <p:nvPr/>
        </p:nvSpPr>
        <p:spPr>
          <a:xfrm>
            <a:off x="640080" y="658368"/>
            <a:ext cx="10911535" cy="777240"/>
          </a:xfrm>
          <a:prstGeom prst="rect">
            <a:avLst/>
          </a:prstGeom>
          <a:noFill/>
          <a:ln/>
        </p:spPr>
        <p:txBody>
          <a:bodyPr wrap="square" lIns="0" tIns="0" rIns="0" bIns="0" rtlCol="0" anchor="t"/>
          <a:lstStyle/>
          <a:p>
            <a:pPr indent="0" marL="0">
              <a:buNone/>
            </a:pPr>
            <a:r>
              <a:rPr lang="en-US" sz="3400" b="1" dirty="0">
                <a:solidFill>
                  <a:srgbClr val="630031"/>
                </a:solidFill>
                <a:latin typeface="Cambria" pitchFamily="34" charset="0"/>
                <a:ea typeface="Cambria" pitchFamily="34" charset="-122"/>
                <a:cs typeface="Cambria" pitchFamily="34" charset="-120"/>
              </a:rPr>
              <a:t>What finished looks like</a:t>
            </a:r>
            <a:endParaRPr lang="en-US" sz="3400" dirty="0"/>
          </a:p>
        </p:txBody>
      </p:sp>
      <p:sp>
        <p:nvSpPr>
          <p:cNvPr id="4" name="Text 2"/>
          <p:cNvSpPr txBox="1"/>
          <p:nvPr/>
        </p:nvSpPr>
        <p:spPr>
          <a:xfrm>
            <a:off x="640080" y="1737360"/>
            <a:ext cx="8229600" cy="640080"/>
          </a:xfrm>
          <a:prstGeom prst="rect">
            <a:avLst/>
          </a:prstGeom>
          <a:noFill/>
          <a:ln/>
        </p:spPr>
        <p:txBody>
          <a:bodyPr wrap="square" lIns="0" tIns="0" rIns="0" bIns="0" rtlCol="0" anchor="t"/>
          <a:lstStyle/>
          <a:p>
            <a:pPr indent="0" marL="0">
              <a:lnSpc>
                <a:spcPts val="2200"/>
              </a:lnSpc>
              <a:buNone/>
            </a:pPr>
            <a:r>
              <a:rPr lang="en-US" sz="1600" dirty="0">
                <a:solidFill>
                  <a:srgbClr val="1C1A19"/>
                </a:solidFill>
                <a:latin typeface="Calibri" pitchFamily="34" charset="0"/>
                <a:ea typeface="Calibri" pitchFamily="34" charset="-122"/>
                <a:cs typeface="Calibri" pitchFamily="34" charset="-120"/>
              </a:rPr>
              <a:t>Three people, no developer among them. Their four user stories became four working pages, and they run the site themselves.</a:t>
            </a:r>
            <a:endParaRPr lang="en-US" sz="1600" dirty="0"/>
          </a:p>
        </p:txBody>
      </p:sp>
      <p:sp>
        <p:nvSpPr>
          <p:cNvPr id="5" name="Text 3"/>
          <p:cNvSpPr txBox="1"/>
          <p:nvPr/>
        </p:nvSpPr>
        <p:spPr>
          <a:xfrm>
            <a:off x="914400" y="2514600"/>
            <a:ext cx="4937760" cy="274320"/>
          </a:xfrm>
          <a:prstGeom prst="rect">
            <a:avLst/>
          </a:prstGeom>
          <a:noFill/>
          <a:ln/>
        </p:spPr>
        <p:txBody>
          <a:bodyPr wrap="square" lIns="0" tIns="0" rIns="0" bIns="0" rtlCol="0" anchor="ctr"/>
          <a:lstStyle/>
          <a:p>
            <a:pPr indent="0" marL="0">
              <a:buNone/>
            </a:pPr>
            <a:r>
              <a:rPr lang="en-US" sz="1200" b="1" spc="100" kern="0" dirty="0">
                <a:solidFill>
                  <a:srgbClr val="630031"/>
                </a:solidFill>
                <a:latin typeface="Calibri" pitchFamily="34" charset="0"/>
                <a:ea typeface="Calibri" pitchFamily="34" charset="-122"/>
                <a:cs typeface="Calibri" pitchFamily="34" charset="-120"/>
              </a:rPr>
              <a:t>Their story</a:t>
            </a:r>
            <a:endParaRPr lang="en-US" sz="1200" dirty="0"/>
          </a:p>
        </p:txBody>
      </p:sp>
      <p:sp>
        <p:nvSpPr>
          <p:cNvPr id="6" name="Text 4"/>
          <p:cNvSpPr txBox="1"/>
          <p:nvPr/>
        </p:nvSpPr>
        <p:spPr>
          <a:xfrm>
            <a:off x="6583680" y="2514600"/>
            <a:ext cx="4572000" cy="274320"/>
          </a:xfrm>
          <a:prstGeom prst="rect">
            <a:avLst/>
          </a:prstGeom>
          <a:noFill/>
          <a:ln/>
        </p:spPr>
        <p:txBody>
          <a:bodyPr wrap="square" lIns="0" tIns="0" rIns="0" bIns="0" rtlCol="0" anchor="ctr"/>
          <a:lstStyle/>
          <a:p>
            <a:pPr indent="0" marL="0">
              <a:buNone/>
            </a:pPr>
            <a:r>
              <a:rPr lang="en-US" sz="1200" b="1" spc="100" kern="0" dirty="0">
                <a:solidFill>
                  <a:srgbClr val="630031"/>
                </a:solidFill>
                <a:latin typeface="Calibri" pitchFamily="34" charset="0"/>
                <a:ea typeface="Calibri" pitchFamily="34" charset="-122"/>
                <a:cs typeface="Calibri" pitchFamily="34" charset="-120"/>
              </a:rPr>
              <a:t>The page it became</a:t>
            </a:r>
            <a:endParaRPr lang="en-US" sz="1200" dirty="0"/>
          </a:p>
        </p:txBody>
      </p:sp>
      <p:sp>
        <p:nvSpPr>
          <p:cNvPr id="7" name="Shape 5"/>
          <p:cNvSpPr/>
          <p:nvPr/>
        </p:nvSpPr>
        <p:spPr>
          <a:xfrm>
            <a:off x="640080" y="2880360"/>
            <a:ext cx="10911535" cy="512064"/>
          </a:xfrm>
          <a:prstGeom prst="roundRect">
            <a:avLst>
              <a:gd name="adj" fmla="val 16071"/>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8" name="Text 6"/>
          <p:cNvSpPr txBox="1"/>
          <p:nvPr/>
        </p:nvSpPr>
        <p:spPr>
          <a:xfrm>
            <a:off x="914400" y="2880360"/>
            <a:ext cx="5120640" cy="512064"/>
          </a:xfrm>
          <a:prstGeom prst="rect">
            <a:avLst/>
          </a:prstGeom>
          <a:noFill/>
          <a:ln/>
        </p:spPr>
        <p:txBody>
          <a:bodyPr wrap="square" lIns="0" tIns="0" rIns="0" bIns="0" rtlCol="0" anchor="ctr"/>
          <a:lstStyle/>
          <a:p>
            <a:pPr indent="0" marL="0">
              <a:buNone/>
            </a:pPr>
            <a:r>
              <a:rPr lang="en-US" sz="1300" dirty="0">
                <a:solidFill>
                  <a:srgbClr val="1C1A19"/>
                </a:solidFill>
                <a:latin typeface="Calibri" pitchFamily="34" charset="0"/>
                <a:ea typeface="Calibri" pitchFamily="34" charset="-122"/>
                <a:cs typeface="Calibri" pitchFamily="34" charset="-120"/>
              </a:rPr>
              <a:t>Look through cool cars and their stats</a:t>
            </a:r>
            <a:endParaRPr lang="en-US" sz="1300" dirty="0"/>
          </a:p>
        </p:txBody>
      </p:sp>
      <p:sp>
        <p:nvSpPr>
          <p:cNvPr id="9" name="Text 7"/>
          <p:cNvSpPr txBox="1"/>
          <p:nvPr/>
        </p:nvSpPr>
        <p:spPr>
          <a:xfrm>
            <a:off x="6126480" y="2880360"/>
            <a:ext cx="365760" cy="512064"/>
          </a:xfrm>
          <a:prstGeom prst="rect">
            <a:avLst/>
          </a:prstGeom>
          <a:noFill/>
          <a:ln/>
        </p:spPr>
        <p:txBody>
          <a:bodyPr wrap="square" lIns="0" tIns="0" rIns="0" bIns="0" rtlCol="0" anchor="ctr"/>
          <a:lstStyle/>
          <a:p>
            <a:pPr algn="ctr" indent="0" marL="0">
              <a:buNone/>
            </a:pPr>
            <a:r>
              <a:rPr lang="en-US" sz="1400" dirty="0">
                <a:solidFill>
                  <a:srgbClr val="CF4420"/>
                </a:solidFill>
                <a:latin typeface="Calibri" pitchFamily="34" charset="0"/>
                <a:ea typeface="Calibri" pitchFamily="34" charset="-122"/>
                <a:cs typeface="Calibri" pitchFamily="34" charset="-120"/>
              </a:rPr>
              <a:t>→</a:t>
            </a:r>
            <a:endParaRPr lang="en-US" sz="1400" dirty="0"/>
          </a:p>
        </p:txBody>
      </p:sp>
      <p:sp>
        <p:nvSpPr>
          <p:cNvPr id="10" name="Text 8"/>
          <p:cNvSpPr txBox="1"/>
          <p:nvPr/>
        </p:nvSpPr>
        <p:spPr>
          <a:xfrm>
            <a:off x="6583680" y="2880360"/>
            <a:ext cx="4693615" cy="512064"/>
          </a:xfrm>
          <a:prstGeom prst="rect">
            <a:avLst/>
          </a:prstGeom>
          <a:noFill/>
          <a:ln/>
        </p:spPr>
        <p:txBody>
          <a:bodyPr wrap="square" lIns="0" tIns="0" rIns="0" bIns="0" rtlCol="0" anchor="ctr"/>
          <a:lstStyle/>
          <a:p>
            <a:pPr indent="0" marL="0">
              <a:buNone/>
            </a:pPr>
            <a:r>
              <a:rPr lang="en-US" sz="1300" b="1" dirty="0">
                <a:solidFill>
                  <a:srgbClr val="630031"/>
                </a:solidFill>
                <a:latin typeface="Calibri" pitchFamily="34" charset="0"/>
                <a:ea typeface="Calibri" pitchFamily="34" charset="-122"/>
                <a:cs typeface="Calibri" pitchFamily="34" charset="-120"/>
              </a:rPr>
              <a:t>The car list, and a page for each car</a:t>
            </a:r>
            <a:endParaRPr lang="en-US" sz="1300" dirty="0"/>
          </a:p>
        </p:txBody>
      </p:sp>
      <p:sp>
        <p:nvSpPr>
          <p:cNvPr id="11" name="Shape 9"/>
          <p:cNvSpPr/>
          <p:nvPr/>
        </p:nvSpPr>
        <p:spPr>
          <a:xfrm>
            <a:off x="640080" y="3483864"/>
            <a:ext cx="10911535" cy="512064"/>
          </a:xfrm>
          <a:prstGeom prst="roundRect">
            <a:avLst>
              <a:gd name="adj" fmla="val 16071"/>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2" name="Text 10"/>
          <p:cNvSpPr txBox="1"/>
          <p:nvPr/>
        </p:nvSpPr>
        <p:spPr>
          <a:xfrm>
            <a:off x="914400" y="3483864"/>
            <a:ext cx="5120640" cy="512064"/>
          </a:xfrm>
          <a:prstGeom prst="rect">
            <a:avLst/>
          </a:prstGeom>
          <a:noFill/>
          <a:ln/>
        </p:spPr>
        <p:txBody>
          <a:bodyPr wrap="square" lIns="0" tIns="0" rIns="0" bIns="0" rtlCol="0" anchor="ctr"/>
          <a:lstStyle/>
          <a:p>
            <a:pPr indent="0" marL="0">
              <a:buNone/>
            </a:pPr>
            <a:r>
              <a:rPr lang="en-US" sz="1300" dirty="0">
                <a:solidFill>
                  <a:srgbClr val="1C1A19"/>
                </a:solidFill>
                <a:latin typeface="Calibri" pitchFamily="34" charset="0"/>
                <a:ea typeface="Calibri" pitchFamily="34" charset="-122"/>
                <a:cs typeface="Calibri" pitchFamily="34" charset="-120"/>
              </a:rPr>
              <a:t>Read what each part of a car does</a:t>
            </a:r>
            <a:endParaRPr lang="en-US" sz="1300" dirty="0"/>
          </a:p>
        </p:txBody>
      </p:sp>
      <p:sp>
        <p:nvSpPr>
          <p:cNvPr id="13" name="Text 11"/>
          <p:cNvSpPr txBox="1"/>
          <p:nvPr/>
        </p:nvSpPr>
        <p:spPr>
          <a:xfrm>
            <a:off x="6126480" y="3483864"/>
            <a:ext cx="365760" cy="512064"/>
          </a:xfrm>
          <a:prstGeom prst="rect">
            <a:avLst/>
          </a:prstGeom>
          <a:noFill/>
          <a:ln/>
        </p:spPr>
        <p:txBody>
          <a:bodyPr wrap="square" lIns="0" tIns="0" rIns="0" bIns="0" rtlCol="0" anchor="ctr"/>
          <a:lstStyle/>
          <a:p>
            <a:pPr algn="ctr" indent="0" marL="0">
              <a:buNone/>
            </a:pPr>
            <a:r>
              <a:rPr lang="en-US" sz="1400" dirty="0">
                <a:solidFill>
                  <a:srgbClr val="CF4420"/>
                </a:solidFill>
                <a:latin typeface="Calibri" pitchFamily="34" charset="0"/>
                <a:ea typeface="Calibri" pitchFamily="34" charset="-122"/>
                <a:cs typeface="Calibri" pitchFamily="34" charset="-120"/>
              </a:rPr>
              <a:t>→</a:t>
            </a:r>
            <a:endParaRPr lang="en-US" sz="1400" dirty="0"/>
          </a:p>
        </p:txBody>
      </p:sp>
      <p:sp>
        <p:nvSpPr>
          <p:cNvPr id="14" name="Text 12"/>
          <p:cNvSpPr txBox="1"/>
          <p:nvPr/>
        </p:nvSpPr>
        <p:spPr>
          <a:xfrm>
            <a:off x="6583680" y="3483864"/>
            <a:ext cx="4693615" cy="512064"/>
          </a:xfrm>
          <a:prstGeom prst="rect">
            <a:avLst/>
          </a:prstGeom>
          <a:noFill/>
          <a:ln/>
        </p:spPr>
        <p:txBody>
          <a:bodyPr wrap="square" lIns="0" tIns="0" rIns="0" bIns="0" rtlCol="0" anchor="ctr"/>
          <a:lstStyle/>
          <a:p>
            <a:pPr indent="0" marL="0">
              <a:buNone/>
            </a:pPr>
            <a:r>
              <a:rPr lang="en-US" sz="1300" b="1" dirty="0">
                <a:solidFill>
                  <a:srgbClr val="630031"/>
                </a:solidFill>
                <a:latin typeface="Calibri" pitchFamily="34" charset="0"/>
                <a:ea typeface="Calibri" pitchFamily="34" charset="-122"/>
                <a:cs typeface="Calibri" pitchFamily="34" charset="-120"/>
              </a:rPr>
              <a:t>The parts library</a:t>
            </a:r>
            <a:endParaRPr lang="en-US" sz="1300" dirty="0"/>
          </a:p>
        </p:txBody>
      </p:sp>
      <p:sp>
        <p:nvSpPr>
          <p:cNvPr id="15" name="Shape 13"/>
          <p:cNvSpPr/>
          <p:nvPr/>
        </p:nvSpPr>
        <p:spPr>
          <a:xfrm>
            <a:off x="640080" y="4087368"/>
            <a:ext cx="10911535" cy="512064"/>
          </a:xfrm>
          <a:prstGeom prst="roundRect">
            <a:avLst>
              <a:gd name="adj" fmla="val 16071"/>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6" name="Text 14"/>
          <p:cNvSpPr txBox="1"/>
          <p:nvPr/>
        </p:nvSpPr>
        <p:spPr>
          <a:xfrm>
            <a:off x="914400" y="4087368"/>
            <a:ext cx="5120640" cy="512064"/>
          </a:xfrm>
          <a:prstGeom prst="rect">
            <a:avLst/>
          </a:prstGeom>
          <a:noFill/>
          <a:ln/>
        </p:spPr>
        <p:txBody>
          <a:bodyPr wrap="square" lIns="0" tIns="0" rIns="0" bIns="0" rtlCol="0" anchor="ctr"/>
          <a:lstStyle/>
          <a:p>
            <a:pPr indent="0" marL="0">
              <a:buNone/>
            </a:pPr>
            <a:r>
              <a:rPr lang="en-US" sz="1300" dirty="0">
                <a:solidFill>
                  <a:srgbClr val="1C1A19"/>
                </a:solidFill>
                <a:latin typeface="Calibri" pitchFamily="34" charset="0"/>
                <a:ea typeface="Calibri" pitchFamily="34" charset="-122"/>
                <a:cs typeface="Calibri" pitchFamily="34" charset="-120"/>
              </a:rPr>
              <a:t>Pick upgrades and watch the horsepower change</a:t>
            </a:r>
            <a:endParaRPr lang="en-US" sz="1300" dirty="0"/>
          </a:p>
        </p:txBody>
      </p:sp>
      <p:sp>
        <p:nvSpPr>
          <p:cNvPr id="17" name="Text 15"/>
          <p:cNvSpPr txBox="1"/>
          <p:nvPr/>
        </p:nvSpPr>
        <p:spPr>
          <a:xfrm>
            <a:off x="6126480" y="4087368"/>
            <a:ext cx="365760" cy="512064"/>
          </a:xfrm>
          <a:prstGeom prst="rect">
            <a:avLst/>
          </a:prstGeom>
          <a:noFill/>
          <a:ln/>
        </p:spPr>
        <p:txBody>
          <a:bodyPr wrap="square" lIns="0" tIns="0" rIns="0" bIns="0" rtlCol="0" anchor="ctr"/>
          <a:lstStyle/>
          <a:p>
            <a:pPr algn="ctr" indent="0" marL="0">
              <a:buNone/>
            </a:pPr>
            <a:r>
              <a:rPr lang="en-US" sz="1400" dirty="0">
                <a:solidFill>
                  <a:srgbClr val="CF4420"/>
                </a:solidFill>
                <a:latin typeface="Calibri" pitchFamily="34" charset="0"/>
                <a:ea typeface="Calibri" pitchFamily="34" charset="-122"/>
                <a:cs typeface="Calibri" pitchFamily="34" charset="-120"/>
              </a:rPr>
              <a:t>→</a:t>
            </a:r>
            <a:endParaRPr lang="en-US" sz="1400" dirty="0"/>
          </a:p>
        </p:txBody>
      </p:sp>
      <p:sp>
        <p:nvSpPr>
          <p:cNvPr id="18" name="Text 16"/>
          <p:cNvSpPr txBox="1"/>
          <p:nvPr/>
        </p:nvSpPr>
        <p:spPr>
          <a:xfrm>
            <a:off x="6583680" y="4087368"/>
            <a:ext cx="4693615" cy="512064"/>
          </a:xfrm>
          <a:prstGeom prst="rect">
            <a:avLst/>
          </a:prstGeom>
          <a:noFill/>
          <a:ln/>
        </p:spPr>
        <p:txBody>
          <a:bodyPr wrap="square" lIns="0" tIns="0" rIns="0" bIns="0" rtlCol="0" anchor="ctr"/>
          <a:lstStyle/>
          <a:p>
            <a:pPr indent="0" marL="0">
              <a:buNone/>
            </a:pPr>
            <a:r>
              <a:rPr lang="en-US" sz="1300" b="1" dirty="0">
                <a:solidFill>
                  <a:srgbClr val="630031"/>
                </a:solidFill>
                <a:latin typeface="Calibri" pitchFamily="34" charset="0"/>
                <a:ea typeface="Calibri" pitchFamily="34" charset="-122"/>
                <a:cs typeface="Calibri" pitchFamily="34" charset="-120"/>
              </a:rPr>
              <a:t>The builder</a:t>
            </a:r>
            <a:endParaRPr lang="en-US" sz="1300" dirty="0"/>
          </a:p>
        </p:txBody>
      </p:sp>
      <p:sp>
        <p:nvSpPr>
          <p:cNvPr id="19" name="Shape 17"/>
          <p:cNvSpPr/>
          <p:nvPr/>
        </p:nvSpPr>
        <p:spPr>
          <a:xfrm>
            <a:off x="640080" y="4690872"/>
            <a:ext cx="10911535" cy="512064"/>
          </a:xfrm>
          <a:prstGeom prst="roundRect">
            <a:avLst>
              <a:gd name="adj" fmla="val 16071"/>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20" name="Text 18"/>
          <p:cNvSpPr txBox="1"/>
          <p:nvPr/>
        </p:nvSpPr>
        <p:spPr>
          <a:xfrm>
            <a:off x="914400" y="4690872"/>
            <a:ext cx="5120640" cy="512064"/>
          </a:xfrm>
          <a:prstGeom prst="rect">
            <a:avLst/>
          </a:prstGeom>
          <a:noFill/>
          <a:ln/>
        </p:spPr>
        <p:txBody>
          <a:bodyPr wrap="square" lIns="0" tIns="0" rIns="0" bIns="0" rtlCol="0" anchor="ctr"/>
          <a:lstStyle/>
          <a:p>
            <a:pPr indent="0" marL="0">
              <a:buNone/>
            </a:pPr>
            <a:r>
              <a:rPr lang="en-US" sz="1300" dirty="0">
                <a:solidFill>
                  <a:srgbClr val="1C1A19"/>
                </a:solidFill>
                <a:latin typeface="Calibri" pitchFamily="34" charset="0"/>
                <a:ea typeface="Calibri" pitchFamily="34" charset="-122"/>
                <a:cs typeface="Calibri" pitchFamily="34" charset="-120"/>
              </a:rPr>
              <a:t>Take a quiz and find out my score</a:t>
            </a:r>
            <a:endParaRPr lang="en-US" sz="1300" dirty="0"/>
          </a:p>
        </p:txBody>
      </p:sp>
      <p:sp>
        <p:nvSpPr>
          <p:cNvPr id="21" name="Text 19"/>
          <p:cNvSpPr txBox="1"/>
          <p:nvPr/>
        </p:nvSpPr>
        <p:spPr>
          <a:xfrm>
            <a:off x="6126480" y="4690872"/>
            <a:ext cx="365760" cy="512064"/>
          </a:xfrm>
          <a:prstGeom prst="rect">
            <a:avLst/>
          </a:prstGeom>
          <a:noFill/>
          <a:ln/>
        </p:spPr>
        <p:txBody>
          <a:bodyPr wrap="square" lIns="0" tIns="0" rIns="0" bIns="0" rtlCol="0" anchor="ctr"/>
          <a:lstStyle/>
          <a:p>
            <a:pPr algn="ctr" indent="0" marL="0">
              <a:buNone/>
            </a:pPr>
            <a:r>
              <a:rPr lang="en-US" sz="1400" dirty="0">
                <a:solidFill>
                  <a:srgbClr val="CF4420"/>
                </a:solidFill>
                <a:latin typeface="Calibri" pitchFamily="34" charset="0"/>
                <a:ea typeface="Calibri" pitchFamily="34" charset="-122"/>
                <a:cs typeface="Calibri" pitchFamily="34" charset="-120"/>
              </a:rPr>
              <a:t>→</a:t>
            </a:r>
            <a:endParaRPr lang="en-US" sz="1400" dirty="0"/>
          </a:p>
        </p:txBody>
      </p:sp>
      <p:sp>
        <p:nvSpPr>
          <p:cNvPr id="22" name="Text 20"/>
          <p:cNvSpPr txBox="1"/>
          <p:nvPr/>
        </p:nvSpPr>
        <p:spPr>
          <a:xfrm>
            <a:off x="6583680" y="4690872"/>
            <a:ext cx="4693615" cy="512064"/>
          </a:xfrm>
          <a:prstGeom prst="rect">
            <a:avLst/>
          </a:prstGeom>
          <a:noFill/>
          <a:ln/>
        </p:spPr>
        <p:txBody>
          <a:bodyPr wrap="square" lIns="0" tIns="0" rIns="0" bIns="0" rtlCol="0" anchor="ctr"/>
          <a:lstStyle/>
          <a:p>
            <a:pPr indent="0" marL="0">
              <a:buNone/>
            </a:pPr>
            <a:r>
              <a:rPr lang="en-US" sz="1300" b="1" dirty="0">
                <a:solidFill>
                  <a:srgbClr val="630031"/>
                </a:solidFill>
                <a:latin typeface="Calibri" pitchFamily="34" charset="0"/>
                <a:ea typeface="Calibri" pitchFamily="34" charset="-122"/>
                <a:cs typeface="Calibri" pitchFamily="34" charset="-120"/>
              </a:rPr>
              <a:t>The quiz</a:t>
            </a:r>
            <a:endParaRPr lang="en-US" sz="1300" dirty="0"/>
          </a:p>
        </p:txBody>
      </p:sp>
      <p:sp>
        <p:nvSpPr>
          <p:cNvPr id="23" name="Text 21"/>
          <p:cNvSpPr txBox="1"/>
          <p:nvPr/>
        </p:nvSpPr>
        <p:spPr>
          <a:xfrm>
            <a:off x="640080" y="5394960"/>
            <a:ext cx="10911535" cy="457200"/>
          </a:xfrm>
          <a:prstGeom prst="rect">
            <a:avLst/>
          </a:prstGeom>
          <a:noFill/>
          <a:ln/>
        </p:spPr>
        <p:txBody>
          <a:bodyPr wrap="square" lIns="0" tIns="0" rIns="0" bIns="0" rtlCol="0" anchor="ctr"/>
          <a:lstStyle/>
          <a:p>
            <a:pPr indent="0" marL="0">
              <a:buNone/>
            </a:pPr>
            <a:r>
              <a:rPr lang="en-US" sz="1400" i="1" dirty="0">
                <a:solidFill>
                  <a:srgbClr val="75787B"/>
                </a:solidFill>
                <a:latin typeface="Calibri" pitchFamily="34" charset="0"/>
                <a:ea typeface="Calibri" pitchFamily="34" charset="-122"/>
                <a:cs typeface="Calibri" pitchFamily="34" charset="-120"/>
              </a:rPr>
              <a:t>They also run the admin: they add the cars, the parts and the questions themselves, and the site changes the moment they save.</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4F1"/>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56032"/>
          </a:xfrm>
          <a:prstGeom prst="rect">
            <a:avLst/>
          </a:prstGeom>
          <a:noFill/>
          <a:ln/>
        </p:spPr>
        <p:txBody>
          <a:bodyPr wrap="square" lIns="0" tIns="0" rIns="0" bIns="0" rtlCol="0" anchor="ctr"/>
          <a:lstStyle/>
          <a:p>
            <a:pPr indent="0" marL="0">
              <a:buNone/>
            </a:pPr>
            <a:r>
              <a:rPr lang="en-US" sz="1200" b="1" spc="200" kern="0" dirty="0">
                <a:solidFill>
                  <a:srgbClr val="CF4420"/>
                </a:solidFill>
                <a:latin typeface="Calibri" pitchFamily="34" charset="0"/>
                <a:ea typeface="Calibri" pitchFamily="34" charset="-122"/>
                <a:cs typeface="Calibri" pitchFamily="34" charset="-120"/>
              </a:rPr>
              <a:t>TEN MINUTES EACH, AND YOU CAN PAUSE THEM</a:t>
            </a:r>
            <a:endParaRPr lang="en-US" sz="1200" dirty="0"/>
          </a:p>
        </p:txBody>
      </p:sp>
      <p:sp>
        <p:nvSpPr>
          <p:cNvPr id="3" name="Text 1"/>
          <p:cNvSpPr txBox="1"/>
          <p:nvPr/>
        </p:nvSpPr>
        <p:spPr>
          <a:xfrm>
            <a:off x="640080" y="658368"/>
            <a:ext cx="10911535" cy="777240"/>
          </a:xfrm>
          <a:prstGeom prst="rect">
            <a:avLst/>
          </a:prstGeom>
          <a:noFill/>
          <a:ln/>
        </p:spPr>
        <p:txBody>
          <a:bodyPr wrap="square" lIns="0" tIns="0" rIns="0" bIns="0" rtlCol="0" anchor="t"/>
          <a:lstStyle/>
          <a:p>
            <a:pPr indent="0" marL="0">
              <a:buNone/>
            </a:pPr>
            <a:r>
              <a:rPr lang="en-US" sz="3400" b="1" dirty="0">
                <a:solidFill>
                  <a:srgbClr val="630031"/>
                </a:solidFill>
                <a:latin typeface="Cambria" pitchFamily="34" charset="0"/>
                <a:ea typeface="Cambria" pitchFamily="34" charset="-122"/>
                <a:cs typeface="Cambria" pitchFamily="34" charset="-120"/>
              </a:rPr>
              <a:t>Watch these when you are stuck</a:t>
            </a:r>
            <a:endParaRPr lang="en-US" sz="3400" dirty="0"/>
          </a:p>
        </p:txBody>
      </p:sp>
      <p:sp>
        <p:nvSpPr>
          <p:cNvPr id="4" name="Shape 2"/>
          <p:cNvSpPr/>
          <p:nvPr/>
        </p:nvSpPr>
        <p:spPr>
          <a:xfrm>
            <a:off x="640080" y="1737360"/>
            <a:ext cx="10911535" cy="1042416"/>
          </a:xfrm>
          <a:prstGeom prst="roundRect">
            <a:avLst>
              <a:gd name="adj" fmla="val 7895"/>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5" name="Shape 3"/>
          <p:cNvSpPr/>
          <p:nvPr/>
        </p:nvSpPr>
        <p:spPr>
          <a:xfrm>
            <a:off x="914400" y="1938528"/>
            <a:ext cx="201168" cy="201168"/>
          </a:xfrm>
          <a:prstGeom prst="ellipse">
            <a:avLst/>
          </a:prstGeom>
          <a:solidFill>
            <a:srgbClr val="CF4420"/>
          </a:solidFill>
          <a:ln w="12700">
            <a:solidFill>
              <a:srgbClr val="333333"/>
            </a:solidFill>
            <a:prstDash val="solid"/>
          </a:ln>
        </p:spPr>
      </p:sp>
      <p:sp>
        <p:nvSpPr>
          <p:cNvPr id="6" name="Text 4"/>
          <p:cNvSpPr txBox="1"/>
          <p:nvPr/>
        </p:nvSpPr>
        <p:spPr>
          <a:xfrm>
            <a:off x="1261872" y="1865376"/>
            <a:ext cx="2743200" cy="329184"/>
          </a:xfrm>
          <a:prstGeom prst="rect">
            <a:avLst/>
          </a:prstGeom>
          <a:noFill/>
          <a:ln/>
        </p:spPr>
        <p:txBody>
          <a:bodyPr wrap="square" lIns="0" tIns="0" rIns="0" bIns="0" rtlCol="0" anchor="ctr"/>
          <a:lstStyle/>
          <a:p>
            <a:pPr indent="0" marL="0">
              <a:buNone/>
            </a:pPr>
            <a:r>
              <a:rPr lang="en-US" sz="1600" b="1" dirty="0">
                <a:solidFill>
                  <a:srgbClr val="CF4420"/>
                </a:solidFill>
                <a:latin typeface="Cambria" pitchFamily="34" charset="0"/>
                <a:ea typeface="Cambria" pitchFamily="34" charset="-122"/>
                <a:cs typeface="Cambria" pitchFamily="34" charset="-120"/>
              </a:rPr>
              <a:t>Writing stories</a:t>
            </a:r>
            <a:endParaRPr lang="en-US" sz="1600" dirty="0"/>
          </a:p>
        </p:txBody>
      </p:sp>
      <p:sp>
        <p:nvSpPr>
          <p:cNvPr id="7" name="Text 5"/>
          <p:cNvSpPr txBox="1"/>
          <p:nvPr/>
        </p:nvSpPr>
        <p:spPr>
          <a:xfrm>
            <a:off x="4206240" y="1847088"/>
            <a:ext cx="7071055" cy="292608"/>
          </a:xfrm>
          <a:prstGeom prst="rect">
            <a:avLst/>
          </a:prstGeom>
          <a:noFill/>
          <a:ln/>
        </p:spPr>
        <p:txBody>
          <a:bodyPr wrap="square" lIns="0" tIns="0" rIns="0" bIns="0" rtlCol="0" anchor="ctr"/>
          <a:lstStyle/>
          <a:p>
            <a:pPr indent="0" marL="0">
              <a:buNone/>
            </a:pPr>
            <a:r>
              <a:rPr lang="en-US" sz="1250" dirty="0">
                <a:solidFill>
                  <a:srgbClr val="1C1A19"/>
                </a:solidFill>
                <a:latin typeface="Calibri" pitchFamily="34" charset="0"/>
                <a:ea typeface="Calibri" pitchFamily="34" charset="-122"/>
                <a:cs typeface="Calibri" pitchFamily="34" charset="-120"/>
              </a:rPr>
              <a:t>What Are User Story Acceptance Criteria?</a:t>
            </a:r>
            <a:endParaRPr lang="en-US" sz="1250" dirty="0"/>
          </a:p>
        </p:txBody>
      </p:sp>
      <p:sp>
        <p:nvSpPr>
          <p:cNvPr id="8" name="Text 6"/>
          <p:cNvSpPr txBox="1"/>
          <p:nvPr/>
        </p:nvSpPr>
        <p:spPr>
          <a:xfrm>
            <a:off x="4206240" y="2157984"/>
            <a:ext cx="7071055" cy="292608"/>
          </a:xfrm>
          <a:prstGeom prst="rect">
            <a:avLst/>
          </a:prstGeom>
          <a:noFill/>
          <a:ln/>
        </p:spPr>
        <p:txBody>
          <a:bodyPr wrap="square" lIns="0" tIns="0" rIns="0" bIns="0" rtlCol="0" anchor="ctr"/>
          <a:lstStyle/>
          <a:p>
            <a:pPr indent="0" marL="0">
              <a:buNone/>
            </a:pPr>
            <a:r>
              <a:rPr lang="en-US" sz="1250" dirty="0">
                <a:solidFill>
                  <a:srgbClr val="1C1A19"/>
                </a:solidFill>
                <a:latin typeface="Calibri" pitchFamily="34" charset="0"/>
                <a:ea typeface="Calibri" pitchFamily="34" charset="-122"/>
                <a:cs typeface="Calibri" pitchFamily="34" charset="-120"/>
              </a:rPr>
              <a:t>User Stories and Acceptance Criteria EXAMPLE</a:t>
            </a:r>
            <a:endParaRPr lang="en-US" sz="1250" dirty="0"/>
          </a:p>
        </p:txBody>
      </p:sp>
      <p:sp>
        <p:nvSpPr>
          <p:cNvPr id="9" name="Shape 7"/>
          <p:cNvSpPr/>
          <p:nvPr/>
        </p:nvSpPr>
        <p:spPr>
          <a:xfrm>
            <a:off x="640080" y="2999232"/>
            <a:ext cx="10911535" cy="1353312"/>
          </a:xfrm>
          <a:prstGeom prst="roundRect">
            <a:avLst>
              <a:gd name="adj" fmla="val 6081"/>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0" name="Shape 8"/>
          <p:cNvSpPr/>
          <p:nvPr/>
        </p:nvSpPr>
        <p:spPr>
          <a:xfrm>
            <a:off x="914400" y="3200400"/>
            <a:ext cx="201168" cy="201168"/>
          </a:xfrm>
          <a:prstGeom prst="ellipse">
            <a:avLst/>
          </a:prstGeom>
          <a:solidFill>
            <a:srgbClr val="630031"/>
          </a:solidFill>
          <a:ln w="12700">
            <a:solidFill>
              <a:srgbClr val="333333"/>
            </a:solidFill>
            <a:prstDash val="solid"/>
          </a:ln>
        </p:spPr>
      </p:sp>
      <p:sp>
        <p:nvSpPr>
          <p:cNvPr id="11" name="Text 9"/>
          <p:cNvSpPr txBox="1"/>
          <p:nvPr/>
        </p:nvSpPr>
        <p:spPr>
          <a:xfrm>
            <a:off x="1261872" y="3127248"/>
            <a:ext cx="2743200" cy="329184"/>
          </a:xfrm>
          <a:prstGeom prst="rect">
            <a:avLst/>
          </a:prstGeom>
          <a:noFill/>
          <a:ln/>
        </p:spPr>
        <p:txBody>
          <a:bodyPr wrap="square" lIns="0" tIns="0" rIns="0" bIns="0" rtlCol="0" anchor="ctr"/>
          <a:lstStyle/>
          <a:p>
            <a:pPr indent="0" marL="0">
              <a:buNone/>
            </a:pPr>
            <a:r>
              <a:rPr lang="en-US" sz="1600" b="1" dirty="0">
                <a:solidFill>
                  <a:srgbClr val="630031"/>
                </a:solidFill>
                <a:latin typeface="Cambria" pitchFamily="34" charset="0"/>
                <a:ea typeface="Cambria" pitchFamily="34" charset="-122"/>
                <a:cs typeface="Cambria" pitchFamily="34" charset="-120"/>
              </a:rPr>
              <a:t>Figma</a:t>
            </a:r>
            <a:endParaRPr lang="en-US" sz="1600" dirty="0"/>
          </a:p>
        </p:txBody>
      </p:sp>
      <p:sp>
        <p:nvSpPr>
          <p:cNvPr id="12" name="Text 10"/>
          <p:cNvSpPr txBox="1"/>
          <p:nvPr/>
        </p:nvSpPr>
        <p:spPr>
          <a:xfrm>
            <a:off x="4206240" y="3108960"/>
            <a:ext cx="7071055" cy="292608"/>
          </a:xfrm>
          <a:prstGeom prst="rect">
            <a:avLst/>
          </a:prstGeom>
          <a:noFill/>
          <a:ln/>
        </p:spPr>
        <p:txBody>
          <a:bodyPr wrap="square" lIns="0" tIns="0" rIns="0" bIns="0" rtlCol="0" anchor="ctr"/>
          <a:lstStyle/>
          <a:p>
            <a:pPr indent="0" marL="0">
              <a:buNone/>
            </a:pPr>
            <a:r>
              <a:rPr lang="en-US" sz="1250" dirty="0">
                <a:solidFill>
                  <a:srgbClr val="1C1A19"/>
                </a:solidFill>
                <a:latin typeface="Calibri" pitchFamily="34" charset="0"/>
                <a:ea typeface="Calibri" pitchFamily="34" charset="-122"/>
                <a:cs typeface="Calibri" pitchFamily="34" charset="-120"/>
              </a:rPr>
              <a:t>Figma for Edu: Prototyping 101  (made by Figma, for schools)</a:t>
            </a:r>
            <a:endParaRPr lang="en-US" sz="1250" dirty="0"/>
          </a:p>
        </p:txBody>
      </p:sp>
      <p:sp>
        <p:nvSpPr>
          <p:cNvPr id="13" name="Text 11"/>
          <p:cNvSpPr txBox="1"/>
          <p:nvPr/>
        </p:nvSpPr>
        <p:spPr>
          <a:xfrm>
            <a:off x="4206240" y="3419856"/>
            <a:ext cx="7071055" cy="292608"/>
          </a:xfrm>
          <a:prstGeom prst="rect">
            <a:avLst/>
          </a:prstGeom>
          <a:noFill/>
          <a:ln/>
        </p:spPr>
        <p:txBody>
          <a:bodyPr wrap="square" lIns="0" tIns="0" rIns="0" bIns="0" rtlCol="0" anchor="ctr"/>
          <a:lstStyle/>
          <a:p>
            <a:pPr indent="0" marL="0">
              <a:buNone/>
            </a:pPr>
            <a:r>
              <a:rPr lang="en-US" sz="1250" dirty="0">
                <a:solidFill>
                  <a:srgbClr val="1C1A19"/>
                </a:solidFill>
                <a:latin typeface="Calibri" pitchFamily="34" charset="0"/>
                <a:ea typeface="Calibri" pitchFamily="34" charset="-122"/>
                <a:cs typeface="Calibri" pitchFamily="34" charset="-120"/>
              </a:rPr>
              <a:t>Figma Prototyping in 20 minutes</a:t>
            </a:r>
            <a:endParaRPr lang="en-US" sz="1250" dirty="0"/>
          </a:p>
        </p:txBody>
      </p:sp>
      <p:sp>
        <p:nvSpPr>
          <p:cNvPr id="14" name="Text 12"/>
          <p:cNvSpPr txBox="1"/>
          <p:nvPr/>
        </p:nvSpPr>
        <p:spPr>
          <a:xfrm>
            <a:off x="4206240" y="3730752"/>
            <a:ext cx="7071055" cy="292608"/>
          </a:xfrm>
          <a:prstGeom prst="rect">
            <a:avLst/>
          </a:prstGeom>
          <a:noFill/>
          <a:ln/>
        </p:spPr>
        <p:txBody>
          <a:bodyPr wrap="square" lIns="0" tIns="0" rIns="0" bIns="0" rtlCol="0" anchor="ctr"/>
          <a:lstStyle/>
          <a:p>
            <a:pPr indent="0" marL="0">
              <a:buNone/>
            </a:pPr>
            <a:r>
              <a:rPr lang="en-US" sz="1250" dirty="0">
                <a:solidFill>
                  <a:srgbClr val="1C1A19"/>
                </a:solidFill>
                <a:latin typeface="Calibri" pitchFamily="34" charset="0"/>
                <a:ea typeface="Calibri" pitchFamily="34" charset="-122"/>
                <a:cs typeface="Calibri" pitchFamily="34" charset="-120"/>
              </a:rPr>
              <a:t>Learn to Prototype in Figma: Beginners Guide</a:t>
            </a:r>
            <a:endParaRPr lang="en-US" sz="1250" dirty="0"/>
          </a:p>
        </p:txBody>
      </p:sp>
      <p:sp>
        <p:nvSpPr>
          <p:cNvPr id="15" name="Shape 13"/>
          <p:cNvSpPr/>
          <p:nvPr/>
        </p:nvSpPr>
        <p:spPr>
          <a:xfrm>
            <a:off x="640080" y="4572000"/>
            <a:ext cx="10911535" cy="1353312"/>
          </a:xfrm>
          <a:prstGeom prst="roundRect">
            <a:avLst>
              <a:gd name="adj" fmla="val 6081"/>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6" name="Shape 14"/>
          <p:cNvSpPr/>
          <p:nvPr/>
        </p:nvSpPr>
        <p:spPr>
          <a:xfrm>
            <a:off x="914400" y="4773168"/>
            <a:ext cx="201168" cy="201168"/>
          </a:xfrm>
          <a:prstGeom prst="ellipse">
            <a:avLst/>
          </a:prstGeom>
          <a:solidFill>
            <a:srgbClr val="2E4A3B"/>
          </a:solidFill>
          <a:ln w="12700">
            <a:solidFill>
              <a:srgbClr val="333333"/>
            </a:solidFill>
            <a:prstDash val="solid"/>
          </a:ln>
        </p:spPr>
      </p:sp>
      <p:sp>
        <p:nvSpPr>
          <p:cNvPr id="17" name="Text 15"/>
          <p:cNvSpPr txBox="1"/>
          <p:nvPr/>
        </p:nvSpPr>
        <p:spPr>
          <a:xfrm>
            <a:off x="1261872" y="4700016"/>
            <a:ext cx="2743200" cy="329184"/>
          </a:xfrm>
          <a:prstGeom prst="rect">
            <a:avLst/>
          </a:prstGeom>
          <a:noFill/>
          <a:ln/>
        </p:spPr>
        <p:txBody>
          <a:bodyPr wrap="square" lIns="0" tIns="0" rIns="0" bIns="0" rtlCol="0" anchor="ctr"/>
          <a:lstStyle/>
          <a:p>
            <a:pPr indent="0" marL="0">
              <a:buNone/>
            </a:pPr>
            <a:r>
              <a:rPr lang="en-US" sz="1600" b="1" dirty="0">
                <a:solidFill>
                  <a:srgbClr val="2E4A3B"/>
                </a:solidFill>
                <a:latin typeface="Cambria" pitchFamily="34" charset="0"/>
                <a:ea typeface="Cambria" pitchFamily="34" charset="-122"/>
                <a:cs typeface="Cambria" pitchFamily="34" charset="-120"/>
              </a:rPr>
              <a:t>Anvil</a:t>
            </a:r>
            <a:endParaRPr lang="en-US" sz="1600" dirty="0"/>
          </a:p>
        </p:txBody>
      </p:sp>
      <p:sp>
        <p:nvSpPr>
          <p:cNvPr id="18" name="Text 16"/>
          <p:cNvSpPr txBox="1"/>
          <p:nvPr/>
        </p:nvSpPr>
        <p:spPr>
          <a:xfrm>
            <a:off x="4206240" y="4681728"/>
            <a:ext cx="7071055" cy="292608"/>
          </a:xfrm>
          <a:prstGeom prst="rect">
            <a:avLst/>
          </a:prstGeom>
          <a:noFill/>
          <a:ln/>
        </p:spPr>
        <p:txBody>
          <a:bodyPr wrap="square" lIns="0" tIns="0" rIns="0" bIns="0" rtlCol="0" anchor="ctr"/>
          <a:lstStyle/>
          <a:p>
            <a:pPr indent="0" marL="0">
              <a:buNone/>
            </a:pPr>
            <a:r>
              <a:rPr lang="en-US" sz="1250" dirty="0">
                <a:solidFill>
                  <a:srgbClr val="1C1A19"/>
                </a:solidFill>
                <a:latin typeface="Calibri" pitchFamily="34" charset="0"/>
                <a:ea typeface="Calibri" pitchFamily="34" charset="-122"/>
                <a:cs typeface="Calibri" pitchFamily="34" charset="-120"/>
              </a:rPr>
              <a:t>Anvil in 80 Seconds</a:t>
            </a:r>
            <a:endParaRPr lang="en-US" sz="1250" dirty="0"/>
          </a:p>
        </p:txBody>
      </p:sp>
      <p:sp>
        <p:nvSpPr>
          <p:cNvPr id="19" name="Text 17"/>
          <p:cNvSpPr txBox="1"/>
          <p:nvPr/>
        </p:nvSpPr>
        <p:spPr>
          <a:xfrm>
            <a:off x="4206240" y="4992624"/>
            <a:ext cx="7071055" cy="292608"/>
          </a:xfrm>
          <a:prstGeom prst="rect">
            <a:avLst/>
          </a:prstGeom>
          <a:noFill/>
          <a:ln/>
        </p:spPr>
        <p:txBody>
          <a:bodyPr wrap="square" lIns="0" tIns="0" rIns="0" bIns="0" rtlCol="0" anchor="ctr"/>
          <a:lstStyle/>
          <a:p>
            <a:pPr indent="0" marL="0">
              <a:buNone/>
            </a:pPr>
            <a:r>
              <a:rPr lang="en-US" sz="1250" dirty="0">
                <a:solidFill>
                  <a:srgbClr val="1C1A19"/>
                </a:solidFill>
                <a:latin typeface="Calibri" pitchFamily="34" charset="0"/>
                <a:ea typeface="Calibri" pitchFamily="34" charset="-122"/>
                <a:cs typeface="Calibri" pitchFamily="34" charset="-120"/>
              </a:rPr>
              <a:t>Simple Calculator with Anvil: Python Web App for Beginners</a:t>
            </a:r>
            <a:endParaRPr lang="en-US" sz="1250" dirty="0"/>
          </a:p>
        </p:txBody>
      </p:sp>
      <p:sp>
        <p:nvSpPr>
          <p:cNvPr id="20" name="Text 18"/>
          <p:cNvSpPr txBox="1"/>
          <p:nvPr/>
        </p:nvSpPr>
        <p:spPr>
          <a:xfrm>
            <a:off x="4206240" y="5303520"/>
            <a:ext cx="7071055" cy="292608"/>
          </a:xfrm>
          <a:prstGeom prst="rect">
            <a:avLst/>
          </a:prstGeom>
          <a:noFill/>
          <a:ln/>
        </p:spPr>
        <p:txBody>
          <a:bodyPr wrap="square" lIns="0" tIns="0" rIns="0" bIns="0" rtlCol="0" anchor="ctr"/>
          <a:lstStyle/>
          <a:p>
            <a:pPr indent="0" marL="0">
              <a:buNone/>
            </a:pPr>
            <a:r>
              <a:rPr lang="en-US" sz="1250" dirty="0">
                <a:solidFill>
                  <a:srgbClr val="1C1A19"/>
                </a:solidFill>
                <a:latin typeface="Calibri" pitchFamily="34" charset="0"/>
                <a:ea typeface="Calibri" pitchFamily="34" charset="-122"/>
                <a:cs typeface="Calibri" pitchFamily="34" charset="-120"/>
              </a:rPr>
              <a:t>anvil.works/learn/tutorials  (the official ones, short and accurate)</a:t>
            </a:r>
            <a:endParaRPr lang="en-US" sz="1250" dirty="0"/>
          </a:p>
        </p:txBody>
      </p:sp>
      <p:sp>
        <p:nvSpPr>
          <p:cNvPr id="21" name="Text 19"/>
          <p:cNvSpPr txBox="1"/>
          <p:nvPr/>
        </p:nvSpPr>
        <p:spPr>
          <a:xfrm>
            <a:off x="640080" y="6080760"/>
            <a:ext cx="10911535" cy="329184"/>
          </a:xfrm>
          <a:prstGeom prst="rect">
            <a:avLst/>
          </a:prstGeom>
          <a:noFill/>
          <a:ln/>
        </p:spPr>
        <p:txBody>
          <a:bodyPr wrap="square" lIns="0" tIns="0" rIns="0" bIns="0" rtlCol="0" anchor="ctr"/>
          <a:lstStyle/>
          <a:p>
            <a:pPr indent="0" marL="0">
              <a:buNone/>
            </a:pPr>
            <a:r>
              <a:rPr lang="en-US" sz="1250" b="1" dirty="0">
                <a:solidFill>
                  <a:srgbClr val="CF4420"/>
                </a:solidFill>
                <a:latin typeface="Calibri" pitchFamily="34" charset="0"/>
                <a:ea typeface="Calibri" pitchFamily="34" charset="-122"/>
                <a:cs typeface="Calibri" pitchFamily="34" charset="-120"/>
              </a:rPr>
              <a:t>All of these live on one page:  doubleblaze.solutions/build/watch-list.html</a:t>
            </a:r>
            <a:pPr indent="0" marL="0">
              <a:buNone/>
            </a:pPr>
            <a:r>
              <a:rPr lang="en-US" sz="1250" i="1" dirty="0">
                <a:solidFill>
                  <a:srgbClr val="5A5F63"/>
                </a:solidFill>
                <a:latin typeface="Calibri" pitchFamily="34" charset="0"/>
                <a:ea typeface="Calibri" pitchFamily="34" charset="-122"/>
                <a:cs typeface="Calibri" pitchFamily="34" charset="-120"/>
              </a:rPr>
              <a:t>     If a link has gone, search the title and tell your teacher.</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4F1"/>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56032"/>
          </a:xfrm>
          <a:prstGeom prst="rect">
            <a:avLst/>
          </a:prstGeom>
          <a:noFill/>
          <a:ln/>
        </p:spPr>
        <p:txBody>
          <a:bodyPr wrap="square" lIns="0" tIns="0" rIns="0" bIns="0" rtlCol="0" anchor="ctr"/>
          <a:lstStyle/>
          <a:p>
            <a:pPr indent="0" marL="0">
              <a:buNone/>
            </a:pPr>
            <a:r>
              <a:rPr lang="en-US" sz="1200" b="1" spc="200" kern="0" dirty="0">
                <a:solidFill>
                  <a:srgbClr val="CF4420"/>
                </a:solidFill>
                <a:latin typeface="Calibri" pitchFamily="34" charset="0"/>
                <a:ea typeface="Calibri" pitchFamily="34" charset="-122"/>
                <a:cs typeface="Calibri" pitchFamily="34" charset="-120"/>
              </a:rPr>
              <a:t>ONE ADDRESS TO REMEMBER</a:t>
            </a:r>
            <a:endParaRPr lang="en-US" sz="1200" dirty="0"/>
          </a:p>
        </p:txBody>
      </p:sp>
      <p:sp>
        <p:nvSpPr>
          <p:cNvPr id="3" name="Text 1"/>
          <p:cNvSpPr txBox="1"/>
          <p:nvPr/>
        </p:nvSpPr>
        <p:spPr>
          <a:xfrm>
            <a:off x="640080" y="658368"/>
            <a:ext cx="10911535" cy="777240"/>
          </a:xfrm>
          <a:prstGeom prst="rect">
            <a:avLst/>
          </a:prstGeom>
          <a:noFill/>
          <a:ln/>
        </p:spPr>
        <p:txBody>
          <a:bodyPr wrap="square" lIns="0" tIns="0" rIns="0" bIns="0" rtlCol="0" anchor="t"/>
          <a:lstStyle/>
          <a:p>
            <a:pPr indent="0" marL="0">
              <a:buNone/>
            </a:pPr>
            <a:r>
              <a:rPr lang="en-US" sz="3400" b="1" dirty="0">
                <a:solidFill>
                  <a:srgbClr val="630031"/>
                </a:solidFill>
                <a:latin typeface="Cambria" pitchFamily="34" charset="0"/>
                <a:ea typeface="Cambria" pitchFamily="34" charset="-122"/>
                <a:cs typeface="Cambria" pitchFamily="34" charset="-120"/>
              </a:rPr>
              <a:t>Where everything lives</a:t>
            </a:r>
            <a:endParaRPr lang="en-US" sz="3400" dirty="0"/>
          </a:p>
        </p:txBody>
      </p:sp>
      <p:sp>
        <p:nvSpPr>
          <p:cNvPr id="4" name="Text 2"/>
          <p:cNvSpPr txBox="1"/>
          <p:nvPr/>
        </p:nvSpPr>
        <p:spPr>
          <a:xfrm>
            <a:off x="640080" y="1691640"/>
            <a:ext cx="10911535" cy="548640"/>
          </a:xfrm>
          <a:prstGeom prst="rect">
            <a:avLst/>
          </a:prstGeom>
          <a:noFill/>
          <a:ln/>
        </p:spPr>
        <p:txBody>
          <a:bodyPr wrap="square" lIns="0" tIns="0" rIns="0" bIns="0" rtlCol="0" anchor="ctr"/>
          <a:lstStyle/>
          <a:p>
            <a:pPr indent="0" marL="0">
              <a:buNone/>
            </a:pPr>
            <a:r>
              <a:rPr lang="en-US" sz="3000" b="1" dirty="0">
                <a:solidFill>
                  <a:srgbClr val="CF4420"/>
                </a:solidFill>
                <a:latin typeface="Cambria" pitchFamily="34" charset="0"/>
                <a:ea typeface="Cambria" pitchFamily="34" charset="-122"/>
                <a:cs typeface="Cambria" pitchFamily="34" charset="-120"/>
              </a:rPr>
              <a:t>doubleblaze.solutions/trail-crew</a:t>
            </a:r>
            <a:endParaRPr lang="en-US" sz="3000" dirty="0"/>
          </a:p>
        </p:txBody>
      </p:sp>
      <p:sp>
        <p:nvSpPr>
          <p:cNvPr id="5" name="Text 3"/>
          <p:cNvSpPr txBox="1"/>
          <p:nvPr/>
        </p:nvSpPr>
        <p:spPr>
          <a:xfrm>
            <a:off x="640080" y="2240280"/>
            <a:ext cx="10911535" cy="365760"/>
          </a:xfrm>
          <a:prstGeom prst="rect">
            <a:avLst/>
          </a:prstGeom>
          <a:noFill/>
          <a:ln/>
        </p:spPr>
        <p:txBody>
          <a:bodyPr wrap="square" lIns="0" tIns="0" rIns="0" bIns="0" rtlCol="0" anchor="ctr"/>
          <a:lstStyle/>
          <a:p>
            <a:pPr indent="0" marL="0">
              <a:buNone/>
            </a:pPr>
            <a:r>
              <a:rPr lang="en-US" sz="1400" dirty="0">
                <a:solidFill>
                  <a:srgbClr val="75787B"/>
                </a:solidFill>
                <a:latin typeface="Calibri" pitchFamily="34" charset="0"/>
                <a:ea typeface="Calibri" pitchFamily="34" charset="-122"/>
                <a:cs typeface="Calibri" pitchFamily="34" charset="-120"/>
              </a:rPr>
              <a:t>Every team, every prototype, and a link to everything below.</a:t>
            </a:r>
            <a:endParaRPr lang="en-US" sz="1400" dirty="0"/>
          </a:p>
        </p:txBody>
      </p:sp>
      <p:sp>
        <p:nvSpPr>
          <p:cNvPr id="6" name="Shape 4"/>
          <p:cNvSpPr/>
          <p:nvPr/>
        </p:nvSpPr>
        <p:spPr>
          <a:xfrm>
            <a:off x="640080" y="2788920"/>
            <a:ext cx="5272888" cy="548640"/>
          </a:xfrm>
          <a:prstGeom prst="roundRect">
            <a:avLst>
              <a:gd name="adj" fmla="val 15000"/>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7" name="Text 5"/>
          <p:cNvSpPr txBox="1"/>
          <p:nvPr/>
        </p:nvSpPr>
        <p:spPr>
          <a:xfrm>
            <a:off x="896112" y="2788920"/>
            <a:ext cx="2651760" cy="548640"/>
          </a:xfrm>
          <a:prstGeom prst="rect">
            <a:avLst/>
          </a:prstGeom>
          <a:noFill/>
          <a:ln/>
        </p:spPr>
        <p:txBody>
          <a:bodyPr wrap="square" lIns="0" tIns="0" rIns="0" bIns="0" rtlCol="0" anchor="ctr"/>
          <a:lstStyle/>
          <a:p>
            <a:pPr indent="0" marL="0">
              <a:buNone/>
            </a:pPr>
            <a:r>
              <a:rPr lang="en-US" sz="1300" b="1" dirty="0">
                <a:solidFill>
                  <a:srgbClr val="1C1A19"/>
                </a:solidFill>
                <a:latin typeface="Calibri" pitchFamily="34" charset="0"/>
                <a:ea typeface="Calibri" pitchFamily="34" charset="-122"/>
                <a:cs typeface="Calibri" pitchFamily="34" charset="-120"/>
              </a:rPr>
              <a:t>Write a user story</a:t>
            </a:r>
            <a:endParaRPr lang="en-US" sz="1300" dirty="0"/>
          </a:p>
        </p:txBody>
      </p:sp>
      <p:sp>
        <p:nvSpPr>
          <p:cNvPr id="8" name="Text 6"/>
          <p:cNvSpPr txBox="1"/>
          <p:nvPr/>
        </p:nvSpPr>
        <p:spPr>
          <a:xfrm>
            <a:off x="3611880" y="2788920"/>
            <a:ext cx="2072488" cy="548640"/>
          </a:xfrm>
          <a:prstGeom prst="rect">
            <a:avLst/>
          </a:prstGeom>
          <a:noFill/>
          <a:ln/>
        </p:spPr>
        <p:txBody>
          <a:bodyPr wrap="square" lIns="0" tIns="0" rIns="0" bIns="0" rtlCol="0" anchor="ctr"/>
          <a:lstStyle/>
          <a:p>
            <a:pPr indent="0" marL="0">
              <a:buNone/>
            </a:pPr>
            <a:r>
              <a:rPr lang="en-US" sz="1050" dirty="0">
                <a:solidFill>
                  <a:srgbClr val="630031"/>
                </a:solidFill>
                <a:latin typeface="Courier New" pitchFamily="34" charset="0"/>
                <a:ea typeface="Courier New" pitchFamily="34" charset="-122"/>
                <a:cs typeface="Courier New" pitchFamily="34" charset="-120"/>
              </a:rPr>
              <a:t>/trail-crew/write</a:t>
            </a:r>
            <a:endParaRPr lang="en-US" sz="1050" dirty="0"/>
          </a:p>
        </p:txBody>
      </p:sp>
      <p:sp>
        <p:nvSpPr>
          <p:cNvPr id="9" name="Shape 7"/>
          <p:cNvSpPr/>
          <p:nvPr/>
        </p:nvSpPr>
        <p:spPr>
          <a:xfrm>
            <a:off x="640080" y="3447288"/>
            <a:ext cx="5272888" cy="548640"/>
          </a:xfrm>
          <a:prstGeom prst="roundRect">
            <a:avLst>
              <a:gd name="adj" fmla="val 15000"/>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0" name="Text 8"/>
          <p:cNvSpPr txBox="1"/>
          <p:nvPr/>
        </p:nvSpPr>
        <p:spPr>
          <a:xfrm>
            <a:off x="896112" y="3447288"/>
            <a:ext cx="2651760" cy="548640"/>
          </a:xfrm>
          <a:prstGeom prst="rect">
            <a:avLst/>
          </a:prstGeom>
          <a:noFill/>
          <a:ln/>
        </p:spPr>
        <p:txBody>
          <a:bodyPr wrap="square" lIns="0" tIns="0" rIns="0" bIns="0" rtlCol="0" anchor="ctr"/>
          <a:lstStyle/>
          <a:p>
            <a:pPr indent="0" marL="0">
              <a:buNone/>
            </a:pPr>
            <a:r>
              <a:rPr lang="en-US" sz="1300" b="1" dirty="0">
                <a:solidFill>
                  <a:srgbClr val="1C1A19"/>
                </a:solidFill>
                <a:latin typeface="Calibri" pitchFamily="34" charset="0"/>
                <a:ea typeface="Calibri" pitchFamily="34" charset="-122"/>
                <a:cs typeface="Calibri" pitchFamily="34" charset="-120"/>
              </a:rPr>
              <a:t>How a story works</a:t>
            </a:r>
            <a:endParaRPr lang="en-US" sz="1300" dirty="0"/>
          </a:p>
        </p:txBody>
      </p:sp>
      <p:sp>
        <p:nvSpPr>
          <p:cNvPr id="11" name="Text 9"/>
          <p:cNvSpPr txBox="1"/>
          <p:nvPr/>
        </p:nvSpPr>
        <p:spPr>
          <a:xfrm>
            <a:off x="3611880" y="3447288"/>
            <a:ext cx="2072488" cy="548640"/>
          </a:xfrm>
          <a:prstGeom prst="rect">
            <a:avLst/>
          </a:prstGeom>
          <a:noFill/>
          <a:ln/>
        </p:spPr>
        <p:txBody>
          <a:bodyPr wrap="square" lIns="0" tIns="0" rIns="0" bIns="0" rtlCol="0" anchor="ctr"/>
          <a:lstStyle/>
          <a:p>
            <a:pPr indent="0" marL="0">
              <a:buNone/>
            </a:pPr>
            <a:r>
              <a:rPr lang="en-US" sz="1050" dirty="0">
                <a:solidFill>
                  <a:srgbClr val="630031"/>
                </a:solidFill>
                <a:latin typeface="Courier New" pitchFamily="34" charset="0"/>
                <a:ea typeface="Courier New" pitchFamily="34" charset="-122"/>
                <a:cs typeface="Courier New" pitchFamily="34" charset="-120"/>
              </a:rPr>
              <a:t>/build/writing-a-story.html</a:t>
            </a:r>
            <a:endParaRPr lang="en-US" sz="1050" dirty="0"/>
          </a:p>
        </p:txBody>
      </p:sp>
      <p:sp>
        <p:nvSpPr>
          <p:cNvPr id="12" name="Shape 10"/>
          <p:cNvSpPr/>
          <p:nvPr/>
        </p:nvSpPr>
        <p:spPr>
          <a:xfrm>
            <a:off x="640080" y="4105656"/>
            <a:ext cx="5272888" cy="548640"/>
          </a:xfrm>
          <a:prstGeom prst="roundRect">
            <a:avLst>
              <a:gd name="adj" fmla="val 15000"/>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3" name="Text 11"/>
          <p:cNvSpPr txBox="1"/>
          <p:nvPr/>
        </p:nvSpPr>
        <p:spPr>
          <a:xfrm>
            <a:off x="896112" y="4105656"/>
            <a:ext cx="2651760" cy="548640"/>
          </a:xfrm>
          <a:prstGeom prst="rect">
            <a:avLst/>
          </a:prstGeom>
          <a:noFill/>
          <a:ln/>
        </p:spPr>
        <p:txBody>
          <a:bodyPr wrap="square" lIns="0" tIns="0" rIns="0" bIns="0" rtlCol="0" anchor="ctr"/>
          <a:lstStyle/>
          <a:p>
            <a:pPr indent="0" marL="0">
              <a:buNone/>
            </a:pPr>
            <a:r>
              <a:rPr lang="en-US" sz="1300" b="1" dirty="0">
                <a:solidFill>
                  <a:srgbClr val="1C1A19"/>
                </a:solidFill>
                <a:latin typeface="Calibri" pitchFamily="34" charset="0"/>
                <a:ea typeface="Calibri" pitchFamily="34" charset="-122"/>
                <a:cs typeface="Calibri" pitchFamily="34" charset="-120"/>
              </a:rPr>
              <a:t>How to build your app</a:t>
            </a:r>
            <a:endParaRPr lang="en-US" sz="1300" dirty="0"/>
          </a:p>
        </p:txBody>
      </p:sp>
      <p:sp>
        <p:nvSpPr>
          <p:cNvPr id="14" name="Text 12"/>
          <p:cNvSpPr txBox="1"/>
          <p:nvPr/>
        </p:nvSpPr>
        <p:spPr>
          <a:xfrm>
            <a:off x="3611880" y="4105656"/>
            <a:ext cx="2072488" cy="548640"/>
          </a:xfrm>
          <a:prstGeom prst="rect">
            <a:avLst/>
          </a:prstGeom>
          <a:noFill/>
          <a:ln/>
        </p:spPr>
        <p:txBody>
          <a:bodyPr wrap="square" lIns="0" tIns="0" rIns="0" bIns="0" rtlCol="0" anchor="ctr"/>
          <a:lstStyle/>
          <a:p>
            <a:pPr indent="0" marL="0">
              <a:buNone/>
            </a:pPr>
            <a:r>
              <a:rPr lang="en-US" sz="1050" dirty="0">
                <a:solidFill>
                  <a:srgbClr val="630031"/>
                </a:solidFill>
                <a:latin typeface="Courier New" pitchFamily="34" charset="0"/>
                <a:ea typeface="Courier New" pitchFamily="34" charset="-122"/>
                <a:cs typeface="Courier New" pitchFamily="34" charset="-120"/>
              </a:rPr>
              <a:t>/build/instructions.html</a:t>
            </a:r>
            <a:endParaRPr lang="en-US" sz="1050" dirty="0"/>
          </a:p>
        </p:txBody>
      </p:sp>
      <p:sp>
        <p:nvSpPr>
          <p:cNvPr id="15" name="Shape 13"/>
          <p:cNvSpPr/>
          <p:nvPr/>
        </p:nvSpPr>
        <p:spPr>
          <a:xfrm>
            <a:off x="640080" y="4764024"/>
            <a:ext cx="5272888" cy="548640"/>
          </a:xfrm>
          <a:prstGeom prst="roundRect">
            <a:avLst>
              <a:gd name="adj" fmla="val 15000"/>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6" name="Text 14"/>
          <p:cNvSpPr txBox="1"/>
          <p:nvPr/>
        </p:nvSpPr>
        <p:spPr>
          <a:xfrm>
            <a:off x="896112" y="4764024"/>
            <a:ext cx="2651760" cy="548640"/>
          </a:xfrm>
          <a:prstGeom prst="rect">
            <a:avLst/>
          </a:prstGeom>
          <a:noFill/>
          <a:ln/>
        </p:spPr>
        <p:txBody>
          <a:bodyPr wrap="square" lIns="0" tIns="0" rIns="0" bIns="0" rtlCol="0" anchor="ctr"/>
          <a:lstStyle/>
          <a:p>
            <a:pPr indent="0" marL="0">
              <a:buNone/>
            </a:pPr>
            <a:r>
              <a:rPr lang="en-US" sz="1300" b="1" dirty="0">
                <a:solidFill>
                  <a:srgbClr val="1C1A19"/>
                </a:solidFill>
                <a:latin typeface="Calibri" pitchFamily="34" charset="0"/>
                <a:ea typeface="Calibri" pitchFamily="34" charset="-122"/>
                <a:cs typeface="Calibri" pitchFamily="34" charset="-120"/>
              </a:rPr>
              <a:t>Designing for Anvil</a:t>
            </a:r>
            <a:endParaRPr lang="en-US" sz="1300" dirty="0"/>
          </a:p>
        </p:txBody>
      </p:sp>
      <p:sp>
        <p:nvSpPr>
          <p:cNvPr id="17" name="Text 15"/>
          <p:cNvSpPr txBox="1"/>
          <p:nvPr/>
        </p:nvSpPr>
        <p:spPr>
          <a:xfrm>
            <a:off x="3611880" y="4764024"/>
            <a:ext cx="2072488" cy="548640"/>
          </a:xfrm>
          <a:prstGeom prst="rect">
            <a:avLst/>
          </a:prstGeom>
          <a:noFill/>
          <a:ln/>
        </p:spPr>
        <p:txBody>
          <a:bodyPr wrap="square" lIns="0" tIns="0" rIns="0" bIns="0" rtlCol="0" anchor="ctr"/>
          <a:lstStyle/>
          <a:p>
            <a:pPr indent="0" marL="0">
              <a:buNone/>
            </a:pPr>
            <a:r>
              <a:rPr lang="en-US" sz="1050" dirty="0">
                <a:solidFill>
                  <a:srgbClr val="630031"/>
                </a:solidFill>
                <a:latin typeface="Courier New" pitchFamily="34" charset="0"/>
                <a:ea typeface="Courier New" pitchFamily="34" charset="-122"/>
                <a:cs typeface="Courier New" pitchFamily="34" charset="-120"/>
              </a:rPr>
              <a:t>/build/figma.html</a:t>
            </a:r>
            <a:endParaRPr lang="en-US" sz="1050" dirty="0"/>
          </a:p>
        </p:txBody>
      </p:sp>
      <p:sp>
        <p:nvSpPr>
          <p:cNvPr id="18" name="Shape 16"/>
          <p:cNvSpPr/>
          <p:nvPr/>
        </p:nvSpPr>
        <p:spPr>
          <a:xfrm>
            <a:off x="640080" y="5422392"/>
            <a:ext cx="5272888" cy="548640"/>
          </a:xfrm>
          <a:prstGeom prst="roundRect">
            <a:avLst>
              <a:gd name="adj" fmla="val 15000"/>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9" name="Text 17"/>
          <p:cNvSpPr txBox="1"/>
          <p:nvPr/>
        </p:nvSpPr>
        <p:spPr>
          <a:xfrm>
            <a:off x="896112" y="5422392"/>
            <a:ext cx="2651760" cy="548640"/>
          </a:xfrm>
          <a:prstGeom prst="rect">
            <a:avLst/>
          </a:prstGeom>
          <a:noFill/>
          <a:ln/>
        </p:spPr>
        <p:txBody>
          <a:bodyPr wrap="square" lIns="0" tIns="0" rIns="0" bIns="0" rtlCol="0" anchor="ctr"/>
          <a:lstStyle/>
          <a:p>
            <a:pPr indent="0" marL="0">
              <a:buNone/>
            </a:pPr>
            <a:r>
              <a:rPr lang="en-US" sz="1300" b="1" dirty="0">
                <a:solidFill>
                  <a:srgbClr val="1C1A19"/>
                </a:solidFill>
                <a:latin typeface="Calibri" pitchFamily="34" charset="0"/>
                <a:ea typeface="Calibri" pitchFamily="34" charset="-122"/>
                <a:cs typeface="Calibri" pitchFamily="34" charset="-120"/>
              </a:rPr>
              <a:t>Figma step by step</a:t>
            </a:r>
            <a:endParaRPr lang="en-US" sz="1300" dirty="0"/>
          </a:p>
        </p:txBody>
      </p:sp>
      <p:sp>
        <p:nvSpPr>
          <p:cNvPr id="20" name="Text 18"/>
          <p:cNvSpPr txBox="1"/>
          <p:nvPr/>
        </p:nvSpPr>
        <p:spPr>
          <a:xfrm>
            <a:off x="3611880" y="5422392"/>
            <a:ext cx="2072488" cy="548640"/>
          </a:xfrm>
          <a:prstGeom prst="rect">
            <a:avLst/>
          </a:prstGeom>
          <a:noFill/>
          <a:ln/>
        </p:spPr>
        <p:txBody>
          <a:bodyPr wrap="square" lIns="0" tIns="0" rIns="0" bIns="0" rtlCol="0" anchor="ctr"/>
          <a:lstStyle/>
          <a:p>
            <a:pPr indent="0" marL="0">
              <a:buNone/>
            </a:pPr>
            <a:r>
              <a:rPr lang="en-US" sz="1050" dirty="0">
                <a:solidFill>
                  <a:srgbClr val="630031"/>
                </a:solidFill>
                <a:latin typeface="Courier New" pitchFamily="34" charset="0"/>
                <a:ea typeface="Courier New" pitchFamily="34" charset="-122"/>
                <a:cs typeface="Courier New" pitchFamily="34" charset="-120"/>
              </a:rPr>
              <a:t>/build/prototype-steps.html</a:t>
            </a:r>
            <a:endParaRPr lang="en-US" sz="1050" dirty="0"/>
          </a:p>
        </p:txBody>
      </p:sp>
      <p:sp>
        <p:nvSpPr>
          <p:cNvPr id="21" name="Shape 19"/>
          <p:cNvSpPr/>
          <p:nvPr/>
        </p:nvSpPr>
        <p:spPr>
          <a:xfrm>
            <a:off x="6278728" y="2788920"/>
            <a:ext cx="5272888" cy="548640"/>
          </a:xfrm>
          <a:prstGeom prst="roundRect">
            <a:avLst>
              <a:gd name="adj" fmla="val 15000"/>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22" name="Text 20"/>
          <p:cNvSpPr txBox="1"/>
          <p:nvPr/>
        </p:nvSpPr>
        <p:spPr>
          <a:xfrm>
            <a:off x="6534760" y="2788920"/>
            <a:ext cx="2651760" cy="548640"/>
          </a:xfrm>
          <a:prstGeom prst="rect">
            <a:avLst/>
          </a:prstGeom>
          <a:noFill/>
          <a:ln/>
        </p:spPr>
        <p:txBody>
          <a:bodyPr wrap="square" lIns="0" tIns="0" rIns="0" bIns="0" rtlCol="0" anchor="ctr"/>
          <a:lstStyle/>
          <a:p>
            <a:pPr indent="0" marL="0">
              <a:buNone/>
            </a:pPr>
            <a:r>
              <a:rPr lang="en-US" sz="1300" b="1" dirty="0">
                <a:solidFill>
                  <a:srgbClr val="1C1A19"/>
                </a:solidFill>
                <a:latin typeface="Calibri" pitchFamily="34" charset="0"/>
                <a:ea typeface="Calibri" pitchFamily="34" charset="-122"/>
                <a:cs typeface="Calibri" pitchFamily="34" charset="-120"/>
              </a:rPr>
              <a:t>The Pattern Book</a:t>
            </a:r>
            <a:endParaRPr lang="en-US" sz="1300" dirty="0"/>
          </a:p>
        </p:txBody>
      </p:sp>
      <p:sp>
        <p:nvSpPr>
          <p:cNvPr id="23" name="Text 21"/>
          <p:cNvSpPr txBox="1"/>
          <p:nvPr/>
        </p:nvSpPr>
        <p:spPr>
          <a:xfrm>
            <a:off x="9250528" y="2788920"/>
            <a:ext cx="2072488" cy="548640"/>
          </a:xfrm>
          <a:prstGeom prst="rect">
            <a:avLst/>
          </a:prstGeom>
          <a:noFill/>
          <a:ln/>
        </p:spPr>
        <p:txBody>
          <a:bodyPr wrap="square" lIns="0" tIns="0" rIns="0" bIns="0" rtlCol="0" anchor="ctr"/>
          <a:lstStyle/>
          <a:p>
            <a:pPr indent="0" marL="0">
              <a:buNone/>
            </a:pPr>
            <a:r>
              <a:rPr lang="en-US" sz="1050" dirty="0">
                <a:solidFill>
                  <a:srgbClr val="630031"/>
                </a:solidFill>
                <a:latin typeface="Courier New" pitchFamily="34" charset="0"/>
                <a:ea typeface="Courier New" pitchFamily="34" charset="-122"/>
                <a:cs typeface="Courier New" pitchFamily="34" charset="-120"/>
              </a:rPr>
              <a:t>/build/patterns.html</a:t>
            </a:r>
            <a:endParaRPr lang="en-US" sz="1050" dirty="0"/>
          </a:p>
        </p:txBody>
      </p:sp>
      <p:sp>
        <p:nvSpPr>
          <p:cNvPr id="24" name="Shape 22"/>
          <p:cNvSpPr/>
          <p:nvPr/>
        </p:nvSpPr>
        <p:spPr>
          <a:xfrm>
            <a:off x="6278728" y="3447288"/>
            <a:ext cx="5272888" cy="548640"/>
          </a:xfrm>
          <a:prstGeom prst="roundRect">
            <a:avLst>
              <a:gd name="adj" fmla="val 15000"/>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25" name="Text 23"/>
          <p:cNvSpPr txBox="1"/>
          <p:nvPr/>
        </p:nvSpPr>
        <p:spPr>
          <a:xfrm>
            <a:off x="6534760" y="3447288"/>
            <a:ext cx="2651760" cy="548640"/>
          </a:xfrm>
          <a:prstGeom prst="rect">
            <a:avLst/>
          </a:prstGeom>
          <a:noFill/>
          <a:ln/>
        </p:spPr>
        <p:txBody>
          <a:bodyPr wrap="square" lIns="0" tIns="0" rIns="0" bIns="0" rtlCol="0" anchor="ctr"/>
          <a:lstStyle/>
          <a:p>
            <a:pPr indent="0" marL="0">
              <a:buNone/>
            </a:pPr>
            <a:r>
              <a:rPr lang="en-US" sz="1300" b="1" dirty="0">
                <a:solidFill>
                  <a:srgbClr val="1C1A19"/>
                </a:solidFill>
                <a:latin typeface="Calibri" pitchFamily="34" charset="0"/>
                <a:ea typeface="Calibri" pitchFamily="34" charset="-122"/>
                <a:cs typeface="Calibri" pitchFamily="34" charset="-120"/>
              </a:rPr>
              <a:t>First steps in Anvil</a:t>
            </a:r>
            <a:endParaRPr lang="en-US" sz="1300" dirty="0"/>
          </a:p>
        </p:txBody>
      </p:sp>
      <p:sp>
        <p:nvSpPr>
          <p:cNvPr id="26" name="Text 24"/>
          <p:cNvSpPr txBox="1"/>
          <p:nvPr/>
        </p:nvSpPr>
        <p:spPr>
          <a:xfrm>
            <a:off x="9250528" y="3447288"/>
            <a:ext cx="2072488" cy="548640"/>
          </a:xfrm>
          <a:prstGeom prst="rect">
            <a:avLst/>
          </a:prstGeom>
          <a:noFill/>
          <a:ln/>
        </p:spPr>
        <p:txBody>
          <a:bodyPr wrap="square" lIns="0" tIns="0" rIns="0" bIns="0" rtlCol="0" anchor="ctr"/>
          <a:lstStyle/>
          <a:p>
            <a:pPr indent="0" marL="0">
              <a:buNone/>
            </a:pPr>
            <a:r>
              <a:rPr lang="en-US" sz="1050" dirty="0">
                <a:solidFill>
                  <a:srgbClr val="630031"/>
                </a:solidFill>
                <a:latin typeface="Courier New" pitchFamily="34" charset="0"/>
                <a:ea typeface="Courier New" pitchFamily="34" charset="-122"/>
                <a:cs typeface="Courier New" pitchFamily="34" charset="-120"/>
              </a:rPr>
              <a:t>/build/first-steps.html</a:t>
            </a:r>
            <a:endParaRPr lang="en-US" sz="1050" dirty="0"/>
          </a:p>
        </p:txBody>
      </p:sp>
      <p:sp>
        <p:nvSpPr>
          <p:cNvPr id="27" name="Shape 25"/>
          <p:cNvSpPr/>
          <p:nvPr/>
        </p:nvSpPr>
        <p:spPr>
          <a:xfrm>
            <a:off x="6278728" y="4105656"/>
            <a:ext cx="5272888" cy="548640"/>
          </a:xfrm>
          <a:prstGeom prst="roundRect">
            <a:avLst>
              <a:gd name="adj" fmla="val 15000"/>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28" name="Text 26"/>
          <p:cNvSpPr txBox="1"/>
          <p:nvPr/>
        </p:nvSpPr>
        <p:spPr>
          <a:xfrm>
            <a:off x="6534760" y="4105656"/>
            <a:ext cx="2651760" cy="548640"/>
          </a:xfrm>
          <a:prstGeom prst="rect">
            <a:avLst/>
          </a:prstGeom>
          <a:noFill/>
          <a:ln/>
        </p:spPr>
        <p:txBody>
          <a:bodyPr wrap="square" lIns="0" tIns="0" rIns="0" bIns="0" rtlCol="0" anchor="ctr"/>
          <a:lstStyle/>
          <a:p>
            <a:pPr indent="0" marL="0">
              <a:buNone/>
            </a:pPr>
            <a:r>
              <a:rPr lang="en-US" sz="1300" b="1" dirty="0">
                <a:solidFill>
                  <a:srgbClr val="1C1A19"/>
                </a:solidFill>
                <a:latin typeface="Calibri" pitchFamily="34" charset="0"/>
                <a:ea typeface="Calibri" pitchFamily="34" charset="-122"/>
                <a:cs typeface="Calibri" pitchFamily="34" charset="-120"/>
              </a:rPr>
              <a:t>When Anvil shows red text</a:t>
            </a:r>
            <a:endParaRPr lang="en-US" sz="1300" dirty="0"/>
          </a:p>
        </p:txBody>
      </p:sp>
      <p:sp>
        <p:nvSpPr>
          <p:cNvPr id="29" name="Text 27"/>
          <p:cNvSpPr txBox="1"/>
          <p:nvPr/>
        </p:nvSpPr>
        <p:spPr>
          <a:xfrm>
            <a:off x="9250528" y="4105656"/>
            <a:ext cx="2072488" cy="548640"/>
          </a:xfrm>
          <a:prstGeom prst="rect">
            <a:avLst/>
          </a:prstGeom>
          <a:noFill/>
          <a:ln/>
        </p:spPr>
        <p:txBody>
          <a:bodyPr wrap="square" lIns="0" tIns="0" rIns="0" bIns="0" rtlCol="0" anchor="ctr"/>
          <a:lstStyle/>
          <a:p>
            <a:pPr indent="0" marL="0">
              <a:buNone/>
            </a:pPr>
            <a:r>
              <a:rPr lang="en-US" sz="1050" dirty="0">
                <a:solidFill>
                  <a:srgbClr val="630031"/>
                </a:solidFill>
                <a:latin typeface="Courier New" pitchFamily="34" charset="0"/>
                <a:ea typeface="Courier New" pitchFamily="34" charset="-122"/>
                <a:cs typeface="Courier New" pitchFamily="34" charset="-120"/>
              </a:rPr>
              <a:t>/build/errors.html</a:t>
            </a:r>
            <a:endParaRPr lang="en-US" sz="1050" dirty="0"/>
          </a:p>
        </p:txBody>
      </p:sp>
      <p:sp>
        <p:nvSpPr>
          <p:cNvPr id="30" name="Shape 28"/>
          <p:cNvSpPr/>
          <p:nvPr/>
        </p:nvSpPr>
        <p:spPr>
          <a:xfrm>
            <a:off x="6278728" y="4764024"/>
            <a:ext cx="5272888" cy="548640"/>
          </a:xfrm>
          <a:prstGeom prst="roundRect">
            <a:avLst>
              <a:gd name="adj" fmla="val 15000"/>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31" name="Text 29"/>
          <p:cNvSpPr txBox="1"/>
          <p:nvPr/>
        </p:nvSpPr>
        <p:spPr>
          <a:xfrm>
            <a:off x="6534760" y="4764024"/>
            <a:ext cx="2651760" cy="548640"/>
          </a:xfrm>
          <a:prstGeom prst="rect">
            <a:avLst/>
          </a:prstGeom>
          <a:noFill/>
          <a:ln/>
        </p:spPr>
        <p:txBody>
          <a:bodyPr wrap="square" lIns="0" tIns="0" rIns="0" bIns="0" rtlCol="0" anchor="ctr"/>
          <a:lstStyle/>
          <a:p>
            <a:pPr indent="0" marL="0">
              <a:buNone/>
            </a:pPr>
            <a:r>
              <a:rPr lang="en-US" sz="1300" b="1" dirty="0">
                <a:solidFill>
                  <a:srgbClr val="1C1A19"/>
                </a:solidFill>
                <a:latin typeface="Calibri" pitchFamily="34" charset="0"/>
                <a:ea typeface="Calibri" pitchFamily="34" charset="-122"/>
                <a:cs typeface="Calibri" pitchFamily="34" charset="-120"/>
              </a:rPr>
              <a:t>Things to watch</a:t>
            </a:r>
            <a:endParaRPr lang="en-US" sz="1300" dirty="0"/>
          </a:p>
        </p:txBody>
      </p:sp>
      <p:sp>
        <p:nvSpPr>
          <p:cNvPr id="32" name="Text 30"/>
          <p:cNvSpPr txBox="1"/>
          <p:nvPr/>
        </p:nvSpPr>
        <p:spPr>
          <a:xfrm>
            <a:off x="9250528" y="4764024"/>
            <a:ext cx="2072488" cy="548640"/>
          </a:xfrm>
          <a:prstGeom prst="rect">
            <a:avLst/>
          </a:prstGeom>
          <a:noFill/>
          <a:ln/>
        </p:spPr>
        <p:txBody>
          <a:bodyPr wrap="square" lIns="0" tIns="0" rIns="0" bIns="0" rtlCol="0" anchor="ctr"/>
          <a:lstStyle/>
          <a:p>
            <a:pPr indent="0" marL="0">
              <a:buNone/>
            </a:pPr>
            <a:r>
              <a:rPr lang="en-US" sz="1050" dirty="0">
                <a:solidFill>
                  <a:srgbClr val="630031"/>
                </a:solidFill>
                <a:latin typeface="Courier New" pitchFamily="34" charset="0"/>
                <a:ea typeface="Courier New" pitchFamily="34" charset="-122"/>
                <a:cs typeface="Courier New" pitchFamily="34" charset="-120"/>
              </a:rPr>
              <a:t>/build/watch-list.html</a:t>
            </a:r>
            <a:endParaRPr lang="en-US" sz="1050" dirty="0"/>
          </a:p>
        </p:txBody>
      </p:sp>
      <p:sp>
        <p:nvSpPr>
          <p:cNvPr id="33" name="Text 31"/>
          <p:cNvSpPr txBox="1"/>
          <p:nvPr/>
        </p:nvSpPr>
        <p:spPr>
          <a:xfrm>
            <a:off x="640080" y="5577840"/>
            <a:ext cx="10911535" cy="365760"/>
          </a:xfrm>
          <a:prstGeom prst="rect">
            <a:avLst/>
          </a:prstGeom>
          <a:noFill/>
          <a:ln/>
        </p:spPr>
        <p:txBody>
          <a:bodyPr wrap="square" lIns="0" tIns="0" rIns="0" bIns="0" rtlCol="0" anchor="ctr"/>
          <a:lstStyle/>
          <a:p>
            <a:pPr indent="0" marL="0">
              <a:buNone/>
            </a:pPr>
            <a:r>
              <a:rPr lang="en-US" sz="1300" i="1" dirty="0">
                <a:solidFill>
                  <a:srgbClr val="75787B"/>
                </a:solidFill>
                <a:latin typeface="Calibri" pitchFamily="34" charset="0"/>
                <a:ea typeface="Calibri" pitchFamily="34" charset="-122"/>
                <a:cs typeface="Calibri" pitchFamily="34" charset="-120"/>
              </a:rPr>
              <a:t>Your own team's pages, including your test plan and your design brief, are on your card in the gallery.</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630031"/>
        </a:solidFill>
      </p:bgPr>
    </p:bg>
    <p:spTree>
      <p:nvGrpSpPr>
        <p:cNvPr id="1" name=""/>
        <p:cNvGrpSpPr/>
        <p:nvPr/>
      </p:nvGrpSpPr>
      <p:grpSpPr>
        <a:xfrm>
          <a:off x="0" y="0"/>
          <a:ext cx="0" cy="0"/>
          <a:chOff x="0" y="0"/>
          <a:chExt cx="0" cy="0"/>
        </a:xfrm>
      </p:grpSpPr>
      <p:sp>
        <p:nvSpPr>
          <p:cNvPr id="2" name="Shape 0"/>
          <p:cNvSpPr/>
          <p:nvPr/>
        </p:nvSpPr>
        <p:spPr>
          <a:xfrm>
            <a:off x="9692640" y="4023360"/>
            <a:ext cx="3657600" cy="3657600"/>
          </a:xfrm>
          <a:prstGeom prst="ellipse">
            <a:avLst/>
          </a:prstGeom>
          <a:solidFill>
            <a:srgbClr val="4A0025"/>
          </a:solidFill>
          <a:ln w="12700">
            <a:solidFill>
              <a:srgbClr val="333333"/>
            </a:solidFill>
            <a:prstDash val="solid"/>
          </a:ln>
        </p:spPr>
      </p:sp>
      <p:sp>
        <p:nvSpPr>
          <p:cNvPr id="3" name="Text 1"/>
          <p:cNvSpPr txBox="1"/>
          <p:nvPr/>
        </p:nvSpPr>
        <p:spPr>
          <a:xfrm>
            <a:off x="640080" y="777240"/>
            <a:ext cx="10911535"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Before you build anything</a:t>
            </a:r>
            <a:endParaRPr lang="en-US" sz="3400" dirty="0"/>
          </a:p>
        </p:txBody>
      </p:sp>
      <p:sp>
        <p:nvSpPr>
          <p:cNvPr id="4" name="Shape 2"/>
          <p:cNvSpPr/>
          <p:nvPr/>
        </p:nvSpPr>
        <p:spPr>
          <a:xfrm>
            <a:off x="640080" y="1783080"/>
            <a:ext cx="8778240" cy="1051560"/>
          </a:xfrm>
          <a:prstGeom prst="roundRect">
            <a:avLst>
              <a:gd name="adj" fmla="val 8696"/>
            </a:avLst>
          </a:prstGeom>
          <a:solidFill>
            <a:srgbClr val="4A0025"/>
          </a:solidFill>
          <a:ln w="12700">
            <a:solidFill>
              <a:srgbClr val="7A2049"/>
            </a:solidFill>
            <a:prstDash val="solid"/>
          </a:ln>
        </p:spPr>
      </p:sp>
      <p:sp>
        <p:nvSpPr>
          <p:cNvPr id="5" name="Shape 3"/>
          <p:cNvSpPr/>
          <p:nvPr/>
        </p:nvSpPr>
        <p:spPr>
          <a:xfrm>
            <a:off x="960120" y="2103120"/>
            <a:ext cx="402336" cy="402336"/>
          </a:xfrm>
          <a:prstGeom prst="ellipse">
            <a:avLst/>
          </a:prstGeom>
          <a:solidFill>
            <a:srgbClr val="FFFFFF"/>
          </a:solidFill>
          <a:ln w="12700">
            <a:solidFill>
              <a:srgbClr val="CF4420"/>
            </a:solidFill>
            <a:prstDash val="solid"/>
          </a:ln>
        </p:spPr>
      </p:sp>
      <p:sp>
        <p:nvSpPr>
          <p:cNvPr id="6" name="Shape 4"/>
          <p:cNvSpPr/>
          <p:nvPr/>
        </p:nvSpPr>
        <p:spPr>
          <a:xfrm>
            <a:off x="960120" y="2103120"/>
            <a:ext cx="402336" cy="402336"/>
          </a:xfrm>
          <a:prstGeom prst="ellipse">
            <a:avLst/>
          </a:prstGeom>
          <a:solidFill>
            <a:srgbClr val="CF4420"/>
          </a:solidFill>
          <a:ln w="12700">
            <a:solidFill>
              <a:srgbClr val="333333"/>
            </a:solidFill>
            <a:prstDash val="solid"/>
          </a:ln>
        </p:spPr>
      </p:sp>
      <p:sp>
        <p:nvSpPr>
          <p:cNvPr id="7" name="Text 5"/>
          <p:cNvSpPr txBox="1"/>
          <p:nvPr/>
        </p:nvSpPr>
        <p:spPr>
          <a:xfrm>
            <a:off x="960120" y="210312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txBox="1"/>
          <p:nvPr/>
        </p:nvSpPr>
        <p:spPr>
          <a:xfrm>
            <a:off x="1554480" y="1947672"/>
            <a:ext cx="7589520" cy="310896"/>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Read your test plan</a:t>
            </a:r>
            <a:endParaRPr lang="en-US" sz="1600" dirty="0"/>
          </a:p>
        </p:txBody>
      </p:sp>
      <p:sp>
        <p:nvSpPr>
          <p:cNvPr id="9" name="Text 7"/>
          <p:cNvSpPr txBox="1"/>
          <p:nvPr/>
        </p:nvSpPr>
        <p:spPr>
          <a:xfrm>
            <a:off x="1554480" y="2286000"/>
            <a:ext cx="7589520" cy="457200"/>
          </a:xfrm>
          <a:prstGeom prst="rect">
            <a:avLst/>
          </a:prstGeom>
          <a:noFill/>
          <a:ln/>
        </p:spPr>
        <p:txBody>
          <a:bodyPr wrap="square" lIns="0" tIns="0" rIns="0" bIns="0" rtlCol="0" anchor="ctr"/>
          <a:lstStyle/>
          <a:p>
            <a:pPr indent="0" marL="0">
              <a:lnSpc>
                <a:spcPts val="1700"/>
              </a:lnSpc>
              <a:buNone/>
            </a:pPr>
            <a:r>
              <a:rPr lang="en-US" sz="1300" dirty="0">
                <a:solidFill>
                  <a:srgbClr val="E9C9D6"/>
                </a:solidFill>
                <a:latin typeface="Calibri" pitchFamily="34" charset="0"/>
                <a:ea typeface="Calibri" pitchFamily="34" charset="-122"/>
                <a:cs typeface="Calibri" pitchFamily="34" charset="-120"/>
              </a:rPr>
              <a:t>It is already there, on your team's card. Find the criteria that produced no test. Those are yours to rewrite.</a:t>
            </a:r>
            <a:endParaRPr lang="en-US" sz="1300" dirty="0"/>
          </a:p>
        </p:txBody>
      </p:sp>
      <p:sp>
        <p:nvSpPr>
          <p:cNvPr id="10" name="Shape 8"/>
          <p:cNvSpPr/>
          <p:nvPr/>
        </p:nvSpPr>
        <p:spPr>
          <a:xfrm>
            <a:off x="640080" y="3017520"/>
            <a:ext cx="8778240" cy="1051560"/>
          </a:xfrm>
          <a:prstGeom prst="roundRect">
            <a:avLst>
              <a:gd name="adj" fmla="val 8696"/>
            </a:avLst>
          </a:prstGeom>
          <a:solidFill>
            <a:srgbClr val="4A0025"/>
          </a:solidFill>
          <a:ln w="12700">
            <a:solidFill>
              <a:srgbClr val="7A2049"/>
            </a:solidFill>
            <a:prstDash val="solid"/>
          </a:ln>
        </p:spPr>
      </p:sp>
      <p:sp>
        <p:nvSpPr>
          <p:cNvPr id="11" name="Shape 9"/>
          <p:cNvSpPr/>
          <p:nvPr/>
        </p:nvSpPr>
        <p:spPr>
          <a:xfrm>
            <a:off x="960120" y="3337560"/>
            <a:ext cx="402336" cy="402336"/>
          </a:xfrm>
          <a:prstGeom prst="ellipse">
            <a:avLst/>
          </a:prstGeom>
          <a:solidFill>
            <a:srgbClr val="FFFFFF"/>
          </a:solidFill>
          <a:ln w="12700">
            <a:solidFill>
              <a:srgbClr val="CF4420"/>
            </a:solidFill>
            <a:prstDash val="solid"/>
          </a:ln>
        </p:spPr>
      </p:sp>
      <p:sp>
        <p:nvSpPr>
          <p:cNvPr id="12" name="Shape 10"/>
          <p:cNvSpPr/>
          <p:nvPr/>
        </p:nvSpPr>
        <p:spPr>
          <a:xfrm>
            <a:off x="960120" y="3337560"/>
            <a:ext cx="402336" cy="402336"/>
          </a:xfrm>
          <a:prstGeom prst="ellipse">
            <a:avLst/>
          </a:prstGeom>
          <a:solidFill>
            <a:srgbClr val="CF4420"/>
          </a:solidFill>
          <a:ln w="12700">
            <a:solidFill>
              <a:srgbClr val="333333"/>
            </a:solidFill>
            <a:prstDash val="solid"/>
          </a:ln>
        </p:spPr>
      </p:sp>
      <p:sp>
        <p:nvSpPr>
          <p:cNvPr id="13" name="Text 11"/>
          <p:cNvSpPr txBox="1"/>
          <p:nvPr/>
        </p:nvSpPr>
        <p:spPr>
          <a:xfrm>
            <a:off x="960120" y="333756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4" name="Text 12"/>
          <p:cNvSpPr txBox="1"/>
          <p:nvPr/>
        </p:nvSpPr>
        <p:spPr>
          <a:xfrm>
            <a:off x="1554480" y="3182112"/>
            <a:ext cx="7589520" cy="310896"/>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Write one new story</a:t>
            </a:r>
            <a:endParaRPr lang="en-US" sz="1600" dirty="0"/>
          </a:p>
        </p:txBody>
      </p:sp>
      <p:sp>
        <p:nvSpPr>
          <p:cNvPr id="15" name="Text 13"/>
          <p:cNvSpPr txBox="1"/>
          <p:nvPr/>
        </p:nvSpPr>
        <p:spPr>
          <a:xfrm>
            <a:off x="1554480" y="3520440"/>
            <a:ext cx="7589520" cy="457200"/>
          </a:xfrm>
          <a:prstGeom prst="rect">
            <a:avLst/>
          </a:prstGeom>
          <a:noFill/>
          <a:ln/>
        </p:spPr>
        <p:txBody>
          <a:bodyPr wrap="square" lIns="0" tIns="0" rIns="0" bIns="0" rtlCol="0" anchor="ctr"/>
          <a:lstStyle/>
          <a:p>
            <a:pPr indent="0" marL="0">
              <a:lnSpc>
                <a:spcPts val="1700"/>
              </a:lnSpc>
              <a:buNone/>
            </a:pPr>
            <a:r>
              <a:rPr lang="en-US" sz="1300" dirty="0">
                <a:solidFill>
                  <a:srgbClr val="E9C9D6"/>
                </a:solidFill>
                <a:latin typeface="Calibri" pitchFamily="34" charset="0"/>
                <a:ea typeface="Calibri" pitchFamily="34" charset="-122"/>
                <a:cs typeface="Calibri" pitchFamily="34" charset="-120"/>
              </a:rPr>
              <a:t>In the studio. Watch the test plan while you type. Send it when it is not embarrassing.</a:t>
            </a:r>
            <a:endParaRPr lang="en-US" sz="1300" dirty="0"/>
          </a:p>
        </p:txBody>
      </p:sp>
      <p:sp>
        <p:nvSpPr>
          <p:cNvPr id="16" name="Shape 14"/>
          <p:cNvSpPr/>
          <p:nvPr/>
        </p:nvSpPr>
        <p:spPr>
          <a:xfrm>
            <a:off x="640080" y="4251960"/>
            <a:ext cx="8778240" cy="1051560"/>
          </a:xfrm>
          <a:prstGeom prst="roundRect">
            <a:avLst>
              <a:gd name="adj" fmla="val 8696"/>
            </a:avLst>
          </a:prstGeom>
          <a:solidFill>
            <a:srgbClr val="4A0025"/>
          </a:solidFill>
          <a:ln w="12700">
            <a:solidFill>
              <a:srgbClr val="7A2049"/>
            </a:solidFill>
            <a:prstDash val="solid"/>
          </a:ln>
        </p:spPr>
      </p:sp>
      <p:sp>
        <p:nvSpPr>
          <p:cNvPr id="17" name="Shape 15"/>
          <p:cNvSpPr/>
          <p:nvPr/>
        </p:nvSpPr>
        <p:spPr>
          <a:xfrm>
            <a:off x="960120" y="4572000"/>
            <a:ext cx="402336" cy="402336"/>
          </a:xfrm>
          <a:prstGeom prst="ellipse">
            <a:avLst/>
          </a:prstGeom>
          <a:solidFill>
            <a:srgbClr val="FFFFFF"/>
          </a:solidFill>
          <a:ln w="12700">
            <a:solidFill>
              <a:srgbClr val="CF4420"/>
            </a:solidFill>
            <a:prstDash val="solid"/>
          </a:ln>
        </p:spPr>
      </p:sp>
      <p:sp>
        <p:nvSpPr>
          <p:cNvPr id="18" name="Shape 16"/>
          <p:cNvSpPr/>
          <p:nvPr/>
        </p:nvSpPr>
        <p:spPr>
          <a:xfrm>
            <a:off x="960120" y="4572000"/>
            <a:ext cx="402336" cy="402336"/>
          </a:xfrm>
          <a:prstGeom prst="ellipse">
            <a:avLst/>
          </a:prstGeom>
          <a:solidFill>
            <a:srgbClr val="CF4420"/>
          </a:solidFill>
          <a:ln w="12700">
            <a:solidFill>
              <a:srgbClr val="333333"/>
            </a:solidFill>
            <a:prstDash val="solid"/>
          </a:ln>
        </p:spPr>
      </p:sp>
      <p:sp>
        <p:nvSpPr>
          <p:cNvPr id="19" name="Text 17"/>
          <p:cNvSpPr txBox="1"/>
          <p:nvPr/>
        </p:nvSpPr>
        <p:spPr>
          <a:xfrm>
            <a:off x="960120" y="457200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0" name="Text 18"/>
          <p:cNvSpPr txBox="1"/>
          <p:nvPr/>
        </p:nvSpPr>
        <p:spPr>
          <a:xfrm>
            <a:off x="1554480" y="4416552"/>
            <a:ext cx="7589520" cy="310896"/>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Bring it to the review</a:t>
            </a:r>
            <a:endParaRPr lang="en-US" sz="1600" dirty="0"/>
          </a:p>
        </p:txBody>
      </p:sp>
      <p:sp>
        <p:nvSpPr>
          <p:cNvPr id="21" name="Text 19"/>
          <p:cNvSpPr txBox="1"/>
          <p:nvPr/>
        </p:nvSpPr>
        <p:spPr>
          <a:xfrm>
            <a:off x="1554480" y="4754880"/>
            <a:ext cx="7589520" cy="457200"/>
          </a:xfrm>
          <a:prstGeom prst="rect">
            <a:avLst/>
          </a:prstGeom>
          <a:noFill/>
          <a:ln/>
        </p:spPr>
        <p:txBody>
          <a:bodyPr wrap="square" lIns="0" tIns="0" rIns="0" bIns="0" rtlCol="0" anchor="ctr"/>
          <a:lstStyle/>
          <a:p>
            <a:pPr indent="0" marL="0">
              <a:lnSpc>
                <a:spcPts val="1700"/>
              </a:lnSpc>
              <a:buNone/>
            </a:pPr>
            <a:r>
              <a:rPr lang="en-US" sz="1300" dirty="0">
                <a:solidFill>
                  <a:srgbClr val="E9C9D6"/>
                </a:solidFill>
                <a:latin typeface="Calibri" pitchFamily="34" charset="0"/>
                <a:ea typeface="Calibri" pitchFamily="34" charset="-122"/>
                <a:cs typeface="Calibri" pitchFamily="34" charset="-120"/>
              </a:rPr>
              <a:t>We go through them as a team. Come able to say why your feature is worth building.</a:t>
            </a:r>
            <a:endParaRPr lang="en-US" sz="1300" dirty="0"/>
          </a:p>
        </p:txBody>
      </p:sp>
      <p:sp>
        <p:nvSpPr>
          <p:cNvPr id="22" name="Text 20"/>
          <p:cNvSpPr txBox="1"/>
          <p:nvPr/>
        </p:nvSpPr>
        <p:spPr>
          <a:xfrm>
            <a:off x="640080" y="5715000"/>
            <a:ext cx="8961120" cy="457200"/>
          </a:xfrm>
          <a:prstGeom prst="rect">
            <a:avLst/>
          </a:prstGeom>
          <a:noFill/>
          <a:ln/>
        </p:spPr>
        <p:txBody>
          <a:bodyPr wrap="square" lIns="0" tIns="0" rIns="0" bIns="0" rtlCol="0" anchor="ctr"/>
          <a:lstStyle/>
          <a:p>
            <a:pPr indent="0" marL="0">
              <a:buNone/>
            </a:pPr>
            <a:r>
              <a:rPr lang="en-US" sz="1700" i="1" dirty="0">
                <a:solidFill>
                  <a:srgbClr val="F0D8E2"/>
                </a:solidFill>
                <a:latin typeface="Cambria" pitchFamily="34" charset="0"/>
                <a:ea typeface="Cambria" pitchFamily="34" charset="-122"/>
                <a:cs typeface="Cambria" pitchFamily="34" charset="-120"/>
              </a:rPr>
              <a:t>A story is a promise your team makes to itself about what you are building.</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Trail Crew: first day back</dc:title>
  <dc:subject>PptxGenJS Presentation</dc:subject>
  <dc:creator>Double Blaze</dc:creator>
  <cp:lastModifiedBy>Double Blaze</cp:lastModifiedBy>
  <cp:revision>1</cp:revision>
  <dcterms:created xsi:type="dcterms:W3CDTF">2026-09-08T11:57:16Z</dcterms:created>
  <dcterms:modified xsi:type="dcterms:W3CDTF">2026-09-08T11:57:16Z</dcterms:modified>
</cp:coreProperties>
</file>