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the team, not the audience. Delete it once the rest of the deck is filled in.
The deck is the shape a real development team uses to report to the people who fund them: what problem, for whom, what we are building, where it stands, show it working, what went well, what is in the way, what happens next, what we need. Fifteen slides, eight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your product name, your team, and the one sentence. Then move on. Nobody needs the history of the team on the title slide.
The tagline is the sentence from your product description that says what the app does and for whom. If you cannot say it in one breath, it is too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six lines, with the times. That is all. It tells the audience when the demo is coming and that you have a plan for the time.
If your teacher gives you a different time limit, change the minutes on this slide and keep the same proportions: the demo gets about a third.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problem in your own words, not off the slide. Then say the one sentence on the right.
Management wants to know one thing here: is this a real problem that real people have. If you can name a specific person or a specific morning it happened,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sentence per user: who they are and what they want. Use the words from your plan.
If one user has far more stories than the others, say that out loud and say whether it is on purpose. It usually is not, and noticing it is worth more than hiding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down the rows. Feature, one line, and its stage. Do not explain each feature in detail: the demo does that.
The stage column is the honest part. Prototyped means it exists in the generated prototype. Carded means it has a build card. Designed means the screen is in Figma with named layers. Building means somebody has typed it into Anvil. Done means every box on its card is ticked. No story yet means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management actually came for. Point at the orange box and say what it is. Then read the next thing.
Your gap guide has this exact chain at the top with the same three states. Copy it. If you think the gap guide is wrong, the fix is in your documents, and you can say that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read out. Each one has to be something you could show if somebody asked: the How this was made screen in your prototype, your board, or your gap guide.
The last tile is the one that changes week to week. Cards ticked done is the number management will ask about next time, so start reporting it now, even when it is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Tell them what they are about to see before they see it, so they know what to look for and are not surprised by the part that does not work.
The four steps: start where a new user starts, show the main story, show the bad day on purpose (an empty state, a refused save, a missing story), and end at the exact point where the app stops working. Naming that point yourself is the most professional thing in the whole presentation.
One person drives, one person talks. Rehearse it twice, with a different driver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while you switch windows, so the screen is not a desktop.
If the demo breaks: say so, in one sentence, and go to your backup. Do not debug in front of the audience. A broken demo handled calmly is fine. A broken demo with four people crowded round a laptop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that worked, three things you learned. Short. Give names: the person who wrote the story that made the demo work should be named.
What you learned is the more interesting column. Something you did not know in September, something you would do differently, something about your users. Management trusts a team that can say what it got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row is the one your gap guide names as next. Say that one properly. Say the others in one sentence each.
Every row has a third column. A blocker with nothing in the third column is a complaint. A blocker with a plan and a name in the third column is a status report. Management funds the second kind.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The first is the one your gap guide names. Each has a name and a date. That is what makes it a plan rather than a hope.
By when should be something you will be asked about: this week, before the card session, by the next status update. Not 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gets you something. Three asks at most: time with somebody, a decision, a tool or an account.
For a decision, give the options and say which one you recommend. Management would rather approve a recommendation than invent one. Do not ask for more time in general. Ask for a specific amount for a specific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thank you, and ask for questions. Then stop talking.
If you do not know an answer, say so and say who on the team would know or where you would look. That is a better answer than a guess. Write down every question you are asked: the ones you could not answer are the first slide of the next status update.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HOW TO USE THIS TEMPLATE</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Read this, then delete this slide</a:t>
            </a:r>
            <a:endParaRPr lang="en-US" sz="3400" dirty="0"/>
          </a:p>
        </p:txBody>
      </p:sp>
      <p:sp>
        <p:nvSpPr>
          <p:cNvPr id="4" name="Shape 2"/>
          <p:cNvSpPr/>
          <p:nvPr/>
        </p:nvSpPr>
        <p:spPr>
          <a:xfrm>
            <a:off x="640080" y="1691640"/>
            <a:ext cx="5272888" cy="1389888"/>
          </a:xfrm>
          <a:prstGeom prst="roundRect">
            <a:avLst>
              <a:gd name="adj" fmla="val 592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14400" y="1947672"/>
            <a:ext cx="384048" cy="384048"/>
          </a:xfrm>
          <a:prstGeom prst="ellipse">
            <a:avLst/>
          </a:prstGeom>
          <a:solidFill>
            <a:srgbClr val="CF4420"/>
          </a:solidFill>
          <a:ln w="12700">
            <a:solidFill>
              <a:srgbClr val="333333"/>
            </a:solidFill>
            <a:prstDash val="solid"/>
          </a:ln>
        </p:spPr>
      </p:sp>
      <p:sp>
        <p:nvSpPr>
          <p:cNvPr id="6" name="Text 4"/>
          <p:cNvSpPr txBox="1"/>
          <p:nvPr/>
        </p:nvSpPr>
        <p:spPr>
          <a:xfrm>
            <a:off x="914400" y="19476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463040" y="1892808"/>
            <a:ext cx="4175608" cy="365760"/>
          </a:xfrm>
          <a:prstGeom prst="rect">
            <a:avLst/>
          </a:prstGeom>
          <a:noFill/>
          <a:ln/>
        </p:spPr>
        <p:txBody>
          <a:bodyPr wrap="square" lIns="0" tIns="0" rIns="0" bIns="0" rtlCol="0" anchor="ctr"/>
          <a:lstStyle/>
          <a:p>
            <a:pPr indent="0" marL="0">
              <a:buNone/>
            </a:pPr>
            <a:r>
              <a:rPr lang="en-US" sz="1700" b="1" dirty="0">
                <a:solidFill>
                  <a:srgbClr val="630031"/>
                </a:solidFill>
                <a:latin typeface="Cambria" pitchFamily="34" charset="0"/>
                <a:ea typeface="Cambria" pitchFamily="34" charset="-122"/>
                <a:cs typeface="Cambria" pitchFamily="34" charset="-120"/>
              </a:rPr>
              <a:t>Fill every bracket</a:t>
            </a:r>
            <a:endParaRPr lang="en-US" sz="1700" dirty="0"/>
          </a:p>
        </p:txBody>
      </p:sp>
      <p:sp>
        <p:nvSpPr>
          <p:cNvPr id="8" name="Text 6"/>
          <p:cNvSpPr txBox="1"/>
          <p:nvPr/>
        </p:nvSpPr>
        <p:spPr>
          <a:xfrm>
            <a:off x="1463040" y="2240280"/>
            <a:ext cx="4175608" cy="777240"/>
          </a:xfrm>
          <a:prstGeom prst="rect">
            <a:avLst/>
          </a:prstGeom>
          <a:noFill/>
          <a:ln/>
        </p:spPr>
        <p:txBody>
          <a:bodyPr wrap="square" lIns="0" tIns="0" rIns="0" bIns="0" rtlCol="0" anchor="t"/>
          <a:lstStyle/>
          <a:p>
            <a:pPr indent="0" marL="0">
              <a:lnSpc>
                <a:spcPts val="1500"/>
              </a:lnSpc>
              <a:buNone/>
            </a:pPr>
            <a:r>
              <a:rPr lang="en-US" sz="1150" dirty="0">
                <a:solidFill>
                  <a:srgbClr val="1C1A19"/>
                </a:solidFill>
                <a:latin typeface="Calibri" pitchFamily="34" charset="0"/>
                <a:ea typeface="Calibri" pitchFamily="34" charset="-122"/>
                <a:cs typeface="Calibri" pitchFamily="34" charset="-120"/>
              </a:rPr>
              <a:t>Anything in [square brackets] is a blank. Your product plan, user stories, gap guide and prototype have every answer. Copy from them, do not improve on them.</a:t>
            </a:r>
            <a:endParaRPr lang="en-US" sz="1150" dirty="0"/>
          </a:p>
        </p:txBody>
      </p:sp>
      <p:sp>
        <p:nvSpPr>
          <p:cNvPr id="9" name="Shape 7"/>
          <p:cNvSpPr/>
          <p:nvPr/>
        </p:nvSpPr>
        <p:spPr>
          <a:xfrm>
            <a:off x="6278728" y="1691640"/>
            <a:ext cx="5272888" cy="1389888"/>
          </a:xfrm>
          <a:prstGeom prst="roundRect">
            <a:avLst>
              <a:gd name="adj" fmla="val 592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Shape 8"/>
          <p:cNvSpPr/>
          <p:nvPr/>
        </p:nvSpPr>
        <p:spPr>
          <a:xfrm>
            <a:off x="6553048" y="1947672"/>
            <a:ext cx="384048" cy="384048"/>
          </a:xfrm>
          <a:prstGeom prst="ellipse">
            <a:avLst/>
          </a:prstGeom>
          <a:solidFill>
            <a:srgbClr val="CF4420"/>
          </a:solidFill>
          <a:ln w="12700">
            <a:solidFill>
              <a:srgbClr val="333333"/>
            </a:solidFill>
            <a:prstDash val="solid"/>
          </a:ln>
        </p:spPr>
      </p:sp>
      <p:sp>
        <p:nvSpPr>
          <p:cNvPr id="11" name="Text 9"/>
          <p:cNvSpPr txBox="1"/>
          <p:nvPr/>
        </p:nvSpPr>
        <p:spPr>
          <a:xfrm>
            <a:off x="6553048" y="194767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7101688" y="1892808"/>
            <a:ext cx="4175608" cy="365760"/>
          </a:xfrm>
          <a:prstGeom prst="rect">
            <a:avLst/>
          </a:prstGeom>
          <a:noFill/>
          <a:ln/>
        </p:spPr>
        <p:txBody>
          <a:bodyPr wrap="square" lIns="0" tIns="0" rIns="0" bIns="0" rtlCol="0" anchor="ctr"/>
          <a:lstStyle/>
          <a:p>
            <a:pPr indent="0" marL="0">
              <a:buNone/>
            </a:pPr>
            <a:r>
              <a:rPr lang="en-US" sz="1700" b="1" dirty="0">
                <a:solidFill>
                  <a:srgbClr val="630031"/>
                </a:solidFill>
                <a:latin typeface="Cambria" pitchFamily="34" charset="0"/>
                <a:ea typeface="Cambria" pitchFamily="34" charset="-122"/>
                <a:cs typeface="Cambria" pitchFamily="34" charset="-120"/>
              </a:rPr>
              <a:t>Keep it to eight minutes</a:t>
            </a:r>
            <a:endParaRPr lang="en-US" sz="1700" dirty="0"/>
          </a:p>
        </p:txBody>
      </p:sp>
      <p:sp>
        <p:nvSpPr>
          <p:cNvPr id="13" name="Text 11"/>
          <p:cNvSpPr txBox="1"/>
          <p:nvPr/>
        </p:nvSpPr>
        <p:spPr>
          <a:xfrm>
            <a:off x="7101688" y="2240280"/>
            <a:ext cx="4175608" cy="777240"/>
          </a:xfrm>
          <a:prstGeom prst="rect">
            <a:avLst/>
          </a:prstGeom>
          <a:noFill/>
          <a:ln/>
        </p:spPr>
        <p:txBody>
          <a:bodyPr wrap="square" lIns="0" tIns="0" rIns="0" bIns="0" rtlCol="0" anchor="t"/>
          <a:lstStyle/>
          <a:p>
            <a:pPr indent="0" marL="0">
              <a:lnSpc>
                <a:spcPts val="1500"/>
              </a:lnSpc>
              <a:buNone/>
            </a:pPr>
            <a:r>
              <a:rPr lang="en-US" sz="1150" dirty="0">
                <a:solidFill>
                  <a:srgbClr val="1C1A19"/>
                </a:solidFill>
                <a:latin typeface="Calibri" pitchFamily="34" charset="0"/>
                <a:ea typeface="Calibri" pitchFamily="34" charset="-122"/>
                <a:cs typeface="Calibri" pitchFamily="34" charset="-120"/>
              </a:rPr>
              <a:t>One minute on the problem and users, two on where you are, three on the demo, one on what is in the way and what is next, one for questions. The agenda slide has the times.</a:t>
            </a:r>
            <a:endParaRPr lang="en-US" sz="1150" dirty="0"/>
          </a:p>
        </p:txBody>
      </p:sp>
      <p:sp>
        <p:nvSpPr>
          <p:cNvPr id="14" name="Shape 12"/>
          <p:cNvSpPr/>
          <p:nvPr/>
        </p:nvSpPr>
        <p:spPr>
          <a:xfrm>
            <a:off x="640080" y="3246120"/>
            <a:ext cx="5272888" cy="1389888"/>
          </a:xfrm>
          <a:prstGeom prst="roundRect">
            <a:avLst>
              <a:gd name="adj" fmla="val 592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914400" y="3502152"/>
            <a:ext cx="384048" cy="384048"/>
          </a:xfrm>
          <a:prstGeom prst="ellipse">
            <a:avLst/>
          </a:prstGeom>
          <a:solidFill>
            <a:srgbClr val="CF4420"/>
          </a:solidFill>
          <a:ln w="12700">
            <a:solidFill>
              <a:srgbClr val="333333"/>
            </a:solidFill>
            <a:prstDash val="solid"/>
          </a:ln>
        </p:spPr>
      </p:sp>
      <p:sp>
        <p:nvSpPr>
          <p:cNvPr id="16" name="Text 14"/>
          <p:cNvSpPr txBox="1"/>
          <p:nvPr/>
        </p:nvSpPr>
        <p:spPr>
          <a:xfrm>
            <a:off x="914400" y="35021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463040" y="3447288"/>
            <a:ext cx="4175608" cy="365760"/>
          </a:xfrm>
          <a:prstGeom prst="rect">
            <a:avLst/>
          </a:prstGeom>
          <a:noFill/>
          <a:ln/>
        </p:spPr>
        <p:txBody>
          <a:bodyPr wrap="square" lIns="0" tIns="0" rIns="0" bIns="0" rtlCol="0" anchor="ctr"/>
          <a:lstStyle/>
          <a:p>
            <a:pPr indent="0" marL="0">
              <a:buNone/>
            </a:pPr>
            <a:r>
              <a:rPr lang="en-US" sz="1700" b="1" dirty="0">
                <a:solidFill>
                  <a:srgbClr val="630031"/>
                </a:solidFill>
                <a:latin typeface="Cambria" pitchFamily="34" charset="0"/>
                <a:ea typeface="Cambria" pitchFamily="34" charset="-122"/>
                <a:cs typeface="Cambria" pitchFamily="34" charset="-120"/>
              </a:rPr>
              <a:t>Tell the truth about status</a:t>
            </a:r>
            <a:endParaRPr lang="en-US" sz="1700" dirty="0"/>
          </a:p>
        </p:txBody>
      </p:sp>
      <p:sp>
        <p:nvSpPr>
          <p:cNvPr id="18" name="Text 16"/>
          <p:cNvSpPr txBox="1"/>
          <p:nvPr/>
        </p:nvSpPr>
        <p:spPr>
          <a:xfrm>
            <a:off x="1463040" y="3794760"/>
            <a:ext cx="4175608" cy="777240"/>
          </a:xfrm>
          <a:prstGeom prst="rect">
            <a:avLst/>
          </a:prstGeom>
          <a:noFill/>
          <a:ln/>
        </p:spPr>
        <p:txBody>
          <a:bodyPr wrap="square" lIns="0" tIns="0" rIns="0" bIns="0" rtlCol="0" anchor="t"/>
          <a:lstStyle/>
          <a:p>
            <a:pPr indent="0" marL="0">
              <a:lnSpc>
                <a:spcPts val="1500"/>
              </a:lnSpc>
              <a:buNone/>
            </a:pPr>
            <a:r>
              <a:rPr lang="en-US" sz="1150" dirty="0">
                <a:solidFill>
                  <a:srgbClr val="1C1A19"/>
                </a:solidFill>
                <a:latin typeface="Calibri" pitchFamily="34" charset="0"/>
                <a:ea typeface="Calibri" pitchFamily="34" charset="-122"/>
                <a:cs typeface="Calibri" pitchFamily="34" charset="-120"/>
              </a:rPr>
              <a:t>Management can cope with a red row. They cannot cope with a green row that turns out to be red. If your gap guide says not yet, your slide says not yet.</a:t>
            </a:r>
            <a:endParaRPr lang="en-US" sz="1150" dirty="0"/>
          </a:p>
        </p:txBody>
      </p:sp>
      <p:sp>
        <p:nvSpPr>
          <p:cNvPr id="19" name="Shape 17"/>
          <p:cNvSpPr/>
          <p:nvPr/>
        </p:nvSpPr>
        <p:spPr>
          <a:xfrm>
            <a:off x="6278728" y="3246120"/>
            <a:ext cx="5272888" cy="1389888"/>
          </a:xfrm>
          <a:prstGeom prst="roundRect">
            <a:avLst>
              <a:gd name="adj" fmla="val 592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Shape 18"/>
          <p:cNvSpPr/>
          <p:nvPr/>
        </p:nvSpPr>
        <p:spPr>
          <a:xfrm>
            <a:off x="6553048" y="3502152"/>
            <a:ext cx="384048" cy="384048"/>
          </a:xfrm>
          <a:prstGeom prst="ellipse">
            <a:avLst/>
          </a:prstGeom>
          <a:solidFill>
            <a:srgbClr val="CF4420"/>
          </a:solidFill>
          <a:ln w="12700">
            <a:solidFill>
              <a:srgbClr val="333333"/>
            </a:solidFill>
            <a:prstDash val="solid"/>
          </a:ln>
        </p:spPr>
      </p:sp>
      <p:sp>
        <p:nvSpPr>
          <p:cNvPr id="21" name="Text 19"/>
          <p:cNvSpPr txBox="1"/>
          <p:nvPr/>
        </p:nvSpPr>
        <p:spPr>
          <a:xfrm>
            <a:off x="6553048" y="350215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7101688" y="3447288"/>
            <a:ext cx="4175608" cy="365760"/>
          </a:xfrm>
          <a:prstGeom prst="rect">
            <a:avLst/>
          </a:prstGeom>
          <a:noFill/>
          <a:ln/>
        </p:spPr>
        <p:txBody>
          <a:bodyPr wrap="square" lIns="0" tIns="0" rIns="0" bIns="0" rtlCol="0" anchor="ctr"/>
          <a:lstStyle/>
          <a:p>
            <a:pPr indent="0" marL="0">
              <a:buNone/>
            </a:pPr>
            <a:r>
              <a:rPr lang="en-US" sz="1700" b="1" dirty="0">
                <a:solidFill>
                  <a:srgbClr val="630031"/>
                </a:solidFill>
                <a:latin typeface="Cambria" pitchFamily="34" charset="0"/>
                <a:ea typeface="Cambria" pitchFamily="34" charset="-122"/>
                <a:cs typeface="Cambria" pitchFamily="34" charset="-120"/>
              </a:rPr>
              <a:t>Rehearse the demo twice</a:t>
            </a:r>
            <a:endParaRPr lang="en-US" sz="1700" dirty="0"/>
          </a:p>
        </p:txBody>
      </p:sp>
      <p:sp>
        <p:nvSpPr>
          <p:cNvPr id="23" name="Text 21"/>
          <p:cNvSpPr txBox="1"/>
          <p:nvPr/>
        </p:nvSpPr>
        <p:spPr>
          <a:xfrm>
            <a:off x="7101688" y="3794760"/>
            <a:ext cx="4175608" cy="777240"/>
          </a:xfrm>
          <a:prstGeom prst="rect">
            <a:avLst/>
          </a:prstGeom>
          <a:noFill/>
          <a:ln/>
        </p:spPr>
        <p:txBody>
          <a:bodyPr wrap="square" lIns="0" tIns="0" rIns="0" bIns="0" rtlCol="0" anchor="t"/>
          <a:lstStyle/>
          <a:p>
            <a:pPr indent="0" marL="0">
              <a:lnSpc>
                <a:spcPts val="1500"/>
              </a:lnSpc>
              <a:buNone/>
            </a:pPr>
            <a:r>
              <a:rPr lang="en-US" sz="1150" dirty="0">
                <a:solidFill>
                  <a:srgbClr val="1C1A19"/>
                </a:solidFill>
                <a:latin typeface="Calibri" pitchFamily="34" charset="0"/>
                <a:ea typeface="Calibri" pitchFamily="34" charset="-122"/>
                <a:cs typeface="Calibri" pitchFamily="34" charset="-120"/>
              </a:rPr>
              <a:t>Once with the person driving, once with somebody else driving. Decide who talks and who taps. Have a backup that needs no internet.</a:t>
            </a:r>
            <a:endParaRPr lang="en-US" sz="1150" dirty="0"/>
          </a:p>
        </p:txBody>
      </p:sp>
      <p:sp>
        <p:nvSpPr>
          <p:cNvPr id="24" name="Shape 22"/>
          <p:cNvSpPr/>
          <p:nvPr/>
        </p:nvSpPr>
        <p:spPr>
          <a:xfrm>
            <a:off x="640080" y="4800600"/>
            <a:ext cx="5272888" cy="1389888"/>
          </a:xfrm>
          <a:prstGeom prst="roundRect">
            <a:avLst>
              <a:gd name="adj" fmla="val 592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5" name="Shape 23"/>
          <p:cNvSpPr/>
          <p:nvPr/>
        </p:nvSpPr>
        <p:spPr>
          <a:xfrm>
            <a:off x="914400" y="5056632"/>
            <a:ext cx="384048" cy="384048"/>
          </a:xfrm>
          <a:prstGeom prst="ellipse">
            <a:avLst/>
          </a:prstGeom>
          <a:solidFill>
            <a:srgbClr val="CF4420"/>
          </a:solidFill>
          <a:ln w="12700">
            <a:solidFill>
              <a:srgbClr val="333333"/>
            </a:solidFill>
            <a:prstDash val="solid"/>
          </a:ln>
        </p:spPr>
      </p:sp>
      <p:sp>
        <p:nvSpPr>
          <p:cNvPr id="26" name="Text 24"/>
          <p:cNvSpPr txBox="1"/>
          <p:nvPr/>
        </p:nvSpPr>
        <p:spPr>
          <a:xfrm>
            <a:off x="914400" y="50566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1463040" y="5001768"/>
            <a:ext cx="4175608" cy="365760"/>
          </a:xfrm>
          <a:prstGeom prst="rect">
            <a:avLst/>
          </a:prstGeom>
          <a:noFill/>
          <a:ln/>
        </p:spPr>
        <p:txBody>
          <a:bodyPr wrap="square" lIns="0" tIns="0" rIns="0" bIns="0" rtlCol="0" anchor="ctr"/>
          <a:lstStyle/>
          <a:p>
            <a:pPr indent="0" marL="0">
              <a:buNone/>
            </a:pPr>
            <a:r>
              <a:rPr lang="en-US" sz="1700" b="1" dirty="0">
                <a:solidFill>
                  <a:srgbClr val="630031"/>
                </a:solidFill>
                <a:latin typeface="Cambria" pitchFamily="34" charset="0"/>
                <a:ea typeface="Cambria" pitchFamily="34" charset="-122"/>
                <a:cs typeface="Cambria" pitchFamily="34" charset="-120"/>
              </a:rPr>
              <a:t>Everybody speaks</a:t>
            </a:r>
            <a:endParaRPr lang="en-US" sz="1700" dirty="0"/>
          </a:p>
        </p:txBody>
      </p:sp>
      <p:sp>
        <p:nvSpPr>
          <p:cNvPr id="28" name="Text 26"/>
          <p:cNvSpPr txBox="1"/>
          <p:nvPr/>
        </p:nvSpPr>
        <p:spPr>
          <a:xfrm>
            <a:off x="1463040" y="5349240"/>
            <a:ext cx="4175608" cy="777240"/>
          </a:xfrm>
          <a:prstGeom prst="rect">
            <a:avLst/>
          </a:prstGeom>
          <a:noFill/>
          <a:ln/>
        </p:spPr>
        <p:txBody>
          <a:bodyPr wrap="square" lIns="0" tIns="0" rIns="0" bIns="0" rtlCol="0" anchor="t"/>
          <a:lstStyle/>
          <a:p>
            <a:pPr indent="0" marL="0">
              <a:lnSpc>
                <a:spcPts val="1500"/>
              </a:lnSpc>
              <a:buNone/>
            </a:pPr>
            <a:r>
              <a:rPr lang="en-US" sz="1150" dirty="0">
                <a:solidFill>
                  <a:srgbClr val="1C1A19"/>
                </a:solidFill>
                <a:latin typeface="Calibri" pitchFamily="34" charset="0"/>
                <a:ea typeface="Calibri" pitchFamily="34" charset="-122"/>
                <a:cs typeface="Calibri" pitchFamily="34" charset="-120"/>
              </a:rPr>
              <a:t>Split the slides between the whole team. The person who wrote a story presents its screen.</a:t>
            </a:r>
            <a:endParaRPr lang="en-US" sz="1150" dirty="0"/>
          </a:p>
        </p:txBody>
      </p:sp>
      <p:sp>
        <p:nvSpPr>
          <p:cNvPr id="29" name="Shape 27"/>
          <p:cNvSpPr/>
          <p:nvPr/>
        </p:nvSpPr>
        <p:spPr>
          <a:xfrm>
            <a:off x="6278728" y="4800600"/>
            <a:ext cx="5272888" cy="1389888"/>
          </a:xfrm>
          <a:prstGeom prst="roundRect">
            <a:avLst>
              <a:gd name="adj" fmla="val 592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30" name="Shape 28"/>
          <p:cNvSpPr/>
          <p:nvPr/>
        </p:nvSpPr>
        <p:spPr>
          <a:xfrm>
            <a:off x="6553048" y="5056632"/>
            <a:ext cx="384048" cy="384048"/>
          </a:xfrm>
          <a:prstGeom prst="ellipse">
            <a:avLst/>
          </a:prstGeom>
          <a:solidFill>
            <a:srgbClr val="CF4420"/>
          </a:solidFill>
          <a:ln w="12700">
            <a:solidFill>
              <a:srgbClr val="333333"/>
            </a:solidFill>
            <a:prstDash val="solid"/>
          </a:ln>
        </p:spPr>
      </p:sp>
      <p:sp>
        <p:nvSpPr>
          <p:cNvPr id="31" name="Text 29"/>
          <p:cNvSpPr txBox="1"/>
          <p:nvPr/>
        </p:nvSpPr>
        <p:spPr>
          <a:xfrm>
            <a:off x="6553048" y="5056632"/>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txBox="1"/>
          <p:nvPr/>
        </p:nvSpPr>
        <p:spPr>
          <a:xfrm>
            <a:off x="7101688" y="5001768"/>
            <a:ext cx="4175608" cy="365760"/>
          </a:xfrm>
          <a:prstGeom prst="rect">
            <a:avLst/>
          </a:prstGeom>
          <a:noFill/>
          <a:ln/>
        </p:spPr>
        <p:txBody>
          <a:bodyPr wrap="square" lIns="0" tIns="0" rIns="0" bIns="0" rtlCol="0" anchor="ctr"/>
          <a:lstStyle/>
          <a:p>
            <a:pPr indent="0" marL="0">
              <a:buNone/>
            </a:pPr>
            <a:r>
              <a:rPr lang="en-US" sz="1700" b="1" dirty="0">
                <a:solidFill>
                  <a:srgbClr val="630031"/>
                </a:solidFill>
                <a:latin typeface="Cambria" pitchFamily="34" charset="0"/>
                <a:ea typeface="Cambria" pitchFamily="34" charset="-122"/>
                <a:cs typeface="Cambria" pitchFamily="34" charset="-120"/>
              </a:rPr>
              <a:t>Use the notes</a:t>
            </a:r>
            <a:endParaRPr lang="en-US" sz="1700" dirty="0"/>
          </a:p>
        </p:txBody>
      </p:sp>
      <p:sp>
        <p:nvSpPr>
          <p:cNvPr id="33" name="Text 31"/>
          <p:cNvSpPr txBox="1"/>
          <p:nvPr/>
        </p:nvSpPr>
        <p:spPr>
          <a:xfrm>
            <a:off x="7101688" y="5349240"/>
            <a:ext cx="4175608" cy="777240"/>
          </a:xfrm>
          <a:prstGeom prst="rect">
            <a:avLst/>
          </a:prstGeom>
          <a:noFill/>
          <a:ln/>
        </p:spPr>
        <p:txBody>
          <a:bodyPr wrap="square" lIns="0" tIns="0" rIns="0" bIns="0" rtlCol="0" anchor="t"/>
          <a:lstStyle/>
          <a:p>
            <a:pPr indent="0" marL="0">
              <a:lnSpc>
                <a:spcPts val="1500"/>
              </a:lnSpc>
              <a:buNone/>
            </a:pPr>
            <a:r>
              <a:rPr lang="en-US" sz="1150" dirty="0">
                <a:solidFill>
                  <a:srgbClr val="1C1A19"/>
                </a:solidFill>
                <a:latin typeface="Calibri" pitchFamily="34" charset="0"/>
                <a:ea typeface="Calibri" pitchFamily="34" charset="-122"/>
                <a:cs typeface="Calibri" pitchFamily="34" charset="-120"/>
              </a:rPr>
              <a:t>Every slide has speaker notes written to you. They say what to say and what to leave out. Read them before you present, then delete them.</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4A0025"/>
          </a:solidFill>
          <a:ln w="12700">
            <a:solidFill>
              <a:srgbClr val="333333"/>
            </a:solidFill>
            <a:prstDash val="solid"/>
          </a:ln>
        </p:spPr>
      </p:sp>
      <p:sp>
        <p:nvSpPr>
          <p:cNvPr id="3" name="Shape 1"/>
          <p:cNvSpPr/>
          <p:nvPr/>
        </p:nvSpPr>
        <p:spPr>
          <a:xfrm>
            <a:off x="10424160" y="3931920"/>
            <a:ext cx="3108960" cy="3108960"/>
          </a:xfrm>
          <a:prstGeom prst="ellipse">
            <a:avLst/>
          </a:prstGeom>
          <a:solidFill>
            <a:srgbClr val="CF4420"/>
          </a:solidFill>
          <a:ln w="12700">
            <a:solidFill>
              <a:srgbClr val="333333"/>
            </a:solidFill>
            <a:prstDash val="solid"/>
          </a:ln>
        </p:spPr>
      </p:sp>
      <p:sp>
        <p:nvSpPr>
          <p:cNvPr id="4" name="Text 2"/>
          <p:cNvSpPr txBox="1"/>
          <p:nvPr/>
        </p:nvSpPr>
        <p:spPr>
          <a:xfrm>
            <a:off x="640080" y="1554480"/>
            <a:ext cx="768096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TRAIL CREW  ·  PROJECT STATUS</a:t>
            </a:r>
            <a:endParaRPr lang="en-US" sz="1300" dirty="0"/>
          </a:p>
        </p:txBody>
      </p:sp>
      <p:sp>
        <p:nvSpPr>
          <p:cNvPr id="5" name="Text 3"/>
          <p:cNvSpPr txBox="1"/>
          <p:nvPr/>
        </p:nvSpPr>
        <p:spPr>
          <a:xfrm>
            <a:off x="640080" y="1920240"/>
            <a:ext cx="8046720" cy="12801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[Product name]</a:t>
            </a:r>
            <a:endParaRPr lang="en-US" sz="5400" dirty="0"/>
          </a:p>
        </p:txBody>
      </p:sp>
      <p:sp>
        <p:nvSpPr>
          <p:cNvPr id="6" name="Text 4"/>
          <p:cNvSpPr txBox="1"/>
          <p:nvPr/>
        </p:nvSpPr>
        <p:spPr>
          <a:xfrm>
            <a:off x="640080" y="3246120"/>
            <a:ext cx="7498080" cy="1005840"/>
          </a:xfrm>
          <a:prstGeom prst="rect">
            <a:avLst/>
          </a:prstGeom>
          <a:noFill/>
          <a:ln/>
        </p:spPr>
        <p:txBody>
          <a:bodyPr wrap="square" lIns="0" tIns="0" rIns="0" bIns="0" rtlCol="0" anchor="t"/>
          <a:lstStyle/>
          <a:p>
            <a:pPr indent="0" marL="0">
              <a:lnSpc>
                <a:spcPts val="2500"/>
              </a:lnSpc>
              <a:buNone/>
            </a:pPr>
            <a:r>
              <a:rPr lang="en-US" sz="1700" dirty="0">
                <a:solidFill>
                  <a:srgbClr val="EBD9E1"/>
                </a:solidFill>
                <a:latin typeface="Calibri" pitchFamily="34" charset="0"/>
                <a:ea typeface="Calibri" pitchFamily="34" charset="-122"/>
                <a:cs typeface="Calibri" pitchFamily="34" charset="-120"/>
              </a:rPr>
              <a:t>[One sentence: what your app does and for whom.]</a:t>
            </a:r>
            <a:endParaRPr lang="en-US" sz="1700" dirty="0"/>
          </a:p>
        </p:txBody>
      </p:sp>
      <p:sp>
        <p:nvSpPr>
          <p:cNvPr id="7" name="Text 5"/>
          <p:cNvSpPr txBox="1"/>
          <p:nvPr/>
        </p:nvSpPr>
        <p:spPr>
          <a:xfrm>
            <a:off x="640080" y="4572000"/>
            <a:ext cx="768096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[Team name]  ·  [Period]  ·  [Date of the presentation]</a:t>
            </a:r>
            <a:endParaRPr lang="en-US" sz="1400" dirty="0"/>
          </a:p>
        </p:txBody>
      </p:sp>
      <p:sp>
        <p:nvSpPr>
          <p:cNvPr id="8" name="Text 6"/>
          <p:cNvSpPr txBox="1"/>
          <p:nvPr/>
        </p:nvSpPr>
        <p:spPr>
          <a:xfrm>
            <a:off x="640080" y="4983480"/>
            <a:ext cx="7680960" cy="365760"/>
          </a:xfrm>
          <a:prstGeom prst="rect">
            <a:avLst/>
          </a:prstGeom>
          <a:noFill/>
          <a:ln/>
        </p:spPr>
        <p:txBody>
          <a:bodyPr wrap="square" lIns="0" tIns="0" rIns="0" bIns="0" rtlCol="0" anchor="ctr"/>
          <a:lstStyle/>
          <a:p>
            <a:pPr indent="0" marL="0">
              <a:buNone/>
            </a:pPr>
            <a:r>
              <a:rPr lang="en-US" sz="1250" dirty="0">
                <a:solidFill>
                  <a:srgbClr val="E9C9D6"/>
                </a:solidFill>
                <a:latin typeface="Calibri" pitchFamily="34" charset="0"/>
                <a:ea typeface="Calibri" pitchFamily="34" charset="-122"/>
                <a:cs typeface="Calibri" pitchFamily="34" charset="-120"/>
              </a:rPr>
              <a:t>Status update for management. About eight minutes, with a demo.</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EIGHT MINUTES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we will cover</a:t>
            </a:r>
            <a:endParaRPr lang="en-US" sz="3400" dirty="0"/>
          </a:p>
        </p:txBody>
      </p:sp>
      <p:sp>
        <p:nvSpPr>
          <p:cNvPr id="4" name="Shape 2"/>
          <p:cNvSpPr/>
          <p:nvPr/>
        </p:nvSpPr>
        <p:spPr>
          <a:xfrm>
            <a:off x="640080" y="1783080"/>
            <a:ext cx="5272888" cy="868680"/>
          </a:xfrm>
          <a:prstGeom prst="roundRect">
            <a:avLst>
              <a:gd name="adj" fmla="val 9474"/>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896112" y="2007108"/>
            <a:ext cx="420624" cy="420624"/>
          </a:xfrm>
          <a:prstGeom prst="ellipse">
            <a:avLst/>
          </a:prstGeom>
          <a:solidFill>
            <a:srgbClr val="CF4420"/>
          </a:solidFill>
          <a:ln w="12700">
            <a:solidFill>
              <a:srgbClr val="333333"/>
            </a:solidFill>
            <a:prstDash val="solid"/>
          </a:ln>
        </p:spPr>
      </p:sp>
      <p:sp>
        <p:nvSpPr>
          <p:cNvPr id="6" name="Text 4"/>
          <p:cNvSpPr txBox="1"/>
          <p:nvPr/>
        </p:nvSpPr>
        <p:spPr>
          <a:xfrm>
            <a:off x="896112" y="20071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508760" y="1783080"/>
            <a:ext cx="3261208" cy="868680"/>
          </a:xfrm>
          <a:prstGeom prst="rect">
            <a:avLst/>
          </a:prstGeom>
          <a:noFill/>
          <a:ln/>
        </p:spPr>
        <p:txBody>
          <a:bodyPr wrap="square" lIns="0" tIns="0" rIns="0" bIns="0" rtlCol="0" anchor="ctr"/>
          <a:lstStyle/>
          <a:p>
            <a:pPr indent="0" marL="0">
              <a:buNone/>
            </a:pPr>
            <a:r>
              <a:rPr lang="en-US" sz="1550" b="1" dirty="0">
                <a:solidFill>
                  <a:srgbClr val="1C1A19"/>
                </a:solidFill>
                <a:latin typeface="Calibri" pitchFamily="34" charset="0"/>
                <a:ea typeface="Calibri" pitchFamily="34" charset="-122"/>
                <a:cs typeface="Calibri" pitchFamily="34" charset="-120"/>
              </a:rPr>
              <a:t>The problem, and who has it</a:t>
            </a:r>
            <a:endParaRPr lang="en-US" sz="1550" dirty="0"/>
          </a:p>
        </p:txBody>
      </p:sp>
      <p:sp>
        <p:nvSpPr>
          <p:cNvPr id="8" name="Text 6"/>
          <p:cNvSpPr txBox="1"/>
          <p:nvPr/>
        </p:nvSpPr>
        <p:spPr>
          <a:xfrm>
            <a:off x="4815688" y="1783080"/>
            <a:ext cx="868680" cy="868680"/>
          </a:xfrm>
          <a:prstGeom prst="rect">
            <a:avLst/>
          </a:prstGeom>
          <a:noFill/>
          <a:ln/>
        </p:spPr>
        <p:txBody>
          <a:bodyPr wrap="square" lIns="0" tIns="0" rIns="0" bIns="0" rtlCol="0" anchor="ctr"/>
          <a:lstStyle/>
          <a:p>
            <a:pPr algn="r" indent="0" marL="0">
              <a:buNone/>
            </a:pPr>
            <a:r>
              <a:rPr lang="en-US" sz="1500" b="1" dirty="0">
                <a:solidFill>
                  <a:srgbClr val="CF4420"/>
                </a:solidFill>
                <a:latin typeface="Cambria" pitchFamily="34" charset="0"/>
                <a:ea typeface="Cambria" pitchFamily="34" charset="-122"/>
                <a:cs typeface="Cambria" pitchFamily="34" charset="-120"/>
              </a:rPr>
              <a:t>1 min</a:t>
            </a:r>
            <a:endParaRPr lang="en-US" sz="1500" dirty="0"/>
          </a:p>
        </p:txBody>
      </p:sp>
      <p:sp>
        <p:nvSpPr>
          <p:cNvPr id="9" name="Shape 7"/>
          <p:cNvSpPr/>
          <p:nvPr/>
        </p:nvSpPr>
        <p:spPr>
          <a:xfrm>
            <a:off x="6278728" y="1783080"/>
            <a:ext cx="5272888" cy="868680"/>
          </a:xfrm>
          <a:prstGeom prst="roundRect">
            <a:avLst>
              <a:gd name="adj" fmla="val 9474"/>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Shape 8"/>
          <p:cNvSpPr/>
          <p:nvPr/>
        </p:nvSpPr>
        <p:spPr>
          <a:xfrm>
            <a:off x="6534760" y="2007108"/>
            <a:ext cx="420624" cy="420624"/>
          </a:xfrm>
          <a:prstGeom prst="ellipse">
            <a:avLst/>
          </a:prstGeom>
          <a:solidFill>
            <a:srgbClr val="CF4420"/>
          </a:solidFill>
          <a:ln w="12700">
            <a:solidFill>
              <a:srgbClr val="333333"/>
            </a:solidFill>
            <a:prstDash val="solid"/>
          </a:ln>
        </p:spPr>
      </p:sp>
      <p:sp>
        <p:nvSpPr>
          <p:cNvPr id="11" name="Text 9"/>
          <p:cNvSpPr txBox="1"/>
          <p:nvPr/>
        </p:nvSpPr>
        <p:spPr>
          <a:xfrm>
            <a:off x="6534760" y="20071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7147408" y="1783080"/>
            <a:ext cx="3261208" cy="868680"/>
          </a:xfrm>
          <a:prstGeom prst="rect">
            <a:avLst/>
          </a:prstGeom>
          <a:noFill/>
          <a:ln/>
        </p:spPr>
        <p:txBody>
          <a:bodyPr wrap="square" lIns="0" tIns="0" rIns="0" bIns="0" rtlCol="0" anchor="ctr"/>
          <a:lstStyle/>
          <a:p>
            <a:pPr indent="0" marL="0">
              <a:buNone/>
            </a:pPr>
            <a:r>
              <a:rPr lang="en-US" sz="1550" b="1" dirty="0">
                <a:solidFill>
                  <a:srgbClr val="1C1A19"/>
                </a:solidFill>
                <a:latin typeface="Calibri" pitchFamily="34" charset="0"/>
                <a:ea typeface="Calibri" pitchFamily="34" charset="-122"/>
                <a:cs typeface="Calibri" pitchFamily="34" charset="-120"/>
              </a:rPr>
              <a:t>What we are building, and where it stands</a:t>
            </a:r>
            <a:endParaRPr lang="en-US" sz="1550" dirty="0"/>
          </a:p>
        </p:txBody>
      </p:sp>
      <p:sp>
        <p:nvSpPr>
          <p:cNvPr id="13" name="Text 11"/>
          <p:cNvSpPr txBox="1"/>
          <p:nvPr/>
        </p:nvSpPr>
        <p:spPr>
          <a:xfrm>
            <a:off x="10454335" y="1783080"/>
            <a:ext cx="868680" cy="868680"/>
          </a:xfrm>
          <a:prstGeom prst="rect">
            <a:avLst/>
          </a:prstGeom>
          <a:noFill/>
          <a:ln/>
        </p:spPr>
        <p:txBody>
          <a:bodyPr wrap="square" lIns="0" tIns="0" rIns="0" bIns="0" rtlCol="0" anchor="ctr"/>
          <a:lstStyle/>
          <a:p>
            <a:pPr algn="r" indent="0" marL="0">
              <a:buNone/>
            </a:pPr>
            <a:r>
              <a:rPr lang="en-US" sz="1500" b="1" dirty="0">
                <a:solidFill>
                  <a:srgbClr val="CF4420"/>
                </a:solidFill>
                <a:latin typeface="Cambria" pitchFamily="34" charset="0"/>
                <a:ea typeface="Cambria" pitchFamily="34" charset="-122"/>
                <a:cs typeface="Cambria" pitchFamily="34" charset="-120"/>
              </a:rPr>
              <a:t>2 min</a:t>
            </a:r>
            <a:endParaRPr lang="en-US" sz="1500" dirty="0"/>
          </a:p>
        </p:txBody>
      </p:sp>
      <p:sp>
        <p:nvSpPr>
          <p:cNvPr id="14" name="Shape 12"/>
          <p:cNvSpPr/>
          <p:nvPr/>
        </p:nvSpPr>
        <p:spPr>
          <a:xfrm>
            <a:off x="640080" y="2834640"/>
            <a:ext cx="5272888" cy="868680"/>
          </a:xfrm>
          <a:prstGeom prst="roundRect">
            <a:avLst>
              <a:gd name="adj" fmla="val 9474"/>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896112" y="3058668"/>
            <a:ext cx="420624" cy="420624"/>
          </a:xfrm>
          <a:prstGeom prst="ellipse">
            <a:avLst/>
          </a:prstGeom>
          <a:solidFill>
            <a:srgbClr val="CF4420"/>
          </a:solidFill>
          <a:ln w="12700">
            <a:solidFill>
              <a:srgbClr val="333333"/>
            </a:solidFill>
            <a:prstDash val="solid"/>
          </a:ln>
        </p:spPr>
      </p:sp>
      <p:sp>
        <p:nvSpPr>
          <p:cNvPr id="16" name="Text 14"/>
          <p:cNvSpPr txBox="1"/>
          <p:nvPr/>
        </p:nvSpPr>
        <p:spPr>
          <a:xfrm>
            <a:off x="896112" y="30586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508760" y="2834640"/>
            <a:ext cx="3261208" cy="868680"/>
          </a:xfrm>
          <a:prstGeom prst="rect">
            <a:avLst/>
          </a:prstGeom>
          <a:noFill/>
          <a:ln/>
        </p:spPr>
        <p:txBody>
          <a:bodyPr wrap="square" lIns="0" tIns="0" rIns="0" bIns="0" rtlCol="0" anchor="ctr"/>
          <a:lstStyle/>
          <a:p>
            <a:pPr indent="0" marL="0">
              <a:buNone/>
            </a:pPr>
            <a:r>
              <a:rPr lang="en-US" sz="1550" b="1" dirty="0">
                <a:solidFill>
                  <a:srgbClr val="1C1A19"/>
                </a:solidFill>
                <a:latin typeface="Calibri" pitchFamily="34" charset="0"/>
                <a:ea typeface="Calibri" pitchFamily="34" charset="-122"/>
                <a:cs typeface="Calibri" pitchFamily="34" charset="-120"/>
              </a:rPr>
              <a:t>Demo</a:t>
            </a:r>
            <a:endParaRPr lang="en-US" sz="1550" dirty="0"/>
          </a:p>
        </p:txBody>
      </p:sp>
      <p:sp>
        <p:nvSpPr>
          <p:cNvPr id="18" name="Text 16"/>
          <p:cNvSpPr txBox="1"/>
          <p:nvPr/>
        </p:nvSpPr>
        <p:spPr>
          <a:xfrm>
            <a:off x="4815688" y="2834640"/>
            <a:ext cx="868680" cy="868680"/>
          </a:xfrm>
          <a:prstGeom prst="rect">
            <a:avLst/>
          </a:prstGeom>
          <a:noFill/>
          <a:ln/>
        </p:spPr>
        <p:txBody>
          <a:bodyPr wrap="square" lIns="0" tIns="0" rIns="0" bIns="0" rtlCol="0" anchor="ctr"/>
          <a:lstStyle/>
          <a:p>
            <a:pPr algn="r" indent="0" marL="0">
              <a:buNone/>
            </a:pPr>
            <a:r>
              <a:rPr lang="en-US" sz="1500" b="1" dirty="0">
                <a:solidFill>
                  <a:srgbClr val="CF4420"/>
                </a:solidFill>
                <a:latin typeface="Cambria" pitchFamily="34" charset="0"/>
                <a:ea typeface="Cambria" pitchFamily="34" charset="-122"/>
                <a:cs typeface="Cambria" pitchFamily="34" charset="-120"/>
              </a:rPr>
              <a:t>3 min</a:t>
            </a:r>
            <a:endParaRPr lang="en-US" sz="1500" dirty="0"/>
          </a:p>
        </p:txBody>
      </p:sp>
      <p:sp>
        <p:nvSpPr>
          <p:cNvPr id="19" name="Shape 17"/>
          <p:cNvSpPr/>
          <p:nvPr/>
        </p:nvSpPr>
        <p:spPr>
          <a:xfrm>
            <a:off x="6278728" y="2834640"/>
            <a:ext cx="5272888" cy="868680"/>
          </a:xfrm>
          <a:prstGeom prst="roundRect">
            <a:avLst>
              <a:gd name="adj" fmla="val 9474"/>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Shape 18"/>
          <p:cNvSpPr/>
          <p:nvPr/>
        </p:nvSpPr>
        <p:spPr>
          <a:xfrm>
            <a:off x="6534760" y="3058668"/>
            <a:ext cx="420624" cy="420624"/>
          </a:xfrm>
          <a:prstGeom prst="ellipse">
            <a:avLst/>
          </a:prstGeom>
          <a:solidFill>
            <a:srgbClr val="CF4420"/>
          </a:solidFill>
          <a:ln w="12700">
            <a:solidFill>
              <a:srgbClr val="333333"/>
            </a:solidFill>
            <a:prstDash val="solid"/>
          </a:ln>
        </p:spPr>
      </p:sp>
      <p:sp>
        <p:nvSpPr>
          <p:cNvPr id="21" name="Text 19"/>
          <p:cNvSpPr txBox="1"/>
          <p:nvPr/>
        </p:nvSpPr>
        <p:spPr>
          <a:xfrm>
            <a:off x="6534760" y="30586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7147408" y="2834640"/>
            <a:ext cx="3261208" cy="868680"/>
          </a:xfrm>
          <a:prstGeom prst="rect">
            <a:avLst/>
          </a:prstGeom>
          <a:noFill/>
          <a:ln/>
        </p:spPr>
        <p:txBody>
          <a:bodyPr wrap="square" lIns="0" tIns="0" rIns="0" bIns="0" rtlCol="0" anchor="ctr"/>
          <a:lstStyle/>
          <a:p>
            <a:pPr indent="0" marL="0">
              <a:buNone/>
            </a:pPr>
            <a:r>
              <a:rPr lang="en-US" sz="1550" b="1" dirty="0">
                <a:solidFill>
                  <a:srgbClr val="1C1A19"/>
                </a:solidFill>
                <a:latin typeface="Calibri" pitchFamily="34" charset="0"/>
                <a:ea typeface="Calibri" pitchFamily="34" charset="-122"/>
                <a:cs typeface="Calibri" pitchFamily="34" charset="-120"/>
              </a:rPr>
              <a:t>What went well, what we learned</a:t>
            </a:r>
            <a:endParaRPr lang="en-US" sz="1550" dirty="0"/>
          </a:p>
        </p:txBody>
      </p:sp>
      <p:sp>
        <p:nvSpPr>
          <p:cNvPr id="23" name="Text 21"/>
          <p:cNvSpPr txBox="1"/>
          <p:nvPr/>
        </p:nvSpPr>
        <p:spPr>
          <a:xfrm>
            <a:off x="10454335" y="2834640"/>
            <a:ext cx="868680" cy="868680"/>
          </a:xfrm>
          <a:prstGeom prst="rect">
            <a:avLst/>
          </a:prstGeom>
          <a:noFill/>
          <a:ln/>
        </p:spPr>
        <p:txBody>
          <a:bodyPr wrap="square" lIns="0" tIns="0" rIns="0" bIns="0" rtlCol="0" anchor="ctr"/>
          <a:lstStyle/>
          <a:p>
            <a:pPr algn="r" indent="0" marL="0">
              <a:buNone/>
            </a:pPr>
            <a:r>
              <a:rPr lang="en-US" sz="1500" b="1" dirty="0">
                <a:solidFill>
                  <a:srgbClr val="CF4420"/>
                </a:solidFill>
                <a:latin typeface="Cambria" pitchFamily="34" charset="0"/>
                <a:ea typeface="Cambria" pitchFamily="34" charset="-122"/>
                <a:cs typeface="Cambria" pitchFamily="34" charset="-120"/>
              </a:rPr>
              <a:t>1 min</a:t>
            </a:r>
            <a:endParaRPr lang="en-US" sz="1500" dirty="0"/>
          </a:p>
        </p:txBody>
      </p:sp>
      <p:sp>
        <p:nvSpPr>
          <p:cNvPr id="24" name="Shape 22"/>
          <p:cNvSpPr/>
          <p:nvPr/>
        </p:nvSpPr>
        <p:spPr>
          <a:xfrm>
            <a:off x="640080" y="3886200"/>
            <a:ext cx="5272888" cy="868680"/>
          </a:xfrm>
          <a:prstGeom prst="roundRect">
            <a:avLst>
              <a:gd name="adj" fmla="val 9474"/>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5" name="Shape 23"/>
          <p:cNvSpPr/>
          <p:nvPr/>
        </p:nvSpPr>
        <p:spPr>
          <a:xfrm>
            <a:off x="896112" y="4110228"/>
            <a:ext cx="420624" cy="420624"/>
          </a:xfrm>
          <a:prstGeom prst="ellipse">
            <a:avLst/>
          </a:prstGeom>
          <a:solidFill>
            <a:srgbClr val="CF4420"/>
          </a:solidFill>
          <a:ln w="12700">
            <a:solidFill>
              <a:srgbClr val="333333"/>
            </a:solidFill>
            <a:prstDash val="solid"/>
          </a:ln>
        </p:spPr>
      </p:sp>
      <p:sp>
        <p:nvSpPr>
          <p:cNvPr id="26" name="Text 24"/>
          <p:cNvSpPr txBox="1"/>
          <p:nvPr/>
        </p:nvSpPr>
        <p:spPr>
          <a:xfrm>
            <a:off x="896112" y="41102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1508760" y="3886200"/>
            <a:ext cx="3261208" cy="868680"/>
          </a:xfrm>
          <a:prstGeom prst="rect">
            <a:avLst/>
          </a:prstGeom>
          <a:noFill/>
          <a:ln/>
        </p:spPr>
        <p:txBody>
          <a:bodyPr wrap="square" lIns="0" tIns="0" rIns="0" bIns="0" rtlCol="0" anchor="ctr"/>
          <a:lstStyle/>
          <a:p>
            <a:pPr indent="0" marL="0">
              <a:buNone/>
            </a:pPr>
            <a:r>
              <a:rPr lang="en-US" sz="1550" b="1" dirty="0">
                <a:solidFill>
                  <a:srgbClr val="1C1A19"/>
                </a:solidFill>
                <a:latin typeface="Calibri" pitchFamily="34" charset="0"/>
                <a:ea typeface="Calibri" pitchFamily="34" charset="-122"/>
                <a:cs typeface="Calibri" pitchFamily="34" charset="-120"/>
              </a:rPr>
              <a:t>What is in the way, what is next, what we need</a:t>
            </a:r>
            <a:endParaRPr lang="en-US" sz="1550" dirty="0"/>
          </a:p>
        </p:txBody>
      </p:sp>
      <p:sp>
        <p:nvSpPr>
          <p:cNvPr id="28" name="Text 26"/>
          <p:cNvSpPr txBox="1"/>
          <p:nvPr/>
        </p:nvSpPr>
        <p:spPr>
          <a:xfrm>
            <a:off x="4815688" y="3886200"/>
            <a:ext cx="868680" cy="868680"/>
          </a:xfrm>
          <a:prstGeom prst="rect">
            <a:avLst/>
          </a:prstGeom>
          <a:noFill/>
          <a:ln/>
        </p:spPr>
        <p:txBody>
          <a:bodyPr wrap="square" lIns="0" tIns="0" rIns="0" bIns="0" rtlCol="0" anchor="ctr"/>
          <a:lstStyle/>
          <a:p>
            <a:pPr algn="r" indent="0" marL="0">
              <a:buNone/>
            </a:pPr>
            <a:r>
              <a:rPr lang="en-US" sz="1500" b="1" dirty="0">
                <a:solidFill>
                  <a:srgbClr val="CF4420"/>
                </a:solidFill>
                <a:latin typeface="Cambria" pitchFamily="34" charset="0"/>
                <a:ea typeface="Cambria" pitchFamily="34" charset="-122"/>
                <a:cs typeface="Cambria" pitchFamily="34" charset="-120"/>
              </a:rPr>
              <a:t>1 min</a:t>
            </a:r>
            <a:endParaRPr lang="en-US" sz="1500" dirty="0"/>
          </a:p>
        </p:txBody>
      </p:sp>
      <p:sp>
        <p:nvSpPr>
          <p:cNvPr id="29" name="Shape 27"/>
          <p:cNvSpPr/>
          <p:nvPr/>
        </p:nvSpPr>
        <p:spPr>
          <a:xfrm>
            <a:off x="6278728" y="3886200"/>
            <a:ext cx="5272888" cy="868680"/>
          </a:xfrm>
          <a:prstGeom prst="roundRect">
            <a:avLst>
              <a:gd name="adj" fmla="val 9474"/>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30" name="Shape 28"/>
          <p:cNvSpPr/>
          <p:nvPr/>
        </p:nvSpPr>
        <p:spPr>
          <a:xfrm>
            <a:off x="6534760" y="4110228"/>
            <a:ext cx="420624" cy="420624"/>
          </a:xfrm>
          <a:prstGeom prst="ellipse">
            <a:avLst/>
          </a:prstGeom>
          <a:solidFill>
            <a:srgbClr val="CF4420"/>
          </a:solidFill>
          <a:ln w="12700">
            <a:solidFill>
              <a:srgbClr val="333333"/>
            </a:solidFill>
            <a:prstDash val="solid"/>
          </a:ln>
        </p:spPr>
      </p:sp>
      <p:sp>
        <p:nvSpPr>
          <p:cNvPr id="31" name="Text 29"/>
          <p:cNvSpPr txBox="1"/>
          <p:nvPr/>
        </p:nvSpPr>
        <p:spPr>
          <a:xfrm>
            <a:off x="6534760" y="41102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txBox="1"/>
          <p:nvPr/>
        </p:nvSpPr>
        <p:spPr>
          <a:xfrm>
            <a:off x="7147408" y="3886200"/>
            <a:ext cx="3261208" cy="868680"/>
          </a:xfrm>
          <a:prstGeom prst="rect">
            <a:avLst/>
          </a:prstGeom>
          <a:noFill/>
          <a:ln/>
        </p:spPr>
        <p:txBody>
          <a:bodyPr wrap="square" lIns="0" tIns="0" rIns="0" bIns="0" rtlCol="0" anchor="ctr"/>
          <a:lstStyle/>
          <a:p>
            <a:pPr indent="0" marL="0">
              <a:buNone/>
            </a:pPr>
            <a:r>
              <a:rPr lang="en-US" sz="1550" b="1" dirty="0">
                <a:solidFill>
                  <a:srgbClr val="1C1A19"/>
                </a:solidFill>
                <a:latin typeface="Calibri" pitchFamily="34" charset="0"/>
                <a:ea typeface="Calibri" pitchFamily="34" charset="-122"/>
                <a:cs typeface="Calibri" pitchFamily="34" charset="-120"/>
              </a:rPr>
              <a:t>Your questions</a:t>
            </a:r>
            <a:endParaRPr lang="en-US" sz="1550" dirty="0"/>
          </a:p>
        </p:txBody>
      </p:sp>
      <p:sp>
        <p:nvSpPr>
          <p:cNvPr id="33" name="Text 31"/>
          <p:cNvSpPr txBox="1"/>
          <p:nvPr/>
        </p:nvSpPr>
        <p:spPr>
          <a:xfrm>
            <a:off x="10454335" y="3886200"/>
            <a:ext cx="868680" cy="868680"/>
          </a:xfrm>
          <a:prstGeom prst="rect">
            <a:avLst/>
          </a:prstGeom>
          <a:noFill/>
          <a:ln/>
        </p:spPr>
        <p:txBody>
          <a:bodyPr wrap="square" lIns="0" tIns="0" rIns="0" bIns="0" rtlCol="0" anchor="ctr"/>
          <a:lstStyle/>
          <a:p>
            <a:pPr algn="r" indent="0" marL="0">
              <a:buNone/>
            </a:pPr>
            <a:r>
              <a:rPr lang="en-US" sz="1500" b="1" dirty="0">
                <a:solidFill>
                  <a:srgbClr val="CF4420"/>
                </a:solidFill>
                <a:latin typeface="Cambria" pitchFamily="34" charset="0"/>
                <a:ea typeface="Cambria" pitchFamily="34" charset="-122"/>
                <a:cs typeface="Cambria" pitchFamily="34" charset="-120"/>
              </a:rPr>
              <a:t>open</a:t>
            </a:r>
            <a:endParaRPr lang="en-US" sz="1500" dirty="0"/>
          </a:p>
        </p:txBody>
      </p:sp>
      <p:sp>
        <p:nvSpPr>
          <p:cNvPr id="34" name="Text 32"/>
          <p:cNvSpPr txBox="1"/>
          <p:nvPr/>
        </p:nvSpPr>
        <p:spPr>
          <a:xfrm>
            <a:off x="640080" y="5120640"/>
            <a:ext cx="10911535" cy="548640"/>
          </a:xfrm>
          <a:prstGeom prst="rect">
            <a:avLst/>
          </a:prstGeom>
          <a:noFill/>
          <a:ln/>
        </p:spPr>
        <p:txBody>
          <a:bodyPr wrap="square" lIns="0" tIns="0" rIns="0" bIns="0" rtlCol="0" anchor="t"/>
          <a:lstStyle/>
          <a:p>
            <a:pPr indent="0" marL="0">
              <a:lnSpc>
                <a:spcPts val="2200"/>
              </a:lnSpc>
              <a:buNone/>
            </a:pPr>
            <a:r>
              <a:rPr lang="en-US" sz="1500" dirty="0">
                <a:solidFill>
                  <a:srgbClr val="75787B"/>
                </a:solidFill>
                <a:latin typeface="Calibri" pitchFamily="34" charset="0"/>
                <a:ea typeface="Calibri" pitchFamily="34" charset="-122"/>
                <a:cs typeface="Calibri" pitchFamily="34" charset="-120"/>
              </a:rPr>
              <a:t>The demo is the middle of the presentation, not the end, so there is time to talk about what it showed.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WHY THIS EXISTS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The problem</a:t>
            </a:r>
            <a:endParaRPr lang="en-US" sz="3400" dirty="0"/>
          </a:p>
        </p:txBody>
      </p:sp>
      <p:sp>
        <p:nvSpPr>
          <p:cNvPr id="4" name="Text 2"/>
          <p:cNvSpPr txBox="1"/>
          <p:nvPr/>
        </p:nvSpPr>
        <p:spPr>
          <a:xfrm>
            <a:off x="640080" y="1783080"/>
            <a:ext cx="6400800" cy="2377440"/>
          </a:xfrm>
          <a:prstGeom prst="rect">
            <a:avLst/>
          </a:prstGeom>
          <a:noFill/>
          <a:ln/>
        </p:spPr>
        <p:txBody>
          <a:bodyPr wrap="square" lIns="0" tIns="0" rIns="0" bIns="0" rtlCol="0" anchor="t"/>
          <a:lstStyle/>
          <a:p>
            <a:pPr indent="0" marL="0">
              <a:lnSpc>
                <a:spcPts val="3200"/>
              </a:lnSpc>
              <a:buNone/>
            </a:pPr>
            <a:r>
              <a:rPr lang="en-US" sz="2200" dirty="0">
                <a:solidFill>
                  <a:srgbClr val="1C1A19"/>
                </a:solidFill>
                <a:latin typeface="Cambria" pitchFamily="34" charset="0"/>
                <a:ea typeface="Cambria" pitchFamily="34" charset="-122"/>
                <a:cs typeface="Cambria" pitchFamily="34" charset="-120"/>
              </a:rPr>
              <a:t>[Two or three sentences from the Purpose section of your product plan. What goes wrong today, who it happens to, and what your app changes about that.]</a:t>
            </a:r>
            <a:endParaRPr lang="en-US" sz="2200" dirty="0"/>
          </a:p>
        </p:txBody>
      </p:sp>
      <p:sp>
        <p:nvSpPr>
          <p:cNvPr id="5" name="Shape 3"/>
          <p:cNvSpPr/>
          <p:nvPr/>
        </p:nvSpPr>
        <p:spPr>
          <a:xfrm>
            <a:off x="7498080" y="1783080"/>
            <a:ext cx="4053535" cy="2743200"/>
          </a:xfrm>
          <a:prstGeom prst="roundRect">
            <a:avLst>
              <a:gd name="adj" fmla="val 3000"/>
            </a:avLst>
          </a:prstGeom>
          <a:solidFill>
            <a:srgbClr val="630031"/>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6" name="Text 4"/>
          <p:cNvSpPr txBox="1"/>
          <p:nvPr/>
        </p:nvSpPr>
        <p:spPr>
          <a:xfrm>
            <a:off x="7863840" y="2057400"/>
            <a:ext cx="3322015" cy="274320"/>
          </a:xfrm>
          <a:prstGeom prst="rect">
            <a:avLst/>
          </a:prstGeom>
          <a:noFill/>
          <a:ln/>
        </p:spPr>
        <p:txBody>
          <a:bodyPr wrap="square" lIns="0" tIns="0" rIns="0" bIns="0" rtlCol="0" anchor="ctr"/>
          <a:lstStyle/>
          <a:p>
            <a:pPr indent="0" marL="0">
              <a:buNone/>
            </a:pPr>
            <a:r>
              <a:rPr lang="en-US" sz="1100" b="1" spc="200" kern="0" dirty="0">
                <a:solidFill>
                  <a:srgbClr val="E9C9D6"/>
                </a:solidFill>
                <a:latin typeface="Calibri" pitchFamily="34" charset="0"/>
                <a:ea typeface="Calibri" pitchFamily="34" charset="-122"/>
                <a:cs typeface="Calibri" pitchFamily="34" charset="-120"/>
              </a:rPr>
              <a:t>IN ONE SENTENCE</a:t>
            </a:r>
            <a:endParaRPr lang="en-US" sz="1100" dirty="0"/>
          </a:p>
        </p:txBody>
      </p:sp>
      <p:sp>
        <p:nvSpPr>
          <p:cNvPr id="7" name="Text 5"/>
          <p:cNvSpPr txBox="1"/>
          <p:nvPr/>
        </p:nvSpPr>
        <p:spPr>
          <a:xfrm>
            <a:off x="7863840" y="2423160"/>
            <a:ext cx="3322015" cy="1920240"/>
          </a:xfrm>
          <a:prstGeom prst="rect">
            <a:avLst/>
          </a:prstGeom>
          <a:noFill/>
          <a:ln/>
        </p:spPr>
        <p:txBody>
          <a:bodyPr wrap="square" lIns="0" tIns="0" rIns="0" bIns="0" rtlCol="0" anchor="t"/>
          <a:lstStyle/>
          <a:p>
            <a:pPr indent="0" marL="0">
              <a:lnSpc>
                <a:spcPts val="2600"/>
              </a:lnSpc>
              <a:buNone/>
            </a:pPr>
            <a:r>
              <a:rPr lang="en-US" sz="1800" b="1" dirty="0">
                <a:solidFill>
                  <a:srgbClr val="FFFFFF"/>
                </a:solidFill>
                <a:latin typeface="Cambria" pitchFamily="34" charset="0"/>
                <a:ea typeface="Cambria" pitchFamily="34" charset="-122"/>
                <a:cs typeface="Cambria" pitchFamily="34" charset="-120"/>
              </a:rPr>
              <a:t>[Product] tells [who] [what] so that [what changes for them].</a:t>
            </a:r>
            <a:endParaRPr lang="en-US" sz="1800" dirty="0"/>
          </a:p>
        </p:txBody>
      </p:sp>
      <p:sp>
        <p:nvSpPr>
          <p:cNvPr id="8" name="Text 6"/>
          <p:cNvSpPr txBox="1"/>
          <p:nvPr/>
        </p:nvSpPr>
        <p:spPr>
          <a:xfrm>
            <a:off x="640080" y="4846320"/>
            <a:ext cx="10911535" cy="731520"/>
          </a:xfrm>
          <a:prstGeom prst="rect">
            <a:avLst/>
          </a:prstGeom>
          <a:noFill/>
          <a:ln/>
        </p:spPr>
        <p:txBody>
          <a:bodyPr wrap="square" lIns="0" tIns="0" rIns="0" bIns="0" rtlCol="0" anchor="t"/>
          <a:lstStyle/>
          <a:p>
            <a:pPr indent="0" marL="0">
              <a:lnSpc>
                <a:spcPts val="2200"/>
              </a:lnSpc>
              <a:buNone/>
            </a:pPr>
            <a:r>
              <a:rPr lang="en-US" sz="1400" dirty="0">
                <a:solidFill>
                  <a:srgbClr val="75787B"/>
                </a:solidFill>
                <a:latin typeface="Calibri" pitchFamily="34" charset="0"/>
                <a:ea typeface="Calibri" pitchFamily="34" charset="-122"/>
                <a:cs typeface="Calibri" pitchFamily="34" charset="-120"/>
              </a:rPr>
              <a:t>[This is the Purpose section of your product plan, read aloud. It has not changed since September, and if it has, say so and say why.]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 USERS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Who it is for</a:t>
            </a:r>
            <a:endParaRPr lang="en-US" sz="3400" dirty="0"/>
          </a:p>
        </p:txBody>
      </p:sp>
      <p:sp>
        <p:nvSpPr>
          <p:cNvPr id="4" name="Shape 2"/>
          <p:cNvSpPr/>
          <p:nvPr/>
        </p:nvSpPr>
        <p:spPr>
          <a:xfrm>
            <a:off x="640080" y="1783080"/>
            <a:ext cx="2522144" cy="338328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14400" y="2029968"/>
            <a:ext cx="420624" cy="420624"/>
          </a:xfrm>
          <a:prstGeom prst="ellipse">
            <a:avLst/>
          </a:prstGeom>
          <a:solidFill>
            <a:srgbClr val="630031"/>
          </a:solidFill>
          <a:ln w="12700">
            <a:solidFill>
              <a:srgbClr val="333333"/>
            </a:solidFill>
            <a:prstDash val="solid"/>
          </a:ln>
        </p:spPr>
      </p:sp>
      <p:sp>
        <p:nvSpPr>
          <p:cNvPr id="6" name="Text 4"/>
          <p:cNvSpPr txBox="1"/>
          <p:nvPr/>
        </p:nvSpPr>
        <p:spPr>
          <a:xfrm>
            <a:off x="914400" y="20299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914400" y="2606040"/>
            <a:ext cx="1973504"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[User 1]</a:t>
            </a:r>
            <a:endParaRPr lang="en-US" sz="1900" dirty="0"/>
          </a:p>
        </p:txBody>
      </p:sp>
      <p:sp>
        <p:nvSpPr>
          <p:cNvPr id="8" name="Text 6"/>
          <p:cNvSpPr txBox="1"/>
          <p:nvPr/>
        </p:nvSpPr>
        <p:spPr>
          <a:xfrm>
            <a:off x="914400" y="3017520"/>
            <a:ext cx="1973504" cy="155448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[What they want, in their words. One or two sentences.]</a:t>
            </a:r>
            <a:endParaRPr lang="en-US" sz="1250" dirty="0"/>
          </a:p>
        </p:txBody>
      </p:sp>
      <p:sp>
        <p:nvSpPr>
          <p:cNvPr id="9" name="Text 7"/>
          <p:cNvSpPr txBox="1"/>
          <p:nvPr/>
        </p:nvSpPr>
        <p:spPr>
          <a:xfrm>
            <a:off x="914400" y="4663440"/>
            <a:ext cx="1973504" cy="320040"/>
          </a:xfrm>
          <a:prstGeom prst="rect">
            <a:avLst/>
          </a:prstGeom>
          <a:noFill/>
          <a:ln/>
        </p:spPr>
        <p:txBody>
          <a:bodyPr wrap="square" lIns="0" tIns="0" rIns="0" bIns="0" rtlCol="0" anchor="ctr"/>
          <a:lstStyle/>
          <a:p>
            <a:pPr indent="0" marL="0">
              <a:buNone/>
            </a:pPr>
            <a:r>
              <a:rPr lang="en-US" sz="1200" i="1" dirty="0">
                <a:solidFill>
                  <a:srgbClr val="CF4420"/>
                </a:solidFill>
                <a:latin typeface="Calibri" pitchFamily="34" charset="0"/>
                <a:ea typeface="Calibri" pitchFamily="34" charset="-122"/>
                <a:cs typeface="Calibri" pitchFamily="34" charset="-120"/>
              </a:rPr>
              <a:t>[N] stories</a:t>
            </a:r>
            <a:endParaRPr lang="en-US" sz="1200" dirty="0"/>
          </a:p>
        </p:txBody>
      </p:sp>
      <p:sp>
        <p:nvSpPr>
          <p:cNvPr id="10" name="Shape 8"/>
          <p:cNvSpPr/>
          <p:nvPr/>
        </p:nvSpPr>
        <p:spPr>
          <a:xfrm>
            <a:off x="3436544" y="1783080"/>
            <a:ext cx="2522144" cy="338328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1" name="Shape 9"/>
          <p:cNvSpPr/>
          <p:nvPr/>
        </p:nvSpPr>
        <p:spPr>
          <a:xfrm>
            <a:off x="3710864" y="2029968"/>
            <a:ext cx="420624" cy="420624"/>
          </a:xfrm>
          <a:prstGeom prst="ellipse">
            <a:avLst/>
          </a:prstGeom>
          <a:solidFill>
            <a:srgbClr val="630031"/>
          </a:solidFill>
          <a:ln w="12700">
            <a:solidFill>
              <a:srgbClr val="333333"/>
            </a:solidFill>
            <a:prstDash val="solid"/>
          </a:ln>
        </p:spPr>
      </p:sp>
      <p:sp>
        <p:nvSpPr>
          <p:cNvPr id="12" name="Text 10"/>
          <p:cNvSpPr txBox="1"/>
          <p:nvPr/>
        </p:nvSpPr>
        <p:spPr>
          <a:xfrm>
            <a:off x="3710864" y="20299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3710864" y="2606040"/>
            <a:ext cx="1973504"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[User 2]</a:t>
            </a:r>
            <a:endParaRPr lang="en-US" sz="1900" dirty="0"/>
          </a:p>
        </p:txBody>
      </p:sp>
      <p:sp>
        <p:nvSpPr>
          <p:cNvPr id="14" name="Text 12"/>
          <p:cNvSpPr txBox="1"/>
          <p:nvPr/>
        </p:nvSpPr>
        <p:spPr>
          <a:xfrm>
            <a:off x="3710864" y="3017520"/>
            <a:ext cx="1973504" cy="155448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[What they want, in their words. One or two sentences.]</a:t>
            </a:r>
            <a:endParaRPr lang="en-US" sz="1250" dirty="0"/>
          </a:p>
        </p:txBody>
      </p:sp>
      <p:sp>
        <p:nvSpPr>
          <p:cNvPr id="15" name="Text 13"/>
          <p:cNvSpPr txBox="1"/>
          <p:nvPr/>
        </p:nvSpPr>
        <p:spPr>
          <a:xfrm>
            <a:off x="3710864" y="4663440"/>
            <a:ext cx="1973504" cy="320040"/>
          </a:xfrm>
          <a:prstGeom prst="rect">
            <a:avLst/>
          </a:prstGeom>
          <a:noFill/>
          <a:ln/>
        </p:spPr>
        <p:txBody>
          <a:bodyPr wrap="square" lIns="0" tIns="0" rIns="0" bIns="0" rtlCol="0" anchor="ctr"/>
          <a:lstStyle/>
          <a:p>
            <a:pPr indent="0" marL="0">
              <a:buNone/>
            </a:pPr>
            <a:r>
              <a:rPr lang="en-US" sz="1200" i="1" dirty="0">
                <a:solidFill>
                  <a:srgbClr val="CF4420"/>
                </a:solidFill>
                <a:latin typeface="Calibri" pitchFamily="34" charset="0"/>
                <a:ea typeface="Calibri" pitchFamily="34" charset="-122"/>
                <a:cs typeface="Calibri" pitchFamily="34" charset="-120"/>
              </a:rPr>
              <a:t>[N] stories</a:t>
            </a:r>
            <a:endParaRPr lang="en-US" sz="1200" dirty="0"/>
          </a:p>
        </p:txBody>
      </p:sp>
      <p:sp>
        <p:nvSpPr>
          <p:cNvPr id="16" name="Shape 14"/>
          <p:cNvSpPr/>
          <p:nvPr/>
        </p:nvSpPr>
        <p:spPr>
          <a:xfrm>
            <a:off x="6233008" y="1783080"/>
            <a:ext cx="2522144" cy="338328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Shape 15"/>
          <p:cNvSpPr/>
          <p:nvPr/>
        </p:nvSpPr>
        <p:spPr>
          <a:xfrm>
            <a:off x="6507328" y="2029968"/>
            <a:ext cx="420624" cy="420624"/>
          </a:xfrm>
          <a:prstGeom prst="ellipse">
            <a:avLst/>
          </a:prstGeom>
          <a:solidFill>
            <a:srgbClr val="630031"/>
          </a:solidFill>
          <a:ln w="12700">
            <a:solidFill>
              <a:srgbClr val="333333"/>
            </a:solidFill>
            <a:prstDash val="solid"/>
          </a:ln>
        </p:spPr>
      </p:sp>
      <p:sp>
        <p:nvSpPr>
          <p:cNvPr id="18" name="Text 16"/>
          <p:cNvSpPr txBox="1"/>
          <p:nvPr/>
        </p:nvSpPr>
        <p:spPr>
          <a:xfrm>
            <a:off x="6507328" y="20299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6507328" y="2606040"/>
            <a:ext cx="1973504"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[User 3]</a:t>
            </a:r>
            <a:endParaRPr lang="en-US" sz="1900" dirty="0"/>
          </a:p>
        </p:txBody>
      </p:sp>
      <p:sp>
        <p:nvSpPr>
          <p:cNvPr id="20" name="Text 18"/>
          <p:cNvSpPr txBox="1"/>
          <p:nvPr/>
        </p:nvSpPr>
        <p:spPr>
          <a:xfrm>
            <a:off x="6507328" y="3017520"/>
            <a:ext cx="1973504" cy="155448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[What they want, in their words. One or two sentences.]</a:t>
            </a:r>
            <a:endParaRPr lang="en-US" sz="1250" dirty="0"/>
          </a:p>
        </p:txBody>
      </p:sp>
      <p:sp>
        <p:nvSpPr>
          <p:cNvPr id="21" name="Text 19"/>
          <p:cNvSpPr txBox="1"/>
          <p:nvPr/>
        </p:nvSpPr>
        <p:spPr>
          <a:xfrm>
            <a:off x="6507328" y="4663440"/>
            <a:ext cx="1973504" cy="320040"/>
          </a:xfrm>
          <a:prstGeom prst="rect">
            <a:avLst/>
          </a:prstGeom>
          <a:noFill/>
          <a:ln/>
        </p:spPr>
        <p:txBody>
          <a:bodyPr wrap="square" lIns="0" tIns="0" rIns="0" bIns="0" rtlCol="0" anchor="ctr"/>
          <a:lstStyle/>
          <a:p>
            <a:pPr indent="0" marL="0">
              <a:buNone/>
            </a:pPr>
            <a:r>
              <a:rPr lang="en-US" sz="1200" i="1" dirty="0">
                <a:solidFill>
                  <a:srgbClr val="CF4420"/>
                </a:solidFill>
                <a:latin typeface="Calibri" pitchFamily="34" charset="0"/>
                <a:ea typeface="Calibri" pitchFamily="34" charset="-122"/>
                <a:cs typeface="Calibri" pitchFamily="34" charset="-120"/>
              </a:rPr>
              <a:t>[N] stories</a:t>
            </a:r>
            <a:endParaRPr lang="en-US" sz="1200" dirty="0"/>
          </a:p>
        </p:txBody>
      </p:sp>
      <p:sp>
        <p:nvSpPr>
          <p:cNvPr id="22" name="Shape 20"/>
          <p:cNvSpPr/>
          <p:nvPr/>
        </p:nvSpPr>
        <p:spPr>
          <a:xfrm>
            <a:off x="9029471" y="1783080"/>
            <a:ext cx="2522144" cy="338328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3" name="Shape 21"/>
          <p:cNvSpPr/>
          <p:nvPr/>
        </p:nvSpPr>
        <p:spPr>
          <a:xfrm>
            <a:off x="9303791" y="2029968"/>
            <a:ext cx="420624" cy="420624"/>
          </a:xfrm>
          <a:prstGeom prst="ellipse">
            <a:avLst/>
          </a:prstGeom>
          <a:solidFill>
            <a:srgbClr val="630031"/>
          </a:solidFill>
          <a:ln w="12700">
            <a:solidFill>
              <a:srgbClr val="333333"/>
            </a:solidFill>
            <a:prstDash val="solid"/>
          </a:ln>
        </p:spPr>
      </p:sp>
      <p:sp>
        <p:nvSpPr>
          <p:cNvPr id="24" name="Text 22"/>
          <p:cNvSpPr txBox="1"/>
          <p:nvPr/>
        </p:nvSpPr>
        <p:spPr>
          <a:xfrm>
            <a:off x="9303791" y="202996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5" name="Text 23"/>
          <p:cNvSpPr txBox="1"/>
          <p:nvPr/>
        </p:nvSpPr>
        <p:spPr>
          <a:xfrm>
            <a:off x="9303791" y="2606040"/>
            <a:ext cx="1973504"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[User 4]</a:t>
            </a:r>
            <a:endParaRPr lang="en-US" sz="1900" dirty="0"/>
          </a:p>
        </p:txBody>
      </p:sp>
      <p:sp>
        <p:nvSpPr>
          <p:cNvPr id="26" name="Text 24"/>
          <p:cNvSpPr txBox="1"/>
          <p:nvPr/>
        </p:nvSpPr>
        <p:spPr>
          <a:xfrm>
            <a:off x="9303791" y="3017520"/>
            <a:ext cx="1973504" cy="155448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[What they want, in their words. One or two sentences.]</a:t>
            </a:r>
            <a:endParaRPr lang="en-US" sz="1250" dirty="0"/>
          </a:p>
        </p:txBody>
      </p:sp>
      <p:sp>
        <p:nvSpPr>
          <p:cNvPr id="27" name="Text 25"/>
          <p:cNvSpPr txBox="1"/>
          <p:nvPr/>
        </p:nvSpPr>
        <p:spPr>
          <a:xfrm>
            <a:off x="9303791" y="4663440"/>
            <a:ext cx="1973504" cy="320040"/>
          </a:xfrm>
          <a:prstGeom prst="rect">
            <a:avLst/>
          </a:prstGeom>
          <a:noFill/>
          <a:ln/>
        </p:spPr>
        <p:txBody>
          <a:bodyPr wrap="square" lIns="0" tIns="0" rIns="0" bIns="0" rtlCol="0" anchor="ctr"/>
          <a:lstStyle/>
          <a:p>
            <a:pPr indent="0" marL="0">
              <a:buNone/>
            </a:pPr>
            <a:r>
              <a:rPr lang="en-US" sz="1200" i="1" dirty="0">
                <a:solidFill>
                  <a:srgbClr val="CF4420"/>
                </a:solidFill>
                <a:latin typeface="Calibri" pitchFamily="34" charset="0"/>
                <a:ea typeface="Calibri" pitchFamily="34" charset="-122"/>
                <a:cs typeface="Calibri" pitchFamily="34" charset="-120"/>
              </a:rPr>
              <a:t>[N] stories</a:t>
            </a:r>
            <a:endParaRPr lang="en-US" sz="1200" dirty="0"/>
          </a:p>
        </p:txBody>
      </p:sp>
      <p:sp>
        <p:nvSpPr>
          <p:cNvPr id="28" name="Text 26"/>
          <p:cNvSpPr txBox="1"/>
          <p:nvPr/>
        </p:nvSpPr>
        <p:spPr>
          <a:xfrm>
            <a:off x="640080" y="5440680"/>
            <a:ext cx="10911535" cy="640080"/>
          </a:xfrm>
          <a:prstGeom prst="rect">
            <a:avLst/>
          </a:prstGeom>
          <a:noFill/>
          <a:ln/>
        </p:spPr>
        <p:txBody>
          <a:bodyPr wrap="square" lIns="0" tIns="0" rIns="0" bIns="0" rtlCol="0" anchor="t"/>
          <a:lstStyle/>
          <a:p>
            <a:pPr indent="0" marL="0">
              <a:lnSpc>
                <a:spcPts val="2200"/>
              </a:lnSpc>
              <a:buNone/>
            </a:pPr>
            <a:r>
              <a:rPr lang="en-US" sz="1400" dirty="0">
                <a:solidFill>
                  <a:srgbClr val="75787B"/>
                </a:solidFill>
                <a:latin typeface="Calibri" pitchFamily="34" charset="0"/>
                <a:ea typeface="Calibri" pitchFamily="34" charset="-122"/>
                <a:cs typeface="Calibri" pitchFamily="34" charset="-120"/>
              </a:rPr>
              <a:t>[From the Who are the users section of your plan. The story count is on the prototype's Who this is for screen. A user with zero stories is a finding, not a mistake: say it.]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 FEATURES, AND WHERE EACH ONE STANDS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we are building</a:t>
            </a:r>
            <a:endParaRPr lang="en-US" sz="3400" dirty="0"/>
          </a:p>
        </p:txBody>
      </p:sp>
      <p:sp>
        <p:nvSpPr>
          <p:cNvPr id="4" name="Text 2"/>
          <p:cNvSpPr txBox="1"/>
          <p:nvPr/>
        </p:nvSpPr>
        <p:spPr>
          <a:xfrm>
            <a:off x="640080" y="1783080"/>
            <a:ext cx="237744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FEATURE</a:t>
            </a:r>
            <a:endParaRPr lang="en-US" sz="1050" dirty="0"/>
          </a:p>
        </p:txBody>
      </p:sp>
      <p:sp>
        <p:nvSpPr>
          <p:cNvPr id="5" name="Text 3"/>
          <p:cNvSpPr txBox="1"/>
          <p:nvPr/>
        </p:nvSpPr>
        <p:spPr>
          <a:xfrm>
            <a:off x="3154680" y="1783080"/>
            <a:ext cx="566928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WHAT IT DOES</a:t>
            </a:r>
            <a:endParaRPr lang="en-US" sz="1050" dirty="0"/>
          </a:p>
        </p:txBody>
      </p:sp>
      <p:sp>
        <p:nvSpPr>
          <p:cNvPr id="6" name="Text 4"/>
          <p:cNvSpPr txBox="1"/>
          <p:nvPr/>
        </p:nvSpPr>
        <p:spPr>
          <a:xfrm>
            <a:off x="9006840" y="1783080"/>
            <a:ext cx="82296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STORIES</a:t>
            </a:r>
            <a:endParaRPr lang="en-US" sz="1050" dirty="0"/>
          </a:p>
        </p:txBody>
      </p:sp>
      <p:sp>
        <p:nvSpPr>
          <p:cNvPr id="7" name="Text 5"/>
          <p:cNvSpPr txBox="1"/>
          <p:nvPr/>
        </p:nvSpPr>
        <p:spPr>
          <a:xfrm>
            <a:off x="9966960" y="1783080"/>
            <a:ext cx="155448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STAGE</a:t>
            </a:r>
            <a:endParaRPr lang="en-US" sz="1050" dirty="0"/>
          </a:p>
        </p:txBody>
      </p:sp>
      <p:sp>
        <p:nvSpPr>
          <p:cNvPr id="8" name="Shape 6"/>
          <p:cNvSpPr/>
          <p:nvPr/>
        </p:nvSpPr>
        <p:spPr>
          <a:xfrm>
            <a:off x="640080" y="2148840"/>
            <a:ext cx="10911535" cy="658368"/>
          </a:xfrm>
          <a:prstGeom prst="roundRect">
            <a:avLst>
              <a:gd name="adj" fmla="val 125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868680" y="2148840"/>
            <a:ext cx="2194560" cy="658368"/>
          </a:xfrm>
          <a:prstGeom prst="rect">
            <a:avLst/>
          </a:prstGeom>
          <a:noFill/>
          <a:ln/>
        </p:spPr>
        <p:txBody>
          <a:bodyPr wrap="square" lIns="0" tIns="0" rIns="0" bIns="0" rtlCol="0" anchor="ctr"/>
          <a:lstStyle/>
          <a:p>
            <a:pPr indent="0" marL="0">
              <a:buNone/>
            </a:pPr>
            <a:r>
              <a:rPr lang="en-US" sz="1500" b="1" dirty="0">
                <a:solidFill>
                  <a:srgbClr val="630031"/>
                </a:solidFill>
                <a:latin typeface="Cambria" pitchFamily="34" charset="0"/>
                <a:ea typeface="Cambria" pitchFamily="34" charset="-122"/>
                <a:cs typeface="Cambria" pitchFamily="34" charset="-120"/>
              </a:rPr>
              <a:t>[Feature 1]</a:t>
            </a:r>
            <a:endParaRPr lang="en-US" sz="1500" dirty="0"/>
          </a:p>
        </p:txBody>
      </p:sp>
      <p:sp>
        <p:nvSpPr>
          <p:cNvPr id="10" name="Text 8"/>
          <p:cNvSpPr txBox="1"/>
          <p:nvPr/>
        </p:nvSpPr>
        <p:spPr>
          <a:xfrm>
            <a:off x="3154680" y="2148840"/>
            <a:ext cx="5669280" cy="65836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[What it does, one line]</a:t>
            </a:r>
            <a:endParaRPr lang="en-US" sz="1250" dirty="0"/>
          </a:p>
        </p:txBody>
      </p:sp>
      <p:sp>
        <p:nvSpPr>
          <p:cNvPr id="11" name="Text 9"/>
          <p:cNvSpPr txBox="1"/>
          <p:nvPr/>
        </p:nvSpPr>
        <p:spPr>
          <a:xfrm>
            <a:off x="9006840" y="2148840"/>
            <a:ext cx="822960" cy="658368"/>
          </a:xfrm>
          <a:prstGeom prst="rect">
            <a:avLst/>
          </a:prstGeom>
          <a:noFill/>
          <a:ln/>
        </p:spPr>
        <p:txBody>
          <a:bodyPr wrap="square" lIns="0" tIns="0" rIns="0" bIns="0" rtlCol="0" anchor="ctr"/>
          <a:lstStyle/>
          <a:p>
            <a:pPr algn="ctr" indent="0" marL="0">
              <a:buNone/>
            </a:pPr>
            <a:r>
              <a:rPr lang="en-US" sz="1700" b="1" dirty="0">
                <a:solidFill>
                  <a:srgbClr val="1C1A19"/>
                </a:solidFill>
                <a:latin typeface="Cambria" pitchFamily="34" charset="0"/>
                <a:ea typeface="Cambria" pitchFamily="34" charset="-122"/>
                <a:cs typeface="Cambria" pitchFamily="34" charset="-120"/>
              </a:rPr>
              <a:t>[N]</a:t>
            </a:r>
            <a:endParaRPr lang="en-US" sz="1700" dirty="0"/>
          </a:p>
        </p:txBody>
      </p:sp>
      <p:sp>
        <p:nvSpPr>
          <p:cNvPr id="12" name="Shape 10"/>
          <p:cNvSpPr/>
          <p:nvPr/>
        </p:nvSpPr>
        <p:spPr>
          <a:xfrm>
            <a:off x="9966960" y="2322576"/>
            <a:ext cx="1371600" cy="310896"/>
          </a:xfrm>
          <a:prstGeom prst="roundRect">
            <a:avLst>
              <a:gd name="adj" fmla="val 50000"/>
            </a:avLst>
          </a:prstGeom>
          <a:solidFill>
            <a:srgbClr val="75787B"/>
          </a:solidFill>
          <a:ln w="12700">
            <a:solidFill>
              <a:srgbClr val="333333"/>
            </a:solidFill>
            <a:prstDash val="solid"/>
          </a:ln>
        </p:spPr>
      </p:sp>
      <p:sp>
        <p:nvSpPr>
          <p:cNvPr id="13" name="Text 11"/>
          <p:cNvSpPr txBox="1"/>
          <p:nvPr/>
        </p:nvSpPr>
        <p:spPr>
          <a:xfrm>
            <a:off x="9966960" y="2322576"/>
            <a:ext cx="13716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p>
        </p:txBody>
      </p:sp>
      <p:sp>
        <p:nvSpPr>
          <p:cNvPr id="14" name="Shape 12"/>
          <p:cNvSpPr/>
          <p:nvPr/>
        </p:nvSpPr>
        <p:spPr>
          <a:xfrm>
            <a:off x="640080" y="2898648"/>
            <a:ext cx="10911535" cy="658368"/>
          </a:xfrm>
          <a:prstGeom prst="roundRect">
            <a:avLst>
              <a:gd name="adj" fmla="val 125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Text 13"/>
          <p:cNvSpPr txBox="1"/>
          <p:nvPr/>
        </p:nvSpPr>
        <p:spPr>
          <a:xfrm>
            <a:off x="868680" y="2898648"/>
            <a:ext cx="2194560" cy="658368"/>
          </a:xfrm>
          <a:prstGeom prst="rect">
            <a:avLst/>
          </a:prstGeom>
          <a:noFill/>
          <a:ln/>
        </p:spPr>
        <p:txBody>
          <a:bodyPr wrap="square" lIns="0" tIns="0" rIns="0" bIns="0" rtlCol="0" anchor="ctr"/>
          <a:lstStyle/>
          <a:p>
            <a:pPr indent="0" marL="0">
              <a:buNone/>
            </a:pPr>
            <a:r>
              <a:rPr lang="en-US" sz="1500" b="1" dirty="0">
                <a:solidFill>
                  <a:srgbClr val="630031"/>
                </a:solidFill>
                <a:latin typeface="Cambria" pitchFamily="34" charset="0"/>
                <a:ea typeface="Cambria" pitchFamily="34" charset="-122"/>
                <a:cs typeface="Cambria" pitchFamily="34" charset="-120"/>
              </a:rPr>
              <a:t>[Feature 2]</a:t>
            </a:r>
            <a:endParaRPr lang="en-US" sz="1500" dirty="0"/>
          </a:p>
        </p:txBody>
      </p:sp>
      <p:sp>
        <p:nvSpPr>
          <p:cNvPr id="16" name="Text 14"/>
          <p:cNvSpPr txBox="1"/>
          <p:nvPr/>
        </p:nvSpPr>
        <p:spPr>
          <a:xfrm>
            <a:off x="3154680" y="2898648"/>
            <a:ext cx="5669280" cy="65836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[What it does, one line]</a:t>
            </a:r>
            <a:endParaRPr lang="en-US" sz="1250" dirty="0"/>
          </a:p>
        </p:txBody>
      </p:sp>
      <p:sp>
        <p:nvSpPr>
          <p:cNvPr id="17" name="Text 15"/>
          <p:cNvSpPr txBox="1"/>
          <p:nvPr/>
        </p:nvSpPr>
        <p:spPr>
          <a:xfrm>
            <a:off x="9006840" y="2898648"/>
            <a:ext cx="822960" cy="658368"/>
          </a:xfrm>
          <a:prstGeom prst="rect">
            <a:avLst/>
          </a:prstGeom>
          <a:noFill/>
          <a:ln/>
        </p:spPr>
        <p:txBody>
          <a:bodyPr wrap="square" lIns="0" tIns="0" rIns="0" bIns="0" rtlCol="0" anchor="ctr"/>
          <a:lstStyle/>
          <a:p>
            <a:pPr algn="ctr" indent="0" marL="0">
              <a:buNone/>
            </a:pPr>
            <a:r>
              <a:rPr lang="en-US" sz="1700" b="1" dirty="0">
                <a:solidFill>
                  <a:srgbClr val="1C1A19"/>
                </a:solidFill>
                <a:latin typeface="Cambria" pitchFamily="34" charset="0"/>
                <a:ea typeface="Cambria" pitchFamily="34" charset="-122"/>
                <a:cs typeface="Cambria" pitchFamily="34" charset="-120"/>
              </a:rPr>
              <a:t>[N]</a:t>
            </a:r>
            <a:endParaRPr lang="en-US" sz="1700" dirty="0"/>
          </a:p>
        </p:txBody>
      </p:sp>
      <p:sp>
        <p:nvSpPr>
          <p:cNvPr id="18" name="Shape 16"/>
          <p:cNvSpPr/>
          <p:nvPr/>
        </p:nvSpPr>
        <p:spPr>
          <a:xfrm>
            <a:off x="9966960" y="3072384"/>
            <a:ext cx="1371600" cy="310896"/>
          </a:xfrm>
          <a:prstGeom prst="roundRect">
            <a:avLst>
              <a:gd name="adj" fmla="val 50000"/>
            </a:avLst>
          </a:prstGeom>
          <a:solidFill>
            <a:srgbClr val="75787B"/>
          </a:solidFill>
          <a:ln w="12700">
            <a:solidFill>
              <a:srgbClr val="333333"/>
            </a:solidFill>
            <a:prstDash val="solid"/>
          </a:ln>
        </p:spPr>
      </p:sp>
      <p:sp>
        <p:nvSpPr>
          <p:cNvPr id="19" name="Text 17"/>
          <p:cNvSpPr txBox="1"/>
          <p:nvPr/>
        </p:nvSpPr>
        <p:spPr>
          <a:xfrm>
            <a:off x="9966960" y="3072384"/>
            <a:ext cx="13716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p>
        </p:txBody>
      </p:sp>
      <p:sp>
        <p:nvSpPr>
          <p:cNvPr id="20" name="Shape 18"/>
          <p:cNvSpPr/>
          <p:nvPr/>
        </p:nvSpPr>
        <p:spPr>
          <a:xfrm>
            <a:off x="640080" y="3648456"/>
            <a:ext cx="10911535" cy="658368"/>
          </a:xfrm>
          <a:prstGeom prst="roundRect">
            <a:avLst>
              <a:gd name="adj" fmla="val 125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1" name="Text 19"/>
          <p:cNvSpPr txBox="1"/>
          <p:nvPr/>
        </p:nvSpPr>
        <p:spPr>
          <a:xfrm>
            <a:off x="868680" y="3648456"/>
            <a:ext cx="2194560" cy="658368"/>
          </a:xfrm>
          <a:prstGeom prst="rect">
            <a:avLst/>
          </a:prstGeom>
          <a:noFill/>
          <a:ln/>
        </p:spPr>
        <p:txBody>
          <a:bodyPr wrap="square" lIns="0" tIns="0" rIns="0" bIns="0" rtlCol="0" anchor="ctr"/>
          <a:lstStyle/>
          <a:p>
            <a:pPr indent="0" marL="0">
              <a:buNone/>
            </a:pPr>
            <a:r>
              <a:rPr lang="en-US" sz="1500" b="1" dirty="0">
                <a:solidFill>
                  <a:srgbClr val="630031"/>
                </a:solidFill>
                <a:latin typeface="Cambria" pitchFamily="34" charset="0"/>
                <a:ea typeface="Cambria" pitchFamily="34" charset="-122"/>
                <a:cs typeface="Cambria" pitchFamily="34" charset="-120"/>
              </a:rPr>
              <a:t>[Feature 3]</a:t>
            </a:r>
            <a:endParaRPr lang="en-US" sz="1500" dirty="0"/>
          </a:p>
        </p:txBody>
      </p:sp>
      <p:sp>
        <p:nvSpPr>
          <p:cNvPr id="22" name="Text 20"/>
          <p:cNvSpPr txBox="1"/>
          <p:nvPr/>
        </p:nvSpPr>
        <p:spPr>
          <a:xfrm>
            <a:off x="3154680" y="3648456"/>
            <a:ext cx="5669280" cy="65836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[What it does, one line]</a:t>
            </a:r>
            <a:endParaRPr lang="en-US" sz="1250" dirty="0"/>
          </a:p>
        </p:txBody>
      </p:sp>
      <p:sp>
        <p:nvSpPr>
          <p:cNvPr id="23" name="Text 21"/>
          <p:cNvSpPr txBox="1"/>
          <p:nvPr/>
        </p:nvSpPr>
        <p:spPr>
          <a:xfrm>
            <a:off x="9006840" y="3648456"/>
            <a:ext cx="822960" cy="658368"/>
          </a:xfrm>
          <a:prstGeom prst="rect">
            <a:avLst/>
          </a:prstGeom>
          <a:noFill/>
          <a:ln/>
        </p:spPr>
        <p:txBody>
          <a:bodyPr wrap="square" lIns="0" tIns="0" rIns="0" bIns="0" rtlCol="0" anchor="ctr"/>
          <a:lstStyle/>
          <a:p>
            <a:pPr algn="ctr" indent="0" marL="0">
              <a:buNone/>
            </a:pPr>
            <a:r>
              <a:rPr lang="en-US" sz="1700" b="1" dirty="0">
                <a:solidFill>
                  <a:srgbClr val="1C1A19"/>
                </a:solidFill>
                <a:latin typeface="Cambria" pitchFamily="34" charset="0"/>
                <a:ea typeface="Cambria" pitchFamily="34" charset="-122"/>
                <a:cs typeface="Cambria" pitchFamily="34" charset="-120"/>
              </a:rPr>
              <a:t>[N]</a:t>
            </a:r>
            <a:endParaRPr lang="en-US" sz="1700" dirty="0"/>
          </a:p>
        </p:txBody>
      </p:sp>
      <p:sp>
        <p:nvSpPr>
          <p:cNvPr id="24" name="Shape 22"/>
          <p:cNvSpPr/>
          <p:nvPr/>
        </p:nvSpPr>
        <p:spPr>
          <a:xfrm>
            <a:off x="9966960" y="3822192"/>
            <a:ext cx="1371600" cy="310896"/>
          </a:xfrm>
          <a:prstGeom prst="roundRect">
            <a:avLst>
              <a:gd name="adj" fmla="val 50000"/>
            </a:avLst>
          </a:prstGeom>
          <a:solidFill>
            <a:srgbClr val="75787B"/>
          </a:solidFill>
          <a:ln w="12700">
            <a:solidFill>
              <a:srgbClr val="333333"/>
            </a:solidFill>
            <a:prstDash val="solid"/>
          </a:ln>
        </p:spPr>
      </p:sp>
      <p:sp>
        <p:nvSpPr>
          <p:cNvPr id="25" name="Text 23"/>
          <p:cNvSpPr txBox="1"/>
          <p:nvPr/>
        </p:nvSpPr>
        <p:spPr>
          <a:xfrm>
            <a:off x="9966960" y="3822192"/>
            <a:ext cx="13716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p>
        </p:txBody>
      </p:sp>
      <p:sp>
        <p:nvSpPr>
          <p:cNvPr id="26" name="Shape 24"/>
          <p:cNvSpPr/>
          <p:nvPr/>
        </p:nvSpPr>
        <p:spPr>
          <a:xfrm>
            <a:off x="640080" y="4398264"/>
            <a:ext cx="10911535" cy="658368"/>
          </a:xfrm>
          <a:prstGeom prst="roundRect">
            <a:avLst>
              <a:gd name="adj" fmla="val 125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7" name="Text 25"/>
          <p:cNvSpPr txBox="1"/>
          <p:nvPr/>
        </p:nvSpPr>
        <p:spPr>
          <a:xfrm>
            <a:off x="868680" y="4398264"/>
            <a:ext cx="2194560" cy="658368"/>
          </a:xfrm>
          <a:prstGeom prst="rect">
            <a:avLst/>
          </a:prstGeom>
          <a:noFill/>
          <a:ln/>
        </p:spPr>
        <p:txBody>
          <a:bodyPr wrap="square" lIns="0" tIns="0" rIns="0" bIns="0" rtlCol="0" anchor="ctr"/>
          <a:lstStyle/>
          <a:p>
            <a:pPr indent="0" marL="0">
              <a:buNone/>
            </a:pPr>
            <a:r>
              <a:rPr lang="en-US" sz="1500" b="1" dirty="0">
                <a:solidFill>
                  <a:srgbClr val="630031"/>
                </a:solidFill>
                <a:latin typeface="Cambria" pitchFamily="34" charset="0"/>
                <a:ea typeface="Cambria" pitchFamily="34" charset="-122"/>
                <a:cs typeface="Cambria" pitchFamily="34" charset="-120"/>
              </a:rPr>
              <a:t>[Feature 4]</a:t>
            </a:r>
            <a:endParaRPr lang="en-US" sz="1500" dirty="0"/>
          </a:p>
        </p:txBody>
      </p:sp>
      <p:sp>
        <p:nvSpPr>
          <p:cNvPr id="28" name="Text 26"/>
          <p:cNvSpPr txBox="1"/>
          <p:nvPr/>
        </p:nvSpPr>
        <p:spPr>
          <a:xfrm>
            <a:off x="3154680" y="4398264"/>
            <a:ext cx="5669280" cy="65836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[What it does, one line]</a:t>
            </a:r>
            <a:endParaRPr lang="en-US" sz="1250" dirty="0"/>
          </a:p>
        </p:txBody>
      </p:sp>
      <p:sp>
        <p:nvSpPr>
          <p:cNvPr id="29" name="Text 27"/>
          <p:cNvSpPr txBox="1"/>
          <p:nvPr/>
        </p:nvSpPr>
        <p:spPr>
          <a:xfrm>
            <a:off x="9006840" y="4398264"/>
            <a:ext cx="822960" cy="658368"/>
          </a:xfrm>
          <a:prstGeom prst="rect">
            <a:avLst/>
          </a:prstGeom>
          <a:noFill/>
          <a:ln/>
        </p:spPr>
        <p:txBody>
          <a:bodyPr wrap="square" lIns="0" tIns="0" rIns="0" bIns="0" rtlCol="0" anchor="ctr"/>
          <a:lstStyle/>
          <a:p>
            <a:pPr algn="ctr" indent="0" marL="0">
              <a:buNone/>
            </a:pPr>
            <a:r>
              <a:rPr lang="en-US" sz="1700" b="1" dirty="0">
                <a:solidFill>
                  <a:srgbClr val="1C1A19"/>
                </a:solidFill>
                <a:latin typeface="Cambria" pitchFamily="34" charset="0"/>
                <a:ea typeface="Cambria" pitchFamily="34" charset="-122"/>
                <a:cs typeface="Cambria" pitchFamily="34" charset="-120"/>
              </a:rPr>
              <a:t>[N]</a:t>
            </a:r>
            <a:endParaRPr lang="en-US" sz="1700" dirty="0"/>
          </a:p>
        </p:txBody>
      </p:sp>
      <p:sp>
        <p:nvSpPr>
          <p:cNvPr id="30" name="Shape 28"/>
          <p:cNvSpPr/>
          <p:nvPr/>
        </p:nvSpPr>
        <p:spPr>
          <a:xfrm>
            <a:off x="9966960" y="4572000"/>
            <a:ext cx="1371600" cy="310896"/>
          </a:xfrm>
          <a:prstGeom prst="roundRect">
            <a:avLst>
              <a:gd name="adj" fmla="val 50000"/>
            </a:avLst>
          </a:prstGeom>
          <a:solidFill>
            <a:srgbClr val="75787B"/>
          </a:solidFill>
          <a:ln w="12700">
            <a:solidFill>
              <a:srgbClr val="333333"/>
            </a:solidFill>
            <a:prstDash val="solid"/>
          </a:ln>
        </p:spPr>
      </p:sp>
      <p:sp>
        <p:nvSpPr>
          <p:cNvPr id="31" name="Text 29"/>
          <p:cNvSpPr txBox="1"/>
          <p:nvPr/>
        </p:nvSpPr>
        <p:spPr>
          <a:xfrm>
            <a:off x="9966960" y="4572000"/>
            <a:ext cx="13716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p>
        </p:txBody>
      </p:sp>
      <p:sp>
        <p:nvSpPr>
          <p:cNvPr id="32" name="Shape 30"/>
          <p:cNvSpPr/>
          <p:nvPr/>
        </p:nvSpPr>
        <p:spPr>
          <a:xfrm>
            <a:off x="640080" y="5148072"/>
            <a:ext cx="10911535" cy="658368"/>
          </a:xfrm>
          <a:prstGeom prst="roundRect">
            <a:avLst>
              <a:gd name="adj" fmla="val 125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33" name="Text 31"/>
          <p:cNvSpPr txBox="1"/>
          <p:nvPr/>
        </p:nvSpPr>
        <p:spPr>
          <a:xfrm>
            <a:off x="868680" y="5148072"/>
            <a:ext cx="2194560" cy="658368"/>
          </a:xfrm>
          <a:prstGeom prst="rect">
            <a:avLst/>
          </a:prstGeom>
          <a:noFill/>
          <a:ln/>
        </p:spPr>
        <p:txBody>
          <a:bodyPr wrap="square" lIns="0" tIns="0" rIns="0" bIns="0" rtlCol="0" anchor="ctr"/>
          <a:lstStyle/>
          <a:p>
            <a:pPr indent="0" marL="0">
              <a:buNone/>
            </a:pPr>
            <a:r>
              <a:rPr lang="en-US" sz="1500" b="1" dirty="0">
                <a:solidFill>
                  <a:srgbClr val="630031"/>
                </a:solidFill>
                <a:latin typeface="Cambria" pitchFamily="34" charset="0"/>
                <a:ea typeface="Cambria" pitchFamily="34" charset="-122"/>
                <a:cs typeface="Cambria" pitchFamily="34" charset="-120"/>
              </a:rPr>
              <a:t>[Feature 5]</a:t>
            </a:r>
            <a:endParaRPr lang="en-US" sz="1500" dirty="0"/>
          </a:p>
        </p:txBody>
      </p:sp>
      <p:sp>
        <p:nvSpPr>
          <p:cNvPr id="34" name="Text 32"/>
          <p:cNvSpPr txBox="1"/>
          <p:nvPr/>
        </p:nvSpPr>
        <p:spPr>
          <a:xfrm>
            <a:off x="3154680" y="5148072"/>
            <a:ext cx="5669280" cy="658368"/>
          </a:xfrm>
          <a:prstGeom prst="rect">
            <a:avLst/>
          </a:prstGeom>
          <a:noFill/>
          <a:ln/>
        </p:spPr>
        <p:txBody>
          <a:bodyPr wrap="square" lIns="0" tIns="0" rIns="0" bIns="0" rtlCol="0" anchor="ctr"/>
          <a:lstStyle/>
          <a:p>
            <a:pPr indent="0" marL="0">
              <a:buNone/>
            </a:pPr>
            <a:r>
              <a:rPr lang="en-US" sz="1250" dirty="0">
                <a:solidFill>
                  <a:srgbClr val="1C1A19"/>
                </a:solidFill>
                <a:latin typeface="Calibri" pitchFamily="34" charset="0"/>
                <a:ea typeface="Calibri" pitchFamily="34" charset="-122"/>
                <a:cs typeface="Calibri" pitchFamily="34" charset="-120"/>
              </a:rPr>
              <a:t>[What it does, one line]</a:t>
            </a:r>
            <a:endParaRPr lang="en-US" sz="1250" dirty="0"/>
          </a:p>
        </p:txBody>
      </p:sp>
      <p:sp>
        <p:nvSpPr>
          <p:cNvPr id="35" name="Text 33"/>
          <p:cNvSpPr txBox="1"/>
          <p:nvPr/>
        </p:nvSpPr>
        <p:spPr>
          <a:xfrm>
            <a:off x="9006840" y="5148072"/>
            <a:ext cx="822960" cy="658368"/>
          </a:xfrm>
          <a:prstGeom prst="rect">
            <a:avLst/>
          </a:prstGeom>
          <a:noFill/>
          <a:ln/>
        </p:spPr>
        <p:txBody>
          <a:bodyPr wrap="square" lIns="0" tIns="0" rIns="0" bIns="0" rtlCol="0" anchor="ctr"/>
          <a:lstStyle/>
          <a:p>
            <a:pPr algn="ctr" indent="0" marL="0">
              <a:buNone/>
            </a:pPr>
            <a:r>
              <a:rPr lang="en-US" sz="1700" b="1" dirty="0">
                <a:solidFill>
                  <a:srgbClr val="1C1A19"/>
                </a:solidFill>
                <a:latin typeface="Cambria" pitchFamily="34" charset="0"/>
                <a:ea typeface="Cambria" pitchFamily="34" charset="-122"/>
                <a:cs typeface="Cambria" pitchFamily="34" charset="-120"/>
              </a:rPr>
              <a:t>[N]</a:t>
            </a:r>
            <a:endParaRPr lang="en-US" sz="1700" dirty="0"/>
          </a:p>
        </p:txBody>
      </p:sp>
      <p:sp>
        <p:nvSpPr>
          <p:cNvPr id="36" name="Shape 34"/>
          <p:cNvSpPr/>
          <p:nvPr/>
        </p:nvSpPr>
        <p:spPr>
          <a:xfrm>
            <a:off x="9966960" y="5321808"/>
            <a:ext cx="1371600" cy="310896"/>
          </a:xfrm>
          <a:prstGeom prst="roundRect">
            <a:avLst>
              <a:gd name="adj" fmla="val 50000"/>
            </a:avLst>
          </a:prstGeom>
          <a:solidFill>
            <a:srgbClr val="75787B"/>
          </a:solidFill>
          <a:ln w="12700">
            <a:solidFill>
              <a:srgbClr val="333333"/>
            </a:solidFill>
            <a:prstDash val="solid"/>
          </a:ln>
        </p:spPr>
      </p:sp>
      <p:sp>
        <p:nvSpPr>
          <p:cNvPr id="37" name="Text 35"/>
          <p:cNvSpPr txBox="1"/>
          <p:nvPr/>
        </p:nvSpPr>
        <p:spPr>
          <a:xfrm>
            <a:off x="9966960" y="5321808"/>
            <a:ext cx="137160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[Stage]</a:t>
            </a:r>
            <a:endParaRPr lang="en-US" sz="1150" dirty="0"/>
          </a:p>
        </p:txBody>
      </p:sp>
      <p:sp>
        <p:nvSpPr>
          <p:cNvPr id="38" name="Text 36"/>
          <p:cNvSpPr txBox="1"/>
          <p:nvPr/>
        </p:nvSpPr>
        <p:spPr>
          <a:xfrm>
            <a:off x="640080" y="6035040"/>
            <a:ext cx="10911535" cy="731520"/>
          </a:xfrm>
          <a:prstGeom prst="rect">
            <a:avLst/>
          </a:prstGeom>
          <a:noFill/>
          <a:ln/>
        </p:spPr>
        <p:txBody>
          <a:bodyPr wrap="square" lIns="0" tIns="0" rIns="0" bIns="0" rtlCol="0" anchor="t"/>
          <a:lstStyle/>
          <a:p>
            <a:pPr indent="0" marL="0">
              <a:lnSpc>
                <a:spcPts val="2200"/>
              </a:lnSpc>
              <a:buNone/>
            </a:pPr>
            <a:r>
              <a:rPr lang="en-US" sz="1300" dirty="0">
                <a:solidFill>
                  <a:srgbClr val="75787B"/>
                </a:solidFill>
                <a:latin typeface="Calibri" pitchFamily="34" charset="0"/>
                <a:ea typeface="Calibri" pitchFamily="34" charset="-122"/>
                <a:cs typeface="Calibri" pitchFamily="34" charset="-120"/>
              </a:rPr>
              <a:t>Stage is one of: No story yet, Prototyped, Carded, Designed, Building, Done. Be honest. A feature is Done when every box on its build card is ticked.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630031"/>
        </a:solidFill>
      </p:bgPr>
    </p:bg>
    <p:spTree>
      <p:nvGrpSpPr>
        <p:cNvPr id="1" name=""/>
        <p:cNvGrpSpPr/>
        <p:nvPr/>
      </p:nvGrpSpPr>
      <p:grpSpPr>
        <a:xfrm>
          <a:off x="0" y="0"/>
          <a:ext cx="0" cy="0"/>
          <a:chOff x="0" y="0"/>
          <a:chExt cx="0" cy="0"/>
        </a:xfrm>
      </p:grpSpPr>
      <p:sp>
        <p:nvSpPr>
          <p:cNvPr id="2" name="Text 0"/>
          <p:cNvSpPr txBox="1"/>
          <p:nvPr/>
        </p:nvSpPr>
        <p:spPr>
          <a:xfrm>
            <a:off x="640080" y="685800"/>
            <a:ext cx="10911535"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Where we are</a:t>
            </a:r>
            <a:endParaRPr lang="en-US" sz="3400" dirty="0"/>
          </a:p>
        </p:txBody>
      </p:sp>
      <p:sp>
        <p:nvSpPr>
          <p:cNvPr id="3" name="Text 1"/>
          <p:cNvSpPr txBox="1"/>
          <p:nvPr/>
        </p:nvSpPr>
        <p:spPr>
          <a:xfrm>
            <a:off x="640080" y="1371600"/>
            <a:ext cx="10911535" cy="457200"/>
          </a:xfrm>
          <a:prstGeom prst="rect">
            <a:avLst/>
          </a:prstGeom>
          <a:noFill/>
          <a:ln/>
        </p:spPr>
        <p:txBody>
          <a:bodyPr wrap="square" lIns="0" tIns="0" rIns="0" bIns="0" rtlCol="0" anchor="ctr"/>
          <a:lstStyle/>
          <a:p>
            <a:pPr indent="0" marL="0">
              <a:buNone/>
            </a:pPr>
            <a:r>
              <a:rPr lang="en-US" sz="1500" dirty="0">
                <a:solidFill>
                  <a:srgbClr val="E9C9D6"/>
                </a:solidFill>
                <a:latin typeface="Calibri" pitchFamily="34" charset="0"/>
                <a:ea typeface="Calibri" pitchFamily="34" charset="-122"/>
                <a:cs typeface="Calibri" pitchFamily="34" charset="-120"/>
              </a:rPr>
              <a:t>Each step reads the one before it. Skipping one does not save time; it moves the work somewhere harder.</a:t>
            </a:r>
            <a:endParaRPr lang="en-US" sz="1500" dirty="0"/>
          </a:p>
        </p:txBody>
      </p:sp>
      <p:sp>
        <p:nvSpPr>
          <p:cNvPr id="4" name="Shape 2"/>
          <p:cNvSpPr/>
          <p:nvPr/>
        </p:nvSpPr>
        <p:spPr>
          <a:xfrm>
            <a:off x="640080" y="2286000"/>
            <a:ext cx="1620469" cy="960120"/>
          </a:xfrm>
          <a:prstGeom prst="roundRect">
            <a:avLst>
              <a:gd name="adj" fmla="val 9524"/>
            </a:avLst>
          </a:prstGeom>
          <a:solidFill>
            <a:srgbClr val="2E4A3B"/>
          </a:solidFill>
          <a:ln w="12700">
            <a:solidFill>
              <a:srgbClr val="2E4A3B"/>
            </a:solidFill>
            <a:prstDash val="solid"/>
          </a:ln>
        </p:spPr>
      </p:sp>
      <p:sp>
        <p:nvSpPr>
          <p:cNvPr id="5" name="Text 3"/>
          <p:cNvSpPr txBox="1"/>
          <p:nvPr/>
        </p:nvSpPr>
        <p:spPr>
          <a:xfrm>
            <a:off x="640080" y="2286000"/>
            <a:ext cx="1620469"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Product plan</a:t>
            </a:r>
            <a:endParaRPr lang="en-US" sz="1400" dirty="0"/>
          </a:p>
        </p:txBody>
      </p:sp>
      <p:sp>
        <p:nvSpPr>
          <p:cNvPr id="6" name="Text 4"/>
          <p:cNvSpPr txBox="1"/>
          <p:nvPr/>
        </p:nvSpPr>
        <p:spPr>
          <a:xfrm>
            <a:off x="640080" y="3310128"/>
            <a:ext cx="1620469" cy="274320"/>
          </a:xfrm>
          <a:prstGeom prst="rect">
            <a:avLst/>
          </a:prstGeom>
          <a:noFill/>
          <a:ln/>
        </p:spPr>
        <p:txBody>
          <a:bodyPr wrap="square" lIns="0" tIns="0" rIns="0" bIns="0" rtlCol="0" anchor="ctr"/>
          <a:lstStyle/>
          <a:p>
            <a:pPr algn="ctr" indent="0" marL="0">
              <a:buNone/>
            </a:pPr>
            <a:r>
              <a:rPr lang="en-US" sz="1150" i="1" dirty="0">
                <a:solidFill>
                  <a:srgbClr val="E9C9D6"/>
                </a:solidFill>
                <a:latin typeface="Calibri" pitchFamily="34" charset="0"/>
                <a:ea typeface="Calibri" pitchFamily="34" charset="-122"/>
                <a:cs typeface="Calibri" pitchFamily="34" charset="-120"/>
              </a:rPr>
              <a:t>done</a:t>
            </a:r>
            <a:endParaRPr lang="en-US" sz="1150" dirty="0"/>
          </a:p>
        </p:txBody>
      </p:sp>
      <p:sp>
        <p:nvSpPr>
          <p:cNvPr id="7" name="Text 5"/>
          <p:cNvSpPr txBox="1"/>
          <p:nvPr/>
        </p:nvSpPr>
        <p:spPr>
          <a:xfrm>
            <a:off x="2260549" y="2286000"/>
            <a:ext cx="237744" cy="960120"/>
          </a:xfrm>
          <a:prstGeom prst="rect">
            <a:avLst/>
          </a:prstGeom>
          <a:noFill/>
          <a:ln/>
        </p:spPr>
        <p:txBody>
          <a:bodyPr wrap="square" lIns="0" tIns="0" rIns="0" bIns="0" rtlCol="0" anchor="ctr"/>
          <a:lstStyle/>
          <a:p>
            <a:pPr algn="ctr" indent="0" marL="0">
              <a:buNone/>
            </a:pPr>
            <a:r>
              <a:rPr lang="en-US" sz="1400" dirty="0">
                <a:solidFill>
                  <a:srgbClr val="C79AAF"/>
                </a:solidFill>
                <a:latin typeface="Calibri" pitchFamily="34" charset="0"/>
                <a:ea typeface="Calibri" pitchFamily="34" charset="-122"/>
                <a:cs typeface="Calibri" pitchFamily="34" charset="-120"/>
              </a:rPr>
              <a:t>→</a:t>
            </a:r>
            <a:endParaRPr lang="en-US" sz="1400" dirty="0"/>
          </a:p>
        </p:txBody>
      </p:sp>
      <p:sp>
        <p:nvSpPr>
          <p:cNvPr id="8" name="Shape 6"/>
          <p:cNvSpPr/>
          <p:nvPr/>
        </p:nvSpPr>
        <p:spPr>
          <a:xfrm>
            <a:off x="2498293" y="2286000"/>
            <a:ext cx="1620469" cy="960120"/>
          </a:xfrm>
          <a:prstGeom prst="roundRect">
            <a:avLst>
              <a:gd name="adj" fmla="val 9524"/>
            </a:avLst>
          </a:prstGeom>
          <a:solidFill>
            <a:srgbClr val="2E4A3B"/>
          </a:solidFill>
          <a:ln w="12700">
            <a:solidFill>
              <a:srgbClr val="2E4A3B"/>
            </a:solidFill>
            <a:prstDash val="solid"/>
          </a:ln>
        </p:spPr>
      </p:sp>
      <p:sp>
        <p:nvSpPr>
          <p:cNvPr id="9" name="Text 7"/>
          <p:cNvSpPr txBox="1"/>
          <p:nvPr/>
        </p:nvSpPr>
        <p:spPr>
          <a:xfrm>
            <a:off x="2498293" y="2286000"/>
            <a:ext cx="1620469"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User stories</a:t>
            </a:r>
            <a:endParaRPr lang="en-US" sz="1400" dirty="0"/>
          </a:p>
        </p:txBody>
      </p:sp>
      <p:sp>
        <p:nvSpPr>
          <p:cNvPr id="10" name="Text 8"/>
          <p:cNvSpPr txBox="1"/>
          <p:nvPr/>
        </p:nvSpPr>
        <p:spPr>
          <a:xfrm>
            <a:off x="2498293" y="3310128"/>
            <a:ext cx="1620469" cy="274320"/>
          </a:xfrm>
          <a:prstGeom prst="rect">
            <a:avLst/>
          </a:prstGeom>
          <a:noFill/>
          <a:ln/>
        </p:spPr>
        <p:txBody>
          <a:bodyPr wrap="square" lIns="0" tIns="0" rIns="0" bIns="0" rtlCol="0" anchor="ctr"/>
          <a:lstStyle/>
          <a:p>
            <a:pPr algn="ctr" indent="0" marL="0">
              <a:buNone/>
            </a:pPr>
            <a:r>
              <a:rPr lang="en-US" sz="1150" i="1" dirty="0">
                <a:solidFill>
                  <a:srgbClr val="E9C9D6"/>
                </a:solidFill>
                <a:latin typeface="Calibri" pitchFamily="34" charset="0"/>
                <a:ea typeface="Calibri" pitchFamily="34" charset="-122"/>
                <a:cs typeface="Calibri" pitchFamily="34" charset="-120"/>
              </a:rPr>
              <a:t>done</a:t>
            </a:r>
            <a:endParaRPr lang="en-US" sz="1150" dirty="0"/>
          </a:p>
        </p:txBody>
      </p:sp>
      <p:sp>
        <p:nvSpPr>
          <p:cNvPr id="11" name="Text 9"/>
          <p:cNvSpPr txBox="1"/>
          <p:nvPr/>
        </p:nvSpPr>
        <p:spPr>
          <a:xfrm>
            <a:off x="4118762" y="2286000"/>
            <a:ext cx="237744" cy="960120"/>
          </a:xfrm>
          <a:prstGeom prst="rect">
            <a:avLst/>
          </a:prstGeom>
          <a:noFill/>
          <a:ln/>
        </p:spPr>
        <p:txBody>
          <a:bodyPr wrap="square" lIns="0" tIns="0" rIns="0" bIns="0" rtlCol="0" anchor="ctr"/>
          <a:lstStyle/>
          <a:p>
            <a:pPr algn="ctr" indent="0" marL="0">
              <a:buNone/>
            </a:pPr>
            <a:r>
              <a:rPr lang="en-US" sz="1400" dirty="0">
                <a:solidFill>
                  <a:srgbClr val="C79AAF"/>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4356506" y="2286000"/>
            <a:ext cx="1620469" cy="960120"/>
          </a:xfrm>
          <a:prstGeom prst="roundRect">
            <a:avLst>
              <a:gd name="adj" fmla="val 9524"/>
            </a:avLst>
          </a:prstGeom>
          <a:solidFill>
            <a:srgbClr val="CF4420"/>
          </a:solidFill>
          <a:ln w="12700">
            <a:solidFill>
              <a:srgbClr val="CF4420"/>
            </a:solidFill>
            <a:prstDash val="solid"/>
          </a:ln>
        </p:spPr>
      </p:sp>
      <p:sp>
        <p:nvSpPr>
          <p:cNvPr id="13" name="Text 11"/>
          <p:cNvSpPr txBox="1"/>
          <p:nvPr/>
        </p:nvSpPr>
        <p:spPr>
          <a:xfrm>
            <a:off x="4356506" y="2286000"/>
            <a:ext cx="1620469"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Build cards</a:t>
            </a:r>
            <a:endParaRPr lang="en-US" sz="1400" dirty="0"/>
          </a:p>
        </p:txBody>
      </p:sp>
      <p:sp>
        <p:nvSpPr>
          <p:cNvPr id="14" name="Text 12"/>
          <p:cNvSpPr txBox="1"/>
          <p:nvPr/>
        </p:nvSpPr>
        <p:spPr>
          <a:xfrm>
            <a:off x="4356506" y="3310128"/>
            <a:ext cx="1620469" cy="274320"/>
          </a:xfrm>
          <a:prstGeom prst="rect">
            <a:avLst/>
          </a:prstGeom>
          <a:noFill/>
          <a:ln/>
        </p:spPr>
        <p:txBody>
          <a:bodyPr wrap="square" lIns="0" tIns="0" rIns="0" bIns="0" rtlCol="0" anchor="ctr"/>
          <a:lstStyle/>
          <a:p>
            <a:pPr algn="ctr" indent="0" marL="0">
              <a:buNone/>
            </a:pPr>
            <a:r>
              <a:rPr lang="en-US" sz="1150" i="1" dirty="0">
                <a:solidFill>
                  <a:srgbClr val="CF4420"/>
                </a:solidFill>
                <a:latin typeface="Calibri" pitchFamily="34" charset="0"/>
                <a:ea typeface="Calibri" pitchFamily="34" charset="-122"/>
                <a:cs typeface="Calibri" pitchFamily="34" charset="-120"/>
              </a:rPr>
              <a:t>you are here</a:t>
            </a:r>
            <a:endParaRPr lang="en-US" sz="1150" dirty="0"/>
          </a:p>
        </p:txBody>
      </p:sp>
      <p:sp>
        <p:nvSpPr>
          <p:cNvPr id="15" name="Text 13"/>
          <p:cNvSpPr txBox="1"/>
          <p:nvPr/>
        </p:nvSpPr>
        <p:spPr>
          <a:xfrm>
            <a:off x="5976976" y="2286000"/>
            <a:ext cx="237744" cy="960120"/>
          </a:xfrm>
          <a:prstGeom prst="rect">
            <a:avLst/>
          </a:prstGeom>
          <a:noFill/>
          <a:ln/>
        </p:spPr>
        <p:txBody>
          <a:bodyPr wrap="square" lIns="0" tIns="0" rIns="0" bIns="0" rtlCol="0" anchor="ctr"/>
          <a:lstStyle/>
          <a:p>
            <a:pPr algn="ctr" indent="0" marL="0">
              <a:buNone/>
            </a:pPr>
            <a:r>
              <a:rPr lang="en-US" sz="1400" dirty="0">
                <a:solidFill>
                  <a:srgbClr val="C79AAF"/>
                </a:solidFill>
                <a:latin typeface="Calibri" pitchFamily="34" charset="0"/>
                <a:ea typeface="Calibri" pitchFamily="34" charset="-122"/>
                <a:cs typeface="Calibri" pitchFamily="34" charset="-120"/>
              </a:rPr>
              <a:t>→</a:t>
            </a:r>
            <a:endParaRPr lang="en-US" sz="1400" dirty="0"/>
          </a:p>
        </p:txBody>
      </p:sp>
      <p:sp>
        <p:nvSpPr>
          <p:cNvPr id="16" name="Shape 14"/>
          <p:cNvSpPr/>
          <p:nvPr/>
        </p:nvSpPr>
        <p:spPr>
          <a:xfrm>
            <a:off x="6214720" y="2286000"/>
            <a:ext cx="1620469" cy="960120"/>
          </a:xfrm>
          <a:prstGeom prst="roundRect">
            <a:avLst>
              <a:gd name="adj" fmla="val 9524"/>
            </a:avLst>
          </a:prstGeom>
          <a:solidFill>
            <a:srgbClr val="4A0025"/>
          </a:solidFill>
          <a:ln w="12700">
            <a:solidFill>
              <a:srgbClr val="7A2049"/>
            </a:solidFill>
            <a:prstDash val="solid"/>
          </a:ln>
        </p:spPr>
      </p:sp>
      <p:sp>
        <p:nvSpPr>
          <p:cNvPr id="17" name="Text 15"/>
          <p:cNvSpPr txBox="1"/>
          <p:nvPr/>
        </p:nvSpPr>
        <p:spPr>
          <a:xfrm>
            <a:off x="6214720" y="2286000"/>
            <a:ext cx="1620469"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Architecture</a:t>
            </a:r>
            <a:endParaRPr lang="en-US" sz="1400" dirty="0"/>
          </a:p>
        </p:txBody>
      </p:sp>
      <p:sp>
        <p:nvSpPr>
          <p:cNvPr id="18" name="Text 16"/>
          <p:cNvSpPr txBox="1"/>
          <p:nvPr/>
        </p:nvSpPr>
        <p:spPr>
          <a:xfrm>
            <a:off x="6214720" y="3310128"/>
            <a:ext cx="1620469" cy="274320"/>
          </a:xfrm>
          <a:prstGeom prst="rect">
            <a:avLst/>
          </a:prstGeom>
          <a:noFill/>
          <a:ln/>
        </p:spPr>
        <p:txBody>
          <a:bodyPr wrap="square" lIns="0" tIns="0" rIns="0" bIns="0" rtlCol="0" anchor="ctr"/>
          <a:lstStyle/>
          <a:p>
            <a:pPr algn="ctr" indent="0" marL="0">
              <a:buNone/>
            </a:pPr>
            <a:r>
              <a:rPr lang="en-US" sz="1150" i="1" dirty="0">
                <a:solidFill>
                  <a:srgbClr val="E9C9D6"/>
                </a:solidFill>
                <a:latin typeface="Calibri" pitchFamily="34" charset="0"/>
                <a:ea typeface="Calibri" pitchFamily="34" charset="-122"/>
                <a:cs typeface="Calibri" pitchFamily="34" charset="-120"/>
              </a:rPr>
              <a:t>not yet</a:t>
            </a:r>
            <a:endParaRPr lang="en-US" sz="1150" dirty="0"/>
          </a:p>
        </p:txBody>
      </p:sp>
      <p:sp>
        <p:nvSpPr>
          <p:cNvPr id="19" name="Text 17"/>
          <p:cNvSpPr txBox="1"/>
          <p:nvPr/>
        </p:nvSpPr>
        <p:spPr>
          <a:xfrm>
            <a:off x="7835189" y="2286000"/>
            <a:ext cx="237744" cy="960120"/>
          </a:xfrm>
          <a:prstGeom prst="rect">
            <a:avLst/>
          </a:prstGeom>
          <a:noFill/>
          <a:ln/>
        </p:spPr>
        <p:txBody>
          <a:bodyPr wrap="square" lIns="0" tIns="0" rIns="0" bIns="0" rtlCol="0" anchor="ctr"/>
          <a:lstStyle/>
          <a:p>
            <a:pPr algn="ctr" indent="0" marL="0">
              <a:buNone/>
            </a:pPr>
            <a:r>
              <a:rPr lang="en-US" sz="1400" dirty="0">
                <a:solidFill>
                  <a:srgbClr val="C79AAF"/>
                </a:solidFill>
                <a:latin typeface="Calibri" pitchFamily="34" charset="0"/>
                <a:ea typeface="Calibri" pitchFamily="34" charset="-122"/>
                <a:cs typeface="Calibri" pitchFamily="34" charset="-120"/>
              </a:rPr>
              <a:t>→</a:t>
            </a:r>
            <a:endParaRPr lang="en-US" sz="1400" dirty="0"/>
          </a:p>
        </p:txBody>
      </p:sp>
      <p:sp>
        <p:nvSpPr>
          <p:cNvPr id="20" name="Shape 18"/>
          <p:cNvSpPr/>
          <p:nvPr/>
        </p:nvSpPr>
        <p:spPr>
          <a:xfrm>
            <a:off x="8072933" y="2286000"/>
            <a:ext cx="1620469" cy="960120"/>
          </a:xfrm>
          <a:prstGeom prst="roundRect">
            <a:avLst>
              <a:gd name="adj" fmla="val 9524"/>
            </a:avLst>
          </a:prstGeom>
          <a:solidFill>
            <a:srgbClr val="4A0025"/>
          </a:solidFill>
          <a:ln w="12700">
            <a:solidFill>
              <a:srgbClr val="7A2049"/>
            </a:solidFill>
            <a:prstDash val="solid"/>
          </a:ln>
        </p:spPr>
      </p:sp>
      <p:sp>
        <p:nvSpPr>
          <p:cNvPr id="21" name="Text 19"/>
          <p:cNvSpPr txBox="1"/>
          <p:nvPr/>
        </p:nvSpPr>
        <p:spPr>
          <a:xfrm>
            <a:off x="8072933" y="2286000"/>
            <a:ext cx="1620469"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Design</a:t>
            </a:r>
            <a:endParaRPr lang="en-US" sz="1400" dirty="0"/>
          </a:p>
        </p:txBody>
      </p:sp>
      <p:sp>
        <p:nvSpPr>
          <p:cNvPr id="22" name="Text 20"/>
          <p:cNvSpPr txBox="1"/>
          <p:nvPr/>
        </p:nvSpPr>
        <p:spPr>
          <a:xfrm>
            <a:off x="8072933" y="3310128"/>
            <a:ext cx="1620469" cy="274320"/>
          </a:xfrm>
          <a:prstGeom prst="rect">
            <a:avLst/>
          </a:prstGeom>
          <a:noFill/>
          <a:ln/>
        </p:spPr>
        <p:txBody>
          <a:bodyPr wrap="square" lIns="0" tIns="0" rIns="0" bIns="0" rtlCol="0" anchor="ctr"/>
          <a:lstStyle/>
          <a:p>
            <a:pPr algn="ctr" indent="0" marL="0">
              <a:buNone/>
            </a:pPr>
            <a:r>
              <a:rPr lang="en-US" sz="1150" i="1" dirty="0">
                <a:solidFill>
                  <a:srgbClr val="E9C9D6"/>
                </a:solidFill>
                <a:latin typeface="Calibri" pitchFamily="34" charset="0"/>
                <a:ea typeface="Calibri" pitchFamily="34" charset="-122"/>
                <a:cs typeface="Calibri" pitchFamily="34" charset="-120"/>
              </a:rPr>
              <a:t>not yet</a:t>
            </a:r>
            <a:endParaRPr lang="en-US" sz="1150" dirty="0"/>
          </a:p>
        </p:txBody>
      </p:sp>
      <p:sp>
        <p:nvSpPr>
          <p:cNvPr id="23" name="Text 21"/>
          <p:cNvSpPr txBox="1"/>
          <p:nvPr/>
        </p:nvSpPr>
        <p:spPr>
          <a:xfrm>
            <a:off x="9693402" y="2286000"/>
            <a:ext cx="237744" cy="960120"/>
          </a:xfrm>
          <a:prstGeom prst="rect">
            <a:avLst/>
          </a:prstGeom>
          <a:noFill/>
          <a:ln/>
        </p:spPr>
        <p:txBody>
          <a:bodyPr wrap="square" lIns="0" tIns="0" rIns="0" bIns="0" rtlCol="0" anchor="ctr"/>
          <a:lstStyle/>
          <a:p>
            <a:pPr algn="ctr" indent="0" marL="0">
              <a:buNone/>
            </a:pPr>
            <a:r>
              <a:rPr lang="en-US" sz="1400" dirty="0">
                <a:solidFill>
                  <a:srgbClr val="C79AAF"/>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9931146" y="2286000"/>
            <a:ext cx="1620469" cy="960120"/>
          </a:xfrm>
          <a:prstGeom prst="roundRect">
            <a:avLst>
              <a:gd name="adj" fmla="val 9524"/>
            </a:avLst>
          </a:prstGeom>
          <a:solidFill>
            <a:srgbClr val="4A0025"/>
          </a:solidFill>
          <a:ln w="12700">
            <a:solidFill>
              <a:srgbClr val="7A2049"/>
            </a:solidFill>
            <a:prstDash val="solid"/>
          </a:ln>
        </p:spPr>
      </p:sp>
      <p:sp>
        <p:nvSpPr>
          <p:cNvPr id="25" name="Text 23"/>
          <p:cNvSpPr txBox="1"/>
          <p:nvPr/>
        </p:nvSpPr>
        <p:spPr>
          <a:xfrm>
            <a:off x="9931146" y="2286000"/>
            <a:ext cx="1620469" cy="9601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Build</a:t>
            </a:r>
            <a:endParaRPr lang="en-US" sz="1400" dirty="0"/>
          </a:p>
        </p:txBody>
      </p:sp>
      <p:sp>
        <p:nvSpPr>
          <p:cNvPr id="26" name="Text 24"/>
          <p:cNvSpPr txBox="1"/>
          <p:nvPr/>
        </p:nvSpPr>
        <p:spPr>
          <a:xfrm>
            <a:off x="9931146" y="3310128"/>
            <a:ext cx="1620469" cy="274320"/>
          </a:xfrm>
          <a:prstGeom prst="rect">
            <a:avLst/>
          </a:prstGeom>
          <a:noFill/>
          <a:ln/>
        </p:spPr>
        <p:txBody>
          <a:bodyPr wrap="square" lIns="0" tIns="0" rIns="0" bIns="0" rtlCol="0" anchor="ctr"/>
          <a:lstStyle/>
          <a:p>
            <a:pPr algn="ctr" indent="0" marL="0">
              <a:buNone/>
            </a:pPr>
            <a:r>
              <a:rPr lang="en-US" sz="1150" i="1" dirty="0">
                <a:solidFill>
                  <a:srgbClr val="E9C9D6"/>
                </a:solidFill>
                <a:latin typeface="Calibri" pitchFamily="34" charset="0"/>
                <a:ea typeface="Calibri" pitchFamily="34" charset="-122"/>
                <a:cs typeface="Calibri" pitchFamily="34" charset="-120"/>
              </a:rPr>
              <a:t>not yet</a:t>
            </a:r>
            <a:endParaRPr lang="en-US" sz="1150" dirty="0"/>
          </a:p>
        </p:txBody>
      </p:sp>
      <p:sp>
        <p:nvSpPr>
          <p:cNvPr id="27" name="Shape 25"/>
          <p:cNvSpPr/>
          <p:nvPr/>
        </p:nvSpPr>
        <p:spPr>
          <a:xfrm>
            <a:off x="640080" y="3977640"/>
            <a:ext cx="10911535" cy="1371600"/>
          </a:xfrm>
          <a:prstGeom prst="roundRect">
            <a:avLst>
              <a:gd name="adj" fmla="val 6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8" name="Text 26"/>
          <p:cNvSpPr txBox="1"/>
          <p:nvPr/>
        </p:nvSpPr>
        <p:spPr>
          <a:xfrm>
            <a:off x="1005840" y="4160520"/>
            <a:ext cx="3657600" cy="274320"/>
          </a:xfrm>
          <a:prstGeom prst="rect">
            <a:avLst/>
          </a:prstGeom>
          <a:noFill/>
          <a:ln/>
        </p:spPr>
        <p:txBody>
          <a:bodyPr wrap="square" lIns="0" tIns="0" rIns="0" bIns="0" rtlCol="0" anchor="ctr"/>
          <a:lstStyle/>
          <a:p>
            <a:pPr indent="0" marL="0">
              <a:buNone/>
            </a:pPr>
            <a:r>
              <a:rPr lang="en-US" sz="1100" b="1" spc="200" kern="0" dirty="0">
                <a:solidFill>
                  <a:srgbClr val="CF4420"/>
                </a:solidFill>
                <a:latin typeface="Calibri" pitchFamily="34" charset="0"/>
                <a:ea typeface="Calibri" pitchFamily="34" charset="-122"/>
                <a:cs typeface="Calibri" pitchFamily="34" charset="-120"/>
              </a:rPr>
              <a:t>THE NEXT THING</a:t>
            </a:r>
            <a:endParaRPr lang="en-US" sz="1100" dirty="0"/>
          </a:p>
        </p:txBody>
      </p:sp>
      <p:sp>
        <p:nvSpPr>
          <p:cNvPr id="29" name="Text 27"/>
          <p:cNvSpPr txBox="1"/>
          <p:nvPr/>
        </p:nvSpPr>
        <p:spPr>
          <a:xfrm>
            <a:off x="1005840" y="4462272"/>
            <a:ext cx="10180015" cy="777240"/>
          </a:xfrm>
          <a:prstGeom prst="rect">
            <a:avLst/>
          </a:prstGeom>
          <a:noFill/>
          <a:ln/>
        </p:spPr>
        <p:txBody>
          <a:bodyPr wrap="square" lIns="0" tIns="0" rIns="0" bIns="0" rtlCol="0" anchor="t"/>
          <a:lstStyle/>
          <a:p>
            <a:pPr indent="0" marL="0">
              <a:lnSpc>
                <a:spcPts val="2400"/>
              </a:lnSpc>
              <a:buNone/>
            </a:pPr>
            <a:r>
              <a:rPr lang="en-US" sz="1800" b="1" dirty="0">
                <a:solidFill>
                  <a:srgbClr val="630031"/>
                </a:solidFill>
                <a:latin typeface="Cambria" pitchFamily="34" charset="0"/>
                <a:ea typeface="Cambria" pitchFamily="34" charset="-122"/>
                <a:cs typeface="Cambria" pitchFamily="34" charset="-120"/>
              </a:rPr>
              <a:t>[The one thing your gap guide names as next. Copy the sentence.]</a:t>
            </a:r>
            <a:endParaRPr lang="en-US" sz="1800" dirty="0"/>
          </a:p>
        </p:txBody>
      </p:sp>
      <p:sp>
        <p:nvSpPr>
          <p:cNvPr id="30" name="Text 28"/>
          <p:cNvSpPr txBox="1"/>
          <p:nvPr/>
        </p:nvSpPr>
        <p:spPr>
          <a:xfrm>
            <a:off x="640080" y="5577840"/>
            <a:ext cx="10911535" cy="640080"/>
          </a:xfrm>
          <a:prstGeom prst="rect">
            <a:avLst/>
          </a:prstGeom>
          <a:noFill/>
          <a:ln/>
        </p:spPr>
        <p:txBody>
          <a:bodyPr wrap="square" lIns="0" tIns="0" rIns="0" bIns="0" rtlCol="0" anchor="ctr"/>
          <a:lstStyle/>
          <a:p>
            <a:pPr indent="0" marL="0">
              <a:lnSpc>
                <a:spcPts val="1700"/>
              </a:lnSpc>
              <a:buNone/>
            </a:pPr>
            <a:r>
              <a:rPr lang="en-US" sz="1250" dirty="0">
                <a:solidFill>
                  <a:srgbClr val="E9C9D6"/>
                </a:solidFill>
                <a:latin typeface="Calibri" pitchFamily="34" charset="0"/>
                <a:ea typeface="Calibri" pitchFamily="34" charset="-122"/>
                <a:cs typeface="Calibri" pitchFamily="34" charset="-120"/>
              </a:rPr>
              <a:t>[Mark each step done, here, or not yet. Your gap guide (gaps.html) shows the same chain and is the source of truth. Copy it, do not improve it.]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COUNTED, NOT ESTIMATED</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By the numbers</a:t>
            </a:r>
            <a:endParaRPr lang="en-US" sz="3400" dirty="0"/>
          </a:p>
        </p:txBody>
      </p:sp>
      <p:sp>
        <p:nvSpPr>
          <p:cNvPr id="4" name="Shape 2"/>
          <p:cNvSpPr/>
          <p:nvPr/>
        </p:nvSpPr>
        <p:spPr>
          <a:xfrm>
            <a:off x="640080" y="1920240"/>
            <a:ext cx="2487854" cy="2468880"/>
          </a:xfrm>
          <a:prstGeom prst="roundRect">
            <a:avLst>
              <a:gd name="adj" fmla="val 333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640080" y="2103120"/>
            <a:ext cx="2487854" cy="1051560"/>
          </a:xfrm>
          <a:prstGeom prst="rect">
            <a:avLst/>
          </a:prstGeom>
          <a:noFill/>
          <a:ln/>
        </p:spPr>
        <p:txBody>
          <a:bodyPr wrap="square" lIns="0" tIns="0" rIns="0" bIns="0" rtlCol="0" anchor="ctr"/>
          <a:lstStyle/>
          <a:p>
            <a:pPr algn="ctr" indent="0" marL="0">
              <a:buNone/>
            </a:pPr>
            <a:r>
              <a:rPr lang="en-US" sz="6000" b="1" dirty="0">
                <a:solidFill>
                  <a:srgbClr val="630031"/>
                </a:solidFill>
                <a:latin typeface="Cambria" pitchFamily="34" charset="0"/>
                <a:ea typeface="Cambria" pitchFamily="34" charset="-122"/>
                <a:cs typeface="Cambria" pitchFamily="34" charset="-120"/>
              </a:rPr>
              <a:t>[N]</a:t>
            </a:r>
            <a:endParaRPr lang="en-US" sz="6000" dirty="0"/>
          </a:p>
        </p:txBody>
      </p:sp>
      <p:sp>
        <p:nvSpPr>
          <p:cNvPr id="6" name="Text 4"/>
          <p:cNvSpPr txBox="1"/>
          <p:nvPr/>
        </p:nvSpPr>
        <p:spPr>
          <a:xfrm>
            <a:off x="640080" y="3246120"/>
            <a:ext cx="2487854" cy="292608"/>
          </a:xfrm>
          <a:prstGeom prst="rect">
            <a:avLst/>
          </a:prstGeom>
          <a:noFill/>
          <a:ln/>
        </p:spPr>
        <p:txBody>
          <a:bodyPr wrap="square" lIns="0" tIns="0" rIns="0" bIns="0" rtlCol="0" anchor="ctr"/>
          <a:lstStyle/>
          <a:p>
            <a:pPr algn="ctr" indent="0" marL="0">
              <a:buNone/>
            </a:pPr>
            <a:r>
              <a:rPr lang="en-US" sz="1500" b="1" dirty="0">
                <a:solidFill>
                  <a:srgbClr val="1C1A19"/>
                </a:solidFill>
                <a:latin typeface="Calibri" pitchFamily="34" charset="0"/>
                <a:ea typeface="Calibri" pitchFamily="34" charset="-122"/>
                <a:cs typeface="Calibri" pitchFamily="34" charset="-120"/>
              </a:rPr>
              <a:t>features</a:t>
            </a:r>
            <a:endParaRPr lang="en-US" sz="1500" dirty="0"/>
          </a:p>
        </p:txBody>
      </p:sp>
      <p:sp>
        <p:nvSpPr>
          <p:cNvPr id="7" name="Text 5"/>
          <p:cNvSpPr txBox="1"/>
          <p:nvPr/>
        </p:nvSpPr>
        <p:spPr>
          <a:xfrm>
            <a:off x="804672" y="3584448"/>
            <a:ext cx="2158670" cy="685800"/>
          </a:xfrm>
          <a:prstGeom prst="rect">
            <a:avLst/>
          </a:prstGeom>
          <a:noFill/>
          <a:ln/>
        </p:spPr>
        <p:txBody>
          <a:bodyPr wrap="square" lIns="0" tIns="0" rIns="0" bIns="0" rtlCol="0" anchor="ctr"/>
          <a:lstStyle/>
          <a:p>
            <a:pPr algn="ctr" indent="0" marL="0">
              <a:lnSpc>
                <a:spcPts val="1600"/>
              </a:lnSpc>
              <a:buNone/>
            </a:pPr>
            <a:r>
              <a:rPr lang="en-US" sz="1200" dirty="0">
                <a:solidFill>
                  <a:srgbClr val="5A5F63"/>
                </a:solidFill>
                <a:latin typeface="Calibri" pitchFamily="34" charset="0"/>
                <a:ea typeface="Calibri" pitchFamily="34" charset="-122"/>
                <a:cs typeface="Calibri" pitchFamily="34" charset="-120"/>
              </a:rPr>
              <a:t>in the plan</a:t>
            </a:r>
            <a:endParaRPr lang="en-US" sz="1200" dirty="0"/>
          </a:p>
        </p:txBody>
      </p:sp>
      <p:sp>
        <p:nvSpPr>
          <p:cNvPr id="8" name="Shape 6"/>
          <p:cNvSpPr/>
          <p:nvPr/>
        </p:nvSpPr>
        <p:spPr>
          <a:xfrm>
            <a:off x="3447974" y="1920240"/>
            <a:ext cx="2487854" cy="2468880"/>
          </a:xfrm>
          <a:prstGeom prst="roundRect">
            <a:avLst>
              <a:gd name="adj" fmla="val 333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3447974" y="2103120"/>
            <a:ext cx="2487854" cy="1051560"/>
          </a:xfrm>
          <a:prstGeom prst="rect">
            <a:avLst/>
          </a:prstGeom>
          <a:noFill/>
          <a:ln/>
        </p:spPr>
        <p:txBody>
          <a:bodyPr wrap="square" lIns="0" tIns="0" rIns="0" bIns="0" rtlCol="0" anchor="ctr"/>
          <a:lstStyle/>
          <a:p>
            <a:pPr algn="ctr" indent="0" marL="0">
              <a:buNone/>
            </a:pPr>
            <a:r>
              <a:rPr lang="en-US" sz="6000" b="1" dirty="0">
                <a:solidFill>
                  <a:srgbClr val="630031"/>
                </a:solidFill>
                <a:latin typeface="Cambria" pitchFamily="34" charset="0"/>
                <a:ea typeface="Cambria" pitchFamily="34" charset="-122"/>
                <a:cs typeface="Cambria" pitchFamily="34" charset="-120"/>
              </a:rPr>
              <a:t>[N]</a:t>
            </a:r>
            <a:endParaRPr lang="en-US" sz="6000" dirty="0"/>
          </a:p>
        </p:txBody>
      </p:sp>
      <p:sp>
        <p:nvSpPr>
          <p:cNvPr id="10" name="Text 8"/>
          <p:cNvSpPr txBox="1"/>
          <p:nvPr/>
        </p:nvSpPr>
        <p:spPr>
          <a:xfrm>
            <a:off x="3447974" y="3246120"/>
            <a:ext cx="2487854" cy="292608"/>
          </a:xfrm>
          <a:prstGeom prst="rect">
            <a:avLst/>
          </a:prstGeom>
          <a:noFill/>
          <a:ln/>
        </p:spPr>
        <p:txBody>
          <a:bodyPr wrap="square" lIns="0" tIns="0" rIns="0" bIns="0" rtlCol="0" anchor="ctr"/>
          <a:lstStyle/>
          <a:p>
            <a:pPr algn="ctr" indent="0" marL="0">
              <a:buNone/>
            </a:pPr>
            <a:r>
              <a:rPr lang="en-US" sz="1500" b="1" dirty="0">
                <a:solidFill>
                  <a:srgbClr val="1C1A19"/>
                </a:solidFill>
                <a:latin typeface="Calibri" pitchFamily="34" charset="0"/>
                <a:ea typeface="Calibri" pitchFamily="34" charset="-122"/>
                <a:cs typeface="Calibri" pitchFamily="34" charset="-120"/>
              </a:rPr>
              <a:t>user stories</a:t>
            </a:r>
            <a:endParaRPr lang="en-US" sz="1500" dirty="0"/>
          </a:p>
        </p:txBody>
      </p:sp>
      <p:sp>
        <p:nvSpPr>
          <p:cNvPr id="11" name="Text 9"/>
          <p:cNvSpPr txBox="1"/>
          <p:nvPr/>
        </p:nvSpPr>
        <p:spPr>
          <a:xfrm>
            <a:off x="3612566" y="3584448"/>
            <a:ext cx="2158670" cy="685800"/>
          </a:xfrm>
          <a:prstGeom prst="rect">
            <a:avLst/>
          </a:prstGeom>
          <a:noFill/>
          <a:ln/>
        </p:spPr>
        <p:txBody>
          <a:bodyPr wrap="square" lIns="0" tIns="0" rIns="0" bIns="0" rtlCol="0" anchor="ctr"/>
          <a:lstStyle/>
          <a:p>
            <a:pPr algn="ctr" indent="0" marL="0">
              <a:lnSpc>
                <a:spcPts val="1600"/>
              </a:lnSpc>
              <a:buNone/>
            </a:pPr>
            <a:r>
              <a:rPr lang="en-US" sz="1200" dirty="0">
                <a:solidFill>
                  <a:srgbClr val="5A5F63"/>
                </a:solidFill>
                <a:latin typeface="Calibri" pitchFamily="34" charset="0"/>
                <a:ea typeface="Calibri" pitchFamily="34" charset="-122"/>
                <a:cs typeface="Calibri" pitchFamily="34" charset="-120"/>
              </a:rPr>
              <a:t>with acceptance criteria</a:t>
            </a:r>
            <a:endParaRPr lang="en-US" sz="1200" dirty="0"/>
          </a:p>
        </p:txBody>
      </p:sp>
      <p:sp>
        <p:nvSpPr>
          <p:cNvPr id="12" name="Shape 10"/>
          <p:cNvSpPr/>
          <p:nvPr/>
        </p:nvSpPr>
        <p:spPr>
          <a:xfrm>
            <a:off x="6255868" y="1920240"/>
            <a:ext cx="2487854" cy="2468880"/>
          </a:xfrm>
          <a:prstGeom prst="roundRect">
            <a:avLst>
              <a:gd name="adj" fmla="val 333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6255868" y="2103120"/>
            <a:ext cx="2487854" cy="1051560"/>
          </a:xfrm>
          <a:prstGeom prst="rect">
            <a:avLst/>
          </a:prstGeom>
          <a:noFill/>
          <a:ln/>
        </p:spPr>
        <p:txBody>
          <a:bodyPr wrap="square" lIns="0" tIns="0" rIns="0" bIns="0" rtlCol="0" anchor="ctr"/>
          <a:lstStyle/>
          <a:p>
            <a:pPr algn="ctr" indent="0" marL="0">
              <a:buNone/>
            </a:pPr>
            <a:r>
              <a:rPr lang="en-US" sz="6000" b="1" dirty="0">
                <a:solidFill>
                  <a:srgbClr val="630031"/>
                </a:solidFill>
                <a:latin typeface="Cambria" pitchFamily="34" charset="0"/>
                <a:ea typeface="Cambria" pitchFamily="34" charset="-122"/>
                <a:cs typeface="Cambria" pitchFamily="34" charset="-120"/>
              </a:rPr>
              <a:t>[N]</a:t>
            </a:r>
            <a:endParaRPr lang="en-US" sz="6000" dirty="0"/>
          </a:p>
        </p:txBody>
      </p:sp>
      <p:sp>
        <p:nvSpPr>
          <p:cNvPr id="14" name="Text 12"/>
          <p:cNvSpPr txBox="1"/>
          <p:nvPr/>
        </p:nvSpPr>
        <p:spPr>
          <a:xfrm>
            <a:off x="6255868" y="3246120"/>
            <a:ext cx="2487854" cy="292608"/>
          </a:xfrm>
          <a:prstGeom prst="rect">
            <a:avLst/>
          </a:prstGeom>
          <a:noFill/>
          <a:ln/>
        </p:spPr>
        <p:txBody>
          <a:bodyPr wrap="square" lIns="0" tIns="0" rIns="0" bIns="0" rtlCol="0" anchor="ctr"/>
          <a:lstStyle/>
          <a:p>
            <a:pPr algn="ctr" indent="0" marL="0">
              <a:buNone/>
            </a:pPr>
            <a:r>
              <a:rPr lang="en-US" sz="1500" b="1" dirty="0">
                <a:solidFill>
                  <a:srgbClr val="1C1A19"/>
                </a:solidFill>
                <a:latin typeface="Calibri" pitchFamily="34" charset="0"/>
                <a:ea typeface="Calibri" pitchFamily="34" charset="-122"/>
                <a:cs typeface="Calibri" pitchFamily="34" charset="-120"/>
              </a:rPr>
              <a:t>screens</a:t>
            </a:r>
            <a:endParaRPr lang="en-US" sz="1500" dirty="0"/>
          </a:p>
        </p:txBody>
      </p:sp>
      <p:sp>
        <p:nvSpPr>
          <p:cNvPr id="15" name="Text 13"/>
          <p:cNvSpPr txBox="1"/>
          <p:nvPr/>
        </p:nvSpPr>
        <p:spPr>
          <a:xfrm>
            <a:off x="6420460" y="3584448"/>
            <a:ext cx="2158670" cy="685800"/>
          </a:xfrm>
          <a:prstGeom prst="rect">
            <a:avLst/>
          </a:prstGeom>
          <a:noFill/>
          <a:ln/>
        </p:spPr>
        <p:txBody>
          <a:bodyPr wrap="square" lIns="0" tIns="0" rIns="0" bIns="0" rtlCol="0" anchor="ctr"/>
          <a:lstStyle/>
          <a:p>
            <a:pPr algn="ctr" indent="0" marL="0">
              <a:lnSpc>
                <a:spcPts val="1600"/>
              </a:lnSpc>
              <a:buNone/>
            </a:pPr>
            <a:r>
              <a:rPr lang="en-US" sz="1200" dirty="0">
                <a:solidFill>
                  <a:srgbClr val="5A5F63"/>
                </a:solidFill>
                <a:latin typeface="Calibri" pitchFamily="34" charset="0"/>
                <a:ea typeface="Calibri" pitchFamily="34" charset="-122"/>
                <a:cs typeface="Calibri" pitchFamily="34" charset="-120"/>
              </a:rPr>
              <a:t>in the prototype</a:t>
            </a:r>
            <a:endParaRPr lang="en-US" sz="1200" dirty="0"/>
          </a:p>
        </p:txBody>
      </p:sp>
      <p:sp>
        <p:nvSpPr>
          <p:cNvPr id="16" name="Shape 14"/>
          <p:cNvSpPr/>
          <p:nvPr/>
        </p:nvSpPr>
        <p:spPr>
          <a:xfrm>
            <a:off x="9063761" y="1920240"/>
            <a:ext cx="2487854" cy="2468880"/>
          </a:xfrm>
          <a:prstGeom prst="roundRect">
            <a:avLst>
              <a:gd name="adj" fmla="val 333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Text 15"/>
          <p:cNvSpPr txBox="1"/>
          <p:nvPr/>
        </p:nvSpPr>
        <p:spPr>
          <a:xfrm>
            <a:off x="9063761" y="2103120"/>
            <a:ext cx="2487854" cy="1051560"/>
          </a:xfrm>
          <a:prstGeom prst="rect">
            <a:avLst/>
          </a:prstGeom>
          <a:noFill/>
          <a:ln/>
        </p:spPr>
        <p:txBody>
          <a:bodyPr wrap="square" lIns="0" tIns="0" rIns="0" bIns="0" rtlCol="0" anchor="ctr"/>
          <a:lstStyle/>
          <a:p>
            <a:pPr algn="ctr" indent="0" marL="0">
              <a:buNone/>
            </a:pPr>
            <a:r>
              <a:rPr lang="en-US" sz="3200" b="1" dirty="0">
                <a:solidFill>
                  <a:srgbClr val="630031"/>
                </a:solidFill>
                <a:latin typeface="Cambria" pitchFamily="34" charset="0"/>
                <a:ea typeface="Cambria" pitchFamily="34" charset="-122"/>
                <a:cs typeface="Cambria" pitchFamily="34" charset="-120"/>
              </a:rPr>
              <a:t>[N] of [N]</a:t>
            </a:r>
            <a:endParaRPr lang="en-US" sz="3200" dirty="0"/>
          </a:p>
        </p:txBody>
      </p:sp>
      <p:sp>
        <p:nvSpPr>
          <p:cNvPr id="18" name="Text 16"/>
          <p:cNvSpPr txBox="1"/>
          <p:nvPr/>
        </p:nvSpPr>
        <p:spPr>
          <a:xfrm>
            <a:off x="9063761" y="3246120"/>
            <a:ext cx="2487854" cy="292608"/>
          </a:xfrm>
          <a:prstGeom prst="rect">
            <a:avLst/>
          </a:prstGeom>
          <a:noFill/>
          <a:ln/>
        </p:spPr>
        <p:txBody>
          <a:bodyPr wrap="square" lIns="0" tIns="0" rIns="0" bIns="0" rtlCol="0" anchor="ctr"/>
          <a:lstStyle/>
          <a:p>
            <a:pPr algn="ctr" indent="0" marL="0">
              <a:buNone/>
            </a:pPr>
            <a:r>
              <a:rPr lang="en-US" sz="1500" b="1" dirty="0">
                <a:solidFill>
                  <a:srgbClr val="1C1A19"/>
                </a:solidFill>
                <a:latin typeface="Calibri" pitchFamily="34" charset="0"/>
                <a:ea typeface="Calibri" pitchFamily="34" charset="-122"/>
                <a:cs typeface="Calibri" pitchFamily="34" charset="-120"/>
              </a:rPr>
              <a:t>build cards</a:t>
            </a:r>
            <a:endParaRPr lang="en-US" sz="1500" dirty="0"/>
          </a:p>
        </p:txBody>
      </p:sp>
      <p:sp>
        <p:nvSpPr>
          <p:cNvPr id="19" name="Text 17"/>
          <p:cNvSpPr txBox="1"/>
          <p:nvPr/>
        </p:nvSpPr>
        <p:spPr>
          <a:xfrm>
            <a:off x="9228353" y="3584448"/>
            <a:ext cx="2158670" cy="685800"/>
          </a:xfrm>
          <a:prstGeom prst="rect">
            <a:avLst/>
          </a:prstGeom>
          <a:noFill/>
          <a:ln/>
        </p:spPr>
        <p:txBody>
          <a:bodyPr wrap="square" lIns="0" tIns="0" rIns="0" bIns="0" rtlCol="0" anchor="ctr"/>
          <a:lstStyle/>
          <a:p>
            <a:pPr algn="ctr" indent="0" marL="0">
              <a:lnSpc>
                <a:spcPts val="1600"/>
              </a:lnSpc>
              <a:buNone/>
            </a:pPr>
            <a:r>
              <a:rPr lang="en-US" sz="1200" dirty="0">
                <a:solidFill>
                  <a:srgbClr val="5A5F63"/>
                </a:solidFill>
                <a:latin typeface="Calibri" pitchFamily="34" charset="0"/>
                <a:ea typeface="Calibri" pitchFamily="34" charset="-122"/>
                <a:cs typeface="Calibri" pitchFamily="34" charset="-120"/>
              </a:rPr>
              <a:t>ticked done</a:t>
            </a:r>
            <a:endParaRPr lang="en-US" sz="1200" dirty="0"/>
          </a:p>
        </p:txBody>
      </p:sp>
      <p:sp>
        <p:nvSpPr>
          <p:cNvPr id="20" name="Text 18"/>
          <p:cNvSpPr txBox="1"/>
          <p:nvPr/>
        </p:nvSpPr>
        <p:spPr>
          <a:xfrm>
            <a:off x="640080" y="4800600"/>
            <a:ext cx="10911535" cy="822960"/>
          </a:xfrm>
          <a:prstGeom prst="rect">
            <a:avLst/>
          </a:prstGeom>
          <a:noFill/>
          <a:ln/>
        </p:spPr>
        <p:txBody>
          <a:bodyPr wrap="square" lIns="0" tIns="0" rIns="0" bIns="0" rtlCol="0" anchor="t"/>
          <a:lstStyle/>
          <a:p>
            <a:pPr indent="0" marL="0">
              <a:lnSpc>
                <a:spcPts val="2200"/>
              </a:lnSpc>
              <a:buNone/>
            </a:pPr>
            <a:r>
              <a:rPr lang="en-US" sz="1500" dirty="0">
                <a:solidFill>
                  <a:srgbClr val="75787B"/>
                </a:solidFill>
                <a:latin typeface="Calibri" pitchFamily="34" charset="0"/>
                <a:ea typeface="Calibri" pitchFamily="34" charset="-122"/>
                <a:cs typeface="Calibri" pitchFamily="34" charset="-120"/>
              </a:rPr>
              <a:t>[Every number here should be one you can point at: the prototype's How this was made screen, your board, or your gap guide.]</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DEMO</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you are about to see</a:t>
            </a:r>
            <a:endParaRPr lang="en-US" sz="3400" dirty="0"/>
          </a:p>
        </p:txBody>
      </p:sp>
      <p:sp>
        <p:nvSpPr>
          <p:cNvPr id="4" name="Shape 2"/>
          <p:cNvSpPr/>
          <p:nvPr/>
        </p:nvSpPr>
        <p:spPr>
          <a:xfrm>
            <a:off x="640080" y="1828800"/>
            <a:ext cx="384048" cy="384048"/>
          </a:xfrm>
          <a:prstGeom prst="ellipse">
            <a:avLst/>
          </a:prstGeom>
          <a:solidFill>
            <a:srgbClr val="CF4420"/>
          </a:solidFill>
          <a:ln w="12700">
            <a:solidFill>
              <a:srgbClr val="333333"/>
            </a:solidFill>
            <a:prstDash val="solid"/>
          </a:ln>
        </p:spPr>
      </p:sp>
      <p:sp>
        <p:nvSpPr>
          <p:cNvPr id="5" name="Text 3"/>
          <p:cNvSpPr txBox="1"/>
          <p:nvPr/>
        </p:nvSpPr>
        <p:spPr>
          <a:xfrm>
            <a:off x="640080" y="182880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234440" y="1783080"/>
            <a:ext cx="5715000" cy="320040"/>
          </a:xfrm>
          <a:prstGeom prst="rect">
            <a:avLst/>
          </a:prstGeom>
          <a:noFill/>
          <a:ln/>
        </p:spPr>
        <p:txBody>
          <a:bodyPr wrap="square" lIns="0" tIns="0" rIns="0" bIns="0" rtlCol="0" anchor="ctr"/>
          <a:lstStyle/>
          <a:p>
            <a:pPr indent="0" marL="0">
              <a:buNone/>
            </a:pPr>
            <a:r>
              <a:rPr lang="en-US" sz="1600" b="1" dirty="0">
                <a:solidFill>
                  <a:srgbClr val="630031"/>
                </a:solidFill>
                <a:latin typeface="Cambria" pitchFamily="34" charset="0"/>
                <a:ea typeface="Cambria" pitchFamily="34" charset="-122"/>
                <a:cs typeface="Cambria" pitchFamily="34" charset="-120"/>
              </a:rPr>
              <a:t>[Step 1]</a:t>
            </a:r>
            <a:endParaRPr lang="en-US" sz="1600" dirty="0"/>
          </a:p>
        </p:txBody>
      </p:sp>
      <p:sp>
        <p:nvSpPr>
          <p:cNvPr id="7" name="Text 5"/>
          <p:cNvSpPr txBox="1"/>
          <p:nvPr/>
        </p:nvSpPr>
        <p:spPr>
          <a:xfrm>
            <a:off x="1234440" y="2112264"/>
            <a:ext cx="5715000" cy="621792"/>
          </a:xfrm>
          <a:prstGeom prst="rect">
            <a:avLst/>
          </a:prstGeom>
          <a:noFill/>
          <a:ln/>
        </p:spPr>
        <p:txBody>
          <a:bodyPr wrap="square" lIns="0" tIns="0" rIns="0" bIns="0" rtlCol="0" anchor="t"/>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[Which screen you open and what you tap. Name the user you are showing it as.]</a:t>
            </a:r>
            <a:endParaRPr lang="en-US" sz="1200" dirty="0"/>
          </a:p>
        </p:txBody>
      </p:sp>
      <p:sp>
        <p:nvSpPr>
          <p:cNvPr id="8" name="Shape 6"/>
          <p:cNvSpPr/>
          <p:nvPr/>
        </p:nvSpPr>
        <p:spPr>
          <a:xfrm>
            <a:off x="640080" y="2788920"/>
            <a:ext cx="384048" cy="384048"/>
          </a:xfrm>
          <a:prstGeom prst="ellipse">
            <a:avLst/>
          </a:prstGeom>
          <a:solidFill>
            <a:srgbClr val="CF4420"/>
          </a:solidFill>
          <a:ln w="12700">
            <a:solidFill>
              <a:srgbClr val="333333"/>
            </a:solidFill>
            <a:prstDash val="solid"/>
          </a:ln>
        </p:spPr>
      </p:sp>
      <p:sp>
        <p:nvSpPr>
          <p:cNvPr id="9" name="Text 7"/>
          <p:cNvSpPr txBox="1"/>
          <p:nvPr/>
        </p:nvSpPr>
        <p:spPr>
          <a:xfrm>
            <a:off x="640080" y="278892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234440" y="2743200"/>
            <a:ext cx="5715000" cy="320040"/>
          </a:xfrm>
          <a:prstGeom prst="rect">
            <a:avLst/>
          </a:prstGeom>
          <a:noFill/>
          <a:ln/>
        </p:spPr>
        <p:txBody>
          <a:bodyPr wrap="square" lIns="0" tIns="0" rIns="0" bIns="0" rtlCol="0" anchor="ctr"/>
          <a:lstStyle/>
          <a:p>
            <a:pPr indent="0" marL="0">
              <a:buNone/>
            </a:pPr>
            <a:r>
              <a:rPr lang="en-US" sz="1600" b="1" dirty="0">
                <a:solidFill>
                  <a:srgbClr val="630031"/>
                </a:solidFill>
                <a:latin typeface="Cambria" pitchFamily="34" charset="0"/>
                <a:ea typeface="Cambria" pitchFamily="34" charset="-122"/>
                <a:cs typeface="Cambria" pitchFamily="34" charset="-120"/>
              </a:rPr>
              <a:t>[Step 2]</a:t>
            </a:r>
            <a:endParaRPr lang="en-US" sz="1600" dirty="0"/>
          </a:p>
        </p:txBody>
      </p:sp>
      <p:sp>
        <p:nvSpPr>
          <p:cNvPr id="11" name="Text 9"/>
          <p:cNvSpPr txBox="1"/>
          <p:nvPr/>
        </p:nvSpPr>
        <p:spPr>
          <a:xfrm>
            <a:off x="1234440" y="3072384"/>
            <a:ext cx="5715000" cy="621792"/>
          </a:xfrm>
          <a:prstGeom prst="rect">
            <a:avLst/>
          </a:prstGeom>
          <a:noFill/>
          <a:ln/>
        </p:spPr>
        <p:txBody>
          <a:bodyPr wrap="square" lIns="0" tIns="0" rIns="0" bIns="0" rtlCol="0" anchor="t"/>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[What happens next. Say the story it comes from.]</a:t>
            </a:r>
            <a:endParaRPr lang="en-US" sz="1200" dirty="0"/>
          </a:p>
        </p:txBody>
      </p:sp>
      <p:sp>
        <p:nvSpPr>
          <p:cNvPr id="12" name="Shape 10"/>
          <p:cNvSpPr/>
          <p:nvPr/>
        </p:nvSpPr>
        <p:spPr>
          <a:xfrm>
            <a:off x="640080" y="3749040"/>
            <a:ext cx="384048" cy="384048"/>
          </a:xfrm>
          <a:prstGeom prst="ellipse">
            <a:avLst/>
          </a:prstGeom>
          <a:solidFill>
            <a:srgbClr val="CF4420"/>
          </a:solidFill>
          <a:ln w="12700">
            <a:solidFill>
              <a:srgbClr val="333333"/>
            </a:solidFill>
            <a:prstDash val="solid"/>
          </a:ln>
        </p:spPr>
      </p:sp>
      <p:sp>
        <p:nvSpPr>
          <p:cNvPr id="13" name="Text 11"/>
          <p:cNvSpPr txBox="1"/>
          <p:nvPr/>
        </p:nvSpPr>
        <p:spPr>
          <a:xfrm>
            <a:off x="640080" y="374904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234440" y="3703320"/>
            <a:ext cx="5715000" cy="320040"/>
          </a:xfrm>
          <a:prstGeom prst="rect">
            <a:avLst/>
          </a:prstGeom>
          <a:noFill/>
          <a:ln/>
        </p:spPr>
        <p:txBody>
          <a:bodyPr wrap="square" lIns="0" tIns="0" rIns="0" bIns="0" rtlCol="0" anchor="ctr"/>
          <a:lstStyle/>
          <a:p>
            <a:pPr indent="0" marL="0">
              <a:buNone/>
            </a:pPr>
            <a:r>
              <a:rPr lang="en-US" sz="1600" b="1" dirty="0">
                <a:solidFill>
                  <a:srgbClr val="630031"/>
                </a:solidFill>
                <a:latin typeface="Cambria" pitchFamily="34" charset="0"/>
                <a:ea typeface="Cambria" pitchFamily="34" charset="-122"/>
                <a:cs typeface="Cambria" pitchFamily="34" charset="-120"/>
              </a:rPr>
              <a:t>[Step 3]</a:t>
            </a:r>
            <a:endParaRPr lang="en-US" sz="1600" dirty="0"/>
          </a:p>
        </p:txBody>
      </p:sp>
      <p:sp>
        <p:nvSpPr>
          <p:cNvPr id="15" name="Text 13"/>
          <p:cNvSpPr txBox="1"/>
          <p:nvPr/>
        </p:nvSpPr>
        <p:spPr>
          <a:xfrm>
            <a:off x="1234440" y="4032504"/>
            <a:ext cx="5715000" cy="621792"/>
          </a:xfrm>
          <a:prstGeom prst="rect">
            <a:avLst/>
          </a:prstGeom>
          <a:noFill/>
          <a:ln/>
        </p:spPr>
        <p:txBody>
          <a:bodyPr wrap="square" lIns="0" tIns="0" rIns="0" bIns="0" rtlCol="0" anchor="t"/>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[The bad day: an empty state, a refused save, a missing story. Show one on purpose.]</a:t>
            </a:r>
            <a:endParaRPr lang="en-US" sz="1200" dirty="0"/>
          </a:p>
        </p:txBody>
      </p:sp>
      <p:sp>
        <p:nvSpPr>
          <p:cNvPr id="16" name="Shape 14"/>
          <p:cNvSpPr/>
          <p:nvPr/>
        </p:nvSpPr>
        <p:spPr>
          <a:xfrm>
            <a:off x="640080" y="4709160"/>
            <a:ext cx="384048" cy="384048"/>
          </a:xfrm>
          <a:prstGeom prst="ellipse">
            <a:avLst/>
          </a:prstGeom>
          <a:solidFill>
            <a:srgbClr val="CF4420"/>
          </a:solidFill>
          <a:ln w="12700">
            <a:solidFill>
              <a:srgbClr val="333333"/>
            </a:solidFill>
            <a:prstDash val="solid"/>
          </a:ln>
        </p:spPr>
      </p:sp>
      <p:sp>
        <p:nvSpPr>
          <p:cNvPr id="17" name="Text 15"/>
          <p:cNvSpPr txBox="1"/>
          <p:nvPr/>
        </p:nvSpPr>
        <p:spPr>
          <a:xfrm>
            <a:off x="640080" y="4709160"/>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1234440" y="4663440"/>
            <a:ext cx="5715000" cy="320040"/>
          </a:xfrm>
          <a:prstGeom prst="rect">
            <a:avLst/>
          </a:prstGeom>
          <a:noFill/>
          <a:ln/>
        </p:spPr>
        <p:txBody>
          <a:bodyPr wrap="square" lIns="0" tIns="0" rIns="0" bIns="0" rtlCol="0" anchor="ctr"/>
          <a:lstStyle/>
          <a:p>
            <a:pPr indent="0" marL="0">
              <a:buNone/>
            </a:pPr>
            <a:r>
              <a:rPr lang="en-US" sz="1600" b="1" dirty="0">
                <a:solidFill>
                  <a:srgbClr val="630031"/>
                </a:solidFill>
                <a:latin typeface="Cambria" pitchFamily="34" charset="0"/>
                <a:ea typeface="Cambria" pitchFamily="34" charset="-122"/>
                <a:cs typeface="Cambria" pitchFamily="34" charset="-120"/>
              </a:rPr>
              <a:t>[Step 4]</a:t>
            </a:r>
            <a:endParaRPr lang="en-US" sz="1600" dirty="0"/>
          </a:p>
        </p:txBody>
      </p:sp>
      <p:sp>
        <p:nvSpPr>
          <p:cNvPr id="19" name="Text 17"/>
          <p:cNvSpPr txBox="1"/>
          <p:nvPr/>
        </p:nvSpPr>
        <p:spPr>
          <a:xfrm>
            <a:off x="1234440" y="4992624"/>
            <a:ext cx="5715000" cy="621792"/>
          </a:xfrm>
          <a:prstGeom prst="rect">
            <a:avLst/>
          </a:prstGeom>
          <a:noFill/>
          <a:ln/>
        </p:spPr>
        <p:txBody>
          <a:bodyPr wrap="square" lIns="0" tIns="0" rIns="0" bIns="0" rtlCol="0" anchor="t"/>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[Where it stops. The last thing that works and the first thing that does not.]</a:t>
            </a:r>
            <a:endParaRPr lang="en-US" sz="1200" dirty="0"/>
          </a:p>
        </p:txBody>
      </p:sp>
      <p:sp>
        <p:nvSpPr>
          <p:cNvPr id="20" name="Shape 18"/>
          <p:cNvSpPr/>
          <p:nvPr/>
        </p:nvSpPr>
        <p:spPr>
          <a:xfrm>
            <a:off x="7406640" y="1783080"/>
            <a:ext cx="4144975" cy="2788920"/>
          </a:xfrm>
          <a:prstGeom prst="roundRect">
            <a:avLst>
              <a:gd name="adj" fmla="val 295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1" name="Text 19"/>
          <p:cNvSpPr txBox="1"/>
          <p:nvPr/>
        </p:nvSpPr>
        <p:spPr>
          <a:xfrm>
            <a:off x="7726680" y="2011680"/>
            <a:ext cx="3504895" cy="274320"/>
          </a:xfrm>
          <a:prstGeom prst="rect">
            <a:avLst/>
          </a:prstGeom>
          <a:noFill/>
          <a:ln/>
        </p:spPr>
        <p:txBody>
          <a:bodyPr wrap="square" lIns="0" tIns="0" rIns="0" bIns="0" rtlCol="0" anchor="ctr"/>
          <a:lstStyle/>
          <a:p>
            <a:pPr indent="0" marL="0">
              <a:buNone/>
            </a:pPr>
            <a:r>
              <a:rPr lang="en-US" sz="1100" b="1" spc="200" kern="0" dirty="0">
                <a:solidFill>
                  <a:srgbClr val="CF4420"/>
                </a:solidFill>
                <a:latin typeface="Calibri" pitchFamily="34" charset="0"/>
                <a:ea typeface="Calibri" pitchFamily="34" charset="-122"/>
                <a:cs typeface="Calibri" pitchFamily="34" charset="-120"/>
              </a:rPr>
              <a:t>LOOK FOR</a:t>
            </a:r>
            <a:endParaRPr lang="en-US" sz="1100" dirty="0"/>
          </a:p>
        </p:txBody>
      </p:sp>
      <p:sp>
        <p:nvSpPr>
          <p:cNvPr id="22" name="Text 20"/>
          <p:cNvSpPr txBox="1"/>
          <p:nvPr/>
        </p:nvSpPr>
        <p:spPr>
          <a:xfrm>
            <a:off x="7726680" y="2331720"/>
            <a:ext cx="3504895" cy="2148840"/>
          </a:xfrm>
          <a:prstGeom prst="rect">
            <a:avLst/>
          </a:prstGeom>
          <a:noFill/>
          <a:ln/>
        </p:spPr>
        <p:txBody>
          <a:bodyPr wrap="square" lIns="0" tIns="0" rIns="0" bIns="0" rtlCol="0" anchor="t"/>
          <a:lstStyle/>
          <a:p>
            <a:pPr marL="342900" indent="-342900">
              <a:lnSpc>
                <a:spcPts val="1800"/>
              </a:lnSpc>
              <a:spcAft>
                <a:spcPts val="800"/>
              </a:spcAft>
              <a:buSzPct val="100000"/>
              <a:buChar char="•"/>
            </a:pPr>
            <a:r>
              <a:rPr lang="en-US" sz="1300" dirty="0">
                <a:solidFill>
                  <a:srgbClr val="1C1A19"/>
                </a:solidFill>
                <a:latin typeface="Calibri" pitchFamily="34" charset="0"/>
                <a:ea typeface="Calibri" pitchFamily="34" charset="-122"/>
                <a:cs typeface="Calibri" pitchFamily="34" charset="-120"/>
              </a:rPr>
              <a:t>[One thing the audience should notice, in their words]</a:t>
            </a:r>
            <a:endParaRPr lang="en-US" sz="1300" dirty="0"/>
          </a:p>
          <a:p>
            <a:pPr marL="342900" indent="-342900">
              <a:lnSpc>
                <a:spcPts val="1800"/>
              </a:lnSpc>
              <a:spcAft>
                <a:spcPts val="800"/>
              </a:spcAft>
              <a:buSzPct val="100000"/>
              <a:buChar char="•"/>
            </a:pPr>
            <a:r>
              <a:rPr lang="en-US" sz="1300" dirty="0">
                <a:solidFill>
                  <a:srgbClr val="1C1A19"/>
                </a:solidFill>
                <a:latin typeface="Calibri" pitchFamily="34" charset="0"/>
                <a:ea typeface="Calibri" pitchFamily="34" charset="-122"/>
                <a:cs typeface="Calibri" pitchFamily="34" charset="-120"/>
              </a:rPr>
              <a:t>[A second thing]</a:t>
            </a:r>
            <a:endParaRPr lang="en-US" sz="1300" dirty="0"/>
          </a:p>
          <a:p>
            <a:pPr marL="342900" indent="-342900">
              <a:lnSpc>
                <a:spcPts val="1800"/>
              </a:lnSpc>
              <a:spcAft>
                <a:spcPts val="800"/>
              </a:spcAft>
              <a:buSzPct val="100000"/>
              <a:buChar char="•"/>
            </a:pPr>
            <a:r>
              <a:rPr lang="en-US" sz="1300" dirty="0">
                <a:solidFill>
                  <a:srgbClr val="1C1A19"/>
                </a:solidFill>
                <a:latin typeface="Calibri" pitchFamily="34" charset="0"/>
                <a:ea typeface="Calibri" pitchFamily="34" charset="-122"/>
                <a:cs typeface="Calibri" pitchFamily="34" charset="-120"/>
              </a:rPr>
              <a:t>[The thing that does not work yet, named before they see it]</a:t>
            </a:r>
            <a:endParaRPr lang="en-US" sz="1300" dirty="0"/>
          </a:p>
        </p:txBody>
      </p:sp>
      <p:sp>
        <p:nvSpPr>
          <p:cNvPr id="23" name="Shape 21"/>
          <p:cNvSpPr/>
          <p:nvPr/>
        </p:nvSpPr>
        <p:spPr>
          <a:xfrm>
            <a:off x="7406640" y="4709160"/>
            <a:ext cx="4144975" cy="1280160"/>
          </a:xfrm>
          <a:prstGeom prst="roundRect">
            <a:avLst>
              <a:gd name="adj" fmla="val 6429"/>
            </a:avLst>
          </a:prstGeom>
          <a:solidFill>
            <a:srgbClr val="630031"/>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4" name="Text 22"/>
          <p:cNvSpPr txBox="1"/>
          <p:nvPr/>
        </p:nvSpPr>
        <p:spPr>
          <a:xfrm>
            <a:off x="7726680" y="4818888"/>
            <a:ext cx="3504895" cy="548640"/>
          </a:xfrm>
          <a:prstGeom prst="rect">
            <a:avLst/>
          </a:prstGeom>
          <a:noFill/>
          <a:ln/>
        </p:spPr>
        <p:txBody>
          <a:bodyPr wrap="square" lIns="0" tIns="0" rIns="0" bIns="0" rtlCol="0" anchor="t"/>
          <a:lstStyle/>
          <a:p>
            <a:pPr indent="0" marL="0">
              <a:lnSpc>
                <a:spcPts val="1500"/>
              </a:lnSpc>
              <a:buNone/>
            </a:pPr>
            <a:r>
              <a:rPr lang="en-US" sz="1150" b="1" dirty="0">
                <a:solidFill>
                  <a:srgbClr val="FFFFFF"/>
                </a:solidFill>
                <a:latin typeface="Calibri" pitchFamily="34" charset="0"/>
                <a:ea typeface="Calibri" pitchFamily="34" charset="-122"/>
                <a:cs typeface="Calibri" pitchFamily="34" charset="-120"/>
              </a:rPr>
              <a:t>[doubleblaze.solutions/prototypes/&lt;team-folder&gt;/ or your Anvil app link]</a:t>
            </a:r>
            <a:endParaRPr lang="en-US" sz="1150" dirty="0"/>
          </a:p>
        </p:txBody>
      </p:sp>
      <p:sp>
        <p:nvSpPr>
          <p:cNvPr id="25" name="Text 23"/>
          <p:cNvSpPr txBox="1"/>
          <p:nvPr/>
        </p:nvSpPr>
        <p:spPr>
          <a:xfrm>
            <a:off x="7726680" y="5413248"/>
            <a:ext cx="3504895" cy="502920"/>
          </a:xfrm>
          <a:prstGeom prst="rect">
            <a:avLst/>
          </a:prstGeom>
          <a:noFill/>
          <a:ln/>
        </p:spPr>
        <p:txBody>
          <a:bodyPr wrap="square" lIns="0" tIns="0" rIns="0" bIns="0" rtlCol="0" anchor="t"/>
          <a:lstStyle/>
          <a:p>
            <a:pPr indent="0" marL="0">
              <a:lnSpc>
                <a:spcPts val="1300"/>
              </a:lnSpc>
              <a:buNone/>
            </a:pPr>
            <a:r>
              <a:rPr lang="en-US" sz="1000" dirty="0">
                <a:solidFill>
                  <a:srgbClr val="E9C9D6"/>
                </a:solidFill>
                <a:latin typeface="Calibri" pitchFamily="34" charset="0"/>
                <a:ea typeface="Calibri" pitchFamily="34" charset="-122"/>
                <a:cs typeface="Calibri" pitchFamily="34" charset="-120"/>
              </a:rPr>
              <a:t>[Backup: screenshots in a second file, or the prototype on a phone]</a:t>
            </a:r>
            <a:endParaRPr lang="en-US" sz="1000" dirty="0"/>
          </a:p>
        </p:txBody>
      </p:sp>
      <p:sp>
        <p:nvSpPr>
          <p:cNvPr id="26" name="Text 24"/>
          <p:cNvSpPr txBox="1"/>
          <p:nvPr/>
        </p:nvSpPr>
        <p:spPr>
          <a:xfrm>
            <a:off x="640080" y="6263640"/>
            <a:ext cx="10911535" cy="274320"/>
          </a:xfrm>
          <a:prstGeom prst="rect">
            <a:avLst/>
          </a:prstGeom>
          <a:noFill/>
          <a:ln/>
        </p:spPr>
        <p:txBody>
          <a:bodyPr wrap="square" lIns="0" tIns="0" rIns="0" bIns="0" rtlCol="0" anchor="ctr"/>
          <a:lstStyle/>
          <a:p>
            <a:pPr indent="0" marL="0">
              <a:buNone/>
            </a:pPr>
            <a:r>
              <a:rPr lang="en-US" sz="1100" dirty="0">
                <a:solidFill>
                  <a:srgbClr val="75787B"/>
                </a:solidFill>
                <a:latin typeface="Calibri" pitchFamily="34" charset="0"/>
                <a:ea typeface="Calibri" pitchFamily="34" charset="-122"/>
                <a:cs typeface="Calibri" pitchFamily="34" charset="-120"/>
              </a:rPr>
              <a:t>[Four steps, three minutes. Step three is always the bad day. Step four is always where it stops.]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4A0025"/>
        </a:solidFill>
      </p:bgPr>
    </p:bg>
    <p:spTree>
      <p:nvGrpSpPr>
        <p:cNvPr id="1" name=""/>
        <p:cNvGrpSpPr/>
        <p:nvPr/>
      </p:nvGrpSpPr>
      <p:grpSpPr>
        <a:xfrm>
          <a:off x="0" y="0"/>
          <a:ext cx="0" cy="0"/>
          <a:chOff x="0" y="0"/>
          <a:chExt cx="0" cy="0"/>
        </a:xfrm>
      </p:grpSpPr>
      <p:sp>
        <p:nvSpPr>
          <p:cNvPr id="2" name="Shape 0"/>
          <p:cNvSpPr/>
          <p:nvPr/>
        </p:nvSpPr>
        <p:spPr>
          <a:xfrm>
            <a:off x="-2011680" y="3291840"/>
            <a:ext cx="5486400" cy="5486400"/>
          </a:xfrm>
          <a:prstGeom prst="ellipse">
            <a:avLst/>
          </a:prstGeom>
          <a:solidFill>
            <a:srgbClr val="630031"/>
          </a:solidFill>
          <a:ln w="12700">
            <a:solidFill>
              <a:srgbClr val="333333"/>
            </a:solidFill>
            <a:prstDash val="solid"/>
          </a:ln>
        </p:spPr>
      </p:sp>
      <p:sp>
        <p:nvSpPr>
          <p:cNvPr id="3" name="Text 1"/>
          <p:cNvSpPr txBox="1"/>
          <p:nvPr/>
        </p:nvSpPr>
        <p:spPr>
          <a:xfrm>
            <a:off x="640080" y="1737360"/>
            <a:ext cx="10911535" cy="146304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Demo</a:t>
            </a:r>
            <a:endParaRPr lang="en-US" sz="8000" dirty="0"/>
          </a:p>
        </p:txBody>
      </p:sp>
      <p:sp>
        <p:nvSpPr>
          <p:cNvPr id="4" name="Text 2"/>
          <p:cNvSpPr txBox="1"/>
          <p:nvPr/>
        </p:nvSpPr>
        <p:spPr>
          <a:xfrm>
            <a:off x="640080" y="3291840"/>
            <a:ext cx="10911535" cy="457200"/>
          </a:xfrm>
          <a:prstGeom prst="rect">
            <a:avLst/>
          </a:prstGeom>
          <a:noFill/>
          <a:ln/>
        </p:spPr>
        <p:txBody>
          <a:bodyPr wrap="square" lIns="0" tIns="0" rIns="0" bIns="0" rtlCol="0" anchor="ctr"/>
          <a:lstStyle/>
          <a:p>
            <a:pPr indent="0" marL="0">
              <a:buNone/>
            </a:pPr>
            <a:r>
              <a:rPr lang="en-US" sz="1800" b="1" dirty="0">
                <a:solidFill>
                  <a:srgbClr val="E9C9D6"/>
                </a:solidFill>
                <a:latin typeface="Calibri" pitchFamily="34" charset="0"/>
                <a:ea typeface="Calibri" pitchFamily="34" charset="-122"/>
                <a:cs typeface="Calibri" pitchFamily="34" charset="-120"/>
              </a:rPr>
              <a:t>[doubleblaze.solutions/prototypes/&lt;team-folder&gt;/ or your Anvil app link]</a:t>
            </a:r>
            <a:endParaRPr lang="en-US" sz="1800" dirty="0"/>
          </a:p>
        </p:txBody>
      </p:sp>
      <p:sp>
        <p:nvSpPr>
          <p:cNvPr id="5" name="Text 3"/>
          <p:cNvSpPr txBox="1"/>
          <p:nvPr/>
        </p:nvSpPr>
        <p:spPr>
          <a:xfrm>
            <a:off x="640080" y="3840480"/>
            <a:ext cx="8229600" cy="457200"/>
          </a:xfrm>
          <a:prstGeom prst="rect">
            <a:avLst/>
          </a:prstGeom>
          <a:noFill/>
          <a:ln/>
        </p:spPr>
        <p:txBody>
          <a:bodyPr wrap="square" lIns="0" tIns="0" rIns="0" bIns="0" rtlCol="0" anchor="ctr"/>
          <a:lstStyle/>
          <a:p>
            <a:pPr indent="0" marL="0">
              <a:buNone/>
            </a:pPr>
            <a:r>
              <a:rPr lang="en-US" sz="1400" dirty="0">
                <a:solidFill>
                  <a:srgbClr val="C79AAF"/>
                </a:solidFill>
                <a:latin typeface="Calibri" pitchFamily="34" charset="0"/>
                <a:ea typeface="Calibri" pitchFamily="34" charset="-122"/>
                <a:cs typeface="Calibri" pitchFamily="34" charset="-120"/>
              </a:rPr>
              <a:t>[Switch to the live app now. Come back to this deck when the demo ends.]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LOOKING BACK</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went well, and what we learned</a:t>
            </a:r>
            <a:endParaRPr lang="en-US" sz="3400" dirty="0"/>
          </a:p>
        </p:txBody>
      </p:sp>
      <p:sp>
        <p:nvSpPr>
          <p:cNvPr id="4" name="Text 2"/>
          <p:cNvSpPr txBox="1"/>
          <p:nvPr/>
        </p:nvSpPr>
        <p:spPr>
          <a:xfrm>
            <a:off x="640080" y="1783080"/>
            <a:ext cx="5227168" cy="274320"/>
          </a:xfrm>
          <a:prstGeom prst="rect">
            <a:avLst/>
          </a:prstGeom>
          <a:noFill/>
          <a:ln/>
        </p:spPr>
        <p:txBody>
          <a:bodyPr wrap="square" lIns="0" tIns="0" rIns="0" bIns="0" rtlCol="0" anchor="ctr"/>
          <a:lstStyle/>
          <a:p>
            <a:pPr indent="0" marL="0">
              <a:buNone/>
            </a:pPr>
            <a:r>
              <a:rPr lang="en-US" sz="1100" b="1" spc="200" kern="0" dirty="0">
                <a:solidFill>
                  <a:srgbClr val="CF4420"/>
                </a:solidFill>
                <a:latin typeface="Calibri" pitchFamily="34" charset="0"/>
                <a:ea typeface="Calibri" pitchFamily="34" charset="-122"/>
                <a:cs typeface="Calibri" pitchFamily="34" charset="-120"/>
              </a:rPr>
              <a:t>WHAT WENT WELL</a:t>
            </a:r>
            <a:endParaRPr lang="en-US" sz="1100" dirty="0"/>
          </a:p>
        </p:txBody>
      </p:sp>
      <p:sp>
        <p:nvSpPr>
          <p:cNvPr id="5" name="Shape 3"/>
          <p:cNvSpPr/>
          <p:nvPr/>
        </p:nvSpPr>
        <p:spPr>
          <a:xfrm>
            <a:off x="640080" y="2148840"/>
            <a:ext cx="5227168" cy="1234440"/>
          </a:xfrm>
          <a:prstGeom prst="roundRect">
            <a:avLst>
              <a:gd name="adj" fmla="val 666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6" name="Shape 4"/>
          <p:cNvSpPr/>
          <p:nvPr/>
        </p:nvSpPr>
        <p:spPr>
          <a:xfrm>
            <a:off x="868680" y="2350008"/>
            <a:ext cx="347472" cy="347472"/>
          </a:xfrm>
          <a:prstGeom prst="ellipse">
            <a:avLst/>
          </a:prstGeom>
          <a:solidFill>
            <a:srgbClr val="2E4A3B"/>
          </a:solidFill>
          <a:ln w="12700">
            <a:solidFill>
              <a:srgbClr val="333333"/>
            </a:solidFill>
            <a:prstDash val="solid"/>
          </a:ln>
        </p:spPr>
      </p:sp>
      <p:sp>
        <p:nvSpPr>
          <p:cNvPr id="7" name="Text 5"/>
          <p:cNvSpPr txBox="1"/>
          <p:nvPr/>
        </p:nvSpPr>
        <p:spPr>
          <a:xfrm>
            <a:off x="868680" y="23500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txBox="1"/>
          <p:nvPr/>
        </p:nvSpPr>
        <p:spPr>
          <a:xfrm>
            <a:off x="1371600" y="2286000"/>
            <a:ext cx="4267048" cy="530352"/>
          </a:xfrm>
          <a:prstGeom prst="rect">
            <a:avLst/>
          </a:prstGeom>
          <a:noFill/>
          <a:ln/>
        </p:spPr>
        <p:txBody>
          <a:bodyPr wrap="square" lIns="0" tIns="0" rIns="0" bIns="0" rtlCol="0" anchor="t"/>
          <a:lstStyle/>
          <a:p>
            <a:pPr indent="0" marL="0">
              <a:lnSpc>
                <a:spcPts val="1700"/>
              </a:lnSpc>
              <a:buNone/>
            </a:pPr>
            <a:r>
              <a:rPr lang="en-US" sz="1400" b="1" dirty="0">
                <a:solidFill>
                  <a:srgbClr val="630031"/>
                </a:solidFill>
                <a:latin typeface="Cambria" pitchFamily="34" charset="0"/>
                <a:ea typeface="Cambria" pitchFamily="34" charset="-122"/>
                <a:cs typeface="Cambria" pitchFamily="34" charset="-120"/>
              </a:rPr>
              <a:t>[Something that worked]</a:t>
            </a:r>
            <a:endParaRPr lang="en-US" sz="1400" dirty="0"/>
          </a:p>
        </p:txBody>
      </p:sp>
      <p:sp>
        <p:nvSpPr>
          <p:cNvPr id="9" name="Text 7"/>
          <p:cNvSpPr txBox="1"/>
          <p:nvPr/>
        </p:nvSpPr>
        <p:spPr>
          <a:xfrm>
            <a:off x="1371600" y="2825496"/>
            <a:ext cx="4267048" cy="530352"/>
          </a:xfrm>
          <a:prstGeom prst="rect">
            <a:avLst/>
          </a:prstGeom>
          <a:noFill/>
          <a:ln/>
        </p:spPr>
        <p:txBody>
          <a:bodyPr wrap="square" lIns="0" tIns="0" rIns="0" bIns="0" rtlCol="0" anchor="t"/>
          <a:lstStyle/>
          <a:p>
            <a:pPr indent="0" marL="0">
              <a:lnSpc>
                <a:spcPts val="1450"/>
              </a:lnSpc>
              <a:buNone/>
            </a:pPr>
            <a:r>
              <a:rPr lang="en-US" sz="1100" dirty="0">
                <a:solidFill>
                  <a:srgbClr val="1C1A19"/>
                </a:solidFill>
                <a:latin typeface="Calibri" pitchFamily="34" charset="0"/>
                <a:ea typeface="Calibri" pitchFamily="34" charset="-122"/>
                <a:cs typeface="Calibri" pitchFamily="34" charset="-120"/>
              </a:rPr>
              <a:t>[Why it worked, in one sentence. Give a name if one person did it.]</a:t>
            </a:r>
            <a:endParaRPr lang="en-US" sz="1100" dirty="0"/>
          </a:p>
        </p:txBody>
      </p:sp>
      <p:sp>
        <p:nvSpPr>
          <p:cNvPr id="10" name="Shape 8"/>
          <p:cNvSpPr/>
          <p:nvPr/>
        </p:nvSpPr>
        <p:spPr>
          <a:xfrm>
            <a:off x="640080" y="3520440"/>
            <a:ext cx="5227168" cy="1234440"/>
          </a:xfrm>
          <a:prstGeom prst="roundRect">
            <a:avLst>
              <a:gd name="adj" fmla="val 666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1" name="Shape 9"/>
          <p:cNvSpPr/>
          <p:nvPr/>
        </p:nvSpPr>
        <p:spPr>
          <a:xfrm>
            <a:off x="868680" y="3721608"/>
            <a:ext cx="347472" cy="347472"/>
          </a:xfrm>
          <a:prstGeom prst="ellipse">
            <a:avLst/>
          </a:prstGeom>
          <a:solidFill>
            <a:srgbClr val="2E4A3B"/>
          </a:solidFill>
          <a:ln w="12700">
            <a:solidFill>
              <a:srgbClr val="333333"/>
            </a:solidFill>
            <a:prstDash val="solid"/>
          </a:ln>
        </p:spPr>
      </p:sp>
      <p:sp>
        <p:nvSpPr>
          <p:cNvPr id="12" name="Text 10"/>
          <p:cNvSpPr txBox="1"/>
          <p:nvPr/>
        </p:nvSpPr>
        <p:spPr>
          <a:xfrm>
            <a:off x="868680" y="37216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3" name="Text 11"/>
          <p:cNvSpPr txBox="1"/>
          <p:nvPr/>
        </p:nvSpPr>
        <p:spPr>
          <a:xfrm>
            <a:off x="1371600" y="3657600"/>
            <a:ext cx="4267048" cy="530352"/>
          </a:xfrm>
          <a:prstGeom prst="rect">
            <a:avLst/>
          </a:prstGeom>
          <a:noFill/>
          <a:ln/>
        </p:spPr>
        <p:txBody>
          <a:bodyPr wrap="square" lIns="0" tIns="0" rIns="0" bIns="0" rtlCol="0" anchor="t"/>
          <a:lstStyle/>
          <a:p>
            <a:pPr indent="0" marL="0">
              <a:lnSpc>
                <a:spcPts val="1700"/>
              </a:lnSpc>
              <a:buNone/>
            </a:pPr>
            <a:r>
              <a:rPr lang="en-US" sz="1400" b="1" dirty="0">
                <a:solidFill>
                  <a:srgbClr val="630031"/>
                </a:solidFill>
                <a:latin typeface="Cambria" pitchFamily="34" charset="0"/>
                <a:ea typeface="Cambria" pitchFamily="34" charset="-122"/>
                <a:cs typeface="Cambria" pitchFamily="34" charset="-120"/>
              </a:rPr>
              <a:t>[Something that worked]</a:t>
            </a:r>
            <a:endParaRPr lang="en-US" sz="1400" dirty="0"/>
          </a:p>
        </p:txBody>
      </p:sp>
      <p:sp>
        <p:nvSpPr>
          <p:cNvPr id="14" name="Text 12"/>
          <p:cNvSpPr txBox="1"/>
          <p:nvPr/>
        </p:nvSpPr>
        <p:spPr>
          <a:xfrm>
            <a:off x="1371600" y="4197096"/>
            <a:ext cx="4267048" cy="530352"/>
          </a:xfrm>
          <a:prstGeom prst="rect">
            <a:avLst/>
          </a:prstGeom>
          <a:noFill/>
          <a:ln/>
        </p:spPr>
        <p:txBody>
          <a:bodyPr wrap="square" lIns="0" tIns="0" rIns="0" bIns="0" rtlCol="0" anchor="t"/>
          <a:lstStyle/>
          <a:p>
            <a:pPr indent="0" marL="0">
              <a:lnSpc>
                <a:spcPts val="1450"/>
              </a:lnSpc>
              <a:buNone/>
            </a:pPr>
            <a:r>
              <a:rPr lang="en-US" sz="1100" dirty="0">
                <a:solidFill>
                  <a:srgbClr val="1C1A19"/>
                </a:solidFill>
                <a:latin typeface="Calibri" pitchFamily="34" charset="0"/>
                <a:ea typeface="Calibri" pitchFamily="34" charset="-122"/>
                <a:cs typeface="Calibri" pitchFamily="34" charset="-120"/>
              </a:rPr>
              <a:t>[Why it worked.]</a:t>
            </a:r>
            <a:endParaRPr lang="en-US" sz="1100" dirty="0"/>
          </a:p>
        </p:txBody>
      </p:sp>
      <p:sp>
        <p:nvSpPr>
          <p:cNvPr id="15" name="Shape 13"/>
          <p:cNvSpPr/>
          <p:nvPr/>
        </p:nvSpPr>
        <p:spPr>
          <a:xfrm>
            <a:off x="640080" y="4892040"/>
            <a:ext cx="5227168" cy="1234440"/>
          </a:xfrm>
          <a:prstGeom prst="roundRect">
            <a:avLst>
              <a:gd name="adj" fmla="val 666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6" name="Shape 14"/>
          <p:cNvSpPr/>
          <p:nvPr/>
        </p:nvSpPr>
        <p:spPr>
          <a:xfrm>
            <a:off x="868680" y="5093208"/>
            <a:ext cx="347472" cy="347472"/>
          </a:xfrm>
          <a:prstGeom prst="ellipse">
            <a:avLst/>
          </a:prstGeom>
          <a:solidFill>
            <a:srgbClr val="2E4A3B"/>
          </a:solidFill>
          <a:ln w="12700">
            <a:solidFill>
              <a:srgbClr val="333333"/>
            </a:solidFill>
            <a:prstDash val="solid"/>
          </a:ln>
        </p:spPr>
      </p:sp>
      <p:sp>
        <p:nvSpPr>
          <p:cNvPr id="17" name="Text 15"/>
          <p:cNvSpPr txBox="1"/>
          <p:nvPr/>
        </p:nvSpPr>
        <p:spPr>
          <a:xfrm>
            <a:off x="868680" y="50932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8" name="Text 16"/>
          <p:cNvSpPr txBox="1"/>
          <p:nvPr/>
        </p:nvSpPr>
        <p:spPr>
          <a:xfrm>
            <a:off x="1371600" y="5029200"/>
            <a:ext cx="4267048" cy="530352"/>
          </a:xfrm>
          <a:prstGeom prst="rect">
            <a:avLst/>
          </a:prstGeom>
          <a:noFill/>
          <a:ln/>
        </p:spPr>
        <p:txBody>
          <a:bodyPr wrap="square" lIns="0" tIns="0" rIns="0" bIns="0" rtlCol="0" anchor="t"/>
          <a:lstStyle/>
          <a:p>
            <a:pPr indent="0" marL="0">
              <a:lnSpc>
                <a:spcPts val="1700"/>
              </a:lnSpc>
              <a:buNone/>
            </a:pPr>
            <a:r>
              <a:rPr lang="en-US" sz="1400" b="1" dirty="0">
                <a:solidFill>
                  <a:srgbClr val="630031"/>
                </a:solidFill>
                <a:latin typeface="Cambria" pitchFamily="34" charset="0"/>
                <a:ea typeface="Cambria" pitchFamily="34" charset="-122"/>
                <a:cs typeface="Cambria" pitchFamily="34" charset="-120"/>
              </a:rPr>
              <a:t>[Something that worked]</a:t>
            </a:r>
            <a:endParaRPr lang="en-US" sz="1400" dirty="0"/>
          </a:p>
        </p:txBody>
      </p:sp>
      <p:sp>
        <p:nvSpPr>
          <p:cNvPr id="19" name="Text 17"/>
          <p:cNvSpPr txBox="1"/>
          <p:nvPr/>
        </p:nvSpPr>
        <p:spPr>
          <a:xfrm>
            <a:off x="1371600" y="5568696"/>
            <a:ext cx="4267048" cy="530352"/>
          </a:xfrm>
          <a:prstGeom prst="rect">
            <a:avLst/>
          </a:prstGeom>
          <a:noFill/>
          <a:ln/>
        </p:spPr>
        <p:txBody>
          <a:bodyPr wrap="square" lIns="0" tIns="0" rIns="0" bIns="0" rtlCol="0" anchor="t"/>
          <a:lstStyle/>
          <a:p>
            <a:pPr indent="0" marL="0">
              <a:lnSpc>
                <a:spcPts val="1450"/>
              </a:lnSpc>
              <a:buNone/>
            </a:pPr>
            <a:r>
              <a:rPr lang="en-US" sz="1100" dirty="0">
                <a:solidFill>
                  <a:srgbClr val="1C1A19"/>
                </a:solidFill>
                <a:latin typeface="Calibri" pitchFamily="34" charset="0"/>
                <a:ea typeface="Calibri" pitchFamily="34" charset="-122"/>
                <a:cs typeface="Calibri" pitchFamily="34" charset="-120"/>
              </a:rPr>
              <a:t>[Why it worked.]</a:t>
            </a:r>
            <a:endParaRPr lang="en-US" sz="1100" dirty="0"/>
          </a:p>
        </p:txBody>
      </p:sp>
      <p:sp>
        <p:nvSpPr>
          <p:cNvPr id="20" name="Text 18"/>
          <p:cNvSpPr txBox="1"/>
          <p:nvPr/>
        </p:nvSpPr>
        <p:spPr>
          <a:xfrm>
            <a:off x="6324448" y="1783080"/>
            <a:ext cx="5227168" cy="274320"/>
          </a:xfrm>
          <a:prstGeom prst="rect">
            <a:avLst/>
          </a:prstGeom>
          <a:noFill/>
          <a:ln/>
        </p:spPr>
        <p:txBody>
          <a:bodyPr wrap="square" lIns="0" tIns="0" rIns="0" bIns="0" rtlCol="0" anchor="ctr"/>
          <a:lstStyle/>
          <a:p>
            <a:pPr indent="0" marL="0">
              <a:buNone/>
            </a:pPr>
            <a:r>
              <a:rPr lang="en-US" sz="1100" b="1" spc="200" kern="0" dirty="0">
                <a:solidFill>
                  <a:srgbClr val="CF4420"/>
                </a:solidFill>
                <a:latin typeface="Calibri" pitchFamily="34" charset="0"/>
                <a:ea typeface="Calibri" pitchFamily="34" charset="-122"/>
                <a:cs typeface="Calibri" pitchFamily="34" charset="-120"/>
              </a:rPr>
              <a:t>WHAT WE LEARNED</a:t>
            </a:r>
            <a:endParaRPr lang="en-US" sz="1100" dirty="0"/>
          </a:p>
        </p:txBody>
      </p:sp>
      <p:sp>
        <p:nvSpPr>
          <p:cNvPr id="21" name="Shape 19"/>
          <p:cNvSpPr/>
          <p:nvPr/>
        </p:nvSpPr>
        <p:spPr>
          <a:xfrm>
            <a:off x="6324448" y="2148840"/>
            <a:ext cx="5227168" cy="1234440"/>
          </a:xfrm>
          <a:prstGeom prst="roundRect">
            <a:avLst>
              <a:gd name="adj" fmla="val 666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2" name="Shape 20"/>
          <p:cNvSpPr/>
          <p:nvPr/>
        </p:nvSpPr>
        <p:spPr>
          <a:xfrm>
            <a:off x="6553048" y="2350008"/>
            <a:ext cx="347472" cy="347472"/>
          </a:xfrm>
          <a:prstGeom prst="ellipse">
            <a:avLst/>
          </a:prstGeom>
          <a:solidFill>
            <a:srgbClr val="CF4420"/>
          </a:solidFill>
          <a:ln w="12700">
            <a:solidFill>
              <a:srgbClr val="333333"/>
            </a:solidFill>
            <a:prstDash val="solid"/>
          </a:ln>
        </p:spPr>
      </p:sp>
      <p:sp>
        <p:nvSpPr>
          <p:cNvPr id="23" name="Text 21"/>
          <p:cNvSpPr txBox="1"/>
          <p:nvPr/>
        </p:nvSpPr>
        <p:spPr>
          <a:xfrm>
            <a:off x="6553048" y="23500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24" name="Text 22"/>
          <p:cNvSpPr txBox="1"/>
          <p:nvPr/>
        </p:nvSpPr>
        <p:spPr>
          <a:xfrm>
            <a:off x="7055968" y="2286000"/>
            <a:ext cx="4267048" cy="530352"/>
          </a:xfrm>
          <a:prstGeom prst="rect">
            <a:avLst/>
          </a:prstGeom>
          <a:noFill/>
          <a:ln/>
        </p:spPr>
        <p:txBody>
          <a:bodyPr wrap="square" lIns="0" tIns="0" rIns="0" bIns="0" rtlCol="0" anchor="t"/>
          <a:lstStyle/>
          <a:p>
            <a:pPr indent="0" marL="0">
              <a:lnSpc>
                <a:spcPts val="1700"/>
              </a:lnSpc>
              <a:buNone/>
            </a:pPr>
            <a:r>
              <a:rPr lang="en-US" sz="1400" b="1" dirty="0">
                <a:solidFill>
                  <a:srgbClr val="630031"/>
                </a:solidFill>
                <a:latin typeface="Cambria" pitchFamily="34" charset="0"/>
                <a:ea typeface="Cambria" pitchFamily="34" charset="-122"/>
                <a:cs typeface="Cambria" pitchFamily="34" charset="-120"/>
              </a:rPr>
              <a:t>[Something you did not know in September]</a:t>
            </a:r>
            <a:endParaRPr lang="en-US" sz="1400" dirty="0"/>
          </a:p>
        </p:txBody>
      </p:sp>
      <p:sp>
        <p:nvSpPr>
          <p:cNvPr id="25" name="Text 23"/>
          <p:cNvSpPr txBox="1"/>
          <p:nvPr/>
        </p:nvSpPr>
        <p:spPr>
          <a:xfrm>
            <a:off x="7055968" y="2825496"/>
            <a:ext cx="4267048" cy="530352"/>
          </a:xfrm>
          <a:prstGeom prst="rect">
            <a:avLst/>
          </a:prstGeom>
          <a:noFill/>
          <a:ln/>
        </p:spPr>
        <p:txBody>
          <a:bodyPr wrap="square" lIns="0" tIns="0" rIns="0" bIns="0" rtlCol="0" anchor="t"/>
          <a:lstStyle/>
          <a:p>
            <a:pPr indent="0" marL="0">
              <a:lnSpc>
                <a:spcPts val="1450"/>
              </a:lnSpc>
              <a:buNone/>
            </a:pPr>
            <a:r>
              <a:rPr lang="en-US" sz="1100" dirty="0">
                <a:solidFill>
                  <a:srgbClr val="1C1A19"/>
                </a:solidFill>
                <a:latin typeface="Calibri" pitchFamily="34" charset="0"/>
                <a:ea typeface="Calibri" pitchFamily="34" charset="-122"/>
                <a:cs typeface="Calibri" pitchFamily="34" charset="-120"/>
              </a:rPr>
              <a:t>[How you found out.]</a:t>
            </a:r>
            <a:endParaRPr lang="en-US" sz="1100" dirty="0"/>
          </a:p>
        </p:txBody>
      </p:sp>
      <p:sp>
        <p:nvSpPr>
          <p:cNvPr id="26" name="Shape 24"/>
          <p:cNvSpPr/>
          <p:nvPr/>
        </p:nvSpPr>
        <p:spPr>
          <a:xfrm>
            <a:off x="6324448" y="3520440"/>
            <a:ext cx="5227168" cy="1234440"/>
          </a:xfrm>
          <a:prstGeom prst="roundRect">
            <a:avLst>
              <a:gd name="adj" fmla="val 666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7" name="Shape 25"/>
          <p:cNvSpPr/>
          <p:nvPr/>
        </p:nvSpPr>
        <p:spPr>
          <a:xfrm>
            <a:off x="6553048" y="3721608"/>
            <a:ext cx="347472" cy="347472"/>
          </a:xfrm>
          <a:prstGeom prst="ellipse">
            <a:avLst/>
          </a:prstGeom>
          <a:solidFill>
            <a:srgbClr val="CF4420"/>
          </a:solidFill>
          <a:ln w="12700">
            <a:solidFill>
              <a:srgbClr val="333333"/>
            </a:solidFill>
            <a:prstDash val="solid"/>
          </a:ln>
        </p:spPr>
      </p:sp>
      <p:sp>
        <p:nvSpPr>
          <p:cNvPr id="28" name="Text 26"/>
          <p:cNvSpPr txBox="1"/>
          <p:nvPr/>
        </p:nvSpPr>
        <p:spPr>
          <a:xfrm>
            <a:off x="6553048" y="37216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9" name="Text 27"/>
          <p:cNvSpPr txBox="1"/>
          <p:nvPr/>
        </p:nvSpPr>
        <p:spPr>
          <a:xfrm>
            <a:off x="7055968" y="3657600"/>
            <a:ext cx="4267048" cy="530352"/>
          </a:xfrm>
          <a:prstGeom prst="rect">
            <a:avLst/>
          </a:prstGeom>
          <a:noFill/>
          <a:ln/>
        </p:spPr>
        <p:txBody>
          <a:bodyPr wrap="square" lIns="0" tIns="0" rIns="0" bIns="0" rtlCol="0" anchor="t"/>
          <a:lstStyle/>
          <a:p>
            <a:pPr indent="0" marL="0">
              <a:lnSpc>
                <a:spcPts val="1700"/>
              </a:lnSpc>
              <a:buNone/>
            </a:pPr>
            <a:r>
              <a:rPr lang="en-US" sz="1400" b="1" dirty="0">
                <a:solidFill>
                  <a:srgbClr val="630031"/>
                </a:solidFill>
                <a:latin typeface="Cambria" pitchFamily="34" charset="0"/>
                <a:ea typeface="Cambria" pitchFamily="34" charset="-122"/>
                <a:cs typeface="Cambria" pitchFamily="34" charset="-120"/>
              </a:rPr>
              <a:t>[Something you would do differently]</a:t>
            </a:r>
            <a:endParaRPr lang="en-US" sz="1400" dirty="0"/>
          </a:p>
        </p:txBody>
      </p:sp>
      <p:sp>
        <p:nvSpPr>
          <p:cNvPr id="30" name="Text 28"/>
          <p:cNvSpPr txBox="1"/>
          <p:nvPr/>
        </p:nvSpPr>
        <p:spPr>
          <a:xfrm>
            <a:off x="7055968" y="4197096"/>
            <a:ext cx="4267048" cy="530352"/>
          </a:xfrm>
          <a:prstGeom prst="rect">
            <a:avLst/>
          </a:prstGeom>
          <a:noFill/>
          <a:ln/>
        </p:spPr>
        <p:txBody>
          <a:bodyPr wrap="square" lIns="0" tIns="0" rIns="0" bIns="0" rtlCol="0" anchor="t"/>
          <a:lstStyle/>
          <a:p>
            <a:pPr indent="0" marL="0">
              <a:lnSpc>
                <a:spcPts val="1450"/>
              </a:lnSpc>
              <a:buNone/>
            </a:pPr>
            <a:r>
              <a:rPr lang="en-US" sz="1100" dirty="0">
                <a:solidFill>
                  <a:srgbClr val="1C1A19"/>
                </a:solidFill>
                <a:latin typeface="Calibri" pitchFamily="34" charset="0"/>
                <a:ea typeface="Calibri" pitchFamily="34" charset="-122"/>
                <a:cs typeface="Calibri" pitchFamily="34" charset="-120"/>
              </a:rPr>
              <a:t>[What you would do instead.]</a:t>
            </a:r>
            <a:endParaRPr lang="en-US" sz="1100" dirty="0"/>
          </a:p>
        </p:txBody>
      </p:sp>
      <p:sp>
        <p:nvSpPr>
          <p:cNvPr id="31" name="Shape 29"/>
          <p:cNvSpPr/>
          <p:nvPr/>
        </p:nvSpPr>
        <p:spPr>
          <a:xfrm>
            <a:off x="6324448" y="4892040"/>
            <a:ext cx="5227168" cy="1234440"/>
          </a:xfrm>
          <a:prstGeom prst="roundRect">
            <a:avLst>
              <a:gd name="adj" fmla="val 666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32" name="Shape 30"/>
          <p:cNvSpPr/>
          <p:nvPr/>
        </p:nvSpPr>
        <p:spPr>
          <a:xfrm>
            <a:off x="6553048" y="5093208"/>
            <a:ext cx="347472" cy="347472"/>
          </a:xfrm>
          <a:prstGeom prst="ellipse">
            <a:avLst/>
          </a:prstGeom>
          <a:solidFill>
            <a:srgbClr val="CF4420"/>
          </a:solidFill>
          <a:ln w="12700">
            <a:solidFill>
              <a:srgbClr val="333333"/>
            </a:solidFill>
            <a:prstDash val="solid"/>
          </a:ln>
        </p:spPr>
      </p:sp>
      <p:sp>
        <p:nvSpPr>
          <p:cNvPr id="33" name="Text 31"/>
          <p:cNvSpPr txBox="1"/>
          <p:nvPr/>
        </p:nvSpPr>
        <p:spPr>
          <a:xfrm>
            <a:off x="6553048" y="5093208"/>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34" name="Text 32"/>
          <p:cNvSpPr txBox="1"/>
          <p:nvPr/>
        </p:nvSpPr>
        <p:spPr>
          <a:xfrm>
            <a:off x="7055968" y="5029200"/>
            <a:ext cx="4267048" cy="530352"/>
          </a:xfrm>
          <a:prstGeom prst="rect">
            <a:avLst/>
          </a:prstGeom>
          <a:noFill/>
          <a:ln/>
        </p:spPr>
        <p:txBody>
          <a:bodyPr wrap="square" lIns="0" tIns="0" rIns="0" bIns="0" rtlCol="0" anchor="t"/>
          <a:lstStyle/>
          <a:p>
            <a:pPr indent="0" marL="0">
              <a:lnSpc>
                <a:spcPts val="1700"/>
              </a:lnSpc>
              <a:buNone/>
            </a:pPr>
            <a:r>
              <a:rPr lang="en-US" sz="1400" b="1" dirty="0">
                <a:solidFill>
                  <a:srgbClr val="630031"/>
                </a:solidFill>
                <a:latin typeface="Cambria" pitchFamily="34" charset="0"/>
                <a:ea typeface="Cambria" pitchFamily="34" charset="-122"/>
                <a:cs typeface="Cambria" pitchFamily="34" charset="-120"/>
              </a:rPr>
              <a:t>[Something about your users]</a:t>
            </a:r>
            <a:endParaRPr lang="en-US" sz="1400" dirty="0"/>
          </a:p>
        </p:txBody>
      </p:sp>
      <p:sp>
        <p:nvSpPr>
          <p:cNvPr id="35" name="Text 33"/>
          <p:cNvSpPr txBox="1"/>
          <p:nvPr/>
        </p:nvSpPr>
        <p:spPr>
          <a:xfrm>
            <a:off x="7055968" y="5568696"/>
            <a:ext cx="4267048" cy="530352"/>
          </a:xfrm>
          <a:prstGeom prst="rect">
            <a:avLst/>
          </a:prstGeom>
          <a:noFill/>
          <a:ln/>
        </p:spPr>
        <p:txBody>
          <a:bodyPr wrap="square" lIns="0" tIns="0" rIns="0" bIns="0" rtlCol="0" anchor="t"/>
          <a:lstStyle/>
          <a:p>
            <a:pPr indent="0" marL="0">
              <a:lnSpc>
                <a:spcPts val="1450"/>
              </a:lnSpc>
              <a:buNone/>
            </a:pPr>
            <a:r>
              <a:rPr lang="en-US" sz="1100" dirty="0">
                <a:solidFill>
                  <a:srgbClr val="1C1A19"/>
                </a:solidFill>
                <a:latin typeface="Calibri" pitchFamily="34" charset="0"/>
                <a:ea typeface="Calibri" pitchFamily="34" charset="-122"/>
                <a:cs typeface="Calibri" pitchFamily="34" charset="-120"/>
              </a:rPr>
              <a:t>[Where it came from: the plan, a test, a conversation.]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BLOCKERS, IN THE ORDER THEY HAVE TO BE FIXED</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is in the way</a:t>
            </a:r>
            <a:endParaRPr lang="en-US" sz="3400" dirty="0"/>
          </a:p>
        </p:txBody>
      </p:sp>
      <p:sp>
        <p:nvSpPr>
          <p:cNvPr id="4" name="Text 2"/>
          <p:cNvSpPr txBox="1"/>
          <p:nvPr/>
        </p:nvSpPr>
        <p:spPr>
          <a:xfrm>
            <a:off x="640080" y="1783080"/>
            <a:ext cx="320040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WHAT IS IN THE WAY</a:t>
            </a:r>
            <a:endParaRPr lang="en-US" sz="1050" dirty="0"/>
          </a:p>
        </p:txBody>
      </p:sp>
      <p:sp>
        <p:nvSpPr>
          <p:cNvPr id="5" name="Text 3"/>
          <p:cNvSpPr txBox="1"/>
          <p:nvPr/>
        </p:nvSpPr>
        <p:spPr>
          <a:xfrm>
            <a:off x="4023360" y="1783080"/>
            <a:ext cx="338328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WHY IT MATTERS</a:t>
            </a:r>
            <a:endParaRPr lang="en-US" sz="1050" dirty="0"/>
          </a:p>
        </p:txBody>
      </p:sp>
      <p:sp>
        <p:nvSpPr>
          <p:cNvPr id="6" name="Text 4"/>
          <p:cNvSpPr txBox="1"/>
          <p:nvPr/>
        </p:nvSpPr>
        <p:spPr>
          <a:xfrm>
            <a:off x="7589520" y="1783080"/>
            <a:ext cx="3962095"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WHAT WE ARE DOING ABOUT IT</a:t>
            </a:r>
            <a:endParaRPr lang="en-US" sz="1050" dirty="0"/>
          </a:p>
        </p:txBody>
      </p:sp>
      <p:sp>
        <p:nvSpPr>
          <p:cNvPr id="7" name="Shape 5"/>
          <p:cNvSpPr/>
          <p:nvPr/>
        </p:nvSpPr>
        <p:spPr>
          <a:xfrm>
            <a:off x="640080" y="2148840"/>
            <a:ext cx="10911535" cy="960120"/>
          </a:xfrm>
          <a:prstGeom prst="roundRect">
            <a:avLst>
              <a:gd name="adj" fmla="val 85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8" name="Shape 6"/>
          <p:cNvSpPr/>
          <p:nvPr/>
        </p:nvSpPr>
        <p:spPr>
          <a:xfrm>
            <a:off x="841248" y="2455164"/>
            <a:ext cx="347472" cy="347472"/>
          </a:xfrm>
          <a:prstGeom prst="ellipse">
            <a:avLst/>
          </a:prstGeom>
          <a:solidFill>
            <a:srgbClr val="CF4420"/>
          </a:solidFill>
          <a:ln w="12700">
            <a:solidFill>
              <a:srgbClr val="333333"/>
            </a:solidFill>
            <a:prstDash val="solid"/>
          </a:ln>
        </p:spPr>
      </p:sp>
      <p:sp>
        <p:nvSpPr>
          <p:cNvPr id="9" name="Text 7"/>
          <p:cNvSpPr txBox="1"/>
          <p:nvPr/>
        </p:nvSpPr>
        <p:spPr>
          <a:xfrm>
            <a:off x="841248" y="245516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325880" y="2148840"/>
            <a:ext cx="2606040" cy="960120"/>
          </a:xfrm>
          <a:prstGeom prst="rect">
            <a:avLst/>
          </a:prstGeom>
          <a:noFill/>
          <a:ln/>
        </p:spPr>
        <p:txBody>
          <a:bodyPr wrap="square" lIns="0" tIns="0" rIns="0" bIns="0" rtlCol="0" anchor="ctr"/>
          <a:lstStyle/>
          <a:p>
            <a:pPr indent="0" marL="0">
              <a:lnSpc>
                <a:spcPts val="1800"/>
              </a:lnSpc>
              <a:buNone/>
            </a:pPr>
            <a:r>
              <a:rPr lang="en-US" sz="1400" b="1" dirty="0">
                <a:solidFill>
                  <a:srgbClr val="630031"/>
                </a:solidFill>
                <a:latin typeface="Cambria" pitchFamily="34" charset="0"/>
                <a:ea typeface="Cambria" pitchFamily="34" charset="-122"/>
                <a:cs typeface="Cambria" pitchFamily="34" charset="-120"/>
              </a:rPr>
              <a:t>[What is in the way]</a:t>
            </a:r>
            <a:endParaRPr lang="en-US" sz="1400" dirty="0"/>
          </a:p>
        </p:txBody>
      </p:sp>
      <p:sp>
        <p:nvSpPr>
          <p:cNvPr id="11" name="Text 9"/>
          <p:cNvSpPr txBox="1"/>
          <p:nvPr/>
        </p:nvSpPr>
        <p:spPr>
          <a:xfrm>
            <a:off x="4023360" y="2148840"/>
            <a:ext cx="3383280" cy="96012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[Why it stops the next step]</a:t>
            </a:r>
            <a:endParaRPr lang="en-US" sz="1200" dirty="0"/>
          </a:p>
        </p:txBody>
      </p:sp>
      <p:sp>
        <p:nvSpPr>
          <p:cNvPr id="12" name="Text 10"/>
          <p:cNvSpPr txBox="1"/>
          <p:nvPr/>
        </p:nvSpPr>
        <p:spPr>
          <a:xfrm>
            <a:off x="7589520" y="2148840"/>
            <a:ext cx="3733495" cy="96012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[What you are doing about it, and who]</a:t>
            </a:r>
            <a:endParaRPr lang="en-US" sz="1200" dirty="0"/>
          </a:p>
        </p:txBody>
      </p:sp>
      <p:sp>
        <p:nvSpPr>
          <p:cNvPr id="13" name="Shape 11"/>
          <p:cNvSpPr/>
          <p:nvPr/>
        </p:nvSpPr>
        <p:spPr>
          <a:xfrm>
            <a:off x="640080" y="3246120"/>
            <a:ext cx="10911535" cy="960120"/>
          </a:xfrm>
          <a:prstGeom prst="roundRect">
            <a:avLst>
              <a:gd name="adj" fmla="val 85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Shape 12"/>
          <p:cNvSpPr/>
          <p:nvPr/>
        </p:nvSpPr>
        <p:spPr>
          <a:xfrm>
            <a:off x="841248" y="3552444"/>
            <a:ext cx="347472" cy="347472"/>
          </a:xfrm>
          <a:prstGeom prst="ellipse">
            <a:avLst/>
          </a:prstGeom>
          <a:solidFill>
            <a:srgbClr val="630031"/>
          </a:solidFill>
          <a:ln w="12700">
            <a:solidFill>
              <a:srgbClr val="333333"/>
            </a:solidFill>
            <a:prstDash val="solid"/>
          </a:ln>
        </p:spPr>
      </p:sp>
      <p:sp>
        <p:nvSpPr>
          <p:cNvPr id="15" name="Text 13"/>
          <p:cNvSpPr txBox="1"/>
          <p:nvPr/>
        </p:nvSpPr>
        <p:spPr>
          <a:xfrm>
            <a:off x="841248" y="355244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1325880" y="3246120"/>
            <a:ext cx="2606040" cy="960120"/>
          </a:xfrm>
          <a:prstGeom prst="rect">
            <a:avLst/>
          </a:prstGeom>
          <a:noFill/>
          <a:ln/>
        </p:spPr>
        <p:txBody>
          <a:bodyPr wrap="square" lIns="0" tIns="0" rIns="0" bIns="0" rtlCol="0" anchor="ctr"/>
          <a:lstStyle/>
          <a:p>
            <a:pPr indent="0" marL="0">
              <a:lnSpc>
                <a:spcPts val="1800"/>
              </a:lnSpc>
              <a:buNone/>
            </a:pPr>
            <a:r>
              <a:rPr lang="en-US" sz="1400" b="1" dirty="0">
                <a:solidFill>
                  <a:srgbClr val="630031"/>
                </a:solidFill>
                <a:latin typeface="Cambria" pitchFamily="34" charset="0"/>
                <a:ea typeface="Cambria" pitchFamily="34" charset="-122"/>
                <a:cs typeface="Cambria" pitchFamily="34" charset="-120"/>
              </a:rPr>
              <a:t>[What is in the way]</a:t>
            </a:r>
            <a:endParaRPr lang="en-US" sz="1400" dirty="0"/>
          </a:p>
        </p:txBody>
      </p:sp>
      <p:sp>
        <p:nvSpPr>
          <p:cNvPr id="17" name="Text 15"/>
          <p:cNvSpPr txBox="1"/>
          <p:nvPr/>
        </p:nvSpPr>
        <p:spPr>
          <a:xfrm>
            <a:off x="4023360" y="3246120"/>
            <a:ext cx="3383280" cy="96012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[Why it stops the next step]</a:t>
            </a:r>
            <a:endParaRPr lang="en-US" sz="1200" dirty="0"/>
          </a:p>
        </p:txBody>
      </p:sp>
      <p:sp>
        <p:nvSpPr>
          <p:cNvPr id="18" name="Text 16"/>
          <p:cNvSpPr txBox="1"/>
          <p:nvPr/>
        </p:nvSpPr>
        <p:spPr>
          <a:xfrm>
            <a:off x="7589520" y="3246120"/>
            <a:ext cx="3733495" cy="96012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[What you are doing about it, and who]</a:t>
            </a:r>
            <a:endParaRPr lang="en-US" sz="1200" dirty="0"/>
          </a:p>
        </p:txBody>
      </p:sp>
      <p:sp>
        <p:nvSpPr>
          <p:cNvPr id="19" name="Shape 17"/>
          <p:cNvSpPr/>
          <p:nvPr/>
        </p:nvSpPr>
        <p:spPr>
          <a:xfrm>
            <a:off x="640080" y="4343400"/>
            <a:ext cx="10911535" cy="960120"/>
          </a:xfrm>
          <a:prstGeom prst="roundRect">
            <a:avLst>
              <a:gd name="adj" fmla="val 8571"/>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Shape 18"/>
          <p:cNvSpPr/>
          <p:nvPr/>
        </p:nvSpPr>
        <p:spPr>
          <a:xfrm>
            <a:off x="841248" y="4649724"/>
            <a:ext cx="347472" cy="347472"/>
          </a:xfrm>
          <a:prstGeom prst="ellipse">
            <a:avLst/>
          </a:prstGeom>
          <a:solidFill>
            <a:srgbClr val="630031"/>
          </a:solidFill>
          <a:ln w="12700">
            <a:solidFill>
              <a:srgbClr val="333333"/>
            </a:solidFill>
            <a:prstDash val="solid"/>
          </a:ln>
        </p:spPr>
      </p:sp>
      <p:sp>
        <p:nvSpPr>
          <p:cNvPr id="21" name="Text 19"/>
          <p:cNvSpPr txBox="1"/>
          <p:nvPr/>
        </p:nvSpPr>
        <p:spPr>
          <a:xfrm>
            <a:off x="841248" y="464972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1325880" y="4343400"/>
            <a:ext cx="2606040" cy="960120"/>
          </a:xfrm>
          <a:prstGeom prst="rect">
            <a:avLst/>
          </a:prstGeom>
          <a:noFill/>
          <a:ln/>
        </p:spPr>
        <p:txBody>
          <a:bodyPr wrap="square" lIns="0" tIns="0" rIns="0" bIns="0" rtlCol="0" anchor="ctr"/>
          <a:lstStyle/>
          <a:p>
            <a:pPr indent="0" marL="0">
              <a:lnSpc>
                <a:spcPts val="1800"/>
              </a:lnSpc>
              <a:buNone/>
            </a:pPr>
            <a:r>
              <a:rPr lang="en-US" sz="1400" b="1" dirty="0">
                <a:solidFill>
                  <a:srgbClr val="630031"/>
                </a:solidFill>
                <a:latin typeface="Cambria" pitchFamily="34" charset="0"/>
                <a:ea typeface="Cambria" pitchFamily="34" charset="-122"/>
                <a:cs typeface="Cambria" pitchFamily="34" charset="-120"/>
              </a:rPr>
              <a:t>[What is in the way]</a:t>
            </a:r>
            <a:endParaRPr lang="en-US" sz="1400" dirty="0"/>
          </a:p>
        </p:txBody>
      </p:sp>
      <p:sp>
        <p:nvSpPr>
          <p:cNvPr id="23" name="Text 21"/>
          <p:cNvSpPr txBox="1"/>
          <p:nvPr/>
        </p:nvSpPr>
        <p:spPr>
          <a:xfrm>
            <a:off x="4023360" y="4343400"/>
            <a:ext cx="3383280" cy="96012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[Why it stops the next step]</a:t>
            </a:r>
            <a:endParaRPr lang="en-US" sz="1200" dirty="0"/>
          </a:p>
        </p:txBody>
      </p:sp>
      <p:sp>
        <p:nvSpPr>
          <p:cNvPr id="24" name="Text 22"/>
          <p:cNvSpPr txBox="1"/>
          <p:nvPr/>
        </p:nvSpPr>
        <p:spPr>
          <a:xfrm>
            <a:off x="7589520" y="4343400"/>
            <a:ext cx="3733495" cy="960120"/>
          </a:xfrm>
          <a:prstGeom prst="rect">
            <a:avLst/>
          </a:prstGeom>
          <a:noFill/>
          <a:ln/>
        </p:spPr>
        <p:txBody>
          <a:bodyPr wrap="square" lIns="0" tIns="0" rIns="0" bIns="0" rtlCol="0" anchor="ctr"/>
          <a:lstStyle/>
          <a:p>
            <a:pPr indent="0" marL="0">
              <a:lnSpc>
                <a:spcPts val="1600"/>
              </a:lnSpc>
              <a:buNone/>
            </a:pPr>
            <a:r>
              <a:rPr lang="en-US" sz="1200" dirty="0">
                <a:solidFill>
                  <a:srgbClr val="1C1A19"/>
                </a:solidFill>
                <a:latin typeface="Calibri" pitchFamily="34" charset="0"/>
                <a:ea typeface="Calibri" pitchFamily="34" charset="-122"/>
                <a:cs typeface="Calibri" pitchFamily="34" charset="-120"/>
              </a:rPr>
              <a:t>[What you are doing about it, and who]</a:t>
            </a:r>
            <a:endParaRPr lang="en-US" sz="1200" dirty="0"/>
          </a:p>
        </p:txBody>
      </p:sp>
      <p:sp>
        <p:nvSpPr>
          <p:cNvPr id="25" name="Text 23"/>
          <p:cNvSpPr txBox="1"/>
          <p:nvPr/>
        </p:nvSpPr>
        <p:spPr>
          <a:xfrm>
            <a:off x="640080" y="5532120"/>
            <a:ext cx="10911535" cy="731520"/>
          </a:xfrm>
          <a:prstGeom prst="rect">
            <a:avLst/>
          </a:prstGeom>
          <a:noFill/>
          <a:ln/>
        </p:spPr>
        <p:txBody>
          <a:bodyPr wrap="square" lIns="0" tIns="0" rIns="0" bIns="0" rtlCol="0" anchor="t"/>
          <a:lstStyle/>
          <a:p>
            <a:pPr indent="0" marL="0">
              <a:lnSpc>
                <a:spcPts val="2200"/>
              </a:lnSpc>
              <a:buNone/>
            </a:pPr>
            <a:r>
              <a:rPr lang="en-US" sz="1300" dirty="0">
                <a:solidFill>
                  <a:srgbClr val="75787B"/>
                </a:solidFill>
                <a:latin typeface="Calibri" pitchFamily="34" charset="0"/>
                <a:ea typeface="Calibri" pitchFamily="34" charset="-122"/>
                <a:cs typeface="Calibri" pitchFamily="34" charset="-120"/>
              </a:rPr>
              <a:t>[Your gap guide's In the way right now list goes here first. Then anything it cannot see: a person out sick, a tool you cannot get into, a disagreement.]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 NEXT THREE THINGS, IN ORDER</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happens next</a:t>
            </a:r>
            <a:endParaRPr lang="en-US" sz="3400" dirty="0"/>
          </a:p>
        </p:txBody>
      </p:sp>
      <p:sp>
        <p:nvSpPr>
          <p:cNvPr id="4" name="Text 2"/>
          <p:cNvSpPr txBox="1"/>
          <p:nvPr/>
        </p:nvSpPr>
        <p:spPr>
          <a:xfrm>
            <a:off x="1325880" y="1783080"/>
            <a:ext cx="603504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STEP</a:t>
            </a:r>
            <a:endParaRPr lang="en-US" sz="1050" dirty="0"/>
          </a:p>
        </p:txBody>
      </p:sp>
      <p:sp>
        <p:nvSpPr>
          <p:cNvPr id="5" name="Text 3"/>
          <p:cNvSpPr txBox="1"/>
          <p:nvPr/>
        </p:nvSpPr>
        <p:spPr>
          <a:xfrm>
            <a:off x="7589520" y="1783080"/>
            <a:ext cx="2377440"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WHO</a:t>
            </a:r>
            <a:endParaRPr lang="en-US" sz="1050" dirty="0"/>
          </a:p>
        </p:txBody>
      </p:sp>
      <p:sp>
        <p:nvSpPr>
          <p:cNvPr id="6" name="Text 4"/>
          <p:cNvSpPr txBox="1"/>
          <p:nvPr/>
        </p:nvSpPr>
        <p:spPr>
          <a:xfrm>
            <a:off x="10149840" y="1783080"/>
            <a:ext cx="1401775" cy="274320"/>
          </a:xfrm>
          <a:prstGeom prst="rect">
            <a:avLst/>
          </a:prstGeom>
          <a:noFill/>
          <a:ln/>
        </p:spPr>
        <p:txBody>
          <a:bodyPr wrap="square" lIns="0" tIns="0" rIns="0" bIns="0" rtlCol="0" anchor="ctr"/>
          <a:lstStyle/>
          <a:p>
            <a:pPr indent="0" marL="0">
              <a:buNone/>
            </a:pPr>
            <a:r>
              <a:rPr lang="en-US" sz="1050" b="1" spc="150" kern="0" dirty="0">
                <a:solidFill>
                  <a:srgbClr val="75787B"/>
                </a:solidFill>
                <a:latin typeface="Calibri" pitchFamily="34" charset="0"/>
                <a:ea typeface="Calibri" pitchFamily="34" charset="-122"/>
                <a:cs typeface="Calibri" pitchFamily="34" charset="-120"/>
              </a:rPr>
              <a:t>BY WHEN</a:t>
            </a:r>
            <a:endParaRPr lang="en-US" sz="1050" dirty="0"/>
          </a:p>
        </p:txBody>
      </p:sp>
      <p:sp>
        <p:nvSpPr>
          <p:cNvPr id="7" name="Shape 5"/>
          <p:cNvSpPr/>
          <p:nvPr/>
        </p:nvSpPr>
        <p:spPr>
          <a:xfrm>
            <a:off x="640080" y="2148840"/>
            <a:ext cx="10911535" cy="914400"/>
          </a:xfrm>
          <a:prstGeom prst="roundRect">
            <a:avLst>
              <a:gd name="adj" fmla="val 9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8" name="Shape 6"/>
          <p:cNvSpPr/>
          <p:nvPr/>
        </p:nvSpPr>
        <p:spPr>
          <a:xfrm>
            <a:off x="841248" y="2432304"/>
            <a:ext cx="347472" cy="347472"/>
          </a:xfrm>
          <a:prstGeom prst="ellipse">
            <a:avLst/>
          </a:prstGeom>
          <a:solidFill>
            <a:srgbClr val="CF4420"/>
          </a:solidFill>
          <a:ln w="12700">
            <a:solidFill>
              <a:srgbClr val="333333"/>
            </a:solidFill>
            <a:prstDash val="solid"/>
          </a:ln>
        </p:spPr>
      </p:sp>
      <p:sp>
        <p:nvSpPr>
          <p:cNvPr id="9" name="Text 7"/>
          <p:cNvSpPr txBox="1"/>
          <p:nvPr/>
        </p:nvSpPr>
        <p:spPr>
          <a:xfrm>
            <a:off x="841248" y="243230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0" name="Text 8"/>
          <p:cNvSpPr txBox="1"/>
          <p:nvPr/>
        </p:nvSpPr>
        <p:spPr>
          <a:xfrm>
            <a:off x="1325880" y="2148840"/>
            <a:ext cx="6035040" cy="914400"/>
          </a:xfrm>
          <a:prstGeom prst="rect">
            <a:avLst/>
          </a:prstGeom>
          <a:noFill/>
          <a:ln/>
        </p:spPr>
        <p:txBody>
          <a:bodyPr wrap="square" lIns="0" tIns="0" rIns="0" bIns="0" rtlCol="0" anchor="ctr"/>
          <a:lstStyle/>
          <a:p>
            <a:pPr indent="0" marL="0">
              <a:lnSpc>
                <a:spcPts val="1900"/>
              </a:lnSpc>
              <a:buNone/>
            </a:pPr>
            <a:r>
              <a:rPr lang="en-US" sz="1500" b="1" dirty="0">
                <a:solidFill>
                  <a:srgbClr val="630031"/>
                </a:solidFill>
                <a:latin typeface="Cambria" pitchFamily="34" charset="0"/>
                <a:ea typeface="Cambria" pitchFamily="34" charset="-122"/>
                <a:cs typeface="Cambria" pitchFamily="34" charset="-120"/>
              </a:rPr>
              <a:t>[Next step 1, the one that has to happen first]</a:t>
            </a:r>
            <a:endParaRPr lang="en-US" sz="1500" dirty="0"/>
          </a:p>
        </p:txBody>
      </p:sp>
      <p:sp>
        <p:nvSpPr>
          <p:cNvPr id="11" name="Text 9"/>
          <p:cNvSpPr txBox="1"/>
          <p:nvPr/>
        </p:nvSpPr>
        <p:spPr>
          <a:xfrm>
            <a:off x="7589520" y="2148840"/>
            <a:ext cx="2377440" cy="914400"/>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[Who]</a:t>
            </a:r>
            <a:endParaRPr lang="en-US" sz="1250" dirty="0"/>
          </a:p>
        </p:txBody>
      </p:sp>
      <p:sp>
        <p:nvSpPr>
          <p:cNvPr id="12" name="Text 10"/>
          <p:cNvSpPr txBox="1"/>
          <p:nvPr/>
        </p:nvSpPr>
        <p:spPr>
          <a:xfrm>
            <a:off x="10149840" y="2148840"/>
            <a:ext cx="1218895" cy="914400"/>
          </a:xfrm>
          <a:prstGeom prst="rect">
            <a:avLst/>
          </a:prstGeom>
          <a:noFill/>
          <a:ln/>
        </p:spPr>
        <p:txBody>
          <a:bodyPr wrap="square" lIns="0" tIns="0" rIns="0" bIns="0" rtlCol="0" anchor="ctr"/>
          <a:lstStyle/>
          <a:p>
            <a:pPr indent="0" marL="0">
              <a:buNone/>
            </a:pPr>
            <a:r>
              <a:rPr lang="en-US" sz="1250" b="1" dirty="0">
                <a:solidFill>
                  <a:srgbClr val="CF4420"/>
                </a:solidFill>
                <a:latin typeface="Calibri" pitchFamily="34" charset="0"/>
                <a:ea typeface="Calibri" pitchFamily="34" charset="-122"/>
                <a:cs typeface="Calibri" pitchFamily="34" charset="-120"/>
              </a:rPr>
              <a:t>[By when]</a:t>
            </a:r>
            <a:endParaRPr lang="en-US" sz="1250" dirty="0"/>
          </a:p>
        </p:txBody>
      </p:sp>
      <p:sp>
        <p:nvSpPr>
          <p:cNvPr id="13" name="Shape 11"/>
          <p:cNvSpPr/>
          <p:nvPr/>
        </p:nvSpPr>
        <p:spPr>
          <a:xfrm>
            <a:off x="640080" y="3200400"/>
            <a:ext cx="10911535" cy="914400"/>
          </a:xfrm>
          <a:prstGeom prst="roundRect">
            <a:avLst>
              <a:gd name="adj" fmla="val 9000"/>
            </a:avLst>
          </a:prstGeom>
          <a:solidFill>
            <a:srgbClr val="F6F4F1"/>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Shape 12"/>
          <p:cNvSpPr/>
          <p:nvPr/>
        </p:nvSpPr>
        <p:spPr>
          <a:xfrm>
            <a:off x="841248" y="3483864"/>
            <a:ext cx="347472" cy="347472"/>
          </a:xfrm>
          <a:prstGeom prst="ellipse">
            <a:avLst/>
          </a:prstGeom>
          <a:solidFill>
            <a:srgbClr val="630031"/>
          </a:solidFill>
          <a:ln w="12700">
            <a:solidFill>
              <a:srgbClr val="333333"/>
            </a:solidFill>
            <a:prstDash val="solid"/>
          </a:ln>
        </p:spPr>
      </p:sp>
      <p:sp>
        <p:nvSpPr>
          <p:cNvPr id="15" name="Text 13"/>
          <p:cNvSpPr txBox="1"/>
          <p:nvPr/>
        </p:nvSpPr>
        <p:spPr>
          <a:xfrm>
            <a:off x="841248" y="348386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1325880" y="3200400"/>
            <a:ext cx="6035040" cy="914400"/>
          </a:xfrm>
          <a:prstGeom prst="rect">
            <a:avLst/>
          </a:prstGeom>
          <a:noFill/>
          <a:ln/>
        </p:spPr>
        <p:txBody>
          <a:bodyPr wrap="square" lIns="0" tIns="0" rIns="0" bIns="0" rtlCol="0" anchor="ctr"/>
          <a:lstStyle/>
          <a:p>
            <a:pPr indent="0" marL="0">
              <a:lnSpc>
                <a:spcPts val="1900"/>
              </a:lnSpc>
              <a:buNone/>
            </a:pPr>
            <a:r>
              <a:rPr lang="en-US" sz="1500" dirty="0">
                <a:solidFill>
                  <a:srgbClr val="1C1A19"/>
                </a:solidFill>
                <a:latin typeface="Cambria" pitchFamily="34" charset="0"/>
                <a:ea typeface="Cambria" pitchFamily="34" charset="-122"/>
                <a:cs typeface="Cambria" pitchFamily="34" charset="-120"/>
              </a:rPr>
              <a:t>[Next step 2]</a:t>
            </a:r>
            <a:endParaRPr lang="en-US" sz="1500" dirty="0"/>
          </a:p>
        </p:txBody>
      </p:sp>
      <p:sp>
        <p:nvSpPr>
          <p:cNvPr id="17" name="Text 15"/>
          <p:cNvSpPr txBox="1"/>
          <p:nvPr/>
        </p:nvSpPr>
        <p:spPr>
          <a:xfrm>
            <a:off x="7589520" y="3200400"/>
            <a:ext cx="2377440" cy="914400"/>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[Who]</a:t>
            </a:r>
            <a:endParaRPr lang="en-US" sz="1250" dirty="0"/>
          </a:p>
        </p:txBody>
      </p:sp>
      <p:sp>
        <p:nvSpPr>
          <p:cNvPr id="18" name="Text 16"/>
          <p:cNvSpPr txBox="1"/>
          <p:nvPr/>
        </p:nvSpPr>
        <p:spPr>
          <a:xfrm>
            <a:off x="10149840" y="3200400"/>
            <a:ext cx="1218895" cy="914400"/>
          </a:xfrm>
          <a:prstGeom prst="rect">
            <a:avLst/>
          </a:prstGeom>
          <a:noFill/>
          <a:ln/>
        </p:spPr>
        <p:txBody>
          <a:bodyPr wrap="square" lIns="0" tIns="0" rIns="0" bIns="0" rtlCol="0" anchor="ctr"/>
          <a:lstStyle/>
          <a:p>
            <a:pPr indent="0" marL="0">
              <a:buNone/>
            </a:pPr>
            <a:r>
              <a:rPr lang="en-US" sz="1250" b="1" dirty="0">
                <a:solidFill>
                  <a:srgbClr val="CF4420"/>
                </a:solidFill>
                <a:latin typeface="Calibri" pitchFamily="34" charset="0"/>
                <a:ea typeface="Calibri" pitchFamily="34" charset="-122"/>
                <a:cs typeface="Calibri" pitchFamily="34" charset="-120"/>
              </a:rPr>
              <a:t>[By when]</a:t>
            </a:r>
            <a:endParaRPr lang="en-US" sz="1250" dirty="0"/>
          </a:p>
        </p:txBody>
      </p:sp>
      <p:sp>
        <p:nvSpPr>
          <p:cNvPr id="19" name="Shape 17"/>
          <p:cNvSpPr/>
          <p:nvPr/>
        </p:nvSpPr>
        <p:spPr>
          <a:xfrm>
            <a:off x="640080" y="4251960"/>
            <a:ext cx="10911535" cy="914400"/>
          </a:xfrm>
          <a:prstGeom prst="roundRect">
            <a:avLst>
              <a:gd name="adj" fmla="val 9000"/>
            </a:avLst>
          </a:prstGeom>
          <a:solidFill>
            <a:srgbClr val="F6F4F1"/>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Shape 18"/>
          <p:cNvSpPr/>
          <p:nvPr/>
        </p:nvSpPr>
        <p:spPr>
          <a:xfrm>
            <a:off x="841248" y="4535424"/>
            <a:ext cx="347472" cy="347472"/>
          </a:xfrm>
          <a:prstGeom prst="ellipse">
            <a:avLst/>
          </a:prstGeom>
          <a:solidFill>
            <a:srgbClr val="630031"/>
          </a:solidFill>
          <a:ln w="12700">
            <a:solidFill>
              <a:srgbClr val="333333"/>
            </a:solidFill>
            <a:prstDash val="solid"/>
          </a:ln>
        </p:spPr>
      </p:sp>
      <p:sp>
        <p:nvSpPr>
          <p:cNvPr id="21" name="Text 19"/>
          <p:cNvSpPr txBox="1"/>
          <p:nvPr/>
        </p:nvSpPr>
        <p:spPr>
          <a:xfrm>
            <a:off x="841248" y="4535424"/>
            <a:ext cx="347472"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2" name="Text 20"/>
          <p:cNvSpPr txBox="1"/>
          <p:nvPr/>
        </p:nvSpPr>
        <p:spPr>
          <a:xfrm>
            <a:off x="1325880" y="4251960"/>
            <a:ext cx="6035040" cy="914400"/>
          </a:xfrm>
          <a:prstGeom prst="rect">
            <a:avLst/>
          </a:prstGeom>
          <a:noFill/>
          <a:ln/>
        </p:spPr>
        <p:txBody>
          <a:bodyPr wrap="square" lIns="0" tIns="0" rIns="0" bIns="0" rtlCol="0" anchor="ctr"/>
          <a:lstStyle/>
          <a:p>
            <a:pPr indent="0" marL="0">
              <a:lnSpc>
                <a:spcPts val="1900"/>
              </a:lnSpc>
              <a:buNone/>
            </a:pPr>
            <a:r>
              <a:rPr lang="en-US" sz="1500" dirty="0">
                <a:solidFill>
                  <a:srgbClr val="1C1A19"/>
                </a:solidFill>
                <a:latin typeface="Cambria" pitchFamily="34" charset="0"/>
                <a:ea typeface="Cambria" pitchFamily="34" charset="-122"/>
                <a:cs typeface="Cambria" pitchFamily="34" charset="-120"/>
              </a:rPr>
              <a:t>[Next step 3]</a:t>
            </a:r>
            <a:endParaRPr lang="en-US" sz="1500" dirty="0"/>
          </a:p>
        </p:txBody>
      </p:sp>
      <p:sp>
        <p:nvSpPr>
          <p:cNvPr id="23" name="Text 21"/>
          <p:cNvSpPr txBox="1"/>
          <p:nvPr/>
        </p:nvSpPr>
        <p:spPr>
          <a:xfrm>
            <a:off x="7589520" y="4251960"/>
            <a:ext cx="2377440" cy="914400"/>
          </a:xfrm>
          <a:prstGeom prst="rect">
            <a:avLst/>
          </a:prstGeom>
          <a:noFill/>
          <a:ln/>
        </p:spPr>
        <p:txBody>
          <a:bodyPr wrap="square" lIns="0" tIns="0" rIns="0" bIns="0" rtlCol="0" anchor="ctr"/>
          <a:lstStyle/>
          <a:p>
            <a:pPr indent="0" marL="0">
              <a:lnSpc>
                <a:spcPts val="1600"/>
              </a:lnSpc>
              <a:buNone/>
            </a:pPr>
            <a:r>
              <a:rPr lang="en-US" sz="1250" dirty="0">
                <a:solidFill>
                  <a:srgbClr val="1C1A19"/>
                </a:solidFill>
                <a:latin typeface="Calibri" pitchFamily="34" charset="0"/>
                <a:ea typeface="Calibri" pitchFamily="34" charset="-122"/>
                <a:cs typeface="Calibri" pitchFamily="34" charset="-120"/>
              </a:rPr>
              <a:t>[Who]</a:t>
            </a:r>
            <a:endParaRPr lang="en-US" sz="1250" dirty="0"/>
          </a:p>
        </p:txBody>
      </p:sp>
      <p:sp>
        <p:nvSpPr>
          <p:cNvPr id="24" name="Text 22"/>
          <p:cNvSpPr txBox="1"/>
          <p:nvPr/>
        </p:nvSpPr>
        <p:spPr>
          <a:xfrm>
            <a:off x="10149840" y="4251960"/>
            <a:ext cx="1218895" cy="914400"/>
          </a:xfrm>
          <a:prstGeom prst="rect">
            <a:avLst/>
          </a:prstGeom>
          <a:noFill/>
          <a:ln/>
        </p:spPr>
        <p:txBody>
          <a:bodyPr wrap="square" lIns="0" tIns="0" rIns="0" bIns="0" rtlCol="0" anchor="ctr"/>
          <a:lstStyle/>
          <a:p>
            <a:pPr indent="0" marL="0">
              <a:buNone/>
            </a:pPr>
            <a:r>
              <a:rPr lang="en-US" sz="1250" b="1" dirty="0">
                <a:solidFill>
                  <a:srgbClr val="CF4420"/>
                </a:solidFill>
                <a:latin typeface="Calibri" pitchFamily="34" charset="0"/>
                <a:ea typeface="Calibri" pitchFamily="34" charset="-122"/>
                <a:cs typeface="Calibri" pitchFamily="34" charset="-120"/>
              </a:rPr>
              <a:t>[By when]</a:t>
            </a:r>
            <a:endParaRPr lang="en-US" sz="1250" dirty="0"/>
          </a:p>
        </p:txBody>
      </p:sp>
      <p:sp>
        <p:nvSpPr>
          <p:cNvPr id="25" name="Text 23"/>
          <p:cNvSpPr txBox="1"/>
          <p:nvPr/>
        </p:nvSpPr>
        <p:spPr>
          <a:xfrm>
            <a:off x="640080" y="5440680"/>
            <a:ext cx="10911535" cy="640080"/>
          </a:xfrm>
          <a:prstGeom prst="rect">
            <a:avLst/>
          </a:prstGeom>
          <a:noFill/>
          <a:ln/>
        </p:spPr>
        <p:txBody>
          <a:bodyPr wrap="square" lIns="0" tIns="0" rIns="0" bIns="0" rtlCol="0" anchor="t"/>
          <a:lstStyle/>
          <a:p>
            <a:pPr indent="0" marL="0">
              <a:lnSpc>
                <a:spcPts val="2200"/>
              </a:lnSpc>
              <a:buNone/>
            </a:pPr>
            <a:r>
              <a:rPr lang="en-US" sz="1400" dirty="0">
                <a:solidFill>
                  <a:srgbClr val="75787B"/>
                </a:solidFill>
                <a:latin typeface="Calibri" pitchFamily="34" charset="0"/>
                <a:ea typeface="Calibri" pitchFamily="34" charset="-122"/>
                <a:cs typeface="Calibri" pitchFamily="34" charset="-120"/>
              </a:rPr>
              <a:t>[Three steps, not ten. The first one is the one the gap guide names. Every step has a person and a date, or it is a wish.]</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 ASK</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we need from you</a:t>
            </a:r>
            <a:endParaRPr lang="en-US" sz="3400" dirty="0"/>
          </a:p>
        </p:txBody>
      </p:sp>
      <p:sp>
        <p:nvSpPr>
          <p:cNvPr id="4" name="Shape 2"/>
          <p:cNvSpPr/>
          <p:nvPr/>
        </p:nvSpPr>
        <p:spPr>
          <a:xfrm>
            <a:off x="640080" y="1783080"/>
            <a:ext cx="3393338"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60120" y="2057400"/>
            <a:ext cx="420624" cy="420624"/>
          </a:xfrm>
          <a:prstGeom prst="ellipse">
            <a:avLst/>
          </a:prstGeom>
          <a:solidFill>
            <a:srgbClr val="CF4420"/>
          </a:solidFill>
          <a:ln w="12700">
            <a:solidFill>
              <a:srgbClr val="333333"/>
            </a:solidFill>
            <a:prstDash val="solid"/>
          </a:ln>
        </p:spPr>
      </p:sp>
      <p:sp>
        <p:nvSpPr>
          <p:cNvPr id="6" name="Text 4"/>
          <p:cNvSpPr txBox="1"/>
          <p:nvPr/>
        </p:nvSpPr>
        <p:spPr>
          <a:xfrm>
            <a:off x="960120"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960120" y="2651760"/>
            <a:ext cx="2753258" cy="868680"/>
          </a:xfrm>
          <a:prstGeom prst="rect">
            <a:avLst/>
          </a:prstGeom>
          <a:noFill/>
          <a:ln/>
        </p:spPr>
        <p:txBody>
          <a:bodyPr wrap="square" lIns="0" tIns="0" rIns="0" bIns="0" rtlCol="0" anchor="t"/>
          <a:lstStyle/>
          <a:p>
            <a:pPr indent="0" marL="0">
              <a:lnSpc>
                <a:spcPts val="2300"/>
              </a:lnSpc>
              <a:buNone/>
            </a:pPr>
            <a:r>
              <a:rPr lang="en-US" sz="1800" b="1" dirty="0">
                <a:solidFill>
                  <a:srgbClr val="630031"/>
                </a:solidFill>
                <a:latin typeface="Cambria" pitchFamily="34" charset="0"/>
                <a:ea typeface="Cambria" pitchFamily="34" charset="-122"/>
                <a:cs typeface="Cambria" pitchFamily="34" charset="-120"/>
              </a:rPr>
              <a:t>[What you need]</a:t>
            </a:r>
            <a:endParaRPr lang="en-US" sz="1800" dirty="0"/>
          </a:p>
        </p:txBody>
      </p:sp>
      <p:sp>
        <p:nvSpPr>
          <p:cNvPr id="8" name="Text 6"/>
          <p:cNvSpPr txBox="1"/>
          <p:nvPr/>
        </p:nvSpPr>
        <p:spPr>
          <a:xfrm>
            <a:off x="960120" y="3611880"/>
            <a:ext cx="2753258" cy="118872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[From whom, and what happens if you get it]</a:t>
            </a:r>
            <a:endParaRPr lang="en-US" sz="1250" dirty="0"/>
          </a:p>
        </p:txBody>
      </p:sp>
      <p:sp>
        <p:nvSpPr>
          <p:cNvPr id="9" name="Shape 7"/>
          <p:cNvSpPr/>
          <p:nvPr/>
        </p:nvSpPr>
        <p:spPr>
          <a:xfrm>
            <a:off x="4399178" y="1783080"/>
            <a:ext cx="3393338"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Shape 8"/>
          <p:cNvSpPr/>
          <p:nvPr/>
        </p:nvSpPr>
        <p:spPr>
          <a:xfrm>
            <a:off x="4719218" y="2057400"/>
            <a:ext cx="420624" cy="420624"/>
          </a:xfrm>
          <a:prstGeom prst="ellipse">
            <a:avLst/>
          </a:prstGeom>
          <a:solidFill>
            <a:srgbClr val="CF4420"/>
          </a:solidFill>
          <a:ln w="12700">
            <a:solidFill>
              <a:srgbClr val="333333"/>
            </a:solidFill>
            <a:prstDash val="solid"/>
          </a:ln>
        </p:spPr>
      </p:sp>
      <p:sp>
        <p:nvSpPr>
          <p:cNvPr id="11" name="Text 9"/>
          <p:cNvSpPr txBox="1"/>
          <p:nvPr/>
        </p:nvSpPr>
        <p:spPr>
          <a:xfrm>
            <a:off x="4719218"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4719218" y="2651760"/>
            <a:ext cx="2753258" cy="868680"/>
          </a:xfrm>
          <a:prstGeom prst="rect">
            <a:avLst/>
          </a:prstGeom>
          <a:noFill/>
          <a:ln/>
        </p:spPr>
        <p:txBody>
          <a:bodyPr wrap="square" lIns="0" tIns="0" rIns="0" bIns="0" rtlCol="0" anchor="t"/>
          <a:lstStyle/>
          <a:p>
            <a:pPr indent="0" marL="0">
              <a:lnSpc>
                <a:spcPts val="2300"/>
              </a:lnSpc>
              <a:buNone/>
            </a:pPr>
            <a:r>
              <a:rPr lang="en-US" sz="1800" b="1" dirty="0">
                <a:solidFill>
                  <a:srgbClr val="630031"/>
                </a:solidFill>
                <a:latin typeface="Cambria" pitchFamily="34" charset="0"/>
                <a:ea typeface="Cambria" pitchFamily="34" charset="-122"/>
                <a:cs typeface="Cambria" pitchFamily="34" charset="-120"/>
              </a:rPr>
              <a:t>[A decision you need made]</a:t>
            </a:r>
            <a:endParaRPr lang="en-US" sz="1800" dirty="0"/>
          </a:p>
        </p:txBody>
      </p:sp>
      <p:sp>
        <p:nvSpPr>
          <p:cNvPr id="13" name="Text 11"/>
          <p:cNvSpPr txBox="1"/>
          <p:nvPr/>
        </p:nvSpPr>
        <p:spPr>
          <a:xfrm>
            <a:off x="4719218" y="3611880"/>
            <a:ext cx="2753258" cy="118872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[The two options, and which one you recommend]</a:t>
            </a:r>
            <a:endParaRPr lang="en-US" sz="1250" dirty="0"/>
          </a:p>
        </p:txBody>
      </p:sp>
      <p:sp>
        <p:nvSpPr>
          <p:cNvPr id="14" name="Shape 12"/>
          <p:cNvSpPr/>
          <p:nvPr/>
        </p:nvSpPr>
        <p:spPr>
          <a:xfrm>
            <a:off x="8158277" y="1783080"/>
            <a:ext cx="3393338" cy="3108960"/>
          </a:xfrm>
          <a:prstGeom prst="roundRect">
            <a:avLst>
              <a:gd name="adj" fmla="val 2647"/>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8478317" y="2057400"/>
            <a:ext cx="420624" cy="420624"/>
          </a:xfrm>
          <a:prstGeom prst="ellipse">
            <a:avLst/>
          </a:prstGeom>
          <a:solidFill>
            <a:srgbClr val="CF4420"/>
          </a:solidFill>
          <a:ln w="12700">
            <a:solidFill>
              <a:srgbClr val="333333"/>
            </a:solidFill>
            <a:prstDash val="solid"/>
          </a:ln>
        </p:spPr>
      </p:sp>
      <p:sp>
        <p:nvSpPr>
          <p:cNvPr id="16" name="Text 14"/>
          <p:cNvSpPr txBox="1"/>
          <p:nvPr/>
        </p:nvSpPr>
        <p:spPr>
          <a:xfrm>
            <a:off x="8478317"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8478317" y="2651760"/>
            <a:ext cx="2753258" cy="868680"/>
          </a:xfrm>
          <a:prstGeom prst="rect">
            <a:avLst/>
          </a:prstGeom>
          <a:noFill/>
          <a:ln/>
        </p:spPr>
        <p:txBody>
          <a:bodyPr wrap="square" lIns="0" tIns="0" rIns="0" bIns="0" rtlCol="0" anchor="t"/>
          <a:lstStyle/>
          <a:p>
            <a:pPr indent="0" marL="0">
              <a:lnSpc>
                <a:spcPts val="2300"/>
              </a:lnSpc>
              <a:buNone/>
            </a:pPr>
            <a:r>
              <a:rPr lang="en-US" sz="1800" b="1" dirty="0">
                <a:solidFill>
                  <a:srgbClr val="630031"/>
                </a:solidFill>
                <a:latin typeface="Cambria" pitchFamily="34" charset="0"/>
                <a:ea typeface="Cambria" pitchFamily="34" charset="-122"/>
                <a:cs typeface="Cambria" pitchFamily="34" charset="-120"/>
              </a:rPr>
              <a:t>[Time or a tool you need]</a:t>
            </a:r>
            <a:endParaRPr lang="en-US" sz="1800" dirty="0"/>
          </a:p>
        </p:txBody>
      </p:sp>
      <p:sp>
        <p:nvSpPr>
          <p:cNvPr id="18" name="Text 16"/>
          <p:cNvSpPr txBox="1"/>
          <p:nvPr/>
        </p:nvSpPr>
        <p:spPr>
          <a:xfrm>
            <a:off x="8478317" y="3611880"/>
            <a:ext cx="2753258" cy="1188720"/>
          </a:xfrm>
          <a:prstGeom prst="rect">
            <a:avLst/>
          </a:prstGeom>
          <a:noFill/>
          <a:ln/>
        </p:spPr>
        <p:txBody>
          <a:bodyPr wrap="square" lIns="0" tIns="0" rIns="0" bIns="0" rtlCol="0" anchor="t"/>
          <a:lstStyle/>
          <a:p>
            <a:pPr indent="0" marL="0">
              <a:lnSpc>
                <a:spcPts val="1700"/>
              </a:lnSpc>
              <a:buNone/>
            </a:pPr>
            <a:r>
              <a:rPr lang="en-US" sz="1250" dirty="0">
                <a:solidFill>
                  <a:srgbClr val="1C1A19"/>
                </a:solidFill>
                <a:latin typeface="Calibri" pitchFamily="34" charset="0"/>
                <a:ea typeface="Calibri" pitchFamily="34" charset="-122"/>
                <a:cs typeface="Calibri" pitchFamily="34" charset="-120"/>
              </a:rPr>
              <a:t>[How much, and when]</a:t>
            </a:r>
            <a:endParaRPr lang="en-US" sz="1250" dirty="0"/>
          </a:p>
        </p:txBody>
      </p:sp>
      <p:sp>
        <p:nvSpPr>
          <p:cNvPr id="19" name="Text 17"/>
          <p:cNvSpPr txBox="1"/>
          <p:nvPr/>
        </p:nvSpPr>
        <p:spPr>
          <a:xfrm>
            <a:off x="640080" y="5166360"/>
            <a:ext cx="10911535" cy="640080"/>
          </a:xfrm>
          <a:prstGeom prst="rect">
            <a:avLst/>
          </a:prstGeom>
          <a:noFill/>
          <a:ln/>
        </p:spPr>
        <p:txBody>
          <a:bodyPr wrap="square" lIns="0" tIns="0" rIns="0" bIns="0" rtlCol="0" anchor="t"/>
          <a:lstStyle/>
          <a:p>
            <a:pPr indent="0" marL="0">
              <a:lnSpc>
                <a:spcPts val="2200"/>
              </a:lnSpc>
              <a:buNone/>
            </a:pPr>
            <a:r>
              <a:rPr lang="en-US" sz="1400" dirty="0">
                <a:solidFill>
                  <a:srgbClr val="75787B"/>
                </a:solidFill>
                <a:latin typeface="Calibri" pitchFamily="34" charset="0"/>
                <a:ea typeface="Calibri" pitchFamily="34" charset="-122"/>
                <a:cs typeface="Calibri" pitchFamily="34" charset="-120"/>
              </a:rPr>
              <a:t>[Three asks at most. Time, a decision, or a tool. Say what happens if you get it, and what happens if you do not.]</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4A0025"/>
          </a:solidFill>
          <a:ln w="12700">
            <a:solidFill>
              <a:srgbClr val="333333"/>
            </a:solidFill>
            <a:prstDash val="solid"/>
          </a:ln>
        </p:spPr>
      </p:sp>
      <p:sp>
        <p:nvSpPr>
          <p:cNvPr id="3" name="Text 1"/>
          <p:cNvSpPr txBox="1"/>
          <p:nvPr/>
        </p:nvSpPr>
        <p:spPr>
          <a:xfrm>
            <a:off x="640080" y="1280160"/>
            <a:ext cx="77724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Questions</a:t>
            </a:r>
            <a:endParaRPr lang="en-US" sz="5400" dirty="0"/>
          </a:p>
        </p:txBody>
      </p:sp>
      <p:sp>
        <p:nvSpPr>
          <p:cNvPr id="4" name="Text 2"/>
          <p:cNvSpPr txBox="1"/>
          <p:nvPr/>
        </p:nvSpPr>
        <p:spPr>
          <a:xfrm>
            <a:off x="640080" y="2423160"/>
            <a:ext cx="7772400" cy="365760"/>
          </a:xfrm>
          <a:prstGeom prst="rect">
            <a:avLst/>
          </a:prstGeom>
          <a:noFill/>
          <a:ln/>
        </p:spPr>
        <p:txBody>
          <a:bodyPr wrap="square" lIns="0" tIns="0" rIns="0" bIns="0" rtlCol="0" anchor="ctr"/>
          <a:lstStyle/>
          <a:p>
            <a:pPr indent="0" marL="0">
              <a:buNone/>
            </a:pPr>
            <a:r>
              <a:rPr lang="en-US" sz="1500" b="1" dirty="0">
                <a:solidFill>
                  <a:srgbClr val="E9C9D6"/>
                </a:solidFill>
                <a:latin typeface="Calibri" pitchFamily="34" charset="0"/>
                <a:ea typeface="Calibri" pitchFamily="34" charset="-122"/>
                <a:cs typeface="Calibri" pitchFamily="34" charset="-120"/>
              </a:rPr>
              <a:t>[Product name]  ·  [Team name]</a:t>
            </a:r>
            <a:endParaRPr lang="en-US" sz="1500" dirty="0"/>
          </a:p>
        </p:txBody>
      </p:sp>
      <p:sp>
        <p:nvSpPr>
          <p:cNvPr id="5" name="Text 3"/>
          <p:cNvSpPr txBox="1"/>
          <p:nvPr/>
        </p:nvSpPr>
        <p:spPr>
          <a:xfrm>
            <a:off x="640080" y="3200400"/>
            <a:ext cx="17373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Prototype</a:t>
            </a:r>
            <a:endParaRPr lang="en-US" sz="1300" dirty="0"/>
          </a:p>
        </p:txBody>
      </p:sp>
      <p:sp>
        <p:nvSpPr>
          <p:cNvPr id="6" name="Text 4"/>
          <p:cNvSpPr txBox="1"/>
          <p:nvPr/>
        </p:nvSpPr>
        <p:spPr>
          <a:xfrm>
            <a:off x="2377440" y="3200400"/>
            <a:ext cx="7772400" cy="411480"/>
          </a:xfrm>
          <a:prstGeom prst="rect">
            <a:avLst/>
          </a:prstGeom>
          <a:noFill/>
          <a:ln/>
        </p:spPr>
        <p:txBody>
          <a:bodyPr wrap="square" lIns="0" tIns="0" rIns="0" bIns="0" rtlCol="0" anchor="ctr"/>
          <a:lstStyle/>
          <a:p>
            <a:pPr indent="0" marL="0">
              <a:buNone/>
            </a:pPr>
            <a:r>
              <a:rPr lang="en-US" sz="1300" dirty="0">
                <a:solidFill>
                  <a:srgbClr val="E9C9D6"/>
                </a:solidFill>
                <a:latin typeface="Calibri" pitchFamily="34" charset="0"/>
                <a:ea typeface="Calibri" pitchFamily="34" charset="-122"/>
                <a:cs typeface="Calibri" pitchFamily="34" charset="-120"/>
              </a:rPr>
              <a:t>[doubleblaze.solutions/prototypes/&lt;team-folder&gt;/]</a:t>
            </a:r>
            <a:endParaRPr lang="en-US" sz="1300" dirty="0"/>
          </a:p>
        </p:txBody>
      </p:sp>
      <p:sp>
        <p:nvSpPr>
          <p:cNvPr id="7" name="Text 5"/>
          <p:cNvSpPr txBox="1"/>
          <p:nvPr/>
        </p:nvSpPr>
        <p:spPr>
          <a:xfrm>
            <a:off x="640080" y="3767328"/>
            <a:ext cx="17373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Gap guide</a:t>
            </a:r>
            <a:endParaRPr lang="en-US" sz="1300" dirty="0"/>
          </a:p>
        </p:txBody>
      </p:sp>
      <p:sp>
        <p:nvSpPr>
          <p:cNvPr id="8" name="Text 6"/>
          <p:cNvSpPr txBox="1"/>
          <p:nvPr/>
        </p:nvSpPr>
        <p:spPr>
          <a:xfrm>
            <a:off x="2377440" y="3767328"/>
            <a:ext cx="7772400" cy="411480"/>
          </a:xfrm>
          <a:prstGeom prst="rect">
            <a:avLst/>
          </a:prstGeom>
          <a:noFill/>
          <a:ln/>
        </p:spPr>
        <p:txBody>
          <a:bodyPr wrap="square" lIns="0" tIns="0" rIns="0" bIns="0" rtlCol="0" anchor="ctr"/>
          <a:lstStyle/>
          <a:p>
            <a:pPr indent="0" marL="0">
              <a:buNone/>
            </a:pPr>
            <a:r>
              <a:rPr lang="en-US" sz="1300" dirty="0">
                <a:solidFill>
                  <a:srgbClr val="E9C9D6"/>
                </a:solidFill>
                <a:latin typeface="Calibri" pitchFamily="34" charset="0"/>
                <a:ea typeface="Calibri" pitchFamily="34" charset="-122"/>
                <a:cs typeface="Calibri" pitchFamily="34" charset="-120"/>
              </a:rPr>
              <a:t>[.../gaps.html]</a:t>
            </a:r>
            <a:endParaRPr lang="en-US" sz="1300" dirty="0"/>
          </a:p>
        </p:txBody>
      </p:sp>
      <p:sp>
        <p:nvSpPr>
          <p:cNvPr id="9" name="Text 7"/>
          <p:cNvSpPr txBox="1"/>
          <p:nvPr/>
        </p:nvSpPr>
        <p:spPr>
          <a:xfrm>
            <a:off x="640080" y="4334256"/>
            <a:ext cx="17373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Test plan</a:t>
            </a:r>
            <a:endParaRPr lang="en-US" sz="1300" dirty="0"/>
          </a:p>
        </p:txBody>
      </p:sp>
      <p:sp>
        <p:nvSpPr>
          <p:cNvPr id="10" name="Text 8"/>
          <p:cNvSpPr txBox="1"/>
          <p:nvPr/>
        </p:nvSpPr>
        <p:spPr>
          <a:xfrm>
            <a:off x="2377440" y="4334256"/>
            <a:ext cx="7772400" cy="411480"/>
          </a:xfrm>
          <a:prstGeom prst="rect">
            <a:avLst/>
          </a:prstGeom>
          <a:noFill/>
          <a:ln/>
        </p:spPr>
        <p:txBody>
          <a:bodyPr wrap="square" lIns="0" tIns="0" rIns="0" bIns="0" rtlCol="0" anchor="ctr"/>
          <a:lstStyle/>
          <a:p>
            <a:pPr indent="0" marL="0">
              <a:buNone/>
            </a:pPr>
            <a:r>
              <a:rPr lang="en-US" sz="1300" dirty="0">
                <a:solidFill>
                  <a:srgbClr val="E9C9D6"/>
                </a:solidFill>
                <a:latin typeface="Calibri" pitchFamily="34" charset="0"/>
                <a:ea typeface="Calibri" pitchFamily="34" charset="-122"/>
                <a:cs typeface="Calibri" pitchFamily="34" charset="-120"/>
              </a:rPr>
              <a:t>[.../test-plan.html]</a:t>
            </a:r>
            <a:endParaRPr lang="en-US" sz="1300" dirty="0"/>
          </a:p>
        </p:txBody>
      </p:sp>
      <p:sp>
        <p:nvSpPr>
          <p:cNvPr id="11" name="Text 9"/>
          <p:cNvSpPr txBox="1"/>
          <p:nvPr/>
        </p:nvSpPr>
        <p:spPr>
          <a:xfrm>
            <a:off x="640080" y="4901184"/>
            <a:ext cx="173736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Project board</a:t>
            </a:r>
            <a:endParaRPr lang="en-US" sz="1300" dirty="0"/>
          </a:p>
        </p:txBody>
      </p:sp>
      <p:sp>
        <p:nvSpPr>
          <p:cNvPr id="12" name="Text 10"/>
          <p:cNvSpPr txBox="1"/>
          <p:nvPr/>
        </p:nvSpPr>
        <p:spPr>
          <a:xfrm>
            <a:off x="2377440" y="4901184"/>
            <a:ext cx="7772400" cy="411480"/>
          </a:xfrm>
          <a:prstGeom prst="rect">
            <a:avLst/>
          </a:prstGeom>
          <a:noFill/>
          <a:ln/>
        </p:spPr>
        <p:txBody>
          <a:bodyPr wrap="square" lIns="0" tIns="0" rIns="0" bIns="0" rtlCol="0" anchor="ctr"/>
          <a:lstStyle/>
          <a:p>
            <a:pPr indent="0" marL="0">
              <a:buNone/>
            </a:pPr>
            <a:r>
              <a:rPr lang="en-US" sz="1300" dirty="0">
                <a:solidFill>
                  <a:srgbClr val="E9C9D6"/>
                </a:solidFill>
                <a:latin typeface="Calibri" pitchFamily="34" charset="0"/>
                <a:ea typeface="Calibri" pitchFamily="34" charset="-122"/>
                <a:cs typeface="Calibri" pitchFamily="34" charset="-120"/>
              </a:rPr>
              <a:t>[doubleblaze.solutions/trail-crew/&lt;team-folder&gt;/board]</a:t>
            </a:r>
            <a:endParaRPr lang="en-US" sz="1300" dirty="0"/>
          </a:p>
        </p:txBody>
      </p:sp>
      <p:sp>
        <p:nvSpPr>
          <p:cNvPr id="13" name="Text 11"/>
          <p:cNvSpPr txBox="1"/>
          <p:nvPr/>
        </p:nvSpPr>
        <p:spPr>
          <a:xfrm>
            <a:off x="640080" y="6035040"/>
            <a:ext cx="5486400" cy="320040"/>
          </a:xfrm>
          <a:prstGeom prst="rect">
            <a:avLst/>
          </a:prstGeom>
          <a:noFill/>
          <a:ln/>
        </p:spPr>
        <p:txBody>
          <a:bodyPr wrap="square" lIns="0" tIns="0" rIns="0" bIns="0" rtlCol="0" anchor="ctr"/>
          <a:lstStyle/>
          <a:p>
            <a:pPr indent="0" marL="0">
              <a:buNone/>
            </a:pPr>
            <a:r>
              <a:rPr lang="en-US" sz="1100" dirty="0">
                <a:solidFill>
                  <a:srgbClr val="C79AAF"/>
                </a:solidFill>
                <a:latin typeface="Calibri" pitchFamily="34" charset="0"/>
                <a:ea typeface="Calibri" pitchFamily="34" charset="-122"/>
                <a:cs typeface="Calibri" pitchFamily="34" charset="-120"/>
              </a:rPr>
              <a:t>Built in class with Double Blaze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status presentation template</dc:title>
  <dc:subject>PptxGenJS Presentation</dc:subject>
  <dc:creator>Double Blaze</dc:creator>
  <cp:lastModifiedBy>Double Blaze</cp:lastModifiedBy>
  <cp:revision>1</cp:revision>
  <dcterms:created xsi:type="dcterms:W3CDTF">2026-09-22T11:45:31Z</dcterms:created>
  <dcterms:modified xsi:type="dcterms:W3CDTF">2026-09-22T11:45:31Z</dcterms:modified>
</cp:coreProperties>
</file>