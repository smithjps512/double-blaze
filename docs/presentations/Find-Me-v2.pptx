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with the Pickle bombs team at their table while the class starts Game Studio, or show it to them first thing.
Say: you made a real choice. Most products are not built once, they are built again and again, and each version is better because of what people said about the last one. That is your job for six weeks.
Same calendar as the rest of the class, same roles, same build weekends, same launch day. You are a studio too; your product is an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QA reports are real, from /play. Two of the four came from Pickle bombs about their own app, which is fine for a first try, but next time get them from other teams.
Point at the third card. A story without checks cannot fail a test, so a tester has nothing to check it against. That is why the reports are all love and no bugs.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match the Game Studio roles, with Game Designer becoming Designer. In a team of 3, the Producer is also QA Lead. Rotating keeps one person from doing all the typing.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build weekends as the game studios: the teacher exports the v2 plan after day 15 (end of week 3) and Double Blaze builds it, and changes after day 24 get a second build.
Week 4: while the class learns MakeCode Arcade, Pickle bombs sketch a v2 screen. If they want to try MakeCode with the class on day 16, that is fine too.
Week 5: their app sits on /play next to the games, so the whole class QAs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interviews this week: a family member, a neighbor, a classmate with a pet. Write down their words, not your opinion of them.
Ask whether they have ever been to a shelter. Shelter workers are one of Find me's users and the team has never heard from one; if a family knows somebody who volunteers, even better.
The rule about 'would you use it' is a real product management rule. People are kind, and kindness is not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let them pick one of these on day 1. These are here so a stuck team has somewhere to start asking. The best v2 story will come from an interview.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same Definition of Done the class learned last week, and the same one the game studios use for their levels.
A bad day example for Find me: Given every kennel is full, When a worker tries to post a new animal, Then the app shows a nearby shelter with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Launch Pad link is where all the planning happens: users, stories, checks, scenarios, the Definition of Done, Level up, and See my app (which builds a quick prototype from what they wrote).
The period 2 copy is a leftover from the first day. If they open it by mistake, they will see an older version with only one story.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Days 2 to 5 of week 1: interviews happen at home or at lunch; in class they write up what each person said, then on day 5 they pick the 3 biggest problems they heard. Week 2 they turn those into stories in Launch Pad.
On build weekends (after day 15 and after day 24) the teacher exports their plan the same way as the Launch Pad prototypes: npm run launch:export -- p3-pickle-bombs, then Double Blaze builds the v2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630031"/>
        </a:solidFill>
      </p:bgPr>
    </p:bg>
    <p:spTree>
      <p:nvGrpSpPr>
        <p:cNvPr id="1" name=""/>
        <p:cNvGrpSpPr/>
        <p:nvPr/>
      </p:nvGrpSpPr>
      <p:grpSpPr>
        <a:xfrm>
          <a:off x="0" y="0"/>
          <a:ext cx="0" cy="0"/>
          <a:chOff x="0" y="0"/>
          <a:chExt cx="0" cy="0"/>
        </a:xfrm>
      </p:grpSpPr>
      <p:sp>
        <p:nvSpPr>
          <p:cNvPr id="2" name="Shape 0"/>
          <p:cNvSpPr/>
          <p:nvPr/>
        </p:nvSpPr>
        <p:spPr>
          <a:xfrm>
            <a:off x="8778240" y="-1371600"/>
            <a:ext cx="5669280" cy="5669280"/>
          </a:xfrm>
          <a:prstGeom prst="ellipse">
            <a:avLst/>
          </a:prstGeom>
          <a:solidFill>
            <a:srgbClr val="4A0025"/>
          </a:solidFill>
          <a:ln w="12700">
            <a:solidFill>
              <a:srgbClr val="333333"/>
            </a:solidFill>
            <a:prstDash val="solid"/>
          </a:ln>
        </p:spPr>
      </p:sp>
      <p:sp>
        <p:nvSpPr>
          <p:cNvPr id="3" name="Shape 1"/>
          <p:cNvSpPr/>
          <p:nvPr/>
        </p:nvSpPr>
        <p:spPr>
          <a:xfrm>
            <a:off x="10424160" y="3931920"/>
            <a:ext cx="3108960" cy="3108960"/>
          </a:xfrm>
          <a:prstGeom prst="ellipse">
            <a:avLst/>
          </a:prstGeom>
          <a:solidFill>
            <a:srgbClr val="CF4420"/>
          </a:solidFill>
          <a:ln w="12700">
            <a:solidFill>
              <a:srgbClr val="333333"/>
            </a:solidFill>
            <a:prstDash val="solid"/>
          </a:ln>
        </p:spPr>
      </p:sp>
      <p:sp>
        <p:nvSpPr>
          <p:cNvPr id="4" name="Text 2"/>
          <p:cNvSpPr txBox="1"/>
          <p:nvPr/>
        </p:nvSpPr>
        <p:spPr>
          <a:xfrm>
            <a:off x="640080" y="1737360"/>
            <a:ext cx="7680960" cy="310896"/>
          </a:xfrm>
          <a:prstGeom prst="rect">
            <a:avLst/>
          </a:prstGeom>
          <a:noFill/>
          <a:ln/>
        </p:spPr>
        <p:txBody>
          <a:bodyPr wrap="square" lIns="0" tIns="0" rIns="0" bIns="0" rtlCol="0" anchor="ctr"/>
          <a:lstStyle/>
          <a:p>
            <a:pPr indent="0" marL="0">
              <a:buNone/>
            </a:pPr>
            <a:r>
              <a:rPr lang="en-US" sz="1300" b="1" spc="300" kern="0" dirty="0">
                <a:solidFill>
                  <a:srgbClr val="E9C9D6"/>
                </a:solidFill>
                <a:latin typeface="Calibri" pitchFamily="34" charset="0"/>
                <a:ea typeface="Calibri" pitchFamily="34" charset="-122"/>
                <a:cs typeface="Calibri" pitchFamily="34" charset="-120"/>
              </a:rPr>
              <a:t>PICKLE BOMBS  ·  SIX WEEKS</a:t>
            </a:r>
            <a:endParaRPr lang="en-US" sz="1300" dirty="0"/>
          </a:p>
        </p:txBody>
      </p:sp>
      <p:sp>
        <p:nvSpPr>
          <p:cNvPr id="5" name="Text 3"/>
          <p:cNvSpPr txBox="1"/>
          <p:nvPr/>
        </p:nvSpPr>
        <p:spPr>
          <a:xfrm>
            <a:off x="640080" y="2121408"/>
            <a:ext cx="8046720" cy="1097280"/>
          </a:xfrm>
          <a:prstGeom prst="rect">
            <a:avLst/>
          </a:prstGeom>
          <a:noFill/>
          <a:ln/>
        </p:spPr>
        <p:txBody>
          <a:bodyPr wrap="square" lIns="0" tIns="0" rIns="0" bIns="0" rtlCol="0" anchor="ctr"/>
          <a:lstStyle/>
          <a:p>
            <a:pPr indent="0" marL="0">
              <a:buNone/>
            </a:pPr>
            <a:r>
              <a:rPr lang="en-US" sz="5200" b="1" dirty="0">
                <a:solidFill>
                  <a:srgbClr val="FFFFFF"/>
                </a:solidFill>
                <a:latin typeface="Cambria" pitchFamily="34" charset="0"/>
                <a:ea typeface="Cambria" pitchFamily="34" charset="-122"/>
                <a:cs typeface="Cambria" pitchFamily="34" charset="-120"/>
              </a:rPr>
              <a:t>Find me, version 2.</a:t>
            </a:r>
            <a:endParaRPr lang="en-US" sz="5200" dirty="0"/>
          </a:p>
        </p:txBody>
      </p:sp>
      <p:sp>
        <p:nvSpPr>
          <p:cNvPr id="6" name="Text 4"/>
          <p:cNvSpPr txBox="1"/>
          <p:nvPr/>
        </p:nvSpPr>
        <p:spPr>
          <a:xfrm>
            <a:off x="640080" y="3429000"/>
            <a:ext cx="7498080" cy="1280160"/>
          </a:xfrm>
          <a:prstGeom prst="rect">
            <a:avLst/>
          </a:prstGeom>
          <a:noFill/>
          <a:ln/>
        </p:spPr>
        <p:txBody>
          <a:bodyPr wrap="square" lIns="0" tIns="0" rIns="0" bIns="0" rtlCol="0" anchor="ctr"/>
          <a:lstStyle/>
          <a:p>
            <a:pPr indent="0" marL="0">
              <a:lnSpc>
                <a:spcPts val="2600"/>
              </a:lnSpc>
              <a:buNone/>
            </a:pPr>
            <a:r>
              <a:rPr lang="en-US" sz="1800" dirty="0">
                <a:solidFill>
                  <a:srgbClr val="EBD9E1"/>
                </a:solidFill>
                <a:latin typeface="Calibri" pitchFamily="34" charset="0"/>
                <a:ea typeface="Calibri" pitchFamily="34" charset="-122"/>
                <a:cs typeface="Calibri" pitchFamily="34" charset="-120"/>
              </a:rPr>
              <a:t>Everyone else is building a game. You asked to keep building your app. Real product teams do exactly that: version 2 is where a product gets good.</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VERSION 1</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Where Find me is today</a:t>
            </a:r>
            <a:endParaRPr lang="en-US" sz="3400" dirty="0"/>
          </a:p>
        </p:txBody>
      </p:sp>
      <p:sp>
        <p:nvSpPr>
          <p:cNvPr id="4" name="Shape 2"/>
          <p:cNvSpPr/>
          <p:nvPr/>
        </p:nvSpPr>
        <p:spPr>
          <a:xfrm>
            <a:off x="640080" y="1783080"/>
            <a:ext cx="3429914" cy="2743200"/>
          </a:xfrm>
          <a:prstGeom prst="roundRect">
            <a:avLst>
              <a:gd name="adj" fmla="val 3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14400" y="1965960"/>
            <a:ext cx="2881274"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What it does</a:t>
            </a:r>
            <a:endParaRPr lang="en-US" sz="2100" dirty="0"/>
          </a:p>
        </p:txBody>
      </p:sp>
      <p:sp>
        <p:nvSpPr>
          <p:cNvPr id="6" name="Text 4"/>
          <p:cNvSpPr txBox="1"/>
          <p:nvPr/>
        </p:nvSpPr>
        <p:spPr>
          <a:xfrm>
            <a:off x="914400" y="2514600"/>
            <a:ext cx="2881274" cy="1920240"/>
          </a:xfrm>
          <a:prstGeom prst="rect">
            <a:avLst/>
          </a:prstGeom>
          <a:noFill/>
          <a:ln/>
        </p:spPr>
        <p:txBody>
          <a:bodyPr wrap="square" lIns="0" tIns="0" rIns="0" bIns="0" rtlCol="0" anchor="ctr"/>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12 pets who speak for themselves, a match quiz, and shelters whose overcrowding meter drops when a pet is adopted.</a:t>
            </a:r>
            <a:endParaRPr lang="en-US" sz="1600" dirty="0"/>
          </a:p>
        </p:txBody>
      </p:sp>
      <p:sp>
        <p:nvSpPr>
          <p:cNvPr id="7" name="Shape 5"/>
          <p:cNvSpPr/>
          <p:nvPr/>
        </p:nvSpPr>
        <p:spPr>
          <a:xfrm>
            <a:off x="4380890" y="1783080"/>
            <a:ext cx="3429914" cy="2743200"/>
          </a:xfrm>
          <a:prstGeom prst="roundRect">
            <a:avLst>
              <a:gd name="adj" fmla="val 3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4655210" y="1965960"/>
            <a:ext cx="2881274"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What testers said</a:t>
            </a:r>
            <a:endParaRPr lang="en-US" sz="2100" dirty="0"/>
          </a:p>
        </p:txBody>
      </p:sp>
      <p:sp>
        <p:nvSpPr>
          <p:cNvPr id="9" name="Text 7"/>
          <p:cNvSpPr txBox="1"/>
          <p:nvPr/>
        </p:nvSpPr>
        <p:spPr>
          <a:xfrm>
            <a:off x="4655210" y="2514600"/>
            <a:ext cx="2881274" cy="1920240"/>
          </a:xfrm>
          <a:prstGeom prst="rect">
            <a:avLst/>
          </a:prstGeom>
          <a:noFill/>
          <a:ln/>
        </p:spPr>
        <p:txBody>
          <a:bodyPr wrap="square" lIns="0" tIns="0" rIns="0" bIns="0" rtlCol="0" anchor="ctr"/>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4 “Love it” reports on /play. One said: “I can find the pet that fits my house and life best.”</a:t>
            </a:r>
            <a:endParaRPr lang="en-US" sz="1600" dirty="0"/>
          </a:p>
        </p:txBody>
      </p:sp>
      <p:sp>
        <p:nvSpPr>
          <p:cNvPr id="10" name="Shape 8"/>
          <p:cNvSpPr/>
          <p:nvPr/>
        </p:nvSpPr>
        <p:spPr>
          <a:xfrm>
            <a:off x="8121701" y="1783080"/>
            <a:ext cx="3429914" cy="2743200"/>
          </a:xfrm>
          <a:prstGeom prst="roundRect">
            <a:avLst>
              <a:gd name="adj" fmla="val 3000"/>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Text 9"/>
          <p:cNvSpPr txBox="1"/>
          <p:nvPr/>
        </p:nvSpPr>
        <p:spPr>
          <a:xfrm>
            <a:off x="8396021" y="1965960"/>
            <a:ext cx="2881274"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What it is missing</a:t>
            </a:r>
            <a:endParaRPr lang="en-US" sz="2100" dirty="0"/>
          </a:p>
        </p:txBody>
      </p:sp>
      <p:sp>
        <p:nvSpPr>
          <p:cNvPr id="12" name="Text 10"/>
          <p:cNvSpPr txBox="1"/>
          <p:nvPr/>
        </p:nvSpPr>
        <p:spPr>
          <a:xfrm>
            <a:off x="8396021" y="2514600"/>
            <a:ext cx="2881274" cy="1920240"/>
          </a:xfrm>
          <a:prstGeom prst="rect">
            <a:avLst/>
          </a:prstGeom>
          <a:noFill/>
          <a:ln/>
        </p:spPr>
        <p:txBody>
          <a:bodyPr wrap="square" lIns="0" tIns="0" rIns="0" bIns="0" rtlCol="0" anchor="ctr"/>
          <a:lstStyle/>
          <a:p>
            <a:pPr indent="0" marL="0">
              <a:lnSpc>
                <a:spcPts val="2300"/>
              </a:lnSpc>
              <a:buNone/>
            </a:pPr>
            <a:r>
              <a:rPr lang="en-US" sz="1600" dirty="0">
                <a:solidFill>
                  <a:srgbClr val="1C1A19"/>
                </a:solidFill>
                <a:latin typeface="Calibri" pitchFamily="34" charset="0"/>
                <a:ea typeface="Calibri" pitchFamily="34" charset="-122"/>
                <a:cs typeface="Calibri" pitchFamily="34" charset="-120"/>
              </a:rPr>
              <a:t>Your 3 stories have no checks and no scenarios yet. None of them meets the Definition of Done.</a:t>
            </a:r>
            <a:endParaRPr lang="en-US" sz="1600" dirty="0"/>
          </a:p>
        </p:txBody>
      </p:sp>
      <p:sp>
        <p:nvSpPr>
          <p:cNvPr id="13" name="Text 11"/>
          <p:cNvSpPr txBox="1"/>
          <p:nvPr/>
        </p:nvSpPr>
        <p:spPr>
          <a:xfrm>
            <a:off x="640080" y="4846320"/>
            <a:ext cx="10911535" cy="822960"/>
          </a:xfrm>
          <a:prstGeom prst="rect">
            <a:avLst/>
          </a:prstGeom>
          <a:noFill/>
          <a:ln/>
        </p:spPr>
        <p:txBody>
          <a:bodyPr wrap="square" lIns="0" tIns="0" rIns="0" bIns="0" rtlCol="0" anchor="t"/>
          <a:lstStyle/>
          <a:p>
            <a:pPr indent="0" marL="0">
              <a:lnSpc>
                <a:spcPts val="2200"/>
              </a:lnSpc>
              <a:buNone/>
            </a:pPr>
            <a:r>
              <a:rPr lang="en-US" sz="1800" b="1" dirty="0">
                <a:solidFill>
                  <a:srgbClr val="1C1A19"/>
                </a:solidFill>
                <a:latin typeface="Calibri" pitchFamily="34" charset="0"/>
                <a:ea typeface="Calibri" pitchFamily="34" charset="-122"/>
                <a:cs typeface="Calibri" pitchFamily="34" charset="-120"/>
              </a:rPr>
              <a:t>Love is great. But nobody has found a bug yet, because nobody has written down what “working” means. That is version 2's first job.</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LIKE EVERY TEAM IN THE ROOM</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Same studio, same roles</a:t>
            </a:r>
            <a:endParaRPr lang="en-US" sz="3400" dirty="0"/>
          </a:p>
        </p:txBody>
      </p:sp>
      <p:sp>
        <p:nvSpPr>
          <p:cNvPr id="4" name="Shape 2"/>
          <p:cNvSpPr/>
          <p:nvPr/>
        </p:nvSpPr>
        <p:spPr>
          <a:xfrm>
            <a:off x="640080" y="1828800"/>
            <a:ext cx="2522144" cy="256032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14400" y="2057400"/>
            <a:ext cx="420624" cy="420624"/>
          </a:xfrm>
          <a:prstGeom prst="ellipse">
            <a:avLst/>
          </a:prstGeom>
          <a:solidFill>
            <a:srgbClr val="CF4420"/>
          </a:solidFill>
          <a:ln w="12700">
            <a:solidFill>
              <a:srgbClr val="333333"/>
            </a:solidFill>
            <a:prstDash val="solid"/>
          </a:ln>
        </p:spPr>
      </p:sp>
      <p:sp>
        <p:nvSpPr>
          <p:cNvPr id="6" name="Text 4"/>
          <p:cNvSpPr txBox="1"/>
          <p:nvPr/>
        </p:nvSpPr>
        <p:spPr>
          <a:xfrm>
            <a:off x="914400"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914400" y="2651760"/>
            <a:ext cx="1973504"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Producer</a:t>
            </a:r>
            <a:endParaRPr lang="en-US" sz="2100" dirty="0"/>
          </a:p>
        </p:txBody>
      </p:sp>
      <p:sp>
        <p:nvSpPr>
          <p:cNvPr id="8" name="Text 6"/>
          <p:cNvSpPr txBox="1"/>
          <p:nvPr/>
        </p:nvSpPr>
        <p:spPr>
          <a:xfrm>
            <a:off x="914400" y="3154680"/>
            <a:ext cx="1973504" cy="118872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Keeps the plan in Launch Pad. Types. Says when a story is done.</a:t>
            </a:r>
            <a:endParaRPr lang="en-US" sz="1500" dirty="0"/>
          </a:p>
        </p:txBody>
      </p:sp>
      <p:sp>
        <p:nvSpPr>
          <p:cNvPr id="9" name="Shape 7"/>
          <p:cNvSpPr/>
          <p:nvPr/>
        </p:nvSpPr>
        <p:spPr>
          <a:xfrm>
            <a:off x="3436544" y="1828800"/>
            <a:ext cx="2522144" cy="256032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3710864" y="2057400"/>
            <a:ext cx="420624" cy="420624"/>
          </a:xfrm>
          <a:prstGeom prst="ellipse">
            <a:avLst/>
          </a:prstGeom>
          <a:solidFill>
            <a:srgbClr val="CF4420"/>
          </a:solidFill>
          <a:ln w="12700">
            <a:solidFill>
              <a:srgbClr val="333333"/>
            </a:solidFill>
            <a:prstDash val="solid"/>
          </a:ln>
        </p:spPr>
      </p:sp>
      <p:sp>
        <p:nvSpPr>
          <p:cNvPr id="11" name="Text 9"/>
          <p:cNvSpPr txBox="1"/>
          <p:nvPr/>
        </p:nvSpPr>
        <p:spPr>
          <a:xfrm>
            <a:off x="3710864"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3710864" y="2651760"/>
            <a:ext cx="1973504"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Designer</a:t>
            </a:r>
            <a:endParaRPr lang="en-US" sz="2100" dirty="0"/>
          </a:p>
        </p:txBody>
      </p:sp>
      <p:sp>
        <p:nvSpPr>
          <p:cNvPr id="13" name="Text 11"/>
          <p:cNvSpPr txBox="1"/>
          <p:nvPr/>
        </p:nvSpPr>
        <p:spPr>
          <a:xfrm>
            <a:off x="3710864" y="3154680"/>
            <a:ext cx="1973504" cy="118872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Decides what each screen shows, and sketches it.</a:t>
            </a:r>
            <a:endParaRPr lang="en-US" sz="1500" dirty="0"/>
          </a:p>
        </p:txBody>
      </p:sp>
      <p:sp>
        <p:nvSpPr>
          <p:cNvPr id="14" name="Shape 12"/>
          <p:cNvSpPr/>
          <p:nvPr/>
        </p:nvSpPr>
        <p:spPr>
          <a:xfrm>
            <a:off x="6233008" y="1828800"/>
            <a:ext cx="2522144" cy="256032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6507328" y="2057400"/>
            <a:ext cx="420624" cy="420624"/>
          </a:xfrm>
          <a:prstGeom prst="ellipse">
            <a:avLst/>
          </a:prstGeom>
          <a:solidFill>
            <a:srgbClr val="CF4420"/>
          </a:solidFill>
          <a:ln w="12700">
            <a:solidFill>
              <a:srgbClr val="333333"/>
            </a:solidFill>
            <a:prstDash val="solid"/>
          </a:ln>
        </p:spPr>
      </p:sp>
      <p:sp>
        <p:nvSpPr>
          <p:cNvPr id="16" name="Text 14"/>
          <p:cNvSpPr txBox="1"/>
          <p:nvPr/>
        </p:nvSpPr>
        <p:spPr>
          <a:xfrm>
            <a:off x="6507328"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6507328" y="2651760"/>
            <a:ext cx="1973504"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Developer</a:t>
            </a:r>
            <a:endParaRPr lang="en-US" sz="2100" dirty="0"/>
          </a:p>
        </p:txBody>
      </p:sp>
      <p:sp>
        <p:nvSpPr>
          <p:cNvPr id="18" name="Text 16"/>
          <p:cNvSpPr txBox="1"/>
          <p:nvPr/>
        </p:nvSpPr>
        <p:spPr>
          <a:xfrm>
            <a:off x="6507328" y="3154680"/>
            <a:ext cx="1973504" cy="118872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Writes checks and scenarios a builder could build from.</a:t>
            </a:r>
            <a:endParaRPr lang="en-US" sz="1500" dirty="0"/>
          </a:p>
        </p:txBody>
      </p:sp>
      <p:sp>
        <p:nvSpPr>
          <p:cNvPr id="19" name="Shape 17"/>
          <p:cNvSpPr/>
          <p:nvPr/>
        </p:nvSpPr>
        <p:spPr>
          <a:xfrm>
            <a:off x="9029471" y="1828800"/>
            <a:ext cx="2522144" cy="2560320"/>
          </a:xfrm>
          <a:prstGeom prst="roundRect">
            <a:avLst>
              <a:gd name="adj" fmla="val 3263"/>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9303791" y="2057400"/>
            <a:ext cx="420624" cy="420624"/>
          </a:xfrm>
          <a:prstGeom prst="ellipse">
            <a:avLst/>
          </a:prstGeom>
          <a:solidFill>
            <a:srgbClr val="CF4420"/>
          </a:solidFill>
          <a:ln w="12700">
            <a:solidFill>
              <a:srgbClr val="333333"/>
            </a:solidFill>
            <a:prstDash val="solid"/>
          </a:ln>
        </p:spPr>
      </p:sp>
      <p:sp>
        <p:nvSpPr>
          <p:cNvPr id="21" name="Text 19"/>
          <p:cNvSpPr txBox="1"/>
          <p:nvPr/>
        </p:nvSpPr>
        <p:spPr>
          <a:xfrm>
            <a:off x="9303791" y="205740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9303791" y="2651760"/>
            <a:ext cx="1973504" cy="45720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QA Lead</a:t>
            </a:r>
            <a:endParaRPr lang="en-US" sz="2100" dirty="0"/>
          </a:p>
        </p:txBody>
      </p:sp>
      <p:sp>
        <p:nvSpPr>
          <p:cNvPr id="23" name="Text 21"/>
          <p:cNvSpPr txBox="1"/>
          <p:nvPr/>
        </p:nvSpPr>
        <p:spPr>
          <a:xfrm>
            <a:off x="9303791" y="3154680"/>
            <a:ext cx="1973504" cy="1188720"/>
          </a:xfrm>
          <a:prstGeom prst="rect">
            <a:avLst/>
          </a:prstGeom>
          <a:noFill/>
          <a:ln/>
        </p:spPr>
        <p:txBody>
          <a:bodyPr wrap="square" lIns="0" tIns="0" rIns="0" bIns="0" rtlCol="0" anchor="ctr"/>
          <a:lstStyle/>
          <a:p>
            <a:pPr indent="0" marL="0">
              <a:lnSpc>
                <a:spcPts val="2100"/>
              </a:lnSpc>
              <a:buNone/>
            </a:pPr>
            <a:r>
              <a:rPr lang="en-US" sz="1500" dirty="0">
                <a:solidFill>
                  <a:srgbClr val="1C1A19"/>
                </a:solidFill>
                <a:latin typeface="Calibri" pitchFamily="34" charset="0"/>
                <a:ea typeface="Calibri" pitchFamily="34" charset="-122"/>
                <a:cs typeface="Calibri" pitchFamily="34" charset="-120"/>
              </a:rPr>
              <a:t>Tests the app, finds bad days, and writes clear reports.</a:t>
            </a:r>
            <a:endParaRPr lang="en-US" sz="1500" dirty="0"/>
          </a:p>
        </p:txBody>
      </p:sp>
      <p:sp>
        <p:nvSpPr>
          <p:cNvPr id="24" name="Text 22"/>
          <p:cNvSpPr txBox="1"/>
          <p:nvPr/>
        </p:nvSpPr>
        <p:spPr>
          <a:xfrm>
            <a:off x="640080" y="4754880"/>
            <a:ext cx="10911535" cy="457200"/>
          </a:xfrm>
          <a:prstGeom prst="rect">
            <a:avLst/>
          </a:prstGeom>
          <a:noFill/>
          <a:ln/>
        </p:spPr>
        <p:txBody>
          <a:bodyPr wrap="square" lIns="0" tIns="0" rIns="0" bIns="0" rtlCol="0" anchor="t"/>
          <a:lstStyle/>
          <a:p>
            <a:pPr indent="0" marL="0">
              <a:lnSpc>
                <a:spcPts val="2200"/>
              </a:lnSpc>
              <a:buNone/>
            </a:pPr>
            <a:r>
              <a:rPr lang="en-US" sz="1700" dirty="0">
                <a:solidFill>
                  <a:srgbClr val="75787B"/>
                </a:solidFill>
                <a:latin typeface="Calibri" pitchFamily="34" charset="0"/>
                <a:ea typeface="Calibri" pitchFamily="34" charset="-122"/>
                <a:cs typeface="Calibri" pitchFamily="34" charset="-120"/>
              </a:rPr>
              <a:t>Roles rotate every Monday, at the same time as the game studios.</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IN STEP WITH THE CLASS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Your six weeks</a:t>
            </a:r>
            <a:endParaRPr lang="en-US" sz="3400" dirty="0"/>
          </a:p>
        </p:txBody>
      </p:sp>
      <p:sp>
        <p:nvSpPr>
          <p:cNvPr id="4" name="Shape 2"/>
          <p:cNvSpPr/>
          <p:nvPr/>
        </p:nvSpPr>
        <p:spPr>
          <a:xfrm>
            <a:off x="640080" y="1691640"/>
            <a:ext cx="5272888"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868680" y="2039112"/>
            <a:ext cx="420624" cy="420624"/>
          </a:xfrm>
          <a:prstGeom prst="ellipse">
            <a:avLst/>
          </a:prstGeom>
          <a:solidFill>
            <a:srgbClr val="630031"/>
          </a:solidFill>
          <a:ln w="12700">
            <a:solidFill>
              <a:srgbClr val="333333"/>
            </a:solidFill>
            <a:prstDash val="solid"/>
          </a:ln>
        </p:spPr>
      </p:sp>
      <p:sp>
        <p:nvSpPr>
          <p:cNvPr id="6" name="Text 4"/>
          <p:cNvSpPr txBox="1"/>
          <p:nvPr/>
        </p:nvSpPr>
        <p:spPr>
          <a:xfrm>
            <a:off x="868680" y="20391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508760" y="1819656"/>
            <a:ext cx="4175608"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Talk to real users</a:t>
            </a:r>
            <a:endParaRPr lang="en-US" sz="1900" dirty="0"/>
          </a:p>
        </p:txBody>
      </p:sp>
      <p:sp>
        <p:nvSpPr>
          <p:cNvPr id="8" name="Text 6"/>
          <p:cNvSpPr txBox="1"/>
          <p:nvPr/>
        </p:nvSpPr>
        <p:spPr>
          <a:xfrm>
            <a:off x="1508760" y="2203704"/>
            <a:ext cx="4175608" cy="566928"/>
          </a:xfrm>
          <a:prstGeom prst="rect">
            <a:avLst/>
          </a:prstGeom>
          <a:noFill/>
          <a:ln/>
        </p:spPr>
        <p:txBody>
          <a:bodyPr wrap="square" lIns="0" tIns="0" rIns="0" bIns="0" rtlCol="0" anchor="ctr"/>
          <a:lstStyle/>
          <a:p>
            <a:pPr indent="0" marL="0">
              <a:lnSpc>
                <a:spcPts val="1900"/>
              </a:lnSpc>
              <a:buNone/>
            </a:pPr>
            <a:r>
              <a:rPr lang="en-US" sz="1400" dirty="0">
                <a:solidFill>
                  <a:srgbClr val="1C1A19"/>
                </a:solidFill>
                <a:latin typeface="Calibri" pitchFamily="34" charset="0"/>
                <a:ea typeface="Calibri" pitchFamily="34" charset="-122"/>
                <a:cs typeface="Calibri" pitchFamily="34" charset="-120"/>
              </a:rPr>
              <a:t>Interview 3 people who have adopted or want a pet. What was hard?</a:t>
            </a:r>
            <a:endParaRPr lang="en-US" sz="1400" dirty="0"/>
          </a:p>
        </p:txBody>
      </p:sp>
      <p:sp>
        <p:nvSpPr>
          <p:cNvPr id="9" name="Shape 7"/>
          <p:cNvSpPr/>
          <p:nvPr/>
        </p:nvSpPr>
        <p:spPr>
          <a:xfrm>
            <a:off x="6278728" y="1691640"/>
            <a:ext cx="5272888"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0" name="Shape 8"/>
          <p:cNvSpPr/>
          <p:nvPr/>
        </p:nvSpPr>
        <p:spPr>
          <a:xfrm>
            <a:off x="6507328" y="2039112"/>
            <a:ext cx="420624" cy="420624"/>
          </a:xfrm>
          <a:prstGeom prst="ellipse">
            <a:avLst/>
          </a:prstGeom>
          <a:solidFill>
            <a:srgbClr val="630031"/>
          </a:solidFill>
          <a:ln w="12700">
            <a:solidFill>
              <a:srgbClr val="333333"/>
            </a:solidFill>
            <a:prstDash val="solid"/>
          </a:ln>
        </p:spPr>
      </p:sp>
      <p:sp>
        <p:nvSpPr>
          <p:cNvPr id="11" name="Text 9"/>
          <p:cNvSpPr txBox="1"/>
          <p:nvPr/>
        </p:nvSpPr>
        <p:spPr>
          <a:xfrm>
            <a:off x="6507328" y="2039112"/>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2" name="Text 10"/>
          <p:cNvSpPr txBox="1"/>
          <p:nvPr/>
        </p:nvSpPr>
        <p:spPr>
          <a:xfrm>
            <a:off x="7147408" y="1819656"/>
            <a:ext cx="4175608"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Plan v2 in Launch Pad</a:t>
            </a:r>
            <a:endParaRPr lang="en-US" sz="1900" dirty="0"/>
          </a:p>
        </p:txBody>
      </p:sp>
      <p:sp>
        <p:nvSpPr>
          <p:cNvPr id="13" name="Text 11"/>
          <p:cNvSpPr txBox="1"/>
          <p:nvPr/>
        </p:nvSpPr>
        <p:spPr>
          <a:xfrm>
            <a:off x="7147408" y="2203704"/>
            <a:ext cx="4175608" cy="566928"/>
          </a:xfrm>
          <a:prstGeom prst="rect">
            <a:avLst/>
          </a:prstGeom>
          <a:noFill/>
          <a:ln/>
        </p:spPr>
        <p:txBody>
          <a:bodyPr wrap="square" lIns="0" tIns="0" rIns="0" bIns="0" rtlCol="0" anchor="ctr"/>
          <a:lstStyle/>
          <a:p>
            <a:pPr indent="0" marL="0">
              <a:lnSpc>
                <a:spcPts val="1900"/>
              </a:lnSpc>
              <a:buNone/>
            </a:pPr>
            <a:r>
              <a:rPr lang="en-US" sz="1400" dirty="0">
                <a:solidFill>
                  <a:srgbClr val="1C1A19"/>
                </a:solidFill>
                <a:latin typeface="Calibri" pitchFamily="34" charset="0"/>
                <a:ea typeface="Calibri" pitchFamily="34" charset="-122"/>
                <a:cs typeface="Calibri" pitchFamily="34" charset="-120"/>
              </a:rPr>
              <a:t>Update your users from what you heard. Write at least 3 new v2 stories.</a:t>
            </a:r>
            <a:endParaRPr lang="en-US" sz="1400" dirty="0"/>
          </a:p>
        </p:txBody>
      </p:sp>
      <p:sp>
        <p:nvSpPr>
          <p:cNvPr id="14" name="Shape 12"/>
          <p:cNvSpPr/>
          <p:nvPr/>
        </p:nvSpPr>
        <p:spPr>
          <a:xfrm>
            <a:off x="640080" y="2990088"/>
            <a:ext cx="5272888"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Shape 13"/>
          <p:cNvSpPr/>
          <p:nvPr/>
        </p:nvSpPr>
        <p:spPr>
          <a:xfrm>
            <a:off x="868680" y="3337560"/>
            <a:ext cx="420624" cy="420624"/>
          </a:xfrm>
          <a:prstGeom prst="ellipse">
            <a:avLst/>
          </a:prstGeom>
          <a:solidFill>
            <a:srgbClr val="630031"/>
          </a:solidFill>
          <a:ln w="12700">
            <a:solidFill>
              <a:srgbClr val="333333"/>
            </a:solidFill>
            <a:prstDash val="solid"/>
          </a:ln>
        </p:spPr>
      </p:sp>
      <p:sp>
        <p:nvSpPr>
          <p:cNvPr id="16" name="Text 14"/>
          <p:cNvSpPr txBox="1"/>
          <p:nvPr/>
        </p:nvSpPr>
        <p:spPr>
          <a:xfrm>
            <a:off x="868680" y="3337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7" name="Text 15"/>
          <p:cNvSpPr txBox="1"/>
          <p:nvPr/>
        </p:nvSpPr>
        <p:spPr>
          <a:xfrm>
            <a:off x="1508760" y="3118104"/>
            <a:ext cx="4175608"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Make every story done</a:t>
            </a:r>
            <a:endParaRPr lang="en-US" sz="1900" dirty="0"/>
          </a:p>
        </p:txBody>
      </p:sp>
      <p:sp>
        <p:nvSpPr>
          <p:cNvPr id="18" name="Text 16"/>
          <p:cNvSpPr txBox="1"/>
          <p:nvPr/>
        </p:nvSpPr>
        <p:spPr>
          <a:xfrm>
            <a:off x="1508760" y="3502152"/>
            <a:ext cx="4175608" cy="566928"/>
          </a:xfrm>
          <a:prstGeom prst="rect">
            <a:avLst/>
          </a:prstGeom>
          <a:noFill/>
          <a:ln/>
        </p:spPr>
        <p:txBody>
          <a:bodyPr wrap="square" lIns="0" tIns="0" rIns="0" bIns="0" rtlCol="0" anchor="ctr"/>
          <a:lstStyle/>
          <a:p>
            <a:pPr indent="0" marL="0">
              <a:lnSpc>
                <a:spcPts val="1900"/>
              </a:lnSpc>
              <a:buNone/>
            </a:pPr>
            <a:r>
              <a:rPr lang="en-US" sz="1400" dirty="0">
                <a:solidFill>
                  <a:srgbClr val="1C1A19"/>
                </a:solidFill>
                <a:latin typeface="Calibri" pitchFamily="34" charset="0"/>
                <a:ea typeface="Calibri" pitchFamily="34" charset="-122"/>
                <a:cs typeface="Calibri" pitchFamily="34" charset="-120"/>
              </a:rPr>
              <a:t>Checks, a happy path and a bad day for every story. v2 is built that weekend.</a:t>
            </a:r>
            <a:endParaRPr lang="en-US" sz="1400" dirty="0"/>
          </a:p>
        </p:txBody>
      </p:sp>
      <p:sp>
        <p:nvSpPr>
          <p:cNvPr id="19" name="Shape 17"/>
          <p:cNvSpPr/>
          <p:nvPr/>
        </p:nvSpPr>
        <p:spPr>
          <a:xfrm>
            <a:off x="6278728" y="2990088"/>
            <a:ext cx="5272888"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0" name="Shape 18"/>
          <p:cNvSpPr/>
          <p:nvPr/>
        </p:nvSpPr>
        <p:spPr>
          <a:xfrm>
            <a:off x="6507328" y="3337560"/>
            <a:ext cx="420624" cy="420624"/>
          </a:xfrm>
          <a:prstGeom prst="ellipse">
            <a:avLst/>
          </a:prstGeom>
          <a:solidFill>
            <a:srgbClr val="630031"/>
          </a:solidFill>
          <a:ln w="12700">
            <a:solidFill>
              <a:srgbClr val="333333"/>
            </a:solidFill>
            <a:prstDash val="solid"/>
          </a:ln>
        </p:spPr>
      </p:sp>
      <p:sp>
        <p:nvSpPr>
          <p:cNvPr id="21" name="Text 19"/>
          <p:cNvSpPr txBox="1"/>
          <p:nvPr/>
        </p:nvSpPr>
        <p:spPr>
          <a:xfrm>
            <a:off x="6507328" y="3337560"/>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22" name="Text 20"/>
          <p:cNvSpPr txBox="1"/>
          <p:nvPr/>
        </p:nvSpPr>
        <p:spPr>
          <a:xfrm>
            <a:off x="7147408" y="3118104"/>
            <a:ext cx="4175608"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Design a screen</a:t>
            </a:r>
            <a:endParaRPr lang="en-US" sz="1900" dirty="0"/>
          </a:p>
        </p:txBody>
      </p:sp>
      <p:sp>
        <p:nvSpPr>
          <p:cNvPr id="23" name="Text 21"/>
          <p:cNvSpPr txBox="1"/>
          <p:nvPr/>
        </p:nvSpPr>
        <p:spPr>
          <a:xfrm>
            <a:off x="7147408" y="3502152"/>
            <a:ext cx="4175608" cy="566928"/>
          </a:xfrm>
          <a:prstGeom prst="rect">
            <a:avLst/>
          </a:prstGeom>
          <a:noFill/>
          <a:ln/>
        </p:spPr>
        <p:txBody>
          <a:bodyPr wrap="square" lIns="0" tIns="0" rIns="0" bIns="0" rtlCol="0" anchor="ctr"/>
          <a:lstStyle/>
          <a:p>
            <a:pPr indent="0" marL="0">
              <a:lnSpc>
                <a:spcPts val="1900"/>
              </a:lnSpc>
              <a:buNone/>
            </a:pPr>
            <a:r>
              <a:rPr lang="en-US" sz="1400" dirty="0">
                <a:solidFill>
                  <a:srgbClr val="1C1A19"/>
                </a:solidFill>
                <a:latin typeface="Calibri" pitchFamily="34" charset="0"/>
                <a:ea typeface="Calibri" pitchFamily="34" charset="-122"/>
                <a:cs typeface="Calibri" pitchFamily="34" charset="-120"/>
              </a:rPr>
              <a:t>Sketch one v2 screen on paper, then compare it with See my app.</a:t>
            </a:r>
            <a:endParaRPr lang="en-US" sz="1400" dirty="0"/>
          </a:p>
        </p:txBody>
      </p:sp>
      <p:sp>
        <p:nvSpPr>
          <p:cNvPr id="24" name="Shape 22"/>
          <p:cNvSpPr/>
          <p:nvPr/>
        </p:nvSpPr>
        <p:spPr>
          <a:xfrm>
            <a:off x="640080" y="4288536"/>
            <a:ext cx="5272888"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25" name="Shape 23"/>
          <p:cNvSpPr/>
          <p:nvPr/>
        </p:nvSpPr>
        <p:spPr>
          <a:xfrm>
            <a:off x="868680" y="4636008"/>
            <a:ext cx="420624" cy="420624"/>
          </a:xfrm>
          <a:prstGeom prst="ellipse">
            <a:avLst/>
          </a:prstGeom>
          <a:solidFill>
            <a:srgbClr val="630031"/>
          </a:solidFill>
          <a:ln w="12700">
            <a:solidFill>
              <a:srgbClr val="333333"/>
            </a:solidFill>
            <a:prstDash val="solid"/>
          </a:ln>
        </p:spPr>
      </p:sp>
      <p:sp>
        <p:nvSpPr>
          <p:cNvPr id="26" name="Text 24"/>
          <p:cNvSpPr txBox="1"/>
          <p:nvPr/>
        </p:nvSpPr>
        <p:spPr>
          <a:xfrm>
            <a:off x="868680" y="46360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7" name="Text 25"/>
          <p:cNvSpPr txBox="1"/>
          <p:nvPr/>
        </p:nvSpPr>
        <p:spPr>
          <a:xfrm>
            <a:off x="1508760" y="4416552"/>
            <a:ext cx="4175608"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QA week</a:t>
            </a:r>
            <a:endParaRPr lang="en-US" sz="1900" dirty="0"/>
          </a:p>
        </p:txBody>
      </p:sp>
      <p:sp>
        <p:nvSpPr>
          <p:cNvPr id="28" name="Text 26"/>
          <p:cNvSpPr txBox="1"/>
          <p:nvPr/>
        </p:nvSpPr>
        <p:spPr>
          <a:xfrm>
            <a:off x="1508760" y="4800600"/>
            <a:ext cx="4175608" cy="566928"/>
          </a:xfrm>
          <a:prstGeom prst="rect">
            <a:avLst/>
          </a:prstGeom>
          <a:noFill/>
          <a:ln/>
        </p:spPr>
        <p:txBody>
          <a:bodyPr wrap="square" lIns="0" tIns="0" rIns="0" bIns="0" rtlCol="0" anchor="ctr"/>
          <a:lstStyle/>
          <a:p>
            <a:pPr indent="0" marL="0">
              <a:lnSpc>
                <a:spcPts val="1900"/>
              </a:lnSpc>
              <a:buNone/>
            </a:pPr>
            <a:r>
              <a:rPr lang="en-US" sz="1400" dirty="0">
                <a:solidFill>
                  <a:srgbClr val="1C1A19"/>
                </a:solidFill>
                <a:latin typeface="Calibri" pitchFamily="34" charset="0"/>
                <a:ea typeface="Calibri" pitchFamily="34" charset="-122"/>
                <a:cs typeface="Calibri" pitchFamily="34" charset="-120"/>
              </a:rPr>
              <a:t>Find me v2 goes on /play. The class tests it. Bugs become bad days.</a:t>
            </a:r>
            <a:endParaRPr lang="en-US" sz="1400" dirty="0"/>
          </a:p>
        </p:txBody>
      </p:sp>
      <p:sp>
        <p:nvSpPr>
          <p:cNvPr id="29" name="Shape 27"/>
          <p:cNvSpPr/>
          <p:nvPr/>
        </p:nvSpPr>
        <p:spPr>
          <a:xfrm>
            <a:off x="6278728" y="4288536"/>
            <a:ext cx="5272888" cy="1143000"/>
          </a:xfrm>
          <a:prstGeom prst="roundRect">
            <a:avLst>
              <a:gd name="adj" fmla="val 72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30" name="Shape 28"/>
          <p:cNvSpPr/>
          <p:nvPr/>
        </p:nvSpPr>
        <p:spPr>
          <a:xfrm>
            <a:off x="6507328" y="4636008"/>
            <a:ext cx="420624" cy="420624"/>
          </a:xfrm>
          <a:prstGeom prst="ellipse">
            <a:avLst/>
          </a:prstGeom>
          <a:solidFill>
            <a:srgbClr val="630031"/>
          </a:solidFill>
          <a:ln w="12700">
            <a:solidFill>
              <a:srgbClr val="333333"/>
            </a:solidFill>
            <a:prstDash val="solid"/>
          </a:ln>
        </p:spPr>
      </p:sp>
      <p:sp>
        <p:nvSpPr>
          <p:cNvPr id="31" name="Text 29"/>
          <p:cNvSpPr txBox="1"/>
          <p:nvPr/>
        </p:nvSpPr>
        <p:spPr>
          <a:xfrm>
            <a:off x="6507328" y="4636008"/>
            <a:ext cx="420624" cy="420624"/>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32" name="Text 30"/>
          <p:cNvSpPr txBox="1"/>
          <p:nvPr/>
        </p:nvSpPr>
        <p:spPr>
          <a:xfrm>
            <a:off x="7147408" y="4416552"/>
            <a:ext cx="4175608" cy="384048"/>
          </a:xfrm>
          <a:prstGeom prst="rect">
            <a:avLst/>
          </a:prstGeom>
          <a:noFill/>
          <a:ln/>
        </p:spPr>
        <p:txBody>
          <a:bodyPr wrap="square" lIns="0" tIns="0" rIns="0" bIns="0" rtlCol="0" anchor="ctr"/>
          <a:lstStyle/>
          <a:p>
            <a:pPr indent="0" marL="0">
              <a:buNone/>
            </a:pPr>
            <a:r>
              <a:rPr lang="en-US" sz="1900" b="1" dirty="0">
                <a:solidFill>
                  <a:srgbClr val="630031"/>
                </a:solidFill>
                <a:latin typeface="Cambria" pitchFamily="34" charset="0"/>
                <a:ea typeface="Cambria" pitchFamily="34" charset="-122"/>
                <a:cs typeface="Cambria" pitchFamily="34" charset="-120"/>
              </a:rPr>
              <a:t>Launch</a:t>
            </a:r>
            <a:endParaRPr lang="en-US" sz="1900" dirty="0"/>
          </a:p>
        </p:txBody>
      </p:sp>
      <p:sp>
        <p:nvSpPr>
          <p:cNvPr id="33" name="Text 31"/>
          <p:cNvSpPr txBox="1"/>
          <p:nvPr/>
        </p:nvSpPr>
        <p:spPr>
          <a:xfrm>
            <a:off x="7147408" y="4800600"/>
            <a:ext cx="4175608" cy="566928"/>
          </a:xfrm>
          <a:prstGeom prst="rect">
            <a:avLst/>
          </a:prstGeom>
          <a:noFill/>
          <a:ln/>
        </p:spPr>
        <p:txBody>
          <a:bodyPr wrap="square" lIns="0" tIns="0" rIns="0" bIns="0" rtlCol="0" anchor="ctr"/>
          <a:lstStyle/>
          <a:p>
            <a:pPr indent="0" marL="0">
              <a:lnSpc>
                <a:spcPts val="1900"/>
              </a:lnSpc>
              <a:buNone/>
            </a:pPr>
            <a:r>
              <a:rPr lang="en-US" sz="1400" dirty="0">
                <a:solidFill>
                  <a:srgbClr val="1C1A19"/>
                </a:solidFill>
                <a:latin typeface="Calibri" pitchFamily="34" charset="0"/>
                <a:ea typeface="Calibri" pitchFamily="34" charset="-122"/>
                <a:cs typeface="Calibri" pitchFamily="34" charset="-120"/>
              </a:rPr>
              <a:t>Check v2 against your checks, make a store page, and launch with the class.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BEFORE YOU BUILD ANYTHING NEW</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Week 1: talk to real users</a:t>
            </a:r>
            <a:endParaRPr lang="en-US" sz="3400" dirty="0"/>
          </a:p>
        </p:txBody>
      </p:sp>
      <p:sp>
        <p:nvSpPr>
          <p:cNvPr id="4" name="Shape 2"/>
          <p:cNvSpPr/>
          <p:nvPr/>
        </p:nvSpPr>
        <p:spPr>
          <a:xfrm>
            <a:off x="640080" y="1737360"/>
            <a:ext cx="10911535" cy="2331720"/>
          </a:xfrm>
          <a:prstGeom prst="roundRect">
            <a:avLst>
              <a:gd name="adj" fmla="val 3529"/>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Shape 3"/>
          <p:cNvSpPr/>
          <p:nvPr/>
        </p:nvSpPr>
        <p:spPr>
          <a:xfrm>
            <a:off x="960120" y="1938528"/>
            <a:ext cx="457200" cy="457200"/>
          </a:xfrm>
          <a:prstGeom prst="ellipse">
            <a:avLst/>
          </a:prstGeom>
          <a:solidFill>
            <a:srgbClr val="CF4420"/>
          </a:solidFill>
          <a:ln w="12700">
            <a:solidFill>
              <a:srgbClr val="333333"/>
            </a:solidFill>
            <a:prstDash val="solid"/>
          </a:ln>
        </p:spPr>
      </p:sp>
      <p:sp>
        <p:nvSpPr>
          <p:cNvPr id="6" name="Text 4"/>
          <p:cNvSpPr txBox="1"/>
          <p:nvPr/>
        </p:nvSpPr>
        <p:spPr>
          <a:xfrm>
            <a:off x="960120" y="19385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7" name="Text 5"/>
          <p:cNvSpPr txBox="1"/>
          <p:nvPr/>
        </p:nvSpPr>
        <p:spPr>
          <a:xfrm>
            <a:off x="1600200" y="1920240"/>
            <a:ext cx="9631375" cy="502920"/>
          </a:xfrm>
          <a:prstGeom prst="rect">
            <a:avLst/>
          </a:prstGeom>
          <a:noFill/>
          <a:ln/>
        </p:spPr>
        <p:txBody>
          <a:bodyPr wrap="square" lIns="0" tIns="0" rIns="0" bIns="0" rtlCol="0" anchor="ctr"/>
          <a:lstStyle/>
          <a:p>
            <a:pPr indent="0" marL="0">
              <a:buNone/>
            </a:pPr>
            <a:r>
              <a:rPr lang="en-US" sz="2100" dirty="0">
                <a:solidFill>
                  <a:srgbClr val="1C1A19"/>
                </a:solidFill>
                <a:latin typeface="Cambria" pitchFamily="34" charset="0"/>
                <a:ea typeface="Cambria" pitchFamily="34" charset="-122"/>
                <a:cs typeface="Cambria" pitchFamily="34" charset="-120"/>
              </a:rPr>
              <a:t>Tell me about the last time you looked for a pet. What happened?</a:t>
            </a:r>
            <a:endParaRPr lang="en-US" sz="2100" dirty="0"/>
          </a:p>
        </p:txBody>
      </p:sp>
      <p:sp>
        <p:nvSpPr>
          <p:cNvPr id="8" name="Shape 6"/>
          <p:cNvSpPr/>
          <p:nvPr/>
        </p:nvSpPr>
        <p:spPr>
          <a:xfrm>
            <a:off x="960120" y="2624328"/>
            <a:ext cx="457200" cy="457200"/>
          </a:xfrm>
          <a:prstGeom prst="ellipse">
            <a:avLst/>
          </a:prstGeom>
          <a:solidFill>
            <a:srgbClr val="CF4420"/>
          </a:solidFill>
          <a:ln w="12700">
            <a:solidFill>
              <a:srgbClr val="333333"/>
            </a:solidFill>
            <a:prstDash val="solid"/>
          </a:ln>
        </p:spPr>
      </p:sp>
      <p:sp>
        <p:nvSpPr>
          <p:cNvPr id="9" name="Text 7"/>
          <p:cNvSpPr txBox="1"/>
          <p:nvPr/>
        </p:nvSpPr>
        <p:spPr>
          <a:xfrm>
            <a:off x="960120" y="26243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txBox="1"/>
          <p:nvPr/>
        </p:nvSpPr>
        <p:spPr>
          <a:xfrm>
            <a:off x="1600200" y="2606040"/>
            <a:ext cx="9631375" cy="502920"/>
          </a:xfrm>
          <a:prstGeom prst="rect">
            <a:avLst/>
          </a:prstGeom>
          <a:noFill/>
          <a:ln/>
        </p:spPr>
        <p:txBody>
          <a:bodyPr wrap="square" lIns="0" tIns="0" rIns="0" bIns="0" rtlCol="0" anchor="ctr"/>
          <a:lstStyle/>
          <a:p>
            <a:pPr indent="0" marL="0">
              <a:buNone/>
            </a:pPr>
            <a:r>
              <a:rPr lang="en-US" sz="2100" dirty="0">
                <a:solidFill>
                  <a:srgbClr val="1C1A19"/>
                </a:solidFill>
                <a:latin typeface="Cambria" pitchFamily="34" charset="0"/>
                <a:ea typeface="Cambria" pitchFamily="34" charset="-122"/>
                <a:cs typeface="Cambria" pitchFamily="34" charset="-120"/>
              </a:rPr>
              <a:t>What was the hardest part?</a:t>
            </a:r>
            <a:endParaRPr lang="en-US" sz="2100" dirty="0"/>
          </a:p>
        </p:txBody>
      </p:sp>
      <p:sp>
        <p:nvSpPr>
          <p:cNvPr id="11" name="Shape 9"/>
          <p:cNvSpPr/>
          <p:nvPr/>
        </p:nvSpPr>
        <p:spPr>
          <a:xfrm>
            <a:off x="960120" y="3310128"/>
            <a:ext cx="457200" cy="457200"/>
          </a:xfrm>
          <a:prstGeom prst="ellipse">
            <a:avLst/>
          </a:prstGeom>
          <a:solidFill>
            <a:srgbClr val="CF4420"/>
          </a:solidFill>
          <a:ln w="12700">
            <a:solidFill>
              <a:srgbClr val="333333"/>
            </a:solidFill>
            <a:prstDash val="solid"/>
          </a:ln>
        </p:spPr>
      </p:sp>
      <p:sp>
        <p:nvSpPr>
          <p:cNvPr id="12" name="Text 10"/>
          <p:cNvSpPr txBox="1"/>
          <p:nvPr/>
        </p:nvSpPr>
        <p:spPr>
          <a:xfrm>
            <a:off x="960120" y="3310128"/>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3" name="Text 11"/>
          <p:cNvSpPr txBox="1"/>
          <p:nvPr/>
        </p:nvSpPr>
        <p:spPr>
          <a:xfrm>
            <a:off x="1600200" y="3291840"/>
            <a:ext cx="9631375" cy="502920"/>
          </a:xfrm>
          <a:prstGeom prst="rect">
            <a:avLst/>
          </a:prstGeom>
          <a:noFill/>
          <a:ln/>
        </p:spPr>
        <p:txBody>
          <a:bodyPr wrap="square" lIns="0" tIns="0" rIns="0" bIns="0" rtlCol="0" anchor="ctr"/>
          <a:lstStyle/>
          <a:p>
            <a:pPr indent="0" marL="0">
              <a:buNone/>
            </a:pPr>
            <a:r>
              <a:rPr lang="en-US" sz="2100" dirty="0">
                <a:solidFill>
                  <a:srgbClr val="1C1A19"/>
                </a:solidFill>
                <a:latin typeface="Cambria" pitchFamily="34" charset="0"/>
                <a:ea typeface="Cambria" pitchFamily="34" charset="-122"/>
                <a:cs typeface="Cambria" pitchFamily="34" charset="-120"/>
              </a:rPr>
              <a:t>What would have helped?</a:t>
            </a:r>
            <a:endParaRPr lang="en-US" sz="2100" dirty="0"/>
          </a:p>
        </p:txBody>
      </p:sp>
      <p:sp>
        <p:nvSpPr>
          <p:cNvPr id="14" name="Shape 12"/>
          <p:cNvSpPr/>
          <p:nvPr/>
        </p:nvSpPr>
        <p:spPr>
          <a:xfrm>
            <a:off x="640080" y="4297680"/>
            <a:ext cx="10911535" cy="1097280"/>
          </a:xfrm>
          <a:prstGeom prst="roundRect">
            <a:avLst>
              <a:gd name="adj" fmla="val 7500"/>
            </a:avLst>
          </a:prstGeom>
          <a:solidFill>
            <a:srgbClr val="FBEDE8"/>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5" name="Text 13"/>
          <p:cNvSpPr txBox="1"/>
          <p:nvPr/>
        </p:nvSpPr>
        <p:spPr>
          <a:xfrm>
            <a:off x="960120" y="4297680"/>
            <a:ext cx="10271455" cy="1097280"/>
          </a:xfrm>
          <a:prstGeom prst="rect">
            <a:avLst/>
          </a:prstGeom>
          <a:noFill/>
          <a:ln/>
        </p:spPr>
        <p:txBody>
          <a:bodyPr wrap="square" lIns="0" tIns="0" rIns="0" bIns="0" rtlCol="0" anchor="ctr"/>
          <a:lstStyle/>
          <a:p>
            <a:pPr indent="0" marL="0">
              <a:buNone/>
            </a:pPr>
            <a:r>
              <a:rPr lang="en-US" sz="1800" b="1" dirty="0">
                <a:solidFill>
                  <a:srgbClr val="CF4420"/>
                </a:solidFill>
                <a:latin typeface="Calibri" pitchFamily="34" charset="0"/>
                <a:ea typeface="Calibri" pitchFamily="34" charset="-122"/>
                <a:cs typeface="Calibri" pitchFamily="34" charset="-120"/>
              </a:rPr>
              <a:t>Never ask: </a:t>
            </a:r>
            <a:pPr indent="0" marL="0">
              <a:buNone/>
            </a:pPr>
            <a:r>
              <a:rPr lang="en-US" sz="1800" dirty="0">
                <a:solidFill>
                  <a:srgbClr val="1C1A19"/>
                </a:solidFill>
                <a:latin typeface="Calibri" pitchFamily="34" charset="0"/>
                <a:ea typeface="Calibri" pitchFamily="34" charset="-122"/>
                <a:cs typeface="Calibri" pitchFamily="34" charset="-120"/>
              </a:rPr>
              <a:t>“Would you use my app?” Everyone says yes to be nice. Ask about what really happened instead.</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IDEAS, NOT ANSWERS</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Questions that could become v2 stories</a:t>
            </a:r>
            <a:endParaRPr lang="en-US" sz="3400" dirty="0"/>
          </a:p>
        </p:txBody>
      </p:sp>
      <p:sp>
        <p:nvSpPr>
          <p:cNvPr id="4" name="Shape 2"/>
          <p:cNvSpPr/>
          <p:nvPr/>
        </p:nvSpPr>
        <p:spPr>
          <a:xfrm>
            <a:off x="640080" y="1783080"/>
            <a:ext cx="5272888" cy="1371600"/>
          </a:xfrm>
          <a:prstGeom prst="roundRect">
            <a:avLst>
              <a:gd name="adj" fmla="val 6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60120" y="1947672"/>
            <a:ext cx="4632808" cy="41148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Foster</a:t>
            </a:r>
            <a:endParaRPr lang="en-US" sz="2100" dirty="0"/>
          </a:p>
        </p:txBody>
      </p:sp>
      <p:sp>
        <p:nvSpPr>
          <p:cNvPr id="6" name="Text 4"/>
          <p:cNvSpPr txBox="1"/>
          <p:nvPr/>
        </p:nvSpPr>
        <p:spPr>
          <a:xfrm>
            <a:off x="960120" y="2404872"/>
            <a:ext cx="4632808" cy="640080"/>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What about families who can only keep a pet for a few weeks?</a:t>
            </a:r>
            <a:endParaRPr lang="en-US" sz="1600" dirty="0"/>
          </a:p>
        </p:txBody>
      </p:sp>
      <p:sp>
        <p:nvSpPr>
          <p:cNvPr id="7" name="Shape 5"/>
          <p:cNvSpPr/>
          <p:nvPr/>
        </p:nvSpPr>
        <p:spPr>
          <a:xfrm>
            <a:off x="6278728" y="1783080"/>
            <a:ext cx="5272888" cy="1371600"/>
          </a:xfrm>
          <a:prstGeom prst="roundRect">
            <a:avLst>
              <a:gd name="adj" fmla="val 6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8" name="Text 6"/>
          <p:cNvSpPr txBox="1"/>
          <p:nvPr/>
        </p:nvSpPr>
        <p:spPr>
          <a:xfrm>
            <a:off x="6598768" y="1947672"/>
            <a:ext cx="4632808" cy="41148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Volunteer</a:t>
            </a:r>
            <a:endParaRPr lang="en-US" sz="2100" dirty="0"/>
          </a:p>
        </p:txBody>
      </p:sp>
      <p:sp>
        <p:nvSpPr>
          <p:cNvPr id="9" name="Text 7"/>
          <p:cNvSpPr txBox="1"/>
          <p:nvPr/>
        </p:nvSpPr>
        <p:spPr>
          <a:xfrm>
            <a:off x="6598768" y="2404872"/>
            <a:ext cx="4632808" cy="640080"/>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Shelters need help walking dogs. Who would sign up, and how?</a:t>
            </a:r>
            <a:endParaRPr lang="en-US" sz="1600" dirty="0"/>
          </a:p>
        </p:txBody>
      </p:sp>
      <p:sp>
        <p:nvSpPr>
          <p:cNvPr id="10" name="Shape 8"/>
          <p:cNvSpPr/>
          <p:nvPr/>
        </p:nvSpPr>
        <p:spPr>
          <a:xfrm>
            <a:off x="640080" y="3383280"/>
            <a:ext cx="5272888" cy="1371600"/>
          </a:xfrm>
          <a:prstGeom prst="roundRect">
            <a:avLst>
              <a:gd name="adj" fmla="val 6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1" name="Text 9"/>
          <p:cNvSpPr txBox="1"/>
          <p:nvPr/>
        </p:nvSpPr>
        <p:spPr>
          <a:xfrm>
            <a:off x="960120" y="3547872"/>
            <a:ext cx="4632808" cy="41148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Lost pets</a:t>
            </a:r>
            <a:endParaRPr lang="en-US" sz="2100" dirty="0"/>
          </a:p>
        </p:txBody>
      </p:sp>
      <p:sp>
        <p:nvSpPr>
          <p:cNvPr id="12" name="Text 10"/>
          <p:cNvSpPr txBox="1"/>
          <p:nvPr/>
        </p:nvSpPr>
        <p:spPr>
          <a:xfrm>
            <a:off x="960120" y="4005072"/>
            <a:ext cx="4632808" cy="640080"/>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What happens when a pet runs away from home?</a:t>
            </a:r>
            <a:endParaRPr lang="en-US" sz="1600" dirty="0"/>
          </a:p>
        </p:txBody>
      </p:sp>
      <p:sp>
        <p:nvSpPr>
          <p:cNvPr id="13" name="Shape 11"/>
          <p:cNvSpPr/>
          <p:nvPr/>
        </p:nvSpPr>
        <p:spPr>
          <a:xfrm>
            <a:off x="6278728" y="3383280"/>
            <a:ext cx="5272888" cy="1371600"/>
          </a:xfrm>
          <a:prstGeom prst="roundRect">
            <a:avLst>
              <a:gd name="adj" fmla="val 6000"/>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4" name="Text 12"/>
          <p:cNvSpPr txBox="1"/>
          <p:nvPr/>
        </p:nvSpPr>
        <p:spPr>
          <a:xfrm>
            <a:off x="6598768" y="3547872"/>
            <a:ext cx="4632808" cy="411480"/>
          </a:xfrm>
          <a:prstGeom prst="rect">
            <a:avLst/>
          </a:prstGeom>
          <a:noFill/>
          <a:ln/>
        </p:spPr>
        <p:txBody>
          <a:bodyPr wrap="square" lIns="0" tIns="0" rIns="0" bIns="0" rtlCol="0" anchor="ctr"/>
          <a:lstStyle/>
          <a:p>
            <a:pPr indent="0" marL="0">
              <a:buNone/>
            </a:pPr>
            <a:r>
              <a:rPr lang="en-US" sz="2100" b="1" dirty="0">
                <a:solidFill>
                  <a:srgbClr val="630031"/>
                </a:solidFill>
                <a:latin typeface="Cambria" pitchFamily="34" charset="0"/>
                <a:ea typeface="Cambria" pitchFamily="34" charset="-122"/>
                <a:cs typeface="Cambria" pitchFamily="34" charset="-120"/>
              </a:rPr>
              <a:t>After adoption</a:t>
            </a:r>
            <a:endParaRPr lang="en-US" sz="2100" dirty="0"/>
          </a:p>
        </p:txBody>
      </p:sp>
      <p:sp>
        <p:nvSpPr>
          <p:cNvPr id="15" name="Text 13"/>
          <p:cNvSpPr txBox="1"/>
          <p:nvPr/>
        </p:nvSpPr>
        <p:spPr>
          <a:xfrm>
            <a:off x="6598768" y="4005072"/>
            <a:ext cx="4632808" cy="640080"/>
          </a:xfrm>
          <a:prstGeom prst="rect">
            <a:avLst/>
          </a:prstGeom>
          <a:noFill/>
          <a:ln/>
        </p:spPr>
        <p:txBody>
          <a:bodyPr wrap="square" lIns="0" tIns="0" rIns="0" bIns="0" rtlCol="0" anchor="ctr"/>
          <a:lstStyle/>
          <a:p>
            <a:pPr indent="0" marL="0">
              <a:buNone/>
            </a:pPr>
            <a:r>
              <a:rPr lang="en-US" sz="1600" dirty="0">
                <a:solidFill>
                  <a:srgbClr val="1C1A19"/>
                </a:solidFill>
                <a:latin typeface="Calibri" pitchFamily="34" charset="0"/>
                <a:ea typeface="Calibri" pitchFamily="34" charset="-122"/>
                <a:cs typeface="Calibri" pitchFamily="34" charset="-120"/>
              </a:rPr>
              <a:t>What does a new owner need in the first week?</a:t>
            </a:r>
            <a:endParaRPr lang="en-US" sz="1600" dirty="0"/>
          </a:p>
        </p:txBody>
      </p:sp>
      <p:sp>
        <p:nvSpPr>
          <p:cNvPr id="16" name="Text 14"/>
          <p:cNvSpPr txBox="1"/>
          <p:nvPr/>
        </p:nvSpPr>
        <p:spPr>
          <a:xfrm>
            <a:off x="640080" y="5120640"/>
            <a:ext cx="10911535" cy="548640"/>
          </a:xfrm>
          <a:prstGeom prst="rect">
            <a:avLst/>
          </a:prstGeom>
          <a:noFill/>
          <a:ln/>
        </p:spPr>
        <p:txBody>
          <a:bodyPr wrap="square" lIns="0" tIns="0" rIns="0" bIns="0" rtlCol="0" anchor="t"/>
          <a:lstStyle/>
          <a:p>
            <a:pPr indent="0" marL="0">
              <a:lnSpc>
                <a:spcPts val="2200"/>
              </a:lnSpc>
              <a:buNone/>
            </a:pPr>
            <a:r>
              <a:rPr lang="en-US" sz="1700" b="1" dirty="0">
                <a:solidFill>
                  <a:srgbClr val="1C1A19"/>
                </a:solidFill>
                <a:latin typeface="Calibri" pitchFamily="34" charset="0"/>
                <a:ea typeface="Calibri" pitchFamily="34" charset="-122"/>
                <a:cs typeface="Calibri" pitchFamily="34" charset="-120"/>
              </a:rPr>
              <a:t>Your interviews decide which, if any. Every v2 story needs a reason a real user gave you.</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THE DEFINITION OF DONE</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What “done” means for every story</a:t>
            </a:r>
            <a:endParaRPr lang="en-US" sz="3400" dirty="0"/>
          </a:p>
        </p:txBody>
      </p:sp>
      <p:sp>
        <p:nvSpPr>
          <p:cNvPr id="4" name="Shape 2"/>
          <p:cNvSpPr/>
          <p:nvPr/>
        </p:nvSpPr>
        <p:spPr>
          <a:xfrm>
            <a:off x="640080" y="1783080"/>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5" name="Text 3"/>
          <p:cNvSpPr txBox="1"/>
          <p:nvPr/>
        </p:nvSpPr>
        <p:spPr>
          <a:xfrm>
            <a:off x="914400" y="1783080"/>
            <a:ext cx="457200" cy="777240"/>
          </a:xfrm>
          <a:prstGeom prst="rect">
            <a:avLst/>
          </a:prstGeom>
          <a:noFill/>
          <a:ln/>
        </p:spPr>
        <p:txBody>
          <a:bodyPr wrap="square" lIns="0" tIns="0" rIns="0" bIns="0" rtlCol="0" anchor="ctr"/>
          <a:lstStyle/>
          <a:p>
            <a:pPr indent="0" marL="0">
              <a:buNone/>
            </a:pPr>
            <a:r>
              <a:rPr lang="en-US" sz="2600" b="1" dirty="0">
                <a:solidFill>
                  <a:srgbClr val="2E6B4A"/>
                </a:solidFill>
                <a:latin typeface="Calibri" pitchFamily="34" charset="0"/>
                <a:ea typeface="Calibri" pitchFamily="34" charset="-122"/>
                <a:cs typeface="Calibri" pitchFamily="34" charset="-120"/>
              </a:rPr>
              <a:t>✓</a:t>
            </a:r>
            <a:endParaRPr lang="en-US" sz="2600" dirty="0"/>
          </a:p>
        </p:txBody>
      </p:sp>
      <p:sp>
        <p:nvSpPr>
          <p:cNvPr id="6" name="Text 4"/>
          <p:cNvSpPr txBox="1"/>
          <p:nvPr/>
        </p:nvSpPr>
        <p:spPr>
          <a:xfrm>
            <a:off x="1463040" y="1783080"/>
            <a:ext cx="3108960" cy="77724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Who, what and why</a:t>
            </a:r>
            <a:endParaRPr lang="en-US" sz="2000" dirty="0"/>
          </a:p>
        </p:txBody>
      </p:sp>
      <p:sp>
        <p:nvSpPr>
          <p:cNvPr id="7" name="Text 5"/>
          <p:cNvSpPr txBox="1"/>
          <p:nvPr/>
        </p:nvSpPr>
        <p:spPr>
          <a:xfrm>
            <a:off x="4663440" y="1783080"/>
            <a:ext cx="6613855" cy="777240"/>
          </a:xfrm>
          <a:prstGeom prst="rect">
            <a:avLst/>
          </a:prstGeom>
          <a:noFill/>
          <a:ln/>
        </p:spPr>
        <p:txBody>
          <a:bodyPr wrap="square" lIns="0" tIns="0" rIns="0" bIns="0" rtlCol="0" anchor="ctr"/>
          <a:lstStyle/>
          <a:p>
            <a:pPr indent="0" marL="0">
              <a:buNone/>
            </a:pPr>
            <a:r>
              <a:rPr lang="en-US" sz="1500" dirty="0">
                <a:solidFill>
                  <a:srgbClr val="1C1A19"/>
                </a:solidFill>
                <a:latin typeface="Calibri" pitchFamily="34" charset="0"/>
                <a:ea typeface="Calibri" pitchFamily="34" charset="-122"/>
                <a:cs typeface="Calibri" pitchFamily="34" charset="-120"/>
              </a:rPr>
              <a:t>As a ___, I want to ___, so I can ___.</a:t>
            </a:r>
            <a:endParaRPr lang="en-US" sz="1500" dirty="0"/>
          </a:p>
        </p:txBody>
      </p:sp>
      <p:sp>
        <p:nvSpPr>
          <p:cNvPr id="8" name="Shape 6"/>
          <p:cNvSpPr/>
          <p:nvPr/>
        </p:nvSpPr>
        <p:spPr>
          <a:xfrm>
            <a:off x="640080" y="2715768"/>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9" name="Text 7"/>
          <p:cNvSpPr txBox="1"/>
          <p:nvPr/>
        </p:nvSpPr>
        <p:spPr>
          <a:xfrm>
            <a:off x="914400" y="2715768"/>
            <a:ext cx="457200" cy="777240"/>
          </a:xfrm>
          <a:prstGeom prst="rect">
            <a:avLst/>
          </a:prstGeom>
          <a:noFill/>
          <a:ln/>
        </p:spPr>
        <p:txBody>
          <a:bodyPr wrap="square" lIns="0" tIns="0" rIns="0" bIns="0" rtlCol="0" anchor="ctr"/>
          <a:lstStyle/>
          <a:p>
            <a:pPr indent="0" marL="0">
              <a:buNone/>
            </a:pPr>
            <a:r>
              <a:rPr lang="en-US" sz="2600" b="1" dirty="0">
                <a:solidFill>
                  <a:srgbClr val="2E6B4A"/>
                </a:solidFill>
                <a:latin typeface="Calibri" pitchFamily="34" charset="0"/>
                <a:ea typeface="Calibri" pitchFamily="34" charset="-122"/>
                <a:cs typeface="Calibri" pitchFamily="34" charset="-120"/>
              </a:rPr>
              <a:t>✓</a:t>
            </a:r>
            <a:endParaRPr lang="en-US" sz="2600" dirty="0"/>
          </a:p>
        </p:txBody>
      </p:sp>
      <p:sp>
        <p:nvSpPr>
          <p:cNvPr id="10" name="Text 8"/>
          <p:cNvSpPr txBox="1"/>
          <p:nvPr/>
        </p:nvSpPr>
        <p:spPr>
          <a:xfrm>
            <a:off x="1463040" y="2715768"/>
            <a:ext cx="3108960" cy="77724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At least 2 checks</a:t>
            </a:r>
            <a:endParaRPr lang="en-US" sz="2000" dirty="0"/>
          </a:p>
        </p:txBody>
      </p:sp>
      <p:sp>
        <p:nvSpPr>
          <p:cNvPr id="11" name="Text 9"/>
          <p:cNvSpPr txBox="1"/>
          <p:nvPr/>
        </p:nvSpPr>
        <p:spPr>
          <a:xfrm>
            <a:off x="4663440" y="2715768"/>
            <a:ext cx="6613855" cy="777240"/>
          </a:xfrm>
          <a:prstGeom prst="rect">
            <a:avLst/>
          </a:prstGeom>
          <a:noFill/>
          <a:ln/>
        </p:spPr>
        <p:txBody>
          <a:bodyPr wrap="square" lIns="0" tIns="0" rIns="0" bIns="0" rtlCol="0" anchor="ctr"/>
          <a:lstStyle/>
          <a:p>
            <a:pPr indent="0" marL="0">
              <a:buNone/>
            </a:pPr>
            <a:r>
              <a:rPr lang="en-US" sz="1500" dirty="0">
                <a:solidFill>
                  <a:srgbClr val="1C1A19"/>
                </a:solidFill>
                <a:latin typeface="Calibri" pitchFamily="34" charset="0"/>
                <a:ea typeface="Calibri" pitchFamily="34" charset="-122"/>
                <a:cs typeface="Calibri" pitchFamily="34" charset="-120"/>
              </a:rPr>
              <a:t>Yes or no tests. “Adopting a pet lowers the meter by 1.”</a:t>
            </a:r>
            <a:endParaRPr lang="en-US" sz="1500" dirty="0"/>
          </a:p>
        </p:txBody>
      </p:sp>
      <p:sp>
        <p:nvSpPr>
          <p:cNvPr id="12" name="Shape 10"/>
          <p:cNvSpPr/>
          <p:nvPr/>
        </p:nvSpPr>
        <p:spPr>
          <a:xfrm>
            <a:off x="640080" y="3648456"/>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3" name="Text 11"/>
          <p:cNvSpPr txBox="1"/>
          <p:nvPr/>
        </p:nvSpPr>
        <p:spPr>
          <a:xfrm>
            <a:off x="914400" y="3648456"/>
            <a:ext cx="457200" cy="777240"/>
          </a:xfrm>
          <a:prstGeom prst="rect">
            <a:avLst/>
          </a:prstGeom>
          <a:noFill/>
          <a:ln/>
        </p:spPr>
        <p:txBody>
          <a:bodyPr wrap="square" lIns="0" tIns="0" rIns="0" bIns="0" rtlCol="0" anchor="ctr"/>
          <a:lstStyle/>
          <a:p>
            <a:pPr indent="0" marL="0">
              <a:buNone/>
            </a:pPr>
            <a:r>
              <a:rPr lang="en-US" sz="2600" b="1" dirty="0">
                <a:solidFill>
                  <a:srgbClr val="2E6B4A"/>
                </a:solidFill>
                <a:latin typeface="Calibri" pitchFamily="34" charset="0"/>
                <a:ea typeface="Calibri" pitchFamily="34" charset="-122"/>
                <a:cs typeface="Calibri" pitchFamily="34" charset="-120"/>
              </a:rPr>
              <a:t>✓</a:t>
            </a:r>
            <a:endParaRPr lang="en-US" sz="2600" dirty="0"/>
          </a:p>
        </p:txBody>
      </p:sp>
      <p:sp>
        <p:nvSpPr>
          <p:cNvPr id="14" name="Text 12"/>
          <p:cNvSpPr txBox="1"/>
          <p:nvPr/>
        </p:nvSpPr>
        <p:spPr>
          <a:xfrm>
            <a:off x="1463040" y="3648456"/>
            <a:ext cx="3108960" cy="77724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A happy path</a:t>
            </a:r>
            <a:endParaRPr lang="en-US" sz="2000" dirty="0"/>
          </a:p>
        </p:txBody>
      </p:sp>
      <p:sp>
        <p:nvSpPr>
          <p:cNvPr id="15" name="Text 13"/>
          <p:cNvSpPr txBox="1"/>
          <p:nvPr/>
        </p:nvSpPr>
        <p:spPr>
          <a:xfrm>
            <a:off x="4663440" y="3648456"/>
            <a:ext cx="6613855" cy="777240"/>
          </a:xfrm>
          <a:prstGeom prst="rect">
            <a:avLst/>
          </a:prstGeom>
          <a:noFill/>
          <a:ln/>
        </p:spPr>
        <p:txBody>
          <a:bodyPr wrap="square" lIns="0" tIns="0" rIns="0" bIns="0" rtlCol="0" anchor="ctr"/>
          <a:lstStyle/>
          <a:p>
            <a:pPr indent="0" marL="0">
              <a:buNone/>
            </a:pPr>
            <a:r>
              <a:rPr lang="en-US" sz="1500" dirty="0">
                <a:solidFill>
                  <a:srgbClr val="1C1A19"/>
                </a:solidFill>
                <a:latin typeface="Calibri" pitchFamily="34" charset="0"/>
                <a:ea typeface="Calibri" pitchFamily="34" charset="-122"/>
                <a:cs typeface="Calibri" pitchFamily="34" charset="-120"/>
              </a:rPr>
              <a:t>Given ___, When ___, Then ___. It goes right.</a:t>
            </a:r>
            <a:endParaRPr lang="en-US" sz="1500" dirty="0"/>
          </a:p>
        </p:txBody>
      </p:sp>
      <p:sp>
        <p:nvSpPr>
          <p:cNvPr id="16" name="Shape 14"/>
          <p:cNvSpPr/>
          <p:nvPr/>
        </p:nvSpPr>
        <p:spPr>
          <a:xfrm>
            <a:off x="640080" y="4581144"/>
            <a:ext cx="10911535" cy="777240"/>
          </a:xfrm>
          <a:prstGeom prst="roundRect">
            <a:avLst>
              <a:gd name="adj" fmla="val 10588"/>
            </a:avLst>
          </a:prstGeom>
          <a:solidFill>
            <a:srgbClr val="FFFFFF"/>
          </a:solidFill>
          <a:ln w="12700">
            <a:solidFill>
              <a:srgbClr val="E4DED6"/>
            </a:solidFill>
            <a:prstDash val="solid"/>
          </a:ln>
          <a:effectLst>
            <a:outerShdw sx="100000" sy="100000" kx="0" ky="0" algn="bl" rotWithShape="0" blurRad="101600" dist="12700" dir="5400000">
              <a:srgbClr val="000000">
                <a:alpha val="8000"/>
              </a:srgbClr>
            </a:outerShdw>
          </a:effectLst>
        </p:spPr>
      </p:sp>
      <p:sp>
        <p:nvSpPr>
          <p:cNvPr id="17" name="Text 15"/>
          <p:cNvSpPr txBox="1"/>
          <p:nvPr/>
        </p:nvSpPr>
        <p:spPr>
          <a:xfrm>
            <a:off x="914400" y="4581144"/>
            <a:ext cx="457200" cy="777240"/>
          </a:xfrm>
          <a:prstGeom prst="rect">
            <a:avLst/>
          </a:prstGeom>
          <a:noFill/>
          <a:ln/>
        </p:spPr>
        <p:txBody>
          <a:bodyPr wrap="square" lIns="0" tIns="0" rIns="0" bIns="0" rtlCol="0" anchor="ctr"/>
          <a:lstStyle/>
          <a:p>
            <a:pPr indent="0" marL="0">
              <a:buNone/>
            </a:pPr>
            <a:r>
              <a:rPr lang="en-US" sz="2600" b="1" dirty="0">
                <a:solidFill>
                  <a:srgbClr val="2E6B4A"/>
                </a:solidFill>
                <a:latin typeface="Calibri" pitchFamily="34" charset="0"/>
                <a:ea typeface="Calibri" pitchFamily="34" charset="-122"/>
                <a:cs typeface="Calibri" pitchFamily="34" charset="-120"/>
              </a:rPr>
              <a:t>✓</a:t>
            </a:r>
            <a:endParaRPr lang="en-US" sz="2600" dirty="0"/>
          </a:p>
        </p:txBody>
      </p:sp>
      <p:sp>
        <p:nvSpPr>
          <p:cNvPr id="18" name="Text 16"/>
          <p:cNvSpPr txBox="1"/>
          <p:nvPr/>
        </p:nvSpPr>
        <p:spPr>
          <a:xfrm>
            <a:off x="1463040" y="4581144"/>
            <a:ext cx="3108960" cy="777240"/>
          </a:xfrm>
          <a:prstGeom prst="rect">
            <a:avLst/>
          </a:prstGeom>
          <a:noFill/>
          <a:ln/>
        </p:spPr>
        <p:txBody>
          <a:bodyPr wrap="square" lIns="0" tIns="0" rIns="0" bIns="0" rtlCol="0" anchor="ctr"/>
          <a:lstStyle/>
          <a:p>
            <a:pPr indent="0" marL="0">
              <a:buNone/>
            </a:pPr>
            <a:r>
              <a:rPr lang="en-US" sz="2000" b="1" dirty="0">
                <a:solidFill>
                  <a:srgbClr val="630031"/>
                </a:solidFill>
                <a:latin typeface="Cambria" pitchFamily="34" charset="0"/>
                <a:ea typeface="Cambria" pitchFamily="34" charset="-122"/>
                <a:cs typeface="Cambria" pitchFamily="34" charset="-120"/>
              </a:rPr>
              <a:t>A bad day</a:t>
            </a:r>
            <a:endParaRPr lang="en-US" sz="2000" dirty="0"/>
          </a:p>
        </p:txBody>
      </p:sp>
      <p:sp>
        <p:nvSpPr>
          <p:cNvPr id="19" name="Text 17"/>
          <p:cNvSpPr txBox="1"/>
          <p:nvPr/>
        </p:nvSpPr>
        <p:spPr>
          <a:xfrm>
            <a:off x="4663440" y="4581144"/>
            <a:ext cx="6613855" cy="777240"/>
          </a:xfrm>
          <a:prstGeom prst="rect">
            <a:avLst/>
          </a:prstGeom>
          <a:noFill/>
          <a:ln/>
        </p:spPr>
        <p:txBody>
          <a:bodyPr wrap="square" lIns="0" tIns="0" rIns="0" bIns="0" rtlCol="0" anchor="ctr"/>
          <a:lstStyle/>
          <a:p>
            <a:pPr indent="0" marL="0">
              <a:buNone/>
            </a:pPr>
            <a:r>
              <a:rPr lang="en-US" sz="1500" dirty="0">
                <a:solidFill>
                  <a:srgbClr val="1C1A19"/>
                </a:solidFill>
                <a:latin typeface="Calibri" pitchFamily="34" charset="0"/>
                <a:ea typeface="Calibri" pitchFamily="34" charset="-122"/>
                <a:cs typeface="Calibri" pitchFamily="34" charset="-120"/>
              </a:rPr>
              <a:t>Given ___, When ___, Then ___. Something goes wrong. What should the app do?</a:t>
            </a:r>
            <a:endParaRPr lang="en-US" sz="1500" dirty="0"/>
          </a:p>
        </p:txBody>
      </p:sp>
      <p:sp>
        <p:nvSpPr>
          <p:cNvPr id="20" name="Text 18"/>
          <p:cNvSpPr txBox="1"/>
          <p:nvPr/>
        </p:nvSpPr>
        <p:spPr>
          <a:xfrm>
            <a:off x="640080" y="5623560"/>
            <a:ext cx="10911535" cy="457200"/>
          </a:xfrm>
          <a:prstGeom prst="rect">
            <a:avLst/>
          </a:prstGeom>
          <a:noFill/>
          <a:ln/>
        </p:spPr>
        <p:txBody>
          <a:bodyPr wrap="square" lIns="0" tIns="0" rIns="0" bIns="0" rtlCol="0" anchor="t"/>
          <a:lstStyle/>
          <a:p>
            <a:pPr indent="0" marL="0">
              <a:lnSpc>
                <a:spcPts val="2200"/>
              </a:lnSpc>
              <a:buNone/>
            </a:pPr>
            <a:r>
              <a:rPr lang="en-US" sz="1600" dirty="0">
                <a:solidFill>
                  <a:srgbClr val="75787B"/>
                </a:solidFill>
                <a:latin typeface="Calibri" pitchFamily="34" charset="0"/>
                <a:ea typeface="Calibri" pitchFamily="34" charset="-122"/>
                <a:cs typeface="Calibri" pitchFamily="34" charset="-120"/>
              </a:rPr>
              <a:t>Launch Pad shows this checklist on every story, and turns the story green when it is done.</a:t>
            </a:r>
            <a:endParaRPr lang="en-US" sz="16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C1A19"/>
        </a:solidFill>
      </p:bgPr>
    </p:bg>
    <p:spTree>
      <p:nvGrpSpPr>
        <p:cNvPr id="1" name=""/>
        <p:cNvGrpSpPr/>
        <p:nvPr/>
      </p:nvGrpSpPr>
      <p:grpSpPr>
        <a:xfrm>
          <a:off x="0" y="0"/>
          <a:ext cx="0" cy="0"/>
          <a:chOff x="0" y="0"/>
          <a:chExt cx="0" cy="0"/>
        </a:xfrm>
      </p:grpSpPr>
      <p:sp>
        <p:nvSpPr>
          <p:cNvPr id="2" name="Text 0"/>
          <p:cNvSpPr txBox="1"/>
          <p:nvPr/>
        </p:nvSpPr>
        <p:spPr>
          <a:xfrm>
            <a:off x="640080" y="548640"/>
            <a:ext cx="10911535" cy="310896"/>
          </a:xfrm>
          <a:prstGeom prst="rect">
            <a:avLst/>
          </a:prstGeom>
          <a:noFill/>
          <a:ln/>
        </p:spPr>
        <p:txBody>
          <a:bodyPr wrap="square" lIns="0" tIns="0" rIns="0" bIns="0" rtlCol="0" anchor="ctr"/>
          <a:lstStyle/>
          <a:p>
            <a:pPr indent="0" marL="0">
              <a:buNone/>
            </a:pPr>
            <a:r>
              <a:rPr lang="en-US" sz="1300" b="1" spc="300" kern="0" dirty="0">
                <a:solidFill>
                  <a:srgbClr val="CF4420"/>
                </a:solidFill>
                <a:latin typeface="Calibri" pitchFamily="34" charset="0"/>
                <a:ea typeface="Calibri" pitchFamily="34" charset="-122"/>
                <a:cs typeface="Calibri" pitchFamily="34" charset="-120"/>
              </a:rPr>
              <a:t>WHERE TO GO</a:t>
            </a:r>
            <a:endParaRPr lang="en-US" sz="1300" dirty="0"/>
          </a:p>
        </p:txBody>
      </p:sp>
      <p:sp>
        <p:nvSpPr>
          <p:cNvPr id="3" name="Text 1"/>
          <p:cNvSpPr txBox="1"/>
          <p:nvPr/>
        </p:nvSpPr>
        <p:spPr>
          <a:xfrm>
            <a:off x="640080" y="896112"/>
            <a:ext cx="10911535" cy="73152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Three links, that is all</a:t>
            </a:r>
            <a:endParaRPr lang="en-US" sz="3400" dirty="0"/>
          </a:p>
        </p:txBody>
      </p:sp>
      <p:sp>
        <p:nvSpPr>
          <p:cNvPr id="4" name="Shape 2"/>
          <p:cNvSpPr/>
          <p:nvPr/>
        </p:nvSpPr>
        <p:spPr>
          <a:xfrm>
            <a:off x="640080" y="1874520"/>
            <a:ext cx="10911535" cy="1143000"/>
          </a:xfrm>
          <a:prstGeom prst="roundRect">
            <a:avLst>
              <a:gd name="adj" fmla="val 7200"/>
            </a:avLst>
          </a:prstGeom>
          <a:solidFill>
            <a:srgbClr val="CF4420"/>
          </a:solidFill>
          <a:ln w="12700">
            <a:solidFill>
              <a:srgbClr val="333333"/>
            </a:solidFill>
            <a:prstDash val="solid"/>
          </a:ln>
        </p:spPr>
      </p:sp>
      <p:sp>
        <p:nvSpPr>
          <p:cNvPr id="5" name="Text 3"/>
          <p:cNvSpPr txBox="1"/>
          <p:nvPr/>
        </p:nvSpPr>
        <p:spPr>
          <a:xfrm>
            <a:off x="960120" y="1984248"/>
            <a:ext cx="2743200" cy="320040"/>
          </a:xfrm>
          <a:prstGeom prst="rect">
            <a:avLst/>
          </a:prstGeom>
          <a:noFill/>
          <a:ln/>
        </p:spPr>
        <p:txBody>
          <a:bodyPr wrap="square" lIns="0" tIns="0" rIns="0" bIns="0" rtlCol="0" anchor="ctr"/>
          <a:lstStyle/>
          <a:p>
            <a:pPr indent="0" marL="0">
              <a:buNone/>
            </a:pPr>
            <a:r>
              <a:rPr lang="en-US" sz="1300" b="1" spc="200" kern="0" dirty="0">
                <a:solidFill>
                  <a:srgbClr val="FFFFFF"/>
                </a:solidFill>
                <a:latin typeface="Calibri" pitchFamily="34" charset="0"/>
                <a:ea typeface="Calibri" pitchFamily="34" charset="-122"/>
                <a:cs typeface="Calibri" pitchFamily="34" charset="-120"/>
              </a:rPr>
              <a:t>YOUR PLAN</a:t>
            </a:r>
            <a:endParaRPr lang="en-US" sz="1300" dirty="0"/>
          </a:p>
        </p:txBody>
      </p:sp>
      <p:sp>
        <p:nvSpPr>
          <p:cNvPr id="6" name="Text 4"/>
          <p:cNvSpPr txBox="1"/>
          <p:nvPr/>
        </p:nvSpPr>
        <p:spPr>
          <a:xfrm>
            <a:off x="960120" y="2258568"/>
            <a:ext cx="10271455" cy="384048"/>
          </a:xfrm>
          <a:prstGeom prst="rect">
            <a:avLst/>
          </a:prstGeom>
          <a:noFill/>
          <a:ln/>
        </p:spPr>
        <p:txBody>
          <a:bodyPr wrap="square" lIns="0" tIns="0" rIns="0" bIns="0" rtlCol="0" anchor="ctr"/>
          <a:lstStyle/>
          <a:p>
            <a:pPr indent="0" marL="0">
              <a:buNone/>
            </a:pPr>
            <a:r>
              <a:rPr lang="en-US" sz="1900" b="1" dirty="0">
                <a:solidFill>
                  <a:srgbClr val="FFFFFF"/>
                </a:solidFill>
                <a:latin typeface="Consolas" pitchFamily="34" charset="0"/>
                <a:ea typeface="Consolas" pitchFamily="34" charset="-122"/>
                <a:cs typeface="Consolas" pitchFamily="34" charset="-120"/>
              </a:rPr>
              <a:t>doubleblaze.solutions/trail-crew/launch</a:t>
            </a:r>
            <a:endParaRPr lang="en-US" sz="1900" dirty="0"/>
          </a:p>
        </p:txBody>
      </p:sp>
      <p:sp>
        <p:nvSpPr>
          <p:cNvPr id="7" name="Text 5"/>
          <p:cNvSpPr txBox="1"/>
          <p:nvPr/>
        </p:nvSpPr>
        <p:spPr>
          <a:xfrm>
            <a:off x="960120" y="2642616"/>
            <a:ext cx="10271455" cy="320040"/>
          </a:xfrm>
          <a:prstGeom prst="rect">
            <a:avLst/>
          </a:prstGeom>
          <a:noFill/>
          <a:ln/>
        </p:spPr>
        <p:txBody>
          <a:bodyPr wrap="square" lIns="0" tIns="0" rIns="0" bIns="0" rtlCol="0" anchor="ctr"/>
          <a:lstStyle/>
          <a:p>
            <a:pPr indent="0" marL="0">
              <a:buNone/>
            </a:pPr>
            <a:r>
              <a:rPr lang="en-US" sz="1400" dirty="0">
                <a:solidFill>
                  <a:srgbClr val="D9D6D2"/>
                </a:solidFill>
                <a:latin typeface="Calibri" pitchFamily="34" charset="0"/>
                <a:ea typeface="Calibri" pitchFamily="34" charset="-122"/>
                <a:cs typeface="Calibri" pitchFamily="34" charset="-120"/>
              </a:rPr>
              <a:t>Period 3, team name Pickle bombs. Then the Level up tab.</a:t>
            </a:r>
            <a:endParaRPr lang="en-US" sz="1400" dirty="0"/>
          </a:p>
        </p:txBody>
      </p:sp>
      <p:sp>
        <p:nvSpPr>
          <p:cNvPr id="8" name="Shape 6"/>
          <p:cNvSpPr/>
          <p:nvPr/>
        </p:nvSpPr>
        <p:spPr>
          <a:xfrm>
            <a:off x="640080" y="3246120"/>
            <a:ext cx="10911535" cy="1143000"/>
          </a:xfrm>
          <a:prstGeom prst="roundRect">
            <a:avLst>
              <a:gd name="adj" fmla="val 7200"/>
            </a:avLst>
          </a:prstGeom>
          <a:solidFill>
            <a:srgbClr val="2B2725"/>
          </a:solidFill>
          <a:ln w="12700">
            <a:solidFill>
              <a:srgbClr val="333333"/>
            </a:solidFill>
            <a:prstDash val="solid"/>
          </a:ln>
        </p:spPr>
      </p:sp>
      <p:sp>
        <p:nvSpPr>
          <p:cNvPr id="9" name="Text 7"/>
          <p:cNvSpPr txBox="1"/>
          <p:nvPr/>
        </p:nvSpPr>
        <p:spPr>
          <a:xfrm>
            <a:off x="960120" y="3355848"/>
            <a:ext cx="2743200" cy="320040"/>
          </a:xfrm>
          <a:prstGeom prst="rect">
            <a:avLst/>
          </a:prstGeom>
          <a:noFill/>
          <a:ln/>
        </p:spPr>
        <p:txBody>
          <a:bodyPr wrap="square" lIns="0" tIns="0" rIns="0" bIns="0" rtlCol="0" anchor="ctr"/>
          <a:lstStyle/>
          <a:p>
            <a:pPr indent="0" marL="0">
              <a:buNone/>
            </a:pPr>
            <a:r>
              <a:rPr lang="en-US" sz="1300" b="1" spc="200" kern="0" dirty="0">
                <a:solidFill>
                  <a:srgbClr val="CF4420"/>
                </a:solidFill>
                <a:latin typeface="Calibri" pitchFamily="34" charset="0"/>
                <a:ea typeface="Calibri" pitchFamily="34" charset="-122"/>
                <a:cs typeface="Calibri" pitchFamily="34" charset="-120"/>
              </a:rPr>
              <a:t>YOUR APP</a:t>
            </a:r>
            <a:endParaRPr lang="en-US" sz="1300" dirty="0"/>
          </a:p>
        </p:txBody>
      </p:sp>
      <p:sp>
        <p:nvSpPr>
          <p:cNvPr id="10" name="Text 8"/>
          <p:cNvSpPr txBox="1"/>
          <p:nvPr/>
        </p:nvSpPr>
        <p:spPr>
          <a:xfrm>
            <a:off x="960120" y="3630168"/>
            <a:ext cx="10271455" cy="384048"/>
          </a:xfrm>
          <a:prstGeom prst="rect">
            <a:avLst/>
          </a:prstGeom>
          <a:noFill/>
          <a:ln/>
        </p:spPr>
        <p:txBody>
          <a:bodyPr wrap="square" lIns="0" tIns="0" rIns="0" bIns="0" rtlCol="0" anchor="ctr"/>
          <a:lstStyle/>
          <a:p>
            <a:pPr indent="0" marL="0">
              <a:buNone/>
            </a:pPr>
            <a:r>
              <a:rPr lang="en-US" sz="1900" b="1" dirty="0">
                <a:solidFill>
                  <a:srgbClr val="FFFFFF"/>
                </a:solidFill>
                <a:latin typeface="Consolas" pitchFamily="34" charset="0"/>
                <a:ea typeface="Consolas" pitchFamily="34" charset="-122"/>
                <a:cs typeface="Consolas" pitchFamily="34" charset="-120"/>
              </a:rPr>
              <a:t>doubleblaze.solutions/demo/p3-pickle-bombs/index.html</a:t>
            </a:r>
            <a:endParaRPr lang="en-US" sz="1900" dirty="0"/>
          </a:p>
        </p:txBody>
      </p:sp>
      <p:sp>
        <p:nvSpPr>
          <p:cNvPr id="11" name="Text 9"/>
          <p:cNvSpPr txBox="1"/>
          <p:nvPr/>
        </p:nvSpPr>
        <p:spPr>
          <a:xfrm>
            <a:off x="960120" y="4014216"/>
            <a:ext cx="10271455" cy="320040"/>
          </a:xfrm>
          <a:prstGeom prst="rect">
            <a:avLst/>
          </a:prstGeom>
          <a:noFill/>
          <a:ln/>
        </p:spPr>
        <p:txBody>
          <a:bodyPr wrap="square" lIns="0" tIns="0" rIns="0" bIns="0" rtlCol="0" anchor="ctr"/>
          <a:lstStyle/>
          <a:p>
            <a:pPr indent="0" marL="0">
              <a:buNone/>
            </a:pPr>
            <a:r>
              <a:rPr lang="en-US" sz="1400" dirty="0">
                <a:solidFill>
                  <a:srgbClr val="D9D6D2"/>
                </a:solidFill>
                <a:latin typeface="Calibri" pitchFamily="34" charset="0"/>
                <a:ea typeface="Calibri" pitchFamily="34" charset="-122"/>
                <a:cs typeface="Calibri" pitchFamily="34" charset="-120"/>
              </a:rPr>
              <a:t>Find me v1, to compare against.</a:t>
            </a:r>
            <a:endParaRPr lang="en-US" sz="1400" dirty="0"/>
          </a:p>
        </p:txBody>
      </p:sp>
      <p:sp>
        <p:nvSpPr>
          <p:cNvPr id="12" name="Shape 10"/>
          <p:cNvSpPr/>
          <p:nvPr/>
        </p:nvSpPr>
        <p:spPr>
          <a:xfrm>
            <a:off x="640080" y="4617720"/>
            <a:ext cx="10911535" cy="1143000"/>
          </a:xfrm>
          <a:prstGeom prst="roundRect">
            <a:avLst>
              <a:gd name="adj" fmla="val 7200"/>
            </a:avLst>
          </a:prstGeom>
          <a:solidFill>
            <a:srgbClr val="2B2725"/>
          </a:solidFill>
          <a:ln w="12700">
            <a:solidFill>
              <a:srgbClr val="333333"/>
            </a:solidFill>
            <a:prstDash val="solid"/>
          </a:ln>
        </p:spPr>
      </p:sp>
      <p:sp>
        <p:nvSpPr>
          <p:cNvPr id="13" name="Text 11"/>
          <p:cNvSpPr txBox="1"/>
          <p:nvPr/>
        </p:nvSpPr>
        <p:spPr>
          <a:xfrm>
            <a:off x="960120" y="4727448"/>
            <a:ext cx="2743200" cy="320040"/>
          </a:xfrm>
          <a:prstGeom prst="rect">
            <a:avLst/>
          </a:prstGeom>
          <a:noFill/>
          <a:ln/>
        </p:spPr>
        <p:txBody>
          <a:bodyPr wrap="square" lIns="0" tIns="0" rIns="0" bIns="0" rtlCol="0" anchor="ctr"/>
          <a:lstStyle/>
          <a:p>
            <a:pPr indent="0" marL="0">
              <a:buNone/>
            </a:pPr>
            <a:r>
              <a:rPr lang="en-US" sz="1300" b="1" spc="200" kern="0" dirty="0">
                <a:solidFill>
                  <a:srgbClr val="CF4420"/>
                </a:solidFill>
                <a:latin typeface="Calibri" pitchFamily="34" charset="0"/>
                <a:ea typeface="Calibri" pitchFamily="34" charset="-122"/>
                <a:cs typeface="Calibri" pitchFamily="34" charset="-120"/>
              </a:rPr>
              <a:t>QA</a:t>
            </a:r>
            <a:endParaRPr lang="en-US" sz="1300" dirty="0"/>
          </a:p>
        </p:txBody>
      </p:sp>
      <p:sp>
        <p:nvSpPr>
          <p:cNvPr id="14" name="Text 12"/>
          <p:cNvSpPr txBox="1"/>
          <p:nvPr/>
        </p:nvSpPr>
        <p:spPr>
          <a:xfrm>
            <a:off x="960120" y="5001768"/>
            <a:ext cx="10271455" cy="384048"/>
          </a:xfrm>
          <a:prstGeom prst="rect">
            <a:avLst/>
          </a:prstGeom>
          <a:noFill/>
          <a:ln/>
        </p:spPr>
        <p:txBody>
          <a:bodyPr wrap="square" lIns="0" tIns="0" rIns="0" bIns="0" rtlCol="0" anchor="ctr"/>
          <a:lstStyle/>
          <a:p>
            <a:pPr indent="0" marL="0">
              <a:buNone/>
            </a:pPr>
            <a:r>
              <a:rPr lang="en-US" sz="1900" b="1" dirty="0">
                <a:solidFill>
                  <a:srgbClr val="FFFFFF"/>
                </a:solidFill>
                <a:latin typeface="Consolas" pitchFamily="34" charset="0"/>
                <a:ea typeface="Consolas" pitchFamily="34" charset="-122"/>
                <a:cs typeface="Consolas" pitchFamily="34" charset="-120"/>
              </a:rPr>
              <a:t>doubleblaze.solutions/play</a:t>
            </a:r>
            <a:endParaRPr lang="en-US" sz="1900" dirty="0"/>
          </a:p>
        </p:txBody>
      </p:sp>
      <p:sp>
        <p:nvSpPr>
          <p:cNvPr id="15" name="Text 13"/>
          <p:cNvSpPr txBox="1"/>
          <p:nvPr/>
        </p:nvSpPr>
        <p:spPr>
          <a:xfrm>
            <a:off x="960120" y="5385816"/>
            <a:ext cx="10271455" cy="320040"/>
          </a:xfrm>
          <a:prstGeom prst="rect">
            <a:avLst/>
          </a:prstGeom>
          <a:noFill/>
          <a:ln/>
        </p:spPr>
        <p:txBody>
          <a:bodyPr wrap="square" lIns="0" tIns="0" rIns="0" bIns="0" rtlCol="0" anchor="ctr"/>
          <a:lstStyle/>
          <a:p>
            <a:pPr indent="0" marL="0">
              <a:buNone/>
            </a:pPr>
            <a:r>
              <a:rPr lang="en-US" sz="1400" dirty="0">
                <a:solidFill>
                  <a:srgbClr val="D9D6D2"/>
                </a:solidFill>
                <a:latin typeface="Calibri" pitchFamily="34" charset="0"/>
                <a:ea typeface="Calibri" pitchFamily="34" charset="-122"/>
                <a:cs typeface="Calibri" pitchFamily="34" charset="-120"/>
              </a:rPr>
              <a:t>Test other teams too. Reports about Find me appear here for you.</a:t>
            </a:r>
            <a:endParaRPr lang="en-US" sz="1400" dirty="0"/>
          </a:p>
        </p:txBody>
      </p:sp>
      <p:sp>
        <p:nvSpPr>
          <p:cNvPr id="16" name="Text 14"/>
          <p:cNvSpPr txBox="1"/>
          <p:nvPr/>
        </p:nvSpPr>
        <p:spPr>
          <a:xfrm>
            <a:off x="640080" y="6035040"/>
            <a:ext cx="10911535" cy="411480"/>
          </a:xfrm>
          <a:prstGeom prst="rect">
            <a:avLst/>
          </a:prstGeom>
          <a:noFill/>
          <a:ln/>
        </p:spPr>
        <p:txBody>
          <a:bodyPr wrap="square" lIns="0" tIns="0" rIns="0" bIns="0" rtlCol="0" anchor="ctr"/>
          <a:lstStyle/>
          <a:p>
            <a:pPr indent="0" marL="0">
              <a:buNone/>
            </a:pPr>
            <a:r>
              <a:rPr lang="en-US" sz="1600" b="1" dirty="0">
                <a:solidFill>
                  <a:srgbClr val="CF4420"/>
                </a:solidFill>
                <a:latin typeface="Calibri" pitchFamily="34" charset="0"/>
                <a:ea typeface="Calibri" pitchFamily="34" charset="-122"/>
                <a:cs typeface="Calibri" pitchFamily="34" charset="-120"/>
              </a:rPr>
              <a:t>Pick Period 3, not 2. An old copy of your plan is saved under period 2.</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4F1"/>
        </a:solidFill>
      </p:bgPr>
    </p:bg>
    <p:spTree>
      <p:nvGrpSpPr>
        <p:cNvPr id="1" name=""/>
        <p:cNvGrpSpPr/>
        <p:nvPr/>
      </p:nvGrpSpPr>
      <p:grpSpPr>
        <a:xfrm>
          <a:off x="0" y="0"/>
          <a:ext cx="0" cy="0"/>
          <a:chOff x="0" y="0"/>
          <a:chExt cx="0" cy="0"/>
        </a:xfrm>
      </p:grpSpPr>
      <p:sp>
        <p:nvSpPr>
          <p:cNvPr id="2" name="Text 0"/>
          <p:cNvSpPr txBox="1"/>
          <p:nvPr/>
        </p:nvSpPr>
        <p:spPr>
          <a:xfrm>
            <a:off x="640080" y="384048"/>
            <a:ext cx="10911535" cy="256032"/>
          </a:xfrm>
          <a:prstGeom prst="rect">
            <a:avLst/>
          </a:prstGeom>
          <a:noFill/>
          <a:ln/>
        </p:spPr>
        <p:txBody>
          <a:bodyPr wrap="square" lIns="0" tIns="0" rIns="0" bIns="0" rtlCol="0" anchor="ctr"/>
          <a:lstStyle/>
          <a:p>
            <a:pPr indent="0" marL="0">
              <a:buNone/>
            </a:pPr>
            <a:r>
              <a:rPr lang="en-US" sz="1200" b="1" spc="200" kern="0" dirty="0">
                <a:solidFill>
                  <a:srgbClr val="CF4420"/>
                </a:solidFill>
                <a:latin typeface="Calibri" pitchFamily="34" charset="0"/>
                <a:ea typeface="Calibri" pitchFamily="34" charset="-122"/>
                <a:cs typeface="Calibri" pitchFamily="34" charset="-120"/>
              </a:rPr>
              <a:t>WEEK 1, DAY 1</a:t>
            </a:r>
            <a:endParaRPr lang="en-US" sz="1200" dirty="0"/>
          </a:p>
        </p:txBody>
      </p:sp>
      <p:sp>
        <p:nvSpPr>
          <p:cNvPr id="3" name="Text 1"/>
          <p:cNvSpPr txBox="1"/>
          <p:nvPr/>
        </p:nvSpPr>
        <p:spPr>
          <a:xfrm>
            <a:off x="640080" y="658368"/>
            <a:ext cx="10911535" cy="777240"/>
          </a:xfrm>
          <a:prstGeom prst="rect">
            <a:avLst/>
          </a:prstGeom>
          <a:noFill/>
          <a:ln/>
        </p:spPr>
        <p:txBody>
          <a:bodyPr wrap="square" lIns="0" tIns="0" rIns="0" bIns="0" rtlCol="0" anchor="t"/>
          <a:lstStyle/>
          <a:p>
            <a:pPr indent="0" marL="0">
              <a:buNone/>
            </a:pPr>
            <a:r>
              <a:rPr lang="en-US" sz="3400" b="1" dirty="0">
                <a:solidFill>
                  <a:srgbClr val="630031"/>
                </a:solidFill>
                <a:latin typeface="Cambria" pitchFamily="34" charset="0"/>
                <a:ea typeface="Cambria" pitchFamily="34" charset="-122"/>
                <a:cs typeface="Cambria" pitchFamily="34" charset="-120"/>
              </a:rPr>
              <a:t>Today</a:t>
            </a:r>
            <a:endParaRPr lang="en-US" sz="3400" dirty="0"/>
          </a:p>
        </p:txBody>
      </p:sp>
      <p:sp>
        <p:nvSpPr>
          <p:cNvPr id="4" name="Shape 2"/>
          <p:cNvSpPr/>
          <p:nvPr/>
        </p:nvSpPr>
        <p:spPr>
          <a:xfrm>
            <a:off x="640080" y="1828800"/>
            <a:ext cx="502920" cy="502920"/>
          </a:xfrm>
          <a:prstGeom prst="ellipse">
            <a:avLst/>
          </a:prstGeom>
          <a:solidFill>
            <a:srgbClr val="CF4420"/>
          </a:solidFill>
          <a:ln w="12700">
            <a:solidFill>
              <a:srgbClr val="333333"/>
            </a:solidFill>
            <a:prstDash val="solid"/>
          </a:ln>
        </p:spPr>
      </p:sp>
      <p:sp>
        <p:nvSpPr>
          <p:cNvPr id="5" name="Text 3"/>
          <p:cNvSpPr txBox="1"/>
          <p:nvPr/>
        </p:nvSpPr>
        <p:spPr>
          <a:xfrm>
            <a:off x="640080" y="182880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1</a:t>
            </a:r>
            <a:endParaRPr lang="en-US" sz="1700" dirty="0"/>
          </a:p>
        </p:txBody>
      </p:sp>
      <p:sp>
        <p:nvSpPr>
          <p:cNvPr id="6" name="Text 4"/>
          <p:cNvSpPr txBox="1"/>
          <p:nvPr/>
        </p:nvSpPr>
        <p:spPr>
          <a:xfrm>
            <a:off x="1417320" y="1783080"/>
            <a:ext cx="10088575" cy="59436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Open Launch Pad, Period 3, Pickle bombs. Read your plan out loud together.</a:t>
            </a:r>
            <a:endParaRPr lang="en-US" sz="1900" dirty="0"/>
          </a:p>
        </p:txBody>
      </p:sp>
      <p:sp>
        <p:nvSpPr>
          <p:cNvPr id="7" name="Shape 5"/>
          <p:cNvSpPr/>
          <p:nvPr/>
        </p:nvSpPr>
        <p:spPr>
          <a:xfrm>
            <a:off x="640080" y="2697480"/>
            <a:ext cx="502920" cy="502920"/>
          </a:xfrm>
          <a:prstGeom prst="ellipse">
            <a:avLst/>
          </a:prstGeom>
          <a:solidFill>
            <a:srgbClr val="CF4420"/>
          </a:solidFill>
          <a:ln w="12700">
            <a:solidFill>
              <a:srgbClr val="333333"/>
            </a:solidFill>
            <a:prstDash val="solid"/>
          </a:ln>
        </p:spPr>
      </p:sp>
      <p:sp>
        <p:nvSpPr>
          <p:cNvPr id="8" name="Text 6"/>
          <p:cNvSpPr txBox="1"/>
          <p:nvPr/>
        </p:nvSpPr>
        <p:spPr>
          <a:xfrm>
            <a:off x="640080" y="269748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2</a:t>
            </a:r>
            <a:endParaRPr lang="en-US" sz="1700" dirty="0"/>
          </a:p>
        </p:txBody>
      </p:sp>
      <p:sp>
        <p:nvSpPr>
          <p:cNvPr id="9" name="Text 7"/>
          <p:cNvSpPr txBox="1"/>
          <p:nvPr/>
        </p:nvSpPr>
        <p:spPr>
          <a:xfrm>
            <a:off x="1417320" y="2651760"/>
            <a:ext cx="10088575" cy="59436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Open your app. Each person finds one thing they would change.</a:t>
            </a:r>
            <a:endParaRPr lang="en-US" sz="1900" dirty="0"/>
          </a:p>
        </p:txBody>
      </p:sp>
      <p:sp>
        <p:nvSpPr>
          <p:cNvPr id="10" name="Shape 8"/>
          <p:cNvSpPr/>
          <p:nvPr/>
        </p:nvSpPr>
        <p:spPr>
          <a:xfrm>
            <a:off x="640080" y="3566160"/>
            <a:ext cx="502920" cy="502920"/>
          </a:xfrm>
          <a:prstGeom prst="ellipse">
            <a:avLst/>
          </a:prstGeom>
          <a:solidFill>
            <a:srgbClr val="CF4420"/>
          </a:solidFill>
          <a:ln w="12700">
            <a:solidFill>
              <a:srgbClr val="333333"/>
            </a:solidFill>
            <a:prstDash val="solid"/>
          </a:ln>
        </p:spPr>
      </p:sp>
      <p:sp>
        <p:nvSpPr>
          <p:cNvPr id="11" name="Text 9"/>
          <p:cNvSpPr txBox="1"/>
          <p:nvPr/>
        </p:nvSpPr>
        <p:spPr>
          <a:xfrm>
            <a:off x="640080" y="356616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3</a:t>
            </a:r>
            <a:endParaRPr lang="en-US" sz="1700" dirty="0"/>
          </a:p>
        </p:txBody>
      </p:sp>
      <p:sp>
        <p:nvSpPr>
          <p:cNvPr id="12" name="Text 10"/>
          <p:cNvSpPr txBox="1"/>
          <p:nvPr/>
        </p:nvSpPr>
        <p:spPr>
          <a:xfrm>
            <a:off x="1417320" y="3520440"/>
            <a:ext cx="10088575" cy="59436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Write your 3 interview questions on paper, in your own words.</a:t>
            </a:r>
            <a:endParaRPr lang="en-US" sz="1900" dirty="0"/>
          </a:p>
        </p:txBody>
      </p:sp>
      <p:sp>
        <p:nvSpPr>
          <p:cNvPr id="13" name="Shape 11"/>
          <p:cNvSpPr/>
          <p:nvPr/>
        </p:nvSpPr>
        <p:spPr>
          <a:xfrm>
            <a:off x="640080" y="4434840"/>
            <a:ext cx="502920" cy="502920"/>
          </a:xfrm>
          <a:prstGeom prst="ellipse">
            <a:avLst/>
          </a:prstGeom>
          <a:solidFill>
            <a:srgbClr val="CF4420"/>
          </a:solidFill>
          <a:ln w="12700">
            <a:solidFill>
              <a:srgbClr val="333333"/>
            </a:solidFill>
            <a:prstDash val="solid"/>
          </a:ln>
        </p:spPr>
      </p:sp>
      <p:sp>
        <p:nvSpPr>
          <p:cNvPr id="14" name="Text 12"/>
          <p:cNvSpPr txBox="1"/>
          <p:nvPr/>
        </p:nvSpPr>
        <p:spPr>
          <a:xfrm>
            <a:off x="640080" y="4434840"/>
            <a:ext cx="502920" cy="502920"/>
          </a:xfrm>
          <a:prstGeom prst="rect">
            <a:avLst/>
          </a:prstGeom>
          <a:noFill/>
          <a:ln/>
        </p:spPr>
        <p:txBody>
          <a:bodyPr wrap="square" lIns="0" tIns="0" rIns="0" bIns="0" rtlCol="0" anchor="ctr"/>
          <a:lstStyle/>
          <a:p>
            <a:pPr algn="ctr" indent="0" marL="0">
              <a:buNone/>
            </a:pPr>
            <a:r>
              <a:rPr lang="en-US" sz="1700" b="1" dirty="0">
                <a:solidFill>
                  <a:srgbClr val="FFFFFF"/>
                </a:solidFill>
                <a:latin typeface="Calibri" pitchFamily="34" charset="0"/>
                <a:ea typeface="Calibri" pitchFamily="34" charset="-122"/>
                <a:cs typeface="Calibri" pitchFamily="34" charset="-120"/>
              </a:rPr>
              <a:t>4</a:t>
            </a:r>
            <a:endParaRPr lang="en-US" sz="1700" dirty="0"/>
          </a:p>
        </p:txBody>
      </p:sp>
      <p:sp>
        <p:nvSpPr>
          <p:cNvPr id="15" name="Text 13"/>
          <p:cNvSpPr txBox="1"/>
          <p:nvPr/>
        </p:nvSpPr>
        <p:spPr>
          <a:xfrm>
            <a:off x="1417320" y="4389120"/>
            <a:ext cx="10088575" cy="594360"/>
          </a:xfrm>
          <a:prstGeom prst="rect">
            <a:avLst/>
          </a:prstGeom>
          <a:noFill/>
          <a:ln/>
        </p:spPr>
        <p:txBody>
          <a:bodyPr wrap="square" lIns="0" tIns="0" rIns="0" bIns="0" rtlCol="0" anchor="ctr"/>
          <a:lstStyle/>
          <a:p>
            <a:pPr indent="0" marL="0">
              <a:buNone/>
            </a:pPr>
            <a:r>
              <a:rPr lang="en-US" sz="1900" dirty="0">
                <a:solidFill>
                  <a:srgbClr val="1C1A19"/>
                </a:solidFill>
                <a:latin typeface="Calibri" pitchFamily="34" charset="0"/>
                <a:ea typeface="Calibri" pitchFamily="34" charset="-122"/>
                <a:cs typeface="Calibri" pitchFamily="34" charset="-120"/>
              </a:rPr>
              <a:t>Decide who you will interview this week (3 people, outside this table).</a:t>
            </a:r>
            <a:endParaRPr lang="en-US" sz="1900" dirty="0"/>
          </a:p>
        </p:txBody>
      </p:sp>
      <p:sp>
        <p:nvSpPr>
          <p:cNvPr id="16" name="Shape 14"/>
          <p:cNvSpPr/>
          <p:nvPr/>
        </p:nvSpPr>
        <p:spPr>
          <a:xfrm>
            <a:off x="640080" y="5440680"/>
            <a:ext cx="10911535" cy="731520"/>
          </a:xfrm>
          <a:prstGeom prst="roundRect">
            <a:avLst>
              <a:gd name="adj" fmla="val 11250"/>
            </a:avLst>
          </a:prstGeom>
          <a:solidFill>
            <a:srgbClr val="630031"/>
          </a:solidFill>
          <a:ln w="12700">
            <a:solidFill>
              <a:srgbClr val="333333"/>
            </a:solidFill>
            <a:prstDash val="solid"/>
          </a:ln>
        </p:spPr>
      </p:sp>
      <p:sp>
        <p:nvSpPr>
          <p:cNvPr id="17" name="Text 15"/>
          <p:cNvSpPr txBox="1"/>
          <p:nvPr/>
        </p:nvSpPr>
        <p:spPr>
          <a:xfrm>
            <a:off x="960120" y="5440680"/>
            <a:ext cx="10271455" cy="731520"/>
          </a:xfrm>
          <a:prstGeom prst="rect">
            <a:avLst/>
          </a:prstGeom>
          <a:noFill/>
          <a:ln/>
        </p:spPr>
        <p:txBody>
          <a:bodyPr wrap="square" lIns="0" tIns="0" rIns="0" bIns="0" rtlCol="0" anchor="ctr"/>
          <a:lstStyle/>
          <a:p>
            <a:pPr indent="0" marL="0">
              <a:buNone/>
            </a:pPr>
            <a:r>
              <a:rPr lang="en-US" sz="2000" b="1" dirty="0">
                <a:solidFill>
                  <a:srgbClr val="FFFFFF"/>
                </a:solidFill>
                <a:latin typeface="Calibri" pitchFamily="34" charset="0"/>
                <a:ea typeface="Calibri" pitchFamily="34" charset="-122"/>
                <a:cs typeface="Calibri" pitchFamily="34" charset="-120"/>
              </a:rPr>
              <a:t>Done when:  </a:t>
            </a:r>
            <a:pPr indent="0" marL="0">
              <a:buNone/>
            </a:pPr>
            <a:r>
              <a:rPr lang="en-US" sz="2000" b="1" dirty="0">
                <a:solidFill>
                  <a:srgbClr val="FFFFFF"/>
                </a:solidFill>
                <a:latin typeface="Consolas" pitchFamily="34" charset="0"/>
                <a:ea typeface="Consolas" pitchFamily="34" charset="-122"/>
                <a:cs typeface="Consolas" pitchFamily="34" charset="-120"/>
              </a:rPr>
              <a:t>3 questions written, 3 people picked</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Find me v2: your app, your studio</dc:title>
  <dc:subject>PptxGenJS Presentation</dc:subject>
  <dc:creator>Double Blaze</dc:creator>
  <cp:lastModifiedBy>Double Blaze</cp:lastModifiedBy>
  <cp:revision>1</cp:revision>
  <dcterms:created xsi:type="dcterms:W3CDTF">2026-10-29T11:23:31Z</dcterms:created>
  <dcterms:modified xsi:type="dcterms:W3CDTF">2026-10-29T11:23:31Z</dcterms:modified>
</cp:coreProperties>
</file>